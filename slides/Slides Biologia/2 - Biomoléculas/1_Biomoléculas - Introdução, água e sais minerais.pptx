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8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50328-5455-4859-8603-4C846DDAD3D1}" v="36" dt="2021-05-09T20:24:11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Barbosa" userId="2167bdc5ba36dc54" providerId="LiveId" clId="{31450328-5455-4859-8603-4C846DDAD3D1}"/>
    <pc:docChg chg="undo custSel addSld modSld">
      <pc:chgData name="Bruno Barbosa" userId="2167bdc5ba36dc54" providerId="LiveId" clId="{31450328-5455-4859-8603-4C846DDAD3D1}" dt="2021-05-09T20:30:47.821" v="475" actId="20577"/>
      <pc:docMkLst>
        <pc:docMk/>
      </pc:docMkLst>
      <pc:sldChg chg="addSp delSp modSp mod">
        <pc:chgData name="Bruno Barbosa" userId="2167bdc5ba36dc54" providerId="LiveId" clId="{31450328-5455-4859-8603-4C846DDAD3D1}" dt="2021-05-09T20:30:47.821" v="475" actId="20577"/>
        <pc:sldMkLst>
          <pc:docMk/>
          <pc:sldMk cId="1713135026" sldId="256"/>
        </pc:sldMkLst>
        <pc:spChg chg="del">
          <ac:chgData name="Bruno Barbosa" userId="2167bdc5ba36dc54" providerId="LiveId" clId="{31450328-5455-4859-8603-4C846DDAD3D1}" dt="2021-05-09T20:11:22.905" v="0" actId="478"/>
          <ac:spMkLst>
            <pc:docMk/>
            <pc:sldMk cId="1713135026" sldId="256"/>
            <ac:spMk id="2" creationId="{0D8B871B-A58F-4ECB-9AAC-BD6E245CA5C6}"/>
          </ac:spMkLst>
        </pc:spChg>
        <pc:spChg chg="del">
          <ac:chgData name="Bruno Barbosa" userId="2167bdc5ba36dc54" providerId="LiveId" clId="{31450328-5455-4859-8603-4C846DDAD3D1}" dt="2021-05-09T20:11:23.796" v="1" actId="478"/>
          <ac:spMkLst>
            <pc:docMk/>
            <pc:sldMk cId="1713135026" sldId="256"/>
            <ac:spMk id="3" creationId="{47F2BF2C-A87F-4D10-A2DF-E92654062CC3}"/>
          </ac:spMkLst>
        </pc:spChg>
        <pc:spChg chg="add mod">
          <ac:chgData name="Bruno Barbosa" userId="2167bdc5ba36dc54" providerId="LiveId" clId="{31450328-5455-4859-8603-4C846DDAD3D1}" dt="2021-05-09T20:30:47.821" v="475" actId="20577"/>
          <ac:spMkLst>
            <pc:docMk/>
            <pc:sldMk cId="1713135026" sldId="256"/>
            <ac:spMk id="4" creationId="{2435979C-8683-4775-A51B-7B69B8A514A8}"/>
          </ac:spMkLst>
        </pc:spChg>
        <pc:spChg chg="add mod">
          <ac:chgData name="Bruno Barbosa" userId="2167bdc5ba36dc54" providerId="LiveId" clId="{31450328-5455-4859-8603-4C846DDAD3D1}" dt="2021-05-09T20:30:46.356" v="472" actId="1076"/>
          <ac:spMkLst>
            <pc:docMk/>
            <pc:sldMk cId="1713135026" sldId="256"/>
            <ac:spMk id="5" creationId="{01B4C986-036F-4177-A597-967B1FA8B789}"/>
          </ac:spMkLst>
        </pc:spChg>
        <pc:picChg chg="add mod">
          <ac:chgData name="Bruno Barbosa" userId="2167bdc5ba36dc54" providerId="LiveId" clId="{31450328-5455-4859-8603-4C846DDAD3D1}" dt="2021-05-09T20:14:02.283" v="79" actId="167"/>
          <ac:picMkLst>
            <pc:docMk/>
            <pc:sldMk cId="1713135026" sldId="256"/>
            <ac:picMk id="7" creationId="{61079AD2-BB25-44F9-849C-4D0D47EF8443}"/>
          </ac:picMkLst>
        </pc:picChg>
        <pc:picChg chg="add mod">
          <ac:chgData name="Bruno Barbosa" userId="2167bdc5ba36dc54" providerId="LiveId" clId="{31450328-5455-4859-8603-4C846DDAD3D1}" dt="2021-05-09T20:13:54.995" v="76" actId="14100"/>
          <ac:picMkLst>
            <pc:docMk/>
            <pc:sldMk cId="1713135026" sldId="256"/>
            <ac:picMk id="1026" creationId="{80043FF9-253C-4D2E-B825-4A060752489E}"/>
          </ac:picMkLst>
        </pc:picChg>
      </pc:sldChg>
      <pc:sldChg chg="modSp add mod">
        <pc:chgData name="Bruno Barbosa" userId="2167bdc5ba36dc54" providerId="LiveId" clId="{31450328-5455-4859-8603-4C846DDAD3D1}" dt="2021-05-09T20:16:06.844" v="138" actId="20577"/>
        <pc:sldMkLst>
          <pc:docMk/>
          <pc:sldMk cId="951198964" sldId="272"/>
        </pc:sldMkLst>
        <pc:spChg chg="mod">
          <ac:chgData name="Bruno Barbosa" userId="2167bdc5ba36dc54" providerId="LiveId" clId="{31450328-5455-4859-8603-4C846DDAD3D1}" dt="2021-05-09T20:15:29.523" v="93" actId="20577"/>
          <ac:spMkLst>
            <pc:docMk/>
            <pc:sldMk cId="951198964" sldId="272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16:06.844" v="138" actId="20577"/>
          <ac:spMkLst>
            <pc:docMk/>
            <pc:sldMk cId="951198964" sldId="272"/>
            <ac:spMk id="3" creationId="{BE48A2FD-141F-4ECD-8F93-0CC40D27F12E}"/>
          </ac:spMkLst>
        </pc:spChg>
      </pc:sldChg>
      <pc:sldChg chg="addSp modSp add mod">
        <pc:chgData name="Bruno Barbosa" userId="2167bdc5ba36dc54" providerId="LiveId" clId="{31450328-5455-4859-8603-4C846DDAD3D1}" dt="2021-05-09T20:17:26.890" v="163" actId="20577"/>
        <pc:sldMkLst>
          <pc:docMk/>
          <pc:sldMk cId="3316875681" sldId="273"/>
        </pc:sldMkLst>
        <pc:spChg chg="mod">
          <ac:chgData name="Bruno Barbosa" userId="2167bdc5ba36dc54" providerId="LiveId" clId="{31450328-5455-4859-8603-4C846DDAD3D1}" dt="2021-05-09T20:16:32.540" v="147" actId="20577"/>
          <ac:spMkLst>
            <pc:docMk/>
            <pc:sldMk cId="3316875681" sldId="273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17:26.890" v="163" actId="20577"/>
          <ac:spMkLst>
            <pc:docMk/>
            <pc:sldMk cId="3316875681" sldId="273"/>
            <ac:spMk id="3" creationId="{BE48A2FD-141F-4ECD-8F93-0CC40D27F12E}"/>
          </ac:spMkLst>
        </pc:spChg>
        <pc:picChg chg="add mod">
          <ac:chgData name="Bruno Barbosa" userId="2167bdc5ba36dc54" providerId="LiveId" clId="{31450328-5455-4859-8603-4C846DDAD3D1}" dt="2021-05-09T20:17:07.827" v="158" actId="1076"/>
          <ac:picMkLst>
            <pc:docMk/>
            <pc:sldMk cId="3316875681" sldId="273"/>
            <ac:picMk id="5" creationId="{03FF4F7C-4787-4FCD-AC24-8D96881738E9}"/>
          </ac:picMkLst>
        </pc:picChg>
      </pc:sldChg>
      <pc:sldChg chg="addSp delSp modSp add mod">
        <pc:chgData name="Bruno Barbosa" userId="2167bdc5ba36dc54" providerId="LiveId" clId="{31450328-5455-4859-8603-4C846DDAD3D1}" dt="2021-05-09T20:19:01.310" v="237" actId="14100"/>
        <pc:sldMkLst>
          <pc:docMk/>
          <pc:sldMk cId="2117453100" sldId="274"/>
        </pc:sldMkLst>
        <pc:spChg chg="mod">
          <ac:chgData name="Bruno Barbosa" userId="2167bdc5ba36dc54" providerId="LiveId" clId="{31450328-5455-4859-8603-4C846DDAD3D1}" dt="2021-05-09T20:17:51.358" v="189" actId="57"/>
          <ac:spMkLst>
            <pc:docMk/>
            <pc:sldMk cId="2117453100" sldId="274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18:45.888" v="233" actId="255"/>
          <ac:spMkLst>
            <pc:docMk/>
            <pc:sldMk cId="2117453100" sldId="274"/>
            <ac:spMk id="3" creationId="{BE48A2FD-141F-4ECD-8F93-0CC40D27F12E}"/>
          </ac:spMkLst>
        </pc:spChg>
        <pc:picChg chg="del">
          <ac:chgData name="Bruno Barbosa" userId="2167bdc5ba36dc54" providerId="LiveId" clId="{31450328-5455-4859-8603-4C846DDAD3D1}" dt="2021-05-09T20:18:04.956" v="193" actId="478"/>
          <ac:picMkLst>
            <pc:docMk/>
            <pc:sldMk cId="2117453100" sldId="274"/>
            <ac:picMk id="5" creationId="{03FF4F7C-4787-4FCD-AC24-8D96881738E9}"/>
          </ac:picMkLst>
        </pc:picChg>
        <pc:picChg chg="add mod">
          <ac:chgData name="Bruno Barbosa" userId="2167bdc5ba36dc54" providerId="LiveId" clId="{31450328-5455-4859-8603-4C846DDAD3D1}" dt="2021-05-09T20:19:01.310" v="237" actId="14100"/>
          <ac:picMkLst>
            <pc:docMk/>
            <pc:sldMk cId="2117453100" sldId="274"/>
            <ac:picMk id="7" creationId="{D320CDEA-9A42-4A62-A47A-A1A74B8C7DD7}"/>
          </ac:picMkLst>
        </pc:picChg>
      </pc:sldChg>
      <pc:sldChg chg="addSp delSp modSp add mod">
        <pc:chgData name="Bruno Barbosa" userId="2167bdc5ba36dc54" providerId="LiveId" clId="{31450328-5455-4859-8603-4C846DDAD3D1}" dt="2021-05-09T20:19:41.999" v="258" actId="255"/>
        <pc:sldMkLst>
          <pc:docMk/>
          <pc:sldMk cId="490487837" sldId="275"/>
        </pc:sldMkLst>
        <pc:spChg chg="mod">
          <ac:chgData name="Bruno Barbosa" userId="2167bdc5ba36dc54" providerId="LiveId" clId="{31450328-5455-4859-8603-4C846DDAD3D1}" dt="2021-05-09T20:19:21.804" v="251" actId="57"/>
          <ac:spMkLst>
            <pc:docMk/>
            <pc:sldMk cId="490487837" sldId="275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19:41.999" v="258" actId="255"/>
          <ac:spMkLst>
            <pc:docMk/>
            <pc:sldMk cId="490487837" sldId="275"/>
            <ac:spMk id="3" creationId="{BE48A2FD-141F-4ECD-8F93-0CC40D27F12E}"/>
          </ac:spMkLst>
        </pc:spChg>
        <pc:picChg chg="del">
          <ac:chgData name="Bruno Barbosa" userId="2167bdc5ba36dc54" providerId="LiveId" clId="{31450328-5455-4859-8603-4C846DDAD3D1}" dt="2021-05-09T20:19:33.506" v="255" actId="478"/>
          <ac:picMkLst>
            <pc:docMk/>
            <pc:sldMk cId="490487837" sldId="275"/>
            <ac:picMk id="7" creationId="{D320CDEA-9A42-4A62-A47A-A1A74B8C7DD7}"/>
          </ac:picMkLst>
        </pc:picChg>
        <pc:picChg chg="add mod">
          <ac:chgData name="Bruno Barbosa" userId="2167bdc5ba36dc54" providerId="LiveId" clId="{31450328-5455-4859-8603-4C846DDAD3D1}" dt="2021-05-09T20:19:37.580" v="257" actId="1076"/>
          <ac:picMkLst>
            <pc:docMk/>
            <pc:sldMk cId="490487837" sldId="275"/>
            <ac:picMk id="8" creationId="{3942532F-4F50-4882-A645-C181DE8F5A25}"/>
          </ac:picMkLst>
        </pc:picChg>
      </pc:sldChg>
      <pc:sldChg chg="addSp delSp modSp add mod">
        <pc:chgData name="Bruno Barbosa" userId="2167bdc5ba36dc54" providerId="LiveId" clId="{31450328-5455-4859-8603-4C846DDAD3D1}" dt="2021-05-09T20:20:24.411" v="297" actId="255"/>
        <pc:sldMkLst>
          <pc:docMk/>
          <pc:sldMk cId="933759661" sldId="276"/>
        </pc:sldMkLst>
        <pc:spChg chg="mod">
          <ac:chgData name="Bruno Barbosa" userId="2167bdc5ba36dc54" providerId="LiveId" clId="{31450328-5455-4859-8603-4C846DDAD3D1}" dt="2021-05-09T20:19:54.156" v="269" actId="20577"/>
          <ac:spMkLst>
            <pc:docMk/>
            <pc:sldMk cId="933759661" sldId="276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20:24.411" v="297" actId="255"/>
          <ac:spMkLst>
            <pc:docMk/>
            <pc:sldMk cId="933759661" sldId="276"/>
            <ac:spMk id="3" creationId="{BE48A2FD-141F-4ECD-8F93-0CC40D27F12E}"/>
          </ac:spMkLst>
        </pc:spChg>
        <pc:picChg chg="add mod">
          <ac:chgData name="Bruno Barbosa" userId="2167bdc5ba36dc54" providerId="LiveId" clId="{31450328-5455-4859-8603-4C846DDAD3D1}" dt="2021-05-09T20:20:17.406" v="291" actId="14100"/>
          <ac:picMkLst>
            <pc:docMk/>
            <pc:sldMk cId="933759661" sldId="276"/>
            <ac:picMk id="7" creationId="{C844051F-9B9B-4512-8420-97D50A9E2EB3}"/>
          </ac:picMkLst>
        </pc:picChg>
        <pc:picChg chg="del">
          <ac:chgData name="Bruno Barbosa" userId="2167bdc5ba36dc54" providerId="LiveId" clId="{31450328-5455-4859-8603-4C846DDAD3D1}" dt="2021-05-09T20:20:11.671" v="288" actId="478"/>
          <ac:picMkLst>
            <pc:docMk/>
            <pc:sldMk cId="933759661" sldId="276"/>
            <ac:picMk id="8" creationId="{3942532F-4F50-4882-A645-C181DE8F5A25}"/>
          </ac:picMkLst>
        </pc:picChg>
      </pc:sldChg>
      <pc:sldChg chg="delSp modSp add mod">
        <pc:chgData name="Bruno Barbosa" userId="2167bdc5ba36dc54" providerId="LiveId" clId="{31450328-5455-4859-8603-4C846DDAD3D1}" dt="2021-05-09T20:21:22.736" v="335" actId="255"/>
        <pc:sldMkLst>
          <pc:docMk/>
          <pc:sldMk cId="2026809480" sldId="277"/>
        </pc:sldMkLst>
        <pc:spChg chg="mod">
          <ac:chgData name="Bruno Barbosa" userId="2167bdc5ba36dc54" providerId="LiveId" clId="{31450328-5455-4859-8603-4C846DDAD3D1}" dt="2021-05-09T20:20:42.432" v="316" actId="20577"/>
          <ac:spMkLst>
            <pc:docMk/>
            <pc:sldMk cId="2026809480" sldId="277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21:22.736" v="335" actId="255"/>
          <ac:spMkLst>
            <pc:docMk/>
            <pc:sldMk cId="2026809480" sldId="277"/>
            <ac:spMk id="3" creationId="{BE48A2FD-141F-4ECD-8F93-0CC40D27F12E}"/>
          </ac:spMkLst>
        </pc:spChg>
        <pc:picChg chg="del">
          <ac:chgData name="Bruno Barbosa" userId="2167bdc5ba36dc54" providerId="LiveId" clId="{31450328-5455-4859-8603-4C846DDAD3D1}" dt="2021-05-09T20:20:44.513" v="317" actId="478"/>
          <ac:picMkLst>
            <pc:docMk/>
            <pc:sldMk cId="2026809480" sldId="277"/>
            <ac:picMk id="7" creationId="{C844051F-9B9B-4512-8420-97D50A9E2EB3}"/>
          </ac:picMkLst>
        </pc:picChg>
      </pc:sldChg>
      <pc:sldChg chg="modSp add mod">
        <pc:chgData name="Bruno Barbosa" userId="2167bdc5ba36dc54" providerId="LiveId" clId="{31450328-5455-4859-8603-4C846DDAD3D1}" dt="2021-05-09T20:22:17.365" v="365" actId="255"/>
        <pc:sldMkLst>
          <pc:docMk/>
          <pc:sldMk cId="2108131550" sldId="278"/>
        </pc:sldMkLst>
        <pc:spChg chg="mod">
          <ac:chgData name="Bruno Barbosa" userId="2167bdc5ba36dc54" providerId="LiveId" clId="{31450328-5455-4859-8603-4C846DDAD3D1}" dt="2021-05-09T20:21:36.010" v="352" actId="20577"/>
          <ac:spMkLst>
            <pc:docMk/>
            <pc:sldMk cId="2108131550" sldId="278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22:17.365" v="365" actId="255"/>
          <ac:spMkLst>
            <pc:docMk/>
            <pc:sldMk cId="2108131550" sldId="278"/>
            <ac:spMk id="3" creationId="{BE48A2FD-141F-4ECD-8F93-0CC40D27F12E}"/>
          </ac:spMkLst>
        </pc:spChg>
      </pc:sldChg>
      <pc:sldChg chg="addSp modSp add mod">
        <pc:chgData name="Bruno Barbosa" userId="2167bdc5ba36dc54" providerId="LiveId" clId="{31450328-5455-4859-8603-4C846DDAD3D1}" dt="2021-05-09T20:25:10.111" v="448" actId="1076"/>
        <pc:sldMkLst>
          <pc:docMk/>
          <pc:sldMk cId="1439261301" sldId="279"/>
        </pc:sldMkLst>
        <pc:spChg chg="mod">
          <ac:chgData name="Bruno Barbosa" userId="2167bdc5ba36dc54" providerId="LiveId" clId="{31450328-5455-4859-8603-4C846DDAD3D1}" dt="2021-05-09T20:23:34.789" v="406" actId="20577"/>
          <ac:spMkLst>
            <pc:docMk/>
            <pc:sldMk cId="1439261301" sldId="279"/>
            <ac:spMk id="2" creationId="{AC5BA440-9240-40BF-83DA-A055236C9027}"/>
          </ac:spMkLst>
        </pc:spChg>
        <pc:spChg chg="mod">
          <ac:chgData name="Bruno Barbosa" userId="2167bdc5ba36dc54" providerId="LiveId" clId="{31450328-5455-4859-8603-4C846DDAD3D1}" dt="2021-05-09T20:24:54.765" v="446" actId="14100"/>
          <ac:spMkLst>
            <pc:docMk/>
            <pc:sldMk cId="1439261301" sldId="279"/>
            <ac:spMk id="3" creationId="{BE48A2FD-141F-4ECD-8F93-0CC40D27F12E}"/>
          </ac:spMkLst>
        </pc:spChg>
        <pc:spChg chg="add mod">
          <ac:chgData name="Bruno Barbosa" userId="2167bdc5ba36dc54" providerId="LiveId" clId="{31450328-5455-4859-8603-4C846DDAD3D1}" dt="2021-05-09T20:25:10.111" v="448" actId="1076"/>
          <ac:spMkLst>
            <pc:docMk/>
            <pc:sldMk cId="1439261301" sldId="279"/>
            <ac:spMk id="5" creationId="{6638D698-C825-4674-A5E8-4ED5C819AB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07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2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4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60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49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89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55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84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21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53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7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7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Trio de cientistas ganha Nobel de Química por capturar imagens de  biomoléculas | Nota Alta ESPM">
            <a:extLst>
              <a:ext uri="{FF2B5EF4-FFF2-40B4-BE49-F238E27FC236}">
                <a16:creationId xmlns:a16="http://schemas.microsoft.com/office/drawing/2014/main" id="{61079AD2-BB25-44F9-849C-4D0D47EF8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11197" cy="50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rio de cientistas ganha Nobel de Química por capturar imagens de  biomoléculas | Nota Alta ESPM">
            <a:extLst>
              <a:ext uri="{FF2B5EF4-FFF2-40B4-BE49-F238E27FC236}">
                <a16:creationId xmlns:a16="http://schemas.microsoft.com/office/drawing/2014/main" id="{80043FF9-253C-4D2E-B825-4A0607524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8462"/>
            <a:ext cx="12211197" cy="50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Biomoléculas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Introdução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Água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Sais Minerais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Biomoléculas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8"/>
            <a:ext cx="1127428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Biomoléculas são moléculas essenciais para a vida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Exemplo de molécula: ÁGUA (H</a:t>
            </a:r>
            <a:r>
              <a:rPr lang="pt-BR" baseline="-25000" dirty="0"/>
              <a:t>2</a:t>
            </a:r>
            <a:r>
              <a:rPr lang="pt-BR" dirty="0"/>
              <a:t>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Moléculas são formadas por átomos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Átomos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tabela periódica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Elementos mais abundantes na matéria viva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8"/>
            <a:ext cx="1127428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Carbono (C)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Hidrogênio (H)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Oxigênio (O)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Nitrogênio (N)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5" name="Right Brace 3">
            <a:extLst>
              <a:ext uri="{FF2B5EF4-FFF2-40B4-BE49-F238E27FC236}">
                <a16:creationId xmlns:a16="http://schemas.microsoft.com/office/drawing/2014/main" id="{5B77DD2F-D9CC-4A74-AFAB-DE68B7C4A257}"/>
              </a:ext>
            </a:extLst>
          </p:cNvPr>
          <p:cNvSpPr/>
          <p:nvPr/>
        </p:nvSpPr>
        <p:spPr>
          <a:xfrm>
            <a:off x="2940022" y="1719608"/>
            <a:ext cx="1224280" cy="34649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24723D7-9782-4D61-AC95-578D6AF52547}"/>
              </a:ext>
            </a:extLst>
          </p:cNvPr>
          <p:cNvSpPr txBox="1"/>
          <p:nvPr/>
        </p:nvSpPr>
        <p:spPr>
          <a:xfrm>
            <a:off x="4294394" y="3223467"/>
            <a:ext cx="24272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en-US" sz="2400" dirty="0">
                <a:latin typeface="Arial" panose="020B0604020202020204" pitchFamily="34" charset="0"/>
              </a:rPr>
              <a:t>96% da matéria </a:t>
            </a:r>
          </a:p>
          <a:p>
            <a:r>
              <a:rPr lang="pt-BR" altLang="en-US" sz="2400" dirty="0">
                <a:latin typeface="Arial" panose="020B0604020202020204" pitchFamily="34" charset="0"/>
              </a:rPr>
              <a:t>viva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3A9E6-04FC-42E1-A53F-D3A0420C5CC4}"/>
              </a:ext>
            </a:extLst>
          </p:cNvPr>
          <p:cNvSpPr txBox="1"/>
          <p:nvPr/>
        </p:nvSpPr>
        <p:spPr>
          <a:xfrm>
            <a:off x="7145919" y="1669360"/>
            <a:ext cx="47247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Principais componentes da massa corporal humana:</a:t>
            </a:r>
          </a:p>
          <a:p>
            <a:endParaRPr lang="pt-BR" sz="2400" b="1" dirty="0"/>
          </a:p>
          <a:p>
            <a:r>
              <a:rPr lang="pt-BR" sz="2400" dirty="0"/>
              <a:t>Oxigênio (O) = 65%</a:t>
            </a:r>
          </a:p>
          <a:p>
            <a:r>
              <a:rPr lang="pt-BR" sz="2400" dirty="0"/>
              <a:t>Carbono (C) = 18%</a:t>
            </a:r>
          </a:p>
          <a:p>
            <a:r>
              <a:rPr lang="pt-BR" sz="2400" dirty="0"/>
              <a:t>Hidrogênio (H) = 9,5%</a:t>
            </a:r>
          </a:p>
          <a:p>
            <a:r>
              <a:rPr lang="pt-BR" sz="2400" dirty="0"/>
              <a:t>Nitrogênio (N) = 3,3%</a:t>
            </a:r>
          </a:p>
        </p:txBody>
      </p:sp>
    </p:spTree>
    <p:extLst>
      <p:ext uri="{BB962C8B-B14F-4D97-AF65-F5344CB8AC3E}">
        <p14:creationId xmlns:p14="http://schemas.microsoft.com/office/powerpoint/2010/main" val="39714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</a:rPr>
              <a:t>Principais substâncias nos seres vivos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8"/>
            <a:ext cx="1127428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Água (H2O) = 70 - 85%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Animais: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Proteínas (2º)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Lipídios (3º)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Vegetais: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Glicídios (2º)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Proteínas (3º)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85BED64-EB78-4092-826D-2401BD64D2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676425"/>
              </p:ext>
            </p:extLst>
          </p:nvPr>
        </p:nvGraphicFramePr>
        <p:xfrm>
          <a:off x="5958507" y="2125214"/>
          <a:ext cx="4840605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57800" imgH="3790950" progId="Paint.Picture">
                  <p:embed/>
                </p:oleObj>
              </mc:Choice>
              <mc:Fallback>
                <p:oleObj r:id="rId2" imgW="5257800" imgH="3790950" progId="Paint.Picture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</p:blipFill>
                    <p:spPr>
                      <a:xfrm>
                        <a:off x="5958507" y="2125214"/>
                        <a:ext cx="4840605" cy="354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904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Substâncias Orgânicas x Substâncias Inorgânicas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8"/>
            <a:ext cx="517828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Substâncias Orgânicas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Moléculas complexas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Mais encontradas nos seres vivos</a:t>
            </a:r>
          </a:p>
          <a:p>
            <a:pPr marL="457200" lvl="1" indent="0">
              <a:buNone/>
            </a:pPr>
            <a:r>
              <a:rPr lang="pt-BR" dirty="0"/>
              <a:t>do que no ambiente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Exemplos: Carboidratos, Lipídios, </a:t>
            </a:r>
          </a:p>
          <a:p>
            <a:pPr marL="457200" lvl="1" indent="0">
              <a:buNone/>
            </a:pPr>
            <a:r>
              <a:rPr lang="pt-BR" dirty="0"/>
              <a:t>Ácidos Nucleicos e Vitaminas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46EF6BD-AD5B-4A8B-8432-FB1F38412777}"/>
              </a:ext>
            </a:extLst>
          </p:cNvPr>
          <p:cNvSpPr txBox="1">
            <a:spLocks/>
          </p:cNvSpPr>
          <p:nvPr/>
        </p:nvSpPr>
        <p:spPr>
          <a:xfrm>
            <a:off x="5933660" y="1723059"/>
            <a:ext cx="51782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Substâncias Inorgânicas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Moléculas simples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Mais encontradas no ambiente do que nos seres vivos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Água e sais minerais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2" descr="http://cyberdiet.terra.com.br/cyberdiet/imagens/interacao/original/12/alimentacao-sem-carboidrato-1-1-374.jpg">
            <a:extLst>
              <a:ext uri="{FF2B5EF4-FFF2-40B4-BE49-F238E27FC236}">
                <a16:creationId xmlns:a16="http://schemas.microsoft.com/office/drawing/2014/main" id="{C3FF5E1A-3DAF-4B82-BE62-36BEE7987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09" y="4505752"/>
            <a:ext cx="2508331" cy="188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encrypted-tbn1.gstatic.com/images?q=tbn:ANd9GcSNQYi02Zu3dZ4EWHO46iG8jz-FV_pPCpBkAOHv86FdPyD5s_pvNw">
            <a:extLst>
              <a:ext uri="{FF2B5EF4-FFF2-40B4-BE49-F238E27FC236}">
                <a16:creationId xmlns:a16="http://schemas.microsoft.com/office/drawing/2014/main" id="{84E9F241-7985-406C-9333-7927BF6B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429" y="43759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http://www.grupoescolar.com/a/b/5600E.gif">
            <a:extLst>
              <a:ext uri="{FF2B5EF4-FFF2-40B4-BE49-F238E27FC236}">
                <a16:creationId xmlns:a16="http://schemas.microsoft.com/office/drawing/2014/main" id="{4DD9AF1E-1ECF-4B09-836D-7B3D8D0F6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071" y="4389403"/>
            <a:ext cx="2016224" cy="23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http://cyberdiet.terra.com.br/cyberdiet/imagens/interacao/original/12/vitaminas-conheca-mais-sobre-elas-1-77.jpg">
            <a:extLst>
              <a:ext uri="{FF2B5EF4-FFF2-40B4-BE49-F238E27FC236}">
                <a16:creationId xmlns:a16="http://schemas.microsoft.com/office/drawing/2014/main" id="{C852FEAB-80FF-4745-B9CD-3F4F857FC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444" y="4647098"/>
            <a:ext cx="3029744" cy="174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94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Metabolismo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0558670" cy="494623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3600" dirty="0"/>
              <a:t>Reações ocorrem nos organismos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3600" dirty="0"/>
              <a:t>Reações de construção = </a:t>
            </a:r>
            <a:r>
              <a:rPr lang="pt-BR" sz="3600" b="1" dirty="0"/>
              <a:t>anabolismo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3100" dirty="0"/>
              <a:t>Endotérmicas (</a:t>
            </a:r>
            <a:r>
              <a:rPr lang="pt-BR" sz="3100" dirty="0" err="1"/>
              <a:t>energônicas</a:t>
            </a:r>
            <a:r>
              <a:rPr lang="pt-BR" sz="3100" dirty="0"/>
              <a:t>) = absorção de energia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3100" dirty="0"/>
              <a:t>Ex: Síntese de proteínas; Fotossíntese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3600" dirty="0"/>
              <a:t>Reações de quebra = </a:t>
            </a:r>
            <a:r>
              <a:rPr lang="pt-BR" sz="3600" b="1" dirty="0"/>
              <a:t>catabolismo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3100" dirty="0"/>
              <a:t>Exotérmicas (exergônicas) = liberação de energia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3100" dirty="0"/>
              <a:t>Ex: Respiração Celular e fermentação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3600" dirty="0"/>
              <a:t>Metabolismo = conjunto de reações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437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Metabolismo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0F52763-C480-4A73-B367-643A133E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Picture 2" descr="http://imagem.casadasciencias.org/online/39116005/1metabolismo.jpg">
            <a:extLst>
              <a:ext uri="{FF2B5EF4-FFF2-40B4-BE49-F238E27FC236}">
                <a16:creationId xmlns:a16="http://schemas.microsoft.com/office/drawing/2014/main" id="{906AB58E-5542-4726-B7B6-3D4AC737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3" y="1786731"/>
            <a:ext cx="7258050" cy="44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22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Metabolismo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1D8F3F7-A395-41AA-A409-6F7AB3D94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09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 = anabólica</a:t>
            </a:r>
          </a:p>
          <a:p>
            <a:pPr marL="0" indent="0">
              <a:buNone/>
            </a:pPr>
            <a:r>
              <a:rPr lang="pt-BR" dirty="0"/>
              <a:t>B = catabólica</a:t>
            </a:r>
          </a:p>
        </p:txBody>
      </p:sp>
      <p:pic>
        <p:nvPicPr>
          <p:cNvPr id="7" name="Picture 2" descr="http://www.netxplica.com/figuras_netxplica/exanac/porto.editora/energia.mobilizacao.png">
            <a:extLst>
              <a:ext uri="{FF2B5EF4-FFF2-40B4-BE49-F238E27FC236}">
                <a16:creationId xmlns:a16="http://schemas.microsoft.com/office/drawing/2014/main" id="{0EA61747-07A1-4EC1-9BA4-BF0AFFD59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668" y="1769046"/>
            <a:ext cx="833213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99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Substâncias Inorgânicas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05586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Água e Sais Minerais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www.progressoagua.com.br/agua-mineral/images/produtos/copo-com-agua.jpg">
            <a:extLst>
              <a:ext uri="{FF2B5EF4-FFF2-40B4-BE49-F238E27FC236}">
                <a16:creationId xmlns:a16="http://schemas.microsoft.com/office/drawing/2014/main" id="{555B5482-D042-4137-9D74-77612BCF7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15" y="2349361"/>
            <a:ext cx="4158742" cy="415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sorridentsfranchising.files.wordpress.com/2011/08/vitaminas-e-sais-minerais.jpg">
            <a:extLst>
              <a:ext uri="{FF2B5EF4-FFF2-40B4-BE49-F238E27FC236}">
                <a16:creationId xmlns:a16="http://schemas.microsoft.com/office/drawing/2014/main" id="{5F096E93-C667-4C44-ACB9-FBA203528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629" y="2349361"/>
            <a:ext cx="4015784" cy="415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15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34531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EXTREMAMENTE importante para a vida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Molécula mais abundante nos seres vivos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Ser humano: 70%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Plantas: 90%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Medusa (água-viva/mãe d’água): 98%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6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Composta por 2 átomos de Hidrogênio e 1 de Oxigênio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3 estados físicos: sólido, líquido e gasoso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585FAB66-BAFA-40EF-99C7-722379AAD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806" y="1976755"/>
            <a:ext cx="4226560" cy="29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5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– Ligação de Hidrogênio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34531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Ligação entre moléculas de água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Oxigênio (negativo) atrai Hidrogênio (positivo)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D6B44CBA-1498-4058-ACE6-0C9B76D9B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42" y="3048000"/>
            <a:ext cx="3261569" cy="3617842"/>
          </a:xfrm>
          <a:prstGeom prst="rect">
            <a:avLst/>
          </a:prstGeom>
        </p:spPr>
      </p:pic>
      <p:sp>
        <p:nvSpPr>
          <p:cNvPr id="9" name="Right Arrow 4">
            <a:extLst>
              <a:ext uri="{FF2B5EF4-FFF2-40B4-BE49-F238E27FC236}">
                <a16:creationId xmlns:a16="http://schemas.microsoft.com/office/drawing/2014/main" id="{1F3EBDC6-45A6-4505-A8FF-82D8F9088F14}"/>
              </a:ext>
            </a:extLst>
          </p:cNvPr>
          <p:cNvSpPr/>
          <p:nvPr/>
        </p:nvSpPr>
        <p:spPr>
          <a:xfrm>
            <a:off x="4215826" y="4132148"/>
            <a:ext cx="2529531" cy="241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A5CCF08E-C075-4D0E-9173-C2C09071742C}"/>
              </a:ext>
            </a:extLst>
          </p:cNvPr>
          <p:cNvSpPr txBox="1"/>
          <p:nvPr/>
        </p:nvSpPr>
        <p:spPr>
          <a:xfrm>
            <a:off x="6882303" y="4010229"/>
            <a:ext cx="35869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en-US" sz="2600" dirty="0">
                <a:latin typeface="Arial" panose="020B0604020202020204" pitchFamily="34" charset="0"/>
              </a:rPr>
              <a:t>Ligação de Hidrogênio</a:t>
            </a:r>
          </a:p>
        </p:txBody>
      </p:sp>
    </p:spTree>
    <p:extLst>
      <p:ext uri="{BB962C8B-B14F-4D97-AF65-F5344CB8AC3E}">
        <p14:creationId xmlns:p14="http://schemas.microsoft.com/office/powerpoint/2010/main" val="25804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- Propriedades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34531" cy="4946235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POLAR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Possui </a:t>
            </a:r>
            <a:r>
              <a:rPr lang="pt-BR" sz="2600" dirty="0" err="1"/>
              <a:t>pólo</a:t>
            </a:r>
            <a:r>
              <a:rPr lang="pt-BR" sz="2600" dirty="0"/>
              <a:t> negativo (O) e positivos (H)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Substâncias polares dissolvem substâncias polares, então água é chamado de SOLVENTE UNIVERSAL.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Substâncias hidrofílicas = são polares e se solubilizam em água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Substâncias hidrofóbicas = são apolares e não se solubilizam em água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3000" dirty="0"/>
              <a:t>COESÃO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Atração das moléculas de água entre si através das LIGAÇÕES DE HIDROGÊNIO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Coesão é a capacidade que uma substância tem de permanecer unida, resistindo a separação.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Importante para o transporte de água e nutrientes nas plantas, contra a gravidade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3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8526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- Propriedades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560581"/>
            <a:ext cx="11234531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3000" dirty="0"/>
              <a:t>TENSÃO SUPERFICIAL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Graças à coesão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Dificuldade de quebrar a barreira do líquido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Lagarto Jesus Cristo, insetos pousados sobre a água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3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gizmodo.uol.com.br/wp-content/blogs.dir/8/files/2012/08/tensao-superficial-natacao.jpg">
            <a:extLst>
              <a:ext uri="{FF2B5EF4-FFF2-40B4-BE49-F238E27FC236}">
                <a16:creationId xmlns:a16="http://schemas.microsoft.com/office/drawing/2014/main" id="{0715624C-B135-4980-8A85-8C3FBBBBC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323" y="3598133"/>
            <a:ext cx="5170990" cy="290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550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- Propriedades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560581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ADESÃO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Atração entre moléculas de água e outras substâncias POLARES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União entre paredes celulares nas plantas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Água é capaz de se “prender” nas paredes do xilema das plantas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3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Se expande no estado sólido e se torna menos denso que no estado líquido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Formação das Geleiras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roteirosincriveis.uol.com.br/wp-content/uploads/2014/04/Estancia-Cristina-_-%C3%89-imposs%C3%ADvel-n%C3%A3o-se-emocionar-com-o-azul-dos-blocos-de-gelo-boiando-sob-o-Lago-Argentino.jpg">
            <a:extLst>
              <a:ext uri="{FF2B5EF4-FFF2-40B4-BE49-F238E27FC236}">
                <a16:creationId xmlns:a16="http://schemas.microsoft.com/office/drawing/2014/main" id="{9A91EB07-D56A-4376-975F-A16493B0E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74043"/>
            <a:ext cx="4275207" cy="214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62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-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560581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Atuar como solvente. Ex: sangue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Participar de reações do metabolismo. Ex: quebra de glicose para obtenção de energia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Maior metabolismo = maior quantidade de água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Feto = 94% de água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Recém nascido = 70%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Adulto = 65%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Facilitar entrada e saída de substâncias nas células por OSMOSE.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111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Água -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560581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Regular a temperatura (termorregulação) de animais endotérmicos. Ex: suor dos mamíferos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Alto calor específico = precisa de muita energia para alterar sua temperatura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Alto calor de vaporização = precisa de muita energia para trocar de estado físico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Fundamental para o surgimento da vida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 vida teria surgido na Terra nos oceanos primitivos +/- 3,5 bilhões de anos atrás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Vida em outros planetas? Ao procurar possibilidade de vida em outros planetas sempre buscamos pela presença de água!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322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560581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Substâncias inorgânicas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Ex: Cálcio (Ca2+), Ferro (Fe2+), Sódio (Na+) e Potássio (K+)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Em meio aquoso dissociam-se em íons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Ânions(-)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Cátions(+)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POLARES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Importantes para os seres vivos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Animais adquirem pela alimentação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Vegetais adquirem pela absorção do solo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1198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- Ferro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Presente na hemoglobina do sangue (transporte de oxigênio pelo corpo)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Componentes dos citocromos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Respiração celular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Ausência = anemia ferropriva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Fígado, Feijão, lentilha, porco, ovos, carnes, cereais integrais, vegetais verdes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www.infoescola.com/wp-content/uploads/2008/06/hemoglobina.jpg">
            <a:extLst>
              <a:ext uri="{FF2B5EF4-FFF2-40B4-BE49-F238E27FC236}">
                <a16:creationId xmlns:a16="http://schemas.microsoft.com/office/drawing/2014/main" id="{03FF4F7C-4787-4FCD-AC24-8D968817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146" y="3388108"/>
            <a:ext cx="8305800" cy="34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87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– Cálcio (Ca</a:t>
            </a:r>
            <a:r>
              <a:rPr lang="pt-BR" sz="4500" b="1" baseline="30000" dirty="0">
                <a:solidFill>
                  <a:schemeClr val="bg1"/>
                </a:solidFill>
              </a:rPr>
              <a:t>++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Contração muscular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Sinalização entre células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Formação dos ossos e dentes (absorvido por ação da Vitamina D)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casca de ovos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Coagulação sanguínea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Mineral mais abundante no ser humano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Falta: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Crianças = raquitismo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Adultos = osteoporose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Legumes, leites e derivados, vegetais verdes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12" descr="leite osteoporose">
            <a:extLst>
              <a:ext uri="{FF2B5EF4-FFF2-40B4-BE49-F238E27FC236}">
                <a16:creationId xmlns:a16="http://schemas.microsoft.com/office/drawing/2014/main" id="{D320CDEA-9A42-4A62-A47A-A1A74B8C7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473" y="3429000"/>
            <a:ext cx="5572546" cy="260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453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– Sódio (Na</a:t>
            </a:r>
            <a:r>
              <a:rPr lang="pt-BR" sz="4500" b="1" baseline="30000" dirty="0">
                <a:solidFill>
                  <a:schemeClr val="bg1"/>
                </a:solidFill>
              </a:rPr>
              <a:t>+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Participam da bomba de sódio e potássio – fundamental no impulso nervoso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Equilíbrio hídrico e osmótico das células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Sal de cozinha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http://www.fatosdesconhecidos.com.br/wp-content/uploads/2015/04/sall1.jpg">
            <a:extLst>
              <a:ext uri="{FF2B5EF4-FFF2-40B4-BE49-F238E27FC236}">
                <a16:creationId xmlns:a16="http://schemas.microsoft.com/office/drawing/2014/main" id="{3942532F-4F50-4882-A645-C181DE8F5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597" y="2999183"/>
            <a:ext cx="4824536" cy="321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487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– Iodo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Formação de hormônios na tireoide (T3 e T4)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Falta = hipotireoidismo </a:t>
            </a:r>
            <a:r>
              <a:rPr lang="pt-BR" sz="2600" dirty="0">
                <a:sym typeface="Wingdings" panose="05000000000000000000" pitchFamily="2" charset="2"/>
              </a:rPr>
              <a:t></a:t>
            </a:r>
            <a:r>
              <a:rPr lang="pt-BR" sz="2600" dirty="0"/>
              <a:t> Bócio/Papo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Sal, ovo, cerveja, frutos do mar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Brasil = sal refinado é iodado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www.brasilescola.com/upload/e/bocio.jpg">
            <a:extLst>
              <a:ext uri="{FF2B5EF4-FFF2-40B4-BE49-F238E27FC236}">
                <a16:creationId xmlns:a16="http://schemas.microsoft.com/office/drawing/2014/main" id="{C844051F-9B9B-4512-8420-97D50A9E2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512" y="2942658"/>
            <a:ext cx="5032784" cy="335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759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– Fósforo e Magnésio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Fósforo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Componente do DNA, RNA, das membranas plasmáticas e molécula de ATP(energia)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Componente dos ossos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dureza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Leite, queijo, ovo, carne, cereais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Magnésio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Assimilação da energia luminosa – fotossíntese (clorofila)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Ativação enzimática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Cereais integrais, vegetais verdes (participam da molécula de clorofila)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6809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Sais Minerais – Potássio e Flúor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11724862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Potássio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Condução do impulso nervoso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Carne, leite, frutas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dirty="0"/>
              <a:t>Flúor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Formação dos ossos e esmalte dos dentes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Encontrado na água e alimentos (peixe)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É adicionado na água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600" dirty="0"/>
              <a:t>Pode ocasionar </a:t>
            </a:r>
            <a:r>
              <a:rPr lang="pt-BR" sz="2600" dirty="0" err="1"/>
              <a:t>fluorese</a:t>
            </a:r>
            <a:r>
              <a:rPr lang="pt-BR" sz="2600" dirty="0"/>
              <a:t> (manchas nos dentes)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8131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Macro e micronutrientes vegetais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67" y="1481068"/>
            <a:ext cx="5570885" cy="49462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Macronutrientes = necessários em maior quantidade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Carbono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Oxigênio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Nitrogênio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Hidrogênio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Fósforo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Potássio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Cálcio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Magnésio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Enxofre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638D698-C825-4674-A5E8-4ED5C819ABBE}"/>
              </a:ext>
            </a:extLst>
          </p:cNvPr>
          <p:cNvSpPr txBox="1">
            <a:spLocks/>
          </p:cNvSpPr>
          <p:nvPr/>
        </p:nvSpPr>
        <p:spPr>
          <a:xfrm>
            <a:off x="6095998" y="1491145"/>
            <a:ext cx="6498537" cy="49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400" dirty="0"/>
              <a:t>Micronutrientes = pequenas quantidades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Boro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Cloro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Cobre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Ferro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Manganês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Molibdênio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Cobalto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Níquel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t-BR" sz="2200" dirty="0"/>
              <a:t>Zinco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2613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960</Words>
  <Application>Microsoft Office PowerPoint</Application>
  <PresentationFormat>Widescreen</PresentationFormat>
  <Paragraphs>206</Paragraphs>
  <Slides>24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do Office</vt:lpstr>
      <vt:lpstr>Bitmap Image</vt:lpstr>
      <vt:lpstr>Biomoléculas</vt:lpstr>
      <vt:lpstr>Biomoléculas</vt:lpstr>
      <vt:lpstr>Elementos mais abundantes na matéria viva</vt:lpstr>
      <vt:lpstr>Principais substâncias nos seres vivos</vt:lpstr>
      <vt:lpstr>Substâncias Orgânicas x Substâncias Inorgânicas</vt:lpstr>
      <vt:lpstr>Metabolismo</vt:lpstr>
      <vt:lpstr>Metabolismo</vt:lpstr>
      <vt:lpstr>Metabolismo</vt:lpstr>
      <vt:lpstr>Substâncias Inorgânicas</vt:lpstr>
      <vt:lpstr>Água</vt:lpstr>
      <vt:lpstr>Água – Ligação de Hidrogênio</vt:lpstr>
      <vt:lpstr>Água - Propriedades</vt:lpstr>
      <vt:lpstr>Água - Propriedades</vt:lpstr>
      <vt:lpstr>Água - Propriedades</vt:lpstr>
      <vt:lpstr>Água - Funções</vt:lpstr>
      <vt:lpstr>Água - Funções</vt:lpstr>
      <vt:lpstr>Sais Minerais</vt:lpstr>
      <vt:lpstr>Sais Minerais - Ferro</vt:lpstr>
      <vt:lpstr>Sais Minerais – Cálcio (Ca++)</vt:lpstr>
      <vt:lpstr>Sais Minerais – Sódio (Na+)</vt:lpstr>
      <vt:lpstr>Sais Minerais – Iodo</vt:lpstr>
      <vt:lpstr>Sais Minerais – Fósforo e Magnésio</vt:lpstr>
      <vt:lpstr>Sais Minerais – Potássio e Flúor</vt:lpstr>
      <vt:lpstr>Macro e micronutrientes vegetais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5</cp:revision>
  <dcterms:created xsi:type="dcterms:W3CDTF">2021-05-09T19:31:11Z</dcterms:created>
  <dcterms:modified xsi:type="dcterms:W3CDTF">2021-05-10T00:56:25Z</dcterms:modified>
</cp:coreProperties>
</file>