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j+jfehQ702xug5FhQmJOw9yIoz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3.jpg"/><Relationship Id="rId5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rio de cientistas ganha Nobel de Química por capturar imagens de  biomoléculas | Nota Alta ESPM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12211197" cy="50995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rio de cientistas ganha Nobel de Química por capturar imagens de  biomoléculas | Nota Alta ESPM"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58462"/>
            <a:ext cx="12211197" cy="509953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>
            <p:ph type="ctrTitle"/>
          </p:nvPr>
        </p:nvSpPr>
        <p:spPr>
          <a:xfrm>
            <a:off x="0" y="1122363"/>
            <a:ext cx="12192000" cy="13160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pt-BR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Biomoléculas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0" y="2272751"/>
            <a:ext cx="12192000" cy="17755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t/>
            </a:r>
            <a:endParaRPr b="0" i="0" sz="8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i="0" lang="pt-BR" sz="3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Proteínas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i="0" lang="pt-BR" sz="3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Ácidos Nucleicos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t/>
            </a:r>
            <a:endParaRPr b="1" i="0" sz="6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 txBox="1"/>
          <p:nvPr>
            <p:ph type="title"/>
          </p:nvPr>
        </p:nvSpPr>
        <p:spPr>
          <a:xfrm>
            <a:off x="2152650" y="20572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b="1" lang="pt-BR" sz="5000">
                <a:solidFill>
                  <a:schemeClr val="lt1"/>
                </a:solidFill>
              </a:rPr>
              <a:t>Proteínas</a:t>
            </a:r>
            <a:endParaRPr/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321364" y="1719608"/>
            <a:ext cx="1127428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Compostos orgânicos mais abundantes na matéria viva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Responsáveis pela expressão da informação genética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Constituídas por unidades de aminoácidos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Proteínas = polímeros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Aminoácidos = monômeros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 txBox="1"/>
          <p:nvPr>
            <p:ph type="title"/>
          </p:nvPr>
        </p:nvSpPr>
        <p:spPr>
          <a:xfrm>
            <a:off x="2152650" y="20572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b="1" lang="pt-BR" sz="5000">
                <a:solidFill>
                  <a:schemeClr val="lt1"/>
                </a:solidFill>
              </a:rPr>
              <a:t>O que é um aminoácido?</a:t>
            </a:r>
            <a:endParaRPr/>
          </a:p>
        </p:txBody>
      </p:sp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321364" y="1719608"/>
            <a:ext cx="1127428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Moléculas orgânicas formadas por átomos de C, H, O e 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Unidos entre si por LIGAÇÕES PEPTÍDICAS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Amina + carboxila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4501" y="4833814"/>
            <a:ext cx="3390900" cy="1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/>
          <p:nvPr/>
        </p:nvSpPr>
        <p:spPr>
          <a:xfrm>
            <a:off x="1604461" y="4541615"/>
            <a:ext cx="1368152" cy="2016224"/>
          </a:xfrm>
          <a:prstGeom prst="ellipse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3"/>
          <p:cNvCxnSpPr/>
          <p:nvPr/>
        </p:nvCxnSpPr>
        <p:spPr>
          <a:xfrm>
            <a:off x="1172413" y="4155869"/>
            <a:ext cx="792088" cy="50822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05" name="Google Shape;105;p3"/>
          <p:cNvSpPr/>
          <p:nvPr/>
        </p:nvSpPr>
        <p:spPr>
          <a:xfrm>
            <a:off x="3764701" y="4694015"/>
            <a:ext cx="1368152" cy="2016224"/>
          </a:xfrm>
          <a:prstGeom prst="ellipse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3"/>
          <p:cNvCxnSpPr/>
          <p:nvPr/>
        </p:nvCxnSpPr>
        <p:spPr>
          <a:xfrm>
            <a:off x="3146109" y="4206229"/>
            <a:ext cx="792088" cy="50822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 txBox="1"/>
          <p:nvPr>
            <p:ph type="title"/>
          </p:nvPr>
        </p:nvSpPr>
        <p:spPr>
          <a:xfrm>
            <a:off x="583473" y="20572"/>
            <a:ext cx="1046770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b="1" lang="pt-BR" sz="5000">
                <a:solidFill>
                  <a:schemeClr val="lt1"/>
                </a:solidFill>
              </a:rPr>
              <a:t>Aminoácidos  Naturais x Essenciais</a:t>
            </a:r>
            <a:endParaRPr/>
          </a:p>
        </p:txBody>
      </p:sp>
      <p:sp>
        <p:nvSpPr>
          <p:cNvPr id="113" name="Google Shape;113;p4"/>
          <p:cNvSpPr txBox="1"/>
          <p:nvPr>
            <p:ph idx="1" type="body"/>
          </p:nvPr>
        </p:nvSpPr>
        <p:spPr>
          <a:xfrm>
            <a:off x="321364" y="1719608"/>
            <a:ext cx="1127428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Aminoácidos Naturais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Produzidos pelo próprio corpo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Aminoácidos Essenciais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Adquiridos pela alimentação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/>
          <p:nvPr>
            <p:ph type="title"/>
          </p:nvPr>
        </p:nvSpPr>
        <p:spPr>
          <a:xfrm>
            <a:off x="583473" y="20572"/>
            <a:ext cx="1046770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b="1" lang="pt-BR" sz="5000">
                <a:solidFill>
                  <a:schemeClr val="lt1"/>
                </a:solidFill>
              </a:rPr>
              <a:t>Ligação Peptídica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321364" y="1719608"/>
            <a:ext cx="1127428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Ligação entre a amina de uma aminoácido e a carboxila de outro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Liberação de água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descr="http://www.infoescola.com/wp-content/uploads/2012/03/ligacao-peptidica.jpg" id="121" name="Google Shape;1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2218" y="2290081"/>
            <a:ext cx="4400321" cy="4351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 txBox="1"/>
          <p:nvPr>
            <p:ph type="title"/>
          </p:nvPr>
        </p:nvSpPr>
        <p:spPr>
          <a:xfrm>
            <a:off x="2152650" y="20572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b="1" lang="pt-BR" sz="5000">
                <a:solidFill>
                  <a:schemeClr val="lt1"/>
                </a:solidFill>
              </a:rPr>
              <a:t>Funções das proteínas</a:t>
            </a:r>
            <a:endParaRPr/>
          </a:p>
        </p:txBody>
      </p:sp>
      <p:sp>
        <p:nvSpPr>
          <p:cNvPr id="128" name="Google Shape;128;p6"/>
          <p:cNvSpPr txBox="1"/>
          <p:nvPr>
            <p:ph idx="1" type="body"/>
          </p:nvPr>
        </p:nvSpPr>
        <p:spPr>
          <a:xfrm>
            <a:off x="321364" y="1719608"/>
            <a:ext cx="1127428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Defesa do organismo – imunoglobulinas, anticorpos;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Estrutural – queratina, colágeno, citoesqueleto;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Hormonal – Insulina , GH (hormônio do crescimento);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Contrátil – actina e miosina (contração muscular);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Transporte – hemoglobina (transporte de O2), mioglobina,  bomba de sódio potássio, permeases;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Reconhecimento celular – proteínas de membrana;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Catalítica – acelera reações realizadas pelas enzimas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 txBox="1"/>
          <p:nvPr>
            <p:ph type="title"/>
          </p:nvPr>
        </p:nvSpPr>
        <p:spPr>
          <a:xfrm>
            <a:off x="2152650" y="20572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b="1" lang="pt-BR" sz="5000">
                <a:solidFill>
                  <a:schemeClr val="lt1"/>
                </a:solidFill>
              </a:rPr>
              <a:t>Estrutura das proteínas</a:t>
            </a:r>
            <a:endParaRPr/>
          </a:p>
        </p:txBody>
      </p:sp>
      <p:sp>
        <p:nvSpPr>
          <p:cNvPr id="135" name="Google Shape;135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http://images.slideplayer.com.br/1/333573/slides/slide_1.jpg" id="136" name="Google Shape;13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9451" y="1455465"/>
            <a:ext cx="8293098" cy="5402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 txBox="1"/>
          <p:nvPr>
            <p:ph type="title"/>
          </p:nvPr>
        </p:nvSpPr>
        <p:spPr>
          <a:xfrm>
            <a:off x="2152650" y="20572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b="1" lang="pt-BR" sz="5000">
                <a:solidFill>
                  <a:schemeClr val="lt1"/>
                </a:solidFill>
              </a:rPr>
              <a:t>Proteínas</a:t>
            </a:r>
            <a:endParaRPr/>
          </a:p>
        </p:txBody>
      </p:sp>
      <p:sp>
        <p:nvSpPr>
          <p:cNvPr id="143" name="Google Shape;143;p8"/>
          <p:cNvSpPr txBox="1"/>
          <p:nvPr>
            <p:ph idx="1" type="body"/>
          </p:nvPr>
        </p:nvSpPr>
        <p:spPr>
          <a:xfrm>
            <a:off x="321364" y="1719608"/>
            <a:ext cx="1127428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A função da proteína está altamente relacionada a sua função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				FORMA = FUNÇÃO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Ao perder sua forma = desnaturação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Principais fatores: temperatura e pH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 txBox="1"/>
          <p:nvPr>
            <p:ph type="title"/>
          </p:nvPr>
        </p:nvSpPr>
        <p:spPr>
          <a:xfrm>
            <a:off x="2152650" y="20572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b="1" lang="pt-BR" sz="5000">
                <a:solidFill>
                  <a:schemeClr val="lt1"/>
                </a:solidFill>
              </a:rPr>
              <a:t>Proteínas - Enzimas</a:t>
            </a:r>
            <a:endParaRPr/>
          </a:p>
        </p:txBody>
      </p:sp>
      <p:sp>
        <p:nvSpPr>
          <p:cNvPr id="150" name="Google Shape;150;p9"/>
          <p:cNvSpPr txBox="1"/>
          <p:nvPr>
            <p:ph idx="1" type="body"/>
          </p:nvPr>
        </p:nvSpPr>
        <p:spPr>
          <a:xfrm>
            <a:off x="321365" y="1719608"/>
            <a:ext cx="708963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São catalisadores biológicos de natureza proteica;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Catalisador = acelera reações sem sofrer mudanças em sua estrutura;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Reduz a Energia de Ativação necessária para a reação ocorrer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Substrato    --------------🡪 Produto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Ex: a enzima catalase quebra água oxigenada em água + oxigênio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descr="http://dc363.4shared.com/doc/_KpS2mcm/preview_html_m3e7ed859.png" id="151" name="Google Shape;15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5222" y="1998301"/>
            <a:ext cx="3813891" cy="4123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"/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 txBox="1"/>
          <p:nvPr>
            <p:ph type="title"/>
          </p:nvPr>
        </p:nvSpPr>
        <p:spPr>
          <a:xfrm>
            <a:off x="2152650" y="20572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b="1" lang="pt-BR" sz="5000">
                <a:solidFill>
                  <a:schemeClr val="lt1"/>
                </a:solidFill>
              </a:rPr>
              <a:t>Proteínas - Enzimas</a:t>
            </a:r>
            <a:endParaRPr/>
          </a:p>
        </p:txBody>
      </p:sp>
      <p:sp>
        <p:nvSpPr>
          <p:cNvPr id="158" name="Google Shape;158;p10"/>
          <p:cNvSpPr txBox="1"/>
          <p:nvPr>
            <p:ph idx="1" type="body"/>
          </p:nvPr>
        </p:nvSpPr>
        <p:spPr>
          <a:xfrm>
            <a:off x="321365" y="1719608"/>
            <a:ext cx="1139166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Enzimas são específicas em relação ao seu substrato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Ex: catalase quebra água oxigenada e APENAS água oxigenada.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Modelo chave-fechadura / Encaixe Induzido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descr="Teoria do encaixe induzido - Mundo Educação" id="159" name="Google Shape;15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3326" y="3624225"/>
            <a:ext cx="5165347" cy="2112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/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 txBox="1"/>
          <p:nvPr>
            <p:ph type="title"/>
          </p:nvPr>
        </p:nvSpPr>
        <p:spPr>
          <a:xfrm>
            <a:off x="226423" y="20572"/>
            <a:ext cx="1185236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lang="pt-BR" sz="5000">
                <a:solidFill>
                  <a:schemeClr val="lt1"/>
                </a:solidFill>
              </a:rPr>
              <a:t>Fatores que influenciam a atividade enzimática</a:t>
            </a:r>
            <a:endParaRPr/>
          </a:p>
        </p:txBody>
      </p:sp>
      <p:sp>
        <p:nvSpPr>
          <p:cNvPr id="166" name="Google Shape;166;p11"/>
          <p:cNvSpPr txBox="1"/>
          <p:nvPr>
            <p:ph idx="1" type="body"/>
          </p:nvPr>
        </p:nvSpPr>
        <p:spPr>
          <a:xfrm>
            <a:off x="321365" y="1719608"/>
            <a:ext cx="1139166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Toda enzima tem um pH e uma temperatura ótima de funcionamento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Saindo dessas faixas de pH e T, há uma redução na velocidade das reações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As enzimas possuem limite de substrato que conseguem trabalhar por vez, é como um limite de vagas de garagem de um estacionamento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descr="http://www.sobiologia.com.br/conteudos/figuras/quimica_vida/enzima4.JPG" id="167" name="Google Shape;16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239" y="3744917"/>
            <a:ext cx="2863108" cy="2699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sobiologia.com.br/conteudos/figuras/quimica_vida/enzima5.JPG" id="168" name="Google Shape;16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7329" y="3744917"/>
            <a:ext cx="2941091" cy="2699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1.bp.blogspot.com/-DpmyQv2bG_4/TwxSRYc_VLI/AAAAAAAAAAg/_6XO0Qqswog/s320/fig2.jpg" id="169" name="Google Shape;16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21810" y="3744917"/>
            <a:ext cx="2691065" cy="2699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"/>
          <p:cNvSpPr txBox="1"/>
          <p:nvPr>
            <p:ph type="title"/>
          </p:nvPr>
        </p:nvSpPr>
        <p:spPr>
          <a:xfrm>
            <a:off x="2152650" y="2057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pt-BR" sz="6000">
                <a:solidFill>
                  <a:schemeClr val="lt1"/>
                </a:solidFill>
              </a:rPr>
              <a:t>Ácidos Nucleicos</a:t>
            </a:r>
            <a:endParaRPr/>
          </a:p>
        </p:txBody>
      </p:sp>
      <p:sp>
        <p:nvSpPr>
          <p:cNvPr id="176" name="Google Shape;176;p12"/>
          <p:cNvSpPr txBox="1"/>
          <p:nvPr>
            <p:ph idx="1" type="body"/>
          </p:nvPr>
        </p:nvSpPr>
        <p:spPr>
          <a:xfrm>
            <a:off x="393517" y="1742492"/>
            <a:ext cx="1105825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Molécula de propriedades ácidas encontradas no núcleo das células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Armazenam informações genéticas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Hereditárias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DNA: ácido desoxirribonucleico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RNA: ácido ribonucleico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Formadas pela repetição de nucleotídeos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3"/>
          <p:cNvSpPr txBox="1"/>
          <p:nvPr>
            <p:ph type="title"/>
          </p:nvPr>
        </p:nvSpPr>
        <p:spPr>
          <a:xfrm>
            <a:off x="2152650" y="2057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pt-BR" sz="6000">
                <a:solidFill>
                  <a:schemeClr val="lt1"/>
                </a:solidFill>
              </a:rPr>
              <a:t>Nucleotídeos</a:t>
            </a:r>
            <a:endParaRPr/>
          </a:p>
        </p:txBody>
      </p:sp>
      <p:sp>
        <p:nvSpPr>
          <p:cNvPr id="183" name="Google Shape;183;p13"/>
          <p:cNvSpPr txBox="1"/>
          <p:nvPr>
            <p:ph idx="1" type="body"/>
          </p:nvPr>
        </p:nvSpPr>
        <p:spPr>
          <a:xfrm>
            <a:off x="457887" y="1585738"/>
            <a:ext cx="5259643" cy="5032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lang="pt-BR"/>
              <a:t>Ácido Fosfórico</a:t>
            </a:r>
            <a:r>
              <a:rPr lang="pt-BR"/>
              <a:t> (fosfato)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lang="pt-BR"/>
              <a:t>Pentose</a:t>
            </a:r>
            <a:r>
              <a:rPr lang="pt-BR"/>
              <a:t>: monossacarídeo de 5 carbonos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lang="pt-BR"/>
              <a:t>Ribose</a:t>
            </a:r>
            <a:r>
              <a:rPr lang="pt-BR"/>
              <a:t>: RNA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lang="pt-BR"/>
              <a:t>Desoxirribose</a:t>
            </a:r>
            <a:r>
              <a:rPr lang="pt-BR"/>
              <a:t>: DNA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lang="pt-BR"/>
              <a:t>Base Nitrogenada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lang="pt-BR"/>
              <a:t>A</a:t>
            </a:r>
            <a:r>
              <a:rPr lang="pt-BR"/>
              <a:t>denina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lang="pt-BR"/>
              <a:t>T</a:t>
            </a:r>
            <a:r>
              <a:rPr lang="pt-BR"/>
              <a:t>imina (apenas em DNA)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lang="pt-BR"/>
              <a:t>C</a:t>
            </a:r>
            <a:r>
              <a:rPr lang="pt-BR"/>
              <a:t>itosina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lang="pt-BR"/>
              <a:t>G</a:t>
            </a:r>
            <a:r>
              <a:rPr lang="pt-BR"/>
              <a:t>uanina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lang="pt-BR"/>
              <a:t>U</a:t>
            </a:r>
            <a:r>
              <a:rPr lang="pt-BR"/>
              <a:t>racila (apenas em RNA)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84" name="Google Shape;1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7549" y="1817351"/>
            <a:ext cx="4128881" cy="1774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ses Nitrogenadas - Bioquímica - InfoEscola" id="185" name="Google Shape;1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4471" y="3797256"/>
            <a:ext cx="4041958" cy="2821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4"/>
          <p:cNvSpPr txBox="1"/>
          <p:nvPr>
            <p:ph type="title"/>
          </p:nvPr>
        </p:nvSpPr>
        <p:spPr>
          <a:xfrm>
            <a:off x="2152650" y="2057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pt-BR" sz="6000">
                <a:solidFill>
                  <a:schemeClr val="lt1"/>
                </a:solidFill>
              </a:rPr>
              <a:t>Nucleotídeos</a:t>
            </a:r>
            <a:endParaRPr/>
          </a:p>
        </p:txBody>
      </p:sp>
      <p:pic>
        <p:nvPicPr>
          <p:cNvPr id="192" name="Google Shape;1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7120" y="4496570"/>
            <a:ext cx="4128881" cy="1774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ses Nitrogenadas - Bioquímica - InfoEscola" id="193" name="Google Shape;1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7548" y="3848242"/>
            <a:ext cx="4041958" cy="2821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83201" y="1366701"/>
            <a:ext cx="6982540" cy="248154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4"/>
          <p:cNvSpPr/>
          <p:nvPr/>
        </p:nvSpPr>
        <p:spPr>
          <a:xfrm rot="-2185226">
            <a:off x="3763618" y="3833640"/>
            <a:ext cx="1484243" cy="368255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4"/>
          <p:cNvSpPr/>
          <p:nvPr/>
        </p:nvSpPr>
        <p:spPr>
          <a:xfrm rot="-5400000">
            <a:off x="7848429" y="3819966"/>
            <a:ext cx="1330889" cy="242244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5"/>
          <p:cNvSpPr txBox="1"/>
          <p:nvPr>
            <p:ph type="title"/>
          </p:nvPr>
        </p:nvSpPr>
        <p:spPr>
          <a:xfrm>
            <a:off x="2152650" y="2057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pt-BR" sz="6000">
                <a:solidFill>
                  <a:schemeClr val="lt1"/>
                </a:solidFill>
              </a:rPr>
              <a:t>Bases Nitrogenadas</a:t>
            </a:r>
            <a:endParaRPr/>
          </a:p>
        </p:txBody>
      </p:sp>
      <p:sp>
        <p:nvSpPr>
          <p:cNvPr id="203" name="Google Shape;203;p15"/>
          <p:cNvSpPr txBox="1"/>
          <p:nvPr>
            <p:ph idx="1" type="body"/>
          </p:nvPr>
        </p:nvSpPr>
        <p:spPr>
          <a:xfrm>
            <a:off x="492721" y="1603154"/>
            <a:ext cx="7176881" cy="4907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lang="pt-BR"/>
              <a:t>Púricas</a:t>
            </a:r>
            <a:r>
              <a:rPr lang="pt-BR"/>
              <a:t> (2 anéis): </a:t>
            </a:r>
            <a:r>
              <a:rPr b="1" lang="pt-BR"/>
              <a:t>A</a:t>
            </a:r>
            <a:r>
              <a:rPr lang="pt-BR"/>
              <a:t>denina e </a:t>
            </a:r>
            <a:r>
              <a:rPr b="1" lang="pt-BR"/>
              <a:t>G</a:t>
            </a:r>
            <a:r>
              <a:rPr lang="pt-BR"/>
              <a:t>uanina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lang="pt-BR"/>
              <a:t>Pirimídicas</a:t>
            </a:r>
            <a:r>
              <a:rPr lang="pt-BR"/>
              <a:t> (1 anel): </a:t>
            </a:r>
            <a:r>
              <a:rPr b="1" lang="pt-BR"/>
              <a:t>C</a:t>
            </a:r>
            <a:r>
              <a:rPr lang="pt-BR"/>
              <a:t>itosina, </a:t>
            </a:r>
            <a:r>
              <a:rPr b="1" lang="pt-BR"/>
              <a:t>T</a:t>
            </a:r>
            <a:r>
              <a:rPr lang="pt-BR"/>
              <a:t>imina e </a:t>
            </a:r>
            <a:r>
              <a:rPr b="1" lang="pt-BR"/>
              <a:t>U</a:t>
            </a:r>
            <a:r>
              <a:rPr lang="pt-BR"/>
              <a:t>racila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Lembrando: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DNA: A,T,C,G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RNA: A,U,C,G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Bases Nitrogenadas - Bioquímica - InfoEscola" id="204" name="Google Shape;2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8211" y="2948696"/>
            <a:ext cx="4775457" cy="33332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6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6"/>
          <p:cNvSpPr txBox="1"/>
          <p:nvPr>
            <p:ph type="title"/>
          </p:nvPr>
        </p:nvSpPr>
        <p:spPr>
          <a:xfrm>
            <a:off x="1524000" y="20570"/>
            <a:ext cx="9144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b="1" lang="pt-BR" sz="5000">
                <a:solidFill>
                  <a:schemeClr val="lt1"/>
                </a:solidFill>
              </a:rPr>
              <a:t>Nucleotídeos – Ligação Fosfodiéster</a:t>
            </a:r>
            <a:endParaRPr/>
          </a:p>
        </p:txBody>
      </p:sp>
      <p:sp>
        <p:nvSpPr>
          <p:cNvPr id="211" name="Google Shape;211;p16"/>
          <p:cNvSpPr txBox="1"/>
          <p:nvPr>
            <p:ph idx="1" type="body"/>
          </p:nvPr>
        </p:nvSpPr>
        <p:spPr>
          <a:xfrm>
            <a:off x="549137" y="1522306"/>
            <a:ext cx="8740637" cy="4907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Ligação entre nucleotídeos de uma </a:t>
            </a:r>
            <a:r>
              <a:rPr b="1" lang="pt-BR"/>
              <a:t>mesma fita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Regra: a fita cresce de 5’ 🡪 3’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Fosfato ligado no Carbono 5 de um nucleotídeo se ligando ao Carbono 3 de outro nucleotídeo</a:t>
            </a:r>
            <a:endParaRPr/>
          </a:p>
        </p:txBody>
      </p:sp>
      <p:pic>
        <p:nvPicPr>
          <p:cNvPr id="212" name="Google Shape;2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9887" y="3703239"/>
            <a:ext cx="4042020" cy="1436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3980" y="5272263"/>
            <a:ext cx="4042020" cy="143650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6"/>
          <p:cNvSpPr txBox="1"/>
          <p:nvPr/>
        </p:nvSpPr>
        <p:spPr>
          <a:xfrm>
            <a:off x="1781589" y="3703239"/>
            <a:ext cx="3593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5’</a:t>
            </a:r>
            <a:endParaRPr/>
          </a:p>
        </p:txBody>
      </p:sp>
      <p:sp>
        <p:nvSpPr>
          <p:cNvPr id="215" name="Google Shape;215;p16"/>
          <p:cNvSpPr txBox="1"/>
          <p:nvPr/>
        </p:nvSpPr>
        <p:spPr>
          <a:xfrm>
            <a:off x="1723953" y="6136286"/>
            <a:ext cx="3593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3’</a:t>
            </a:r>
            <a:endParaRPr/>
          </a:p>
        </p:txBody>
      </p:sp>
      <p:cxnSp>
        <p:nvCxnSpPr>
          <p:cNvPr id="216" name="Google Shape;216;p16"/>
          <p:cNvCxnSpPr/>
          <p:nvPr/>
        </p:nvCxnSpPr>
        <p:spPr>
          <a:xfrm>
            <a:off x="1903650" y="4174436"/>
            <a:ext cx="0" cy="1816079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7" name="Google Shape;217;p16"/>
          <p:cNvSpPr txBox="1"/>
          <p:nvPr/>
        </p:nvSpPr>
        <p:spPr>
          <a:xfrm>
            <a:off x="3980054" y="407257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18" name="Google Shape;218;p16"/>
          <p:cNvSpPr txBox="1"/>
          <p:nvPr/>
        </p:nvSpPr>
        <p:spPr>
          <a:xfrm>
            <a:off x="3924147" y="478312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19" name="Google Shape;219;p16"/>
          <p:cNvSpPr txBox="1"/>
          <p:nvPr/>
        </p:nvSpPr>
        <p:spPr>
          <a:xfrm>
            <a:off x="3138541" y="459846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20" name="Google Shape;220;p16"/>
          <p:cNvSpPr txBox="1"/>
          <p:nvPr/>
        </p:nvSpPr>
        <p:spPr>
          <a:xfrm>
            <a:off x="3153081" y="405295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21" name="Google Shape;221;p16"/>
          <p:cNvSpPr txBox="1"/>
          <p:nvPr/>
        </p:nvSpPr>
        <p:spPr>
          <a:xfrm>
            <a:off x="2794354" y="417443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22" name="Google Shape;222;p16"/>
          <p:cNvSpPr txBox="1"/>
          <p:nvPr/>
        </p:nvSpPr>
        <p:spPr>
          <a:xfrm>
            <a:off x="3924147" y="567835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23" name="Google Shape;223;p16"/>
          <p:cNvSpPr txBox="1"/>
          <p:nvPr/>
        </p:nvSpPr>
        <p:spPr>
          <a:xfrm>
            <a:off x="3868240" y="638891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24" name="Google Shape;224;p16"/>
          <p:cNvSpPr txBox="1"/>
          <p:nvPr/>
        </p:nvSpPr>
        <p:spPr>
          <a:xfrm>
            <a:off x="3082634" y="620424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25" name="Google Shape;225;p16"/>
          <p:cNvSpPr txBox="1"/>
          <p:nvPr/>
        </p:nvSpPr>
        <p:spPr>
          <a:xfrm>
            <a:off x="3097174" y="565874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26" name="Google Shape;226;p16"/>
          <p:cNvSpPr txBox="1"/>
          <p:nvPr/>
        </p:nvSpPr>
        <p:spPr>
          <a:xfrm>
            <a:off x="2738447" y="578021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cxnSp>
        <p:nvCxnSpPr>
          <p:cNvPr id="227" name="Google Shape;227;p16"/>
          <p:cNvCxnSpPr/>
          <p:nvPr/>
        </p:nvCxnSpPr>
        <p:spPr>
          <a:xfrm flipH="1">
            <a:off x="2902226" y="4925057"/>
            <a:ext cx="496634" cy="521587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7"/>
          <p:cNvSpPr txBox="1"/>
          <p:nvPr>
            <p:ph type="title"/>
          </p:nvPr>
        </p:nvSpPr>
        <p:spPr>
          <a:xfrm>
            <a:off x="1524000" y="20570"/>
            <a:ext cx="9144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</a:rPr>
              <a:t>Nucleotídeos – Ligações de Hidrogênio</a:t>
            </a:r>
            <a:endParaRPr/>
          </a:p>
        </p:txBody>
      </p:sp>
      <p:sp>
        <p:nvSpPr>
          <p:cNvPr id="234" name="Google Shape;234;p17"/>
          <p:cNvSpPr txBox="1"/>
          <p:nvPr>
            <p:ph idx="1" type="body"/>
          </p:nvPr>
        </p:nvSpPr>
        <p:spPr>
          <a:xfrm>
            <a:off x="618310" y="1594445"/>
            <a:ext cx="9143999" cy="4907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 sz="2400"/>
              <a:t>Ligação entre as bases nitrogenadas de fitas complementares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 sz="2400"/>
              <a:t>Regra: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pt-BR" sz="2000"/>
              <a:t>DNA: A – T; C – G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pt-BR" sz="2000"/>
              <a:t>RNA: A – U; C – 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DNA, o sentido da vida?" id="235" name="Google Shape;2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4583" y="2506584"/>
            <a:ext cx="6668472" cy="3867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8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 txBox="1"/>
          <p:nvPr>
            <p:ph type="title"/>
          </p:nvPr>
        </p:nvSpPr>
        <p:spPr>
          <a:xfrm>
            <a:off x="1524000" y="20570"/>
            <a:ext cx="9144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</a:rPr>
              <a:t>Nucleotídeos – Teorema de Chargaff</a:t>
            </a:r>
            <a:endParaRPr b="1" sz="4500">
              <a:solidFill>
                <a:schemeClr val="lt1"/>
              </a:solidFill>
            </a:endParaRPr>
          </a:p>
        </p:txBody>
      </p:sp>
      <p:sp>
        <p:nvSpPr>
          <p:cNvPr id="242" name="Google Shape;242;p18"/>
          <p:cNvSpPr txBox="1"/>
          <p:nvPr>
            <p:ph idx="1" type="body"/>
          </p:nvPr>
        </p:nvSpPr>
        <p:spPr>
          <a:xfrm>
            <a:off x="496391" y="1589902"/>
            <a:ext cx="9143999" cy="4907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 sz="2400"/>
              <a:t>A / T = C / 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 sz="2400"/>
              <a:t>Quantidade de A = 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 sz="2400"/>
              <a:t>Quantidade de C = 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 sz="2400"/>
              <a:t>Ex: se uma molécula dupla fita tem 20% de Adenina, quanto terá de Guanina?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pt-BR" sz="4000"/>
              <a:t>20% A – T 20%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pt-BR" sz="4000"/>
              <a:t>30% C – G 30%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9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 txBox="1"/>
          <p:nvPr>
            <p:ph type="title"/>
          </p:nvPr>
        </p:nvSpPr>
        <p:spPr>
          <a:xfrm>
            <a:off x="1524000" y="20570"/>
            <a:ext cx="9144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</a:rPr>
              <a:t>DNA x RNA</a:t>
            </a:r>
            <a:endParaRPr/>
          </a:p>
        </p:txBody>
      </p:sp>
      <p:pic>
        <p:nvPicPr>
          <p:cNvPr id="249" name="Google Shape;24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1662" y="2037501"/>
            <a:ext cx="8188675" cy="430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2021-05-09T19:31:11Z</dcterms:created>
  <dc:creator>Bruno Barbosa</dc:creator>
</cp:coreProperties>
</file>