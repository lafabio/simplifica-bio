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0072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829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7470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6607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7491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5898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559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848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9213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3531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94D87-2D78-4151-AAC5-48203739990A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27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94D87-2D78-4151-AAC5-48203739990A}" type="datetimeFigureOut">
              <a:rPr lang="pt-BR" smtClean="0"/>
              <a:t>09/05/2021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56CB00-9CC8-4689-A1A8-3EBAB0C9AEB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74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Trio de cientistas ganha Nobel de Química por capturar imagens de  biomoléculas | Nota Alta ESPM">
            <a:extLst>
              <a:ext uri="{FF2B5EF4-FFF2-40B4-BE49-F238E27FC236}">
                <a16:creationId xmlns:a16="http://schemas.microsoft.com/office/drawing/2014/main" id="{61079AD2-BB25-44F9-849C-4D0D47EF8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211197" cy="509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Trio de cientistas ganha Nobel de Química por capturar imagens de  biomoléculas | Nota Alta ESPM">
            <a:extLst>
              <a:ext uri="{FF2B5EF4-FFF2-40B4-BE49-F238E27FC236}">
                <a16:creationId xmlns:a16="http://schemas.microsoft.com/office/drawing/2014/main" id="{80043FF9-253C-4D2E-B825-4A0607524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8462"/>
            <a:ext cx="12211197" cy="5099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435979C-8683-4775-A51B-7B69B8A51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1316038"/>
          </a:xfr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Biomoléculas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B4C986-036F-4177-A597-967B1FA8B789}"/>
              </a:ext>
            </a:extLst>
          </p:cNvPr>
          <p:cNvSpPr txBox="1">
            <a:spLocks/>
          </p:cNvSpPr>
          <p:nvPr/>
        </p:nvSpPr>
        <p:spPr>
          <a:xfrm>
            <a:off x="0" y="2272751"/>
            <a:ext cx="12192000" cy="1775526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 fontScale="3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8000" dirty="0"/>
          </a:p>
          <a:p>
            <a:pPr>
              <a:lnSpc>
                <a:spcPct val="120000"/>
              </a:lnSpc>
            </a:pPr>
            <a:r>
              <a:rPr lang="pt-BR" sz="8000" b="1" dirty="0"/>
              <a:t>Carboidratos</a:t>
            </a:r>
          </a:p>
          <a:p>
            <a:pPr>
              <a:lnSpc>
                <a:spcPct val="120000"/>
              </a:lnSpc>
            </a:pPr>
            <a:r>
              <a:rPr lang="pt-BR" sz="8000" b="1" dirty="0"/>
              <a:t>Lipídios</a:t>
            </a:r>
          </a:p>
          <a:p>
            <a:pPr>
              <a:lnSpc>
                <a:spcPct val="120000"/>
              </a:lnSpc>
            </a:pPr>
            <a:r>
              <a:rPr lang="pt-BR" sz="8000" b="1" dirty="0"/>
              <a:t>Vitaminas</a:t>
            </a:r>
          </a:p>
          <a:p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1313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2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</a:rPr>
              <a:t>Glicídios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64" y="1719607"/>
            <a:ext cx="11274287" cy="494623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Também chamados de Carboidratos e Açúcares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Principal fonte de energia para os seres vivos (Glicose)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Exemplos: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Mel – Glicose;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Cana – sacarose;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Leite – galactose;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Frutos – frutose;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Possuem função estrutural também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Parede das células vegetais – celulose;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Exoesqueleto de artrópodes – quitina;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Parede celular dos fungos – quitina;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Compõem, também, os ácidos nucleicos (DNA e RNA)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4654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2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</a:rPr>
              <a:t>Glicídios - Classificação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64" y="1719607"/>
            <a:ext cx="11274287" cy="4946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Monossacarídeos (n de 2 a 8)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Glicídios mais simples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Possuem energia para uso IMEDIATO;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 marL="0" indent="0">
              <a:buNone/>
            </a:pPr>
            <a:r>
              <a:rPr lang="pt-BR" dirty="0"/>
              <a:t>A)Pentoses: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Ribose – ácido ribonucleico (RNA)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Desoxirribose – ácido desoxirribonucleico (DNA)</a:t>
            </a:r>
          </a:p>
          <a:p>
            <a:pPr marL="0" indent="0">
              <a:buNone/>
            </a:pPr>
            <a:r>
              <a:rPr lang="pt-BR" dirty="0"/>
              <a:t>B) Hexoses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Glicose (C6H12O6):  obtenção de energia. Fabricada na fotossíntese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Frutose: papel energético. Encontrada em frutos e esperma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Galactose: constituinte da lactose do leite. Papel energético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83528F0B-137F-4F75-88AF-75E3FD264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921" y="1474442"/>
            <a:ext cx="495173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920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2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</a:rPr>
              <a:t>Glicídios - Classificação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64" y="1719607"/>
            <a:ext cx="11274287" cy="4946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Oligossacarídeos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União de algumas unidades de monossacarídeos.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Dissacarídeos são os mais abundantes (formados por 2 monossacarídeos)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FAE7F7C7-B105-4C36-9A0B-1B39F651A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85946"/>
              </p:ext>
            </p:extLst>
          </p:nvPr>
        </p:nvGraphicFramePr>
        <p:xfrm>
          <a:off x="2603612" y="3311488"/>
          <a:ext cx="6984775" cy="29523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27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7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87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0491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600" dirty="0">
                          <a:effectLst/>
                          <a:latin typeface="Arial" panose="020B0604020202020204" pitchFamily="34" charset="0"/>
                          <a:ea typeface="Times New Roman" panose="02020603050405020304" charset="0"/>
                          <a:cs typeface="Times New Roman" panose="02020603050405020304" charset="0"/>
                        </a:rPr>
                        <a:t>Dissacarídeos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600">
                          <a:effectLst/>
                          <a:latin typeface="Arial" panose="020B0604020202020204" pitchFamily="34" charset="0"/>
                          <a:ea typeface="Times New Roman" panose="02020603050405020304" charset="0"/>
                          <a:cs typeface="Times New Roman" panose="02020603050405020304" charset="0"/>
                        </a:rPr>
                        <a:t>Unidades formadoras (monossacarídeos)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600">
                          <a:effectLst/>
                          <a:latin typeface="Arial" panose="020B0604020202020204" pitchFamily="34" charset="0"/>
                          <a:ea typeface="Times New Roman" panose="02020603050405020304" charset="0"/>
                          <a:cs typeface="Times New Roman" panose="02020603050405020304" charset="0"/>
                        </a:rPr>
                        <a:t>Fonte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4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600" dirty="0">
                          <a:effectLst/>
                          <a:latin typeface="Arial" panose="020B0604020202020204" pitchFamily="34" charset="0"/>
                          <a:ea typeface="Times New Roman" panose="02020603050405020304" charset="0"/>
                          <a:cs typeface="Times New Roman" panose="02020603050405020304" charset="0"/>
                        </a:rPr>
                        <a:t>Sacarose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600" dirty="0">
                          <a:effectLst/>
                          <a:latin typeface="Arial" panose="020B0604020202020204" pitchFamily="34" charset="0"/>
                          <a:ea typeface="Times New Roman" panose="02020603050405020304" charset="0"/>
                          <a:cs typeface="Times New Roman" panose="02020603050405020304" charset="0"/>
                        </a:rPr>
                        <a:t>Glicose + Frutose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600">
                          <a:effectLst/>
                          <a:latin typeface="Arial" panose="020B0604020202020204" pitchFamily="34" charset="0"/>
                          <a:ea typeface="Times New Roman" panose="02020603050405020304" charset="0"/>
                          <a:cs typeface="Times New Roman" panose="02020603050405020304" charset="0"/>
                        </a:rPr>
                        <a:t>Cana; Beterraba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4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600">
                          <a:effectLst/>
                          <a:latin typeface="Arial" panose="020B0604020202020204" pitchFamily="34" charset="0"/>
                          <a:ea typeface="Times New Roman" panose="02020603050405020304" charset="0"/>
                          <a:cs typeface="Times New Roman" panose="02020603050405020304" charset="0"/>
                        </a:rPr>
                        <a:t>Lactose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600" dirty="0">
                          <a:effectLst/>
                          <a:latin typeface="Arial" panose="020B0604020202020204" pitchFamily="34" charset="0"/>
                          <a:ea typeface="Times New Roman" panose="02020603050405020304" charset="0"/>
                          <a:cs typeface="Times New Roman" panose="02020603050405020304" charset="0"/>
                        </a:rPr>
                        <a:t>Glicose + Galactose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600" dirty="0">
                          <a:effectLst/>
                          <a:latin typeface="Arial" panose="020B0604020202020204" pitchFamily="34" charset="0"/>
                          <a:ea typeface="Times New Roman" panose="02020603050405020304" charset="0"/>
                          <a:cs typeface="Times New Roman" panose="02020603050405020304" charset="0"/>
                        </a:rPr>
                        <a:t>Leite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47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600">
                          <a:effectLst/>
                          <a:latin typeface="Arial" panose="020B0604020202020204" pitchFamily="34" charset="0"/>
                          <a:ea typeface="Times New Roman" panose="02020603050405020304" charset="0"/>
                          <a:cs typeface="Times New Roman" panose="02020603050405020304" charset="0"/>
                        </a:rPr>
                        <a:t>Maltose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600">
                          <a:effectLst/>
                          <a:latin typeface="Arial" panose="020B0604020202020204" pitchFamily="34" charset="0"/>
                          <a:ea typeface="Times New Roman" panose="02020603050405020304" charset="0"/>
                          <a:cs typeface="Times New Roman" panose="02020603050405020304" charset="0"/>
                        </a:rPr>
                        <a:t>Glicose + Glicose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pt-BR" sz="1600" dirty="0">
                          <a:effectLst/>
                          <a:latin typeface="Arial" panose="020B0604020202020204" pitchFamily="34" charset="0"/>
                          <a:ea typeface="Times New Roman" panose="02020603050405020304" charset="0"/>
                          <a:cs typeface="Times New Roman" panose="02020603050405020304" charset="0"/>
                        </a:rPr>
                        <a:t>Cereais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4974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086675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453" y="-43637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</a:rPr>
              <a:t>Glicídios - Classificação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0318"/>
            <a:ext cx="12099235" cy="4946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Polissacarídeos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Os mais abundantes da natureza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Grandes, formados por centenas de monossacarídeos = macromoléculas;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Podem ser classificados em Estruturais (Celulose e Quitina) ou de Reserva (Amido e Glicogênio)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F7D0EC5B-B709-4834-AC8A-C9C13286F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564181"/>
              </p:ext>
            </p:extLst>
          </p:nvPr>
        </p:nvGraphicFramePr>
        <p:xfrm>
          <a:off x="1060174" y="5088933"/>
          <a:ext cx="10972799" cy="1656184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704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79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80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Arial" panose="020B0604020202020204" pitchFamily="34" charset="0"/>
                          <a:ea typeface="Times New Roman" panose="02020603050405020304" charset="0"/>
                          <a:cs typeface="Times New Roman" panose="02020603050405020304" charset="0"/>
                        </a:rPr>
                        <a:t>Celulose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600" b="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b="0" dirty="0">
                          <a:effectLst/>
                          <a:latin typeface="Arial" panose="020B0604020202020204" pitchFamily="34" charset="0"/>
                          <a:ea typeface="Times New Roman" panose="02020603050405020304" charset="0"/>
                          <a:cs typeface="Times New Roman" panose="02020603050405020304" charset="0"/>
                        </a:rPr>
                        <a:t>Participa da composição da parede celular dos vegetais. É o carboidrato mais abundante na natureza.</a:t>
                      </a:r>
                      <a:endParaRPr lang="pt-BR" sz="1600" b="0" dirty="0">
                        <a:effectLst/>
                        <a:latin typeface="Arial" panose="020B0604020202020204" pitchFamily="34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10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Arial" panose="020B0604020202020204" pitchFamily="34" charset="0"/>
                          <a:ea typeface="Times New Roman" panose="02020603050405020304" charset="0"/>
                          <a:cs typeface="Times New Roman" panose="02020603050405020304" charset="0"/>
                        </a:rPr>
                        <a:t>Quitina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6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Arial" panose="020B0604020202020204" pitchFamily="34" charset="0"/>
                          <a:ea typeface="Times New Roman" panose="02020603050405020304" charset="0"/>
                          <a:cs typeface="Times New Roman" panose="02020603050405020304" charset="0"/>
                        </a:rPr>
                        <a:t>Está presente na parede celular de fungos e no exoesqueleto dos artrópodes.</a:t>
                      </a:r>
                      <a:endParaRPr lang="pt-BR" sz="1600" dirty="0">
                        <a:effectLst/>
                        <a:latin typeface="Arial" panose="020B0604020202020204" pitchFamily="34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DFA9BDFF-6D3B-4DF8-AEA2-65A05F81C3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465220"/>
              </p:ext>
            </p:extLst>
          </p:nvPr>
        </p:nvGraphicFramePr>
        <p:xfrm>
          <a:off x="1060172" y="3288733"/>
          <a:ext cx="10972800" cy="180020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692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02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533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Arial" panose="020B0604020202020204" pitchFamily="34" charset="0"/>
                          <a:ea typeface="Times New Roman" panose="02020603050405020304" charset="0"/>
                          <a:cs typeface="Times New Roman" panose="02020603050405020304" charset="0"/>
                        </a:rPr>
                        <a:t>Amido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6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Arial" panose="020B0604020202020204" pitchFamily="34" charset="0"/>
                          <a:ea typeface="Times New Roman" panose="02020603050405020304" charset="0"/>
                          <a:cs typeface="Times New Roman" panose="02020603050405020304" charset="0"/>
                        </a:rPr>
                        <a:t>Apresenta função de reserva. É encontrado nos vegetais.</a:t>
                      </a:r>
                      <a:endParaRPr lang="pt-BR" sz="1600" dirty="0">
                        <a:effectLst/>
                        <a:latin typeface="Arial" panose="020B0604020202020204" pitchFamily="34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48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Arial" panose="020B0604020202020204" pitchFamily="34" charset="0"/>
                          <a:ea typeface="Times New Roman" panose="02020603050405020304" charset="0"/>
                          <a:cs typeface="Times New Roman" panose="02020603050405020304" charset="0"/>
                        </a:rPr>
                        <a:t>Glicogênio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pt-BR" sz="1600" dirty="0">
                        <a:effectLst/>
                        <a:latin typeface="Arial" panose="020B0604020202020204" pitchFamily="34" charset="0"/>
                        <a:ea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600" dirty="0">
                          <a:effectLst/>
                          <a:latin typeface="Arial" panose="020B0604020202020204" pitchFamily="34" charset="0"/>
                          <a:ea typeface="Times New Roman" panose="02020603050405020304" charset="0"/>
                          <a:cs typeface="Times New Roman" panose="02020603050405020304" charset="0"/>
                        </a:rPr>
                        <a:t>É o carboidrato de reserva dos animais e dos fungos. É armazenado nos músculos e no fígado dos animais.</a:t>
                      </a:r>
                      <a:endParaRPr lang="pt-BR" sz="1600" dirty="0">
                        <a:effectLst/>
                        <a:latin typeface="Arial" panose="020B0604020202020204" pitchFamily="34" charset="0"/>
                        <a:ea typeface="Calibri" panose="020F0502020204030204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0E6803AA-589F-49A0-AC3C-D011F80016B8}"/>
              </a:ext>
            </a:extLst>
          </p:cNvPr>
          <p:cNvSpPr txBox="1"/>
          <p:nvPr/>
        </p:nvSpPr>
        <p:spPr>
          <a:xfrm rot="16200000">
            <a:off x="71832" y="5701582"/>
            <a:ext cx="141327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200" dirty="0"/>
              <a:t>Estruturais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BAB714A-C534-4EB2-A683-CE502621089E}"/>
              </a:ext>
            </a:extLst>
          </p:cNvPr>
          <p:cNvSpPr txBox="1"/>
          <p:nvPr/>
        </p:nvSpPr>
        <p:spPr>
          <a:xfrm>
            <a:off x="536951" y="3603435"/>
            <a:ext cx="523220" cy="991618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pt-BR" sz="2200" dirty="0"/>
              <a:t>Reserva</a:t>
            </a:r>
          </a:p>
        </p:txBody>
      </p:sp>
    </p:spTree>
    <p:extLst>
      <p:ext uri="{BB962C8B-B14F-4D97-AF65-F5344CB8AC3E}">
        <p14:creationId xmlns:p14="http://schemas.microsoft.com/office/powerpoint/2010/main" val="2118709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2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</a:rPr>
              <a:t>Lipídios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65" y="1719607"/>
            <a:ext cx="7152862" cy="4946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São os óleos, gorduras e ceras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Apolares = NÃO se dissolvem em água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União de ácido graxo  (ácido carboxílico com cadeias longas) com álcool  através de reação de esterificação.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5" name="Picture 2" descr="http://1.bp.blogspot.com/-Hn0-V81XNZU/Ube5ZCviuEI/AAAAAAAAAH0/51ZWI95pO1M/s1600/images.jpg">
            <a:extLst>
              <a:ext uri="{FF2B5EF4-FFF2-40B4-BE49-F238E27FC236}">
                <a16:creationId xmlns:a16="http://schemas.microsoft.com/office/drawing/2014/main" id="{420DAD12-5456-4418-8CCD-C1F930ABA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4227" y="1699038"/>
            <a:ext cx="4464496" cy="3680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4167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2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</a:rPr>
              <a:t>Lipídios - Funções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65" y="1719607"/>
            <a:ext cx="11473070" cy="4946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Reserva energética;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600" dirty="0"/>
              <a:t>Adipócitos </a:t>
            </a:r>
            <a:r>
              <a:rPr lang="pt-BR" sz="2600" dirty="0">
                <a:sym typeface="Wingdings" panose="05000000000000000000" pitchFamily="2" charset="2"/>
              </a:rPr>
              <a:t>= células que armazenam lipídios</a:t>
            </a: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Composição da Membrana Plasmática, vitaminas e hormônios;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Proteção mecânica;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Hormonal – produção de hormônios sexuais: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testosterona, estrógeno, progesterona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Isolante térmico e elétrico;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Impermeabilização – evita perda de água e impermeabiliza penas das aves.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Absorção de vitaminas Lipossolúveis (D,E,K,A)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58610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2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</a:rPr>
              <a:t>Lipídios - Classificação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65" y="1719607"/>
            <a:ext cx="11473070" cy="4946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A) Gorduras (</a:t>
            </a:r>
            <a:r>
              <a:rPr lang="pt-BR" dirty="0" err="1"/>
              <a:t>TriGlicerídeos</a:t>
            </a:r>
            <a:r>
              <a:rPr lang="pt-BR" dirty="0"/>
              <a:t>) = 3 Ácidos Graxos + Glicerol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São as gorduras mais comuns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DA5EAE44-11B1-4E04-96D0-6F17D2198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925" y="2965644"/>
            <a:ext cx="6711950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434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2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</a:rPr>
              <a:t>Lipídios - Triglicerídeos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65" y="1719607"/>
            <a:ext cx="11473070" cy="4946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Lipídios podem ser saturados ou insaturados, de acordo com a cadeia carbônica do seu ácido graxo.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Saturados = gorduras, sólidas em T ambiente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Ex: gordura animal, manteiga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Insaturados = óleos, líquidos em T ambiente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ex: óleo de oliva, óleo de fígado de bacalhau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Saturados mais maléficos a saúde (aterosclerose)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8825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687" y="20572"/>
            <a:ext cx="9846365" cy="1325563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</a:rPr>
              <a:t>Lipídios – Gordura TRANS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65" y="1719607"/>
            <a:ext cx="11473070" cy="4946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Contida em produtos industrializados (ex: sorvete, batata frita, BISCOITOS, gordura da picanha, do bacon)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Produzida em processo de hidrogenação ou </a:t>
            </a:r>
            <a:r>
              <a:rPr lang="pt-BR" dirty="0" err="1"/>
              <a:t>interesterificação</a:t>
            </a: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Pode provocar danos a saúde pois diminui o colesterol bom (HDL) e aumenta o ruim (LDL)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0315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2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</a:rPr>
              <a:t>Lipídios - Classificação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65" y="1719607"/>
            <a:ext cx="11473070" cy="4946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B) Fosfolipídios – Fosfato (PO4-3) + lipídio (2 </a:t>
            </a:r>
            <a:r>
              <a:rPr lang="pt-BR" dirty="0" err="1"/>
              <a:t>ác</a:t>
            </a:r>
            <a:r>
              <a:rPr lang="pt-BR" dirty="0"/>
              <a:t>. Graxo + glicerol).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600" dirty="0"/>
              <a:t>Lipídios = APOLAR. Fosfato = POLAR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600" dirty="0"/>
              <a:t>Anfipáticos = possuem uma região polar e uma apolar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600" dirty="0"/>
              <a:t>Constituintes das membranas celulares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C34BCB04-FC60-4B63-970B-F83AD2F3B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522" y="3557270"/>
            <a:ext cx="2856865" cy="3066415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4C49707E-0FBC-45B2-AA5B-AF2D88AB5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762" y="3429000"/>
            <a:ext cx="4531360" cy="3194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079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2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</a:rPr>
              <a:t>Lipídios - Classificação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65" y="1719607"/>
            <a:ext cx="11473070" cy="4946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C) </a:t>
            </a:r>
            <a:r>
              <a:rPr lang="pt-BR" dirty="0" err="1"/>
              <a:t>Carotenóides</a:t>
            </a:r>
            <a:r>
              <a:rPr lang="pt-BR" dirty="0"/>
              <a:t> – mais presentes nas plantas.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600" dirty="0"/>
              <a:t>Ex: betacaroteno (cenoura) – precursor de vitamina A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9" name="Picture 3">
            <a:extLst>
              <a:ext uri="{FF2B5EF4-FFF2-40B4-BE49-F238E27FC236}">
                <a16:creationId xmlns:a16="http://schemas.microsoft.com/office/drawing/2014/main" id="{07171F5B-EE4F-4D24-B0FC-5B9E4A78D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942" y="2843972"/>
            <a:ext cx="6000115" cy="359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012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2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</a:rPr>
              <a:t>Lipídios - Classificação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365" y="1719607"/>
            <a:ext cx="11473070" cy="4946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D) Cerídeos – São as ceras. São os lipídios mais insolúveis em água.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600" dirty="0"/>
              <a:t>Ex: cera de ouvido, de abelha, recobre folha das plantas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7" name="Picture 4" descr="http://oglobo.globo.com/fotos/2007/01/31/31_MVG_viv_OUVIDO_3101.jpg">
            <a:extLst>
              <a:ext uri="{FF2B5EF4-FFF2-40B4-BE49-F238E27FC236}">
                <a16:creationId xmlns:a16="http://schemas.microsoft.com/office/drawing/2014/main" id="{702DC454-AD06-46A2-9338-013073051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651000"/>
            <a:ext cx="3298708" cy="4215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http://laszlo.ind.br/loja/imagens/produtos/1196/cera%20de%20abelha-001.jpg">
            <a:extLst>
              <a:ext uri="{FF2B5EF4-FFF2-40B4-BE49-F238E27FC236}">
                <a16:creationId xmlns:a16="http://schemas.microsoft.com/office/drawing/2014/main" id="{EE9036D3-3CB5-4CCA-9852-57CB95F0A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6626" y="2681533"/>
            <a:ext cx="4171823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8001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572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</a:rPr>
              <a:t>Lipídios - Classificação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87085"/>
            <a:ext cx="11473070" cy="4946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E) </a:t>
            </a:r>
            <a:r>
              <a:rPr lang="pt-BR" dirty="0" err="1"/>
              <a:t>Esteróides</a:t>
            </a:r>
            <a:r>
              <a:rPr lang="pt-BR" dirty="0"/>
              <a:t> – Principal: colesterol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600" dirty="0"/>
              <a:t>Presente nas membranas celulares e hormônios sexuais (testosterona, estrogênio e progesterona)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600" dirty="0"/>
              <a:t>Colesterol encontrado apenas em animais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600" dirty="0"/>
              <a:t>LDL – Lipoproteína de baixa densidade; 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pt-BR" sz="2400" dirty="0"/>
              <a:t>mal colesterol – acúmulo nos vasos = aterosclerose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pt-BR" sz="2400" dirty="0"/>
              <a:t>Leva colesterol para as células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600" dirty="0"/>
              <a:t>HDL – Lipoproteína de alta densidade;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pt-BR" sz="2400" dirty="0"/>
              <a:t>bom colesterol – Leva colesterol de volta ao fígado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pt-BR" sz="2400" dirty="0"/>
              <a:t>Metabolizado no fígado e excretado na bile (sais biliares)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pt-BR" sz="2600" dirty="0"/>
              <a:t>VLDL - lipoproteína de baixíssima densidade, sem absorção celular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42632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Manteiga BATAVO Extra com Sal Tablete 200g - Casa Fiesta">
            <a:extLst>
              <a:ext uri="{FF2B5EF4-FFF2-40B4-BE49-F238E27FC236}">
                <a16:creationId xmlns:a16="http://schemas.microsoft.com/office/drawing/2014/main" id="{56954E12-AA1C-4698-B82B-47935BBF4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344" y="960817"/>
            <a:ext cx="3493605" cy="3493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572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</a:rPr>
              <a:t>Lipídios – Manteiga x Margarina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87085"/>
            <a:ext cx="11473070" cy="4946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Manteiga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Origem animal (leite)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Gordura saturada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Colesterol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Margarina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Origem vegetal (óleo/gordura vegetal)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Gordura trans (hidrogenação)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Artificial, com aditivos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  <p:pic>
        <p:nvPicPr>
          <p:cNvPr id="2050" name="Picture 2" descr="Margarina Qualy Com Sal 500g">
            <a:extLst>
              <a:ext uri="{FF2B5EF4-FFF2-40B4-BE49-F238E27FC236}">
                <a16:creationId xmlns:a16="http://schemas.microsoft.com/office/drawing/2014/main" id="{465BB098-C372-43A2-A9E9-02F916E0A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386" y="3828153"/>
            <a:ext cx="2885523" cy="2885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0181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</a:rPr>
              <a:t>Vitaminas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87085"/>
            <a:ext cx="11473070" cy="4946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São essenciais para o metabolismo;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Ingestão de pequenas quantidades de vitaminas;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Cofatores enzimáticos = algumas enzimas necessitam se conjugar a vitaminas;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Classificadas pela solubilidade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Hidrossolúveis – polares – complexo B e C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Lipossolúveis – apolares – D,E,K,A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Vitaminas hidrossolúveis entram e saem mais fácil do corpo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Doses diárias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Excesso eliminado na urina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Vitaminas lipossolúveis ficam estocadas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Excesso pode ser tóxico (hepatite tóxica)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8259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</a:rPr>
              <a:t>Vitamina 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87085"/>
            <a:ext cx="11473070" cy="4946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Retinol;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Produzidos a partir do lipídeo – Betacaroteno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Beterraba, cenoura, abóbora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Combate Radicais Livres (moléculas que causam a morte celular);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Insuficiência pode causar Cegueira noturna e xeroftalmia;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Renovação dos epitélios;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dirty="0"/>
              <a:t>Verão – suco de cenoura, beterraba com cenoura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dirty="0"/>
              <a:t>Fontes: Fígado, leite, hortaliças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12394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</a:rPr>
              <a:t>Vitamina B1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87085"/>
            <a:ext cx="11473070" cy="4946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Tiamina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Síntese de proteínas e respiração celular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Aumento de metabolismo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Cereais integrais, levedo de cerveja, banana, fígado, ovo e leite, carne de porco;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Inflamação dos nervos, fraqueza muscular e Beri </a:t>
            </a:r>
            <a:r>
              <a:rPr lang="pt-BR" sz="2600" dirty="0" err="1"/>
              <a:t>Béri</a:t>
            </a: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698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</a:rPr>
              <a:t>Vitamina B2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87085"/>
            <a:ext cx="11473070" cy="4946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Riboflavina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Precursora do FAD (transportador da respiração celular)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Deficiência metabólica, inflamação nas mucosas, </a:t>
            </a:r>
            <a:r>
              <a:rPr lang="pt-BR" sz="2600" dirty="0" err="1"/>
              <a:t>seborréia</a:t>
            </a:r>
            <a:r>
              <a:rPr lang="pt-BR" sz="2600" dirty="0"/>
              <a:t>, anemia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Cereais, fígado, ovo e leite, verduras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0802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</a:rPr>
              <a:t>Vitamina B3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87085"/>
            <a:ext cx="11473070" cy="4946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Niacina ou nicotinamida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Precursor do NAD (transportador da respiração celular)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Regula colesterol no sangue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Pelagra (diarreia, dermatite e demência)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Nozes, carnes, grãos, fígado, feijão, peixe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35299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</a:rPr>
              <a:t>Vitamina B5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87085"/>
            <a:ext cx="11473070" cy="4946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Ácido </a:t>
            </a:r>
            <a:r>
              <a:rPr lang="pt-BR" sz="2600" dirty="0" err="1"/>
              <a:t>Pantotênico</a:t>
            </a: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Metabolismo de proteínas, gorduras e açúcares (coenzima 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Carnes, derivados do leite, cereais integrais, milho, cogumelo, abacate, ovos, vegetais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Avitaminose: fadiga, cãibras e formigamentos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00116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</a:rPr>
              <a:t>Vitamina B6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87085"/>
            <a:ext cx="11473070" cy="4946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Piridoxina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Atua no metabolismo de aminoácidos, gorduras e produção de hormônios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Avitaminose: </a:t>
            </a:r>
            <a:r>
              <a:rPr lang="pt-BR" sz="2600" dirty="0" err="1"/>
              <a:t>Seborréia</a:t>
            </a:r>
            <a:r>
              <a:rPr lang="pt-BR" sz="2600" dirty="0"/>
              <a:t>, anemia, problemas de crescimento, convulsões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Carnes, frutos, vegetais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01317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</a:rPr>
              <a:t>Vitamina B9 e B12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87085"/>
            <a:ext cx="11473070" cy="4946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Ácido Fólico e Cobalamina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Produção de hemácias (hemoglobina)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Ausência de B9 – anemia megaloblástica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Ausência de B12 – anemia perniciosa e distúrbios no sistema nervoso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Afetam tamanho e forma das hemácias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B9: vegetais verdes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B12: carnes e alimentos de origem animal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31254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</a:rPr>
              <a:t>Vitamina C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87085"/>
            <a:ext cx="11473070" cy="494623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Ácido ascórbico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Antioxidante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Remoção de radicais livres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Previne envelhecimento celular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Vitaminas A, C e </a:t>
            </a:r>
            <a:r>
              <a:rPr lang="pt-BR" sz="2200" dirty="0" err="1"/>
              <a:t>E</a:t>
            </a:r>
            <a:r>
              <a:rPr lang="pt-BR" sz="2200" dirty="0"/>
              <a:t>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Absorção de Ferro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Escorbuto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Diminuição na produção de colágeno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Sangramento das mucosas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pt-BR" sz="2200" dirty="0"/>
              <a:t>Queda de cabelo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Fontes: frutas cítricas, brócolis, tomate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07327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</a:rPr>
              <a:t>Vitamina 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87085"/>
            <a:ext cx="11473070" cy="4946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Calciferol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Absorção de Cálcio e Fósforo no intestino delgado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Avitaminose: raquitismo, osteoporose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Fontes: óleo de peixe, fígado, gema de ovo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Pode ser produzida na pele em contato com a luz solar (Provitamina D --&gt; Vitamina D)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894382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</a:rPr>
              <a:t>Vitamina 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87085"/>
            <a:ext cx="11473070" cy="4946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Tocoferol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Antioxidante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Avitaminose: degeneração do sistema nervoso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Fontes: verduras, azeite, vegetais, nozes, sementes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06402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DD760EAA-1249-411E-8688-497A7674DB0F}"/>
              </a:ext>
            </a:extLst>
          </p:cNvPr>
          <p:cNvSpPr/>
          <p:nvPr/>
        </p:nvSpPr>
        <p:spPr>
          <a:xfrm>
            <a:off x="0" y="3"/>
            <a:ext cx="12192000" cy="1325563"/>
          </a:xfrm>
          <a:prstGeom prst="rect">
            <a:avLst/>
          </a:prstGeom>
          <a:solidFill>
            <a:srgbClr val="02B60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5BA440-9240-40BF-83DA-A055236C9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0572"/>
            <a:ext cx="12191999" cy="1325563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>
                <a:solidFill>
                  <a:schemeClr val="bg1"/>
                </a:solidFill>
              </a:rPr>
              <a:t>Vitamina 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48A2FD-141F-4ECD-8F93-0CC40D27F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87085"/>
            <a:ext cx="11473070" cy="49462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pt-BR" sz="2600" dirty="0" err="1"/>
              <a:t>Filoquinona</a:t>
            </a: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Coagulação do Sangue e prevenção da osteoporose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pt-BR" sz="2600" dirty="0"/>
              <a:t>Avitaminose: desnutrição, problemas no fígado e intestinais, hortaliças verdes, produzida por bactérias intestinais</a:t>
            </a:r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sz="2600" dirty="0"/>
          </a:p>
          <a:p>
            <a:pPr>
              <a:buFont typeface="Wingdings" panose="05000000000000000000" pitchFamily="2" charset="2"/>
              <a:buChar char="Ø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0962506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</TotalTime>
  <Words>1237</Words>
  <Application>Microsoft Office PowerPoint</Application>
  <PresentationFormat>Widescreen</PresentationFormat>
  <Paragraphs>227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Wingdings</vt:lpstr>
      <vt:lpstr>Tema do Office</vt:lpstr>
      <vt:lpstr>Biomoléculas</vt:lpstr>
      <vt:lpstr>Glicídios</vt:lpstr>
      <vt:lpstr>Glicídios - Classificação</vt:lpstr>
      <vt:lpstr>Glicídios - Classificação</vt:lpstr>
      <vt:lpstr>Glicídios - Classificação</vt:lpstr>
      <vt:lpstr>Lipídios</vt:lpstr>
      <vt:lpstr>Lipídios - Funções</vt:lpstr>
      <vt:lpstr>Lipídios - Classificação</vt:lpstr>
      <vt:lpstr>Lipídios - Triglicerídeos</vt:lpstr>
      <vt:lpstr>Lipídios – Gordura TRANS</vt:lpstr>
      <vt:lpstr>Lipídios - Classificação</vt:lpstr>
      <vt:lpstr>Lipídios - Classificação</vt:lpstr>
      <vt:lpstr>Lipídios - Classificação</vt:lpstr>
      <vt:lpstr>Lipídios - Classificação</vt:lpstr>
      <vt:lpstr>Lipídios – Manteiga x Margarina</vt:lpstr>
      <vt:lpstr>Vitaminas</vt:lpstr>
      <vt:lpstr>Vitamina A</vt:lpstr>
      <vt:lpstr>Vitamina B1</vt:lpstr>
      <vt:lpstr>Vitamina B2</vt:lpstr>
      <vt:lpstr>Vitamina B3</vt:lpstr>
      <vt:lpstr>Vitamina B5</vt:lpstr>
      <vt:lpstr>Vitamina B6</vt:lpstr>
      <vt:lpstr>Vitamina B9 e B12</vt:lpstr>
      <vt:lpstr>Vitamina C</vt:lpstr>
      <vt:lpstr>Vitamina D</vt:lpstr>
      <vt:lpstr>Vitamina E</vt:lpstr>
      <vt:lpstr>Vitamina 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Barbosa</dc:creator>
  <cp:lastModifiedBy>Bruno Barbosa</cp:lastModifiedBy>
  <cp:revision>9</cp:revision>
  <dcterms:created xsi:type="dcterms:W3CDTF">2021-05-09T19:31:11Z</dcterms:created>
  <dcterms:modified xsi:type="dcterms:W3CDTF">2021-05-09T21:04:12Z</dcterms:modified>
</cp:coreProperties>
</file>