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sldIdLst>
    <p:sldId id="316" r:id="rId2"/>
    <p:sldId id="272" r:id="rId3"/>
    <p:sldId id="356" r:id="rId4"/>
    <p:sldId id="273" r:id="rId5"/>
    <p:sldId id="290" r:id="rId6"/>
    <p:sldId id="278" r:id="rId7"/>
    <p:sldId id="279" r:id="rId8"/>
    <p:sldId id="358" r:id="rId9"/>
    <p:sldId id="314" r:id="rId10"/>
    <p:sldId id="280" r:id="rId11"/>
    <p:sldId id="282" r:id="rId12"/>
    <p:sldId id="360" r:id="rId13"/>
    <p:sldId id="283" r:id="rId14"/>
    <p:sldId id="35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B606"/>
    <a:srgbClr val="02A606"/>
    <a:srgbClr val="02D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87D6E-7446-4353-8DB2-C5323A8AA8D5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9F667E-8342-4971-B719-96EDB7691D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045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F7E9517-334D-4F5D-8697-641D22946B0F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63CEA54-4026-4CF6-9341-F9A7B42D55D8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33EF01A-F6B4-4E0F-AF09-2177BB985473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97AEB04-9FEF-4825-AEC3-81CD8AD1B96B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223BF38-6CCA-4F0B-B113-CA0D53C4B283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8E9E955-B380-4A2D-815F-F6D63CF6831E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6D7B988-BA57-45F5-BD8C-10BDDB1D8B2B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C01A79E-7E77-40D1-BE79-B679FF71F726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05DCCB7-3980-4E80-890F-CAEB297041AC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D1F283-6646-4E18-97A5-8FE451FECE51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BB20493-14C2-4F67-8BA6-3F90E312EA85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011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9049576-7B22-4275-9DCD-D97ABE91C372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0D7BD36-A06E-41FA-8BB4-2EE87F651BC4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596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236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58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70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81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221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11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72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30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7951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75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0654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www.allbiom.com/images/bkg2.jpg">
            <a:extLst>
              <a:ext uri="{FF2B5EF4-FFF2-40B4-BE49-F238E27FC236}">
                <a16:creationId xmlns:a16="http://schemas.microsoft.com/office/drawing/2014/main" id="{645A655A-5B12-4FB7-A94E-332C5B74D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5620"/>
          <a:stretch>
            <a:fillRect/>
          </a:stretch>
        </p:blipFill>
        <p:spPr bwMode="auto">
          <a:xfrm>
            <a:off x="0" y="-29982"/>
            <a:ext cx="12192000" cy="6857999"/>
          </a:xfrm>
          <a:prstGeom prst="rect">
            <a:avLst/>
          </a:prstGeom>
          <a:noFill/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00443"/>
            <a:ext cx="12192000" cy="1316038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Biotecnologia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272751"/>
            <a:ext cx="12192000" cy="1775526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3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0" dirty="0"/>
          </a:p>
          <a:p>
            <a:pPr>
              <a:lnSpc>
                <a:spcPct val="120000"/>
              </a:lnSpc>
            </a:pPr>
            <a:r>
              <a:rPr lang="pt-BR" sz="8000" b="1" dirty="0"/>
              <a:t>Transgenia</a:t>
            </a:r>
          </a:p>
          <a:p>
            <a:pPr>
              <a:lnSpc>
                <a:spcPct val="120000"/>
              </a:lnSpc>
            </a:pPr>
            <a:r>
              <a:rPr lang="pt-BR" sz="8000" b="1" dirty="0"/>
              <a:t>DNA </a:t>
            </a:r>
            <a:r>
              <a:rPr lang="pt-BR" sz="8000" b="1" dirty="0" err="1"/>
              <a:t>Fingerprint</a:t>
            </a:r>
            <a:endParaRPr lang="pt-BR" sz="8000" b="1" dirty="0"/>
          </a:p>
          <a:p>
            <a:pPr>
              <a:lnSpc>
                <a:spcPct val="120000"/>
              </a:lnSpc>
            </a:pPr>
            <a:r>
              <a:rPr lang="pt-BR" sz="8000" b="1" dirty="0"/>
              <a:t>Outras técnicas</a:t>
            </a:r>
          </a:p>
          <a:p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313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00125"/>
            <a:ext cx="8858250" cy="72326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Tecnologia do DNA Recombinante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(Engenharia Genética)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40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dirty="0">
                <a:latin typeface="+mn-lt"/>
              </a:rPr>
              <a:t>	Técnica que permite manipulação do DNA para diversos fins de estudo.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400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b="1" dirty="0">
                <a:latin typeface="+mn-lt"/>
              </a:rPr>
              <a:t>Ferramentas principais: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400" dirty="0">
              <a:latin typeface="+mn-lt"/>
            </a:endParaRP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400" b="1" dirty="0" err="1">
                <a:latin typeface="+mn-lt"/>
              </a:rPr>
              <a:t>Plasmídeos</a:t>
            </a:r>
            <a:r>
              <a:rPr lang="pt-BR" sz="2400" b="1" dirty="0">
                <a:latin typeface="+mn-lt"/>
              </a:rPr>
              <a:t>: </a:t>
            </a:r>
            <a:r>
              <a:rPr lang="pt-BR" sz="2400" dirty="0">
                <a:latin typeface="+mn-lt"/>
              </a:rPr>
              <a:t>DNA circular bacteriano.</a:t>
            </a: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400" b="1" dirty="0">
                <a:latin typeface="+mn-lt"/>
              </a:rPr>
              <a:t>Enzimas de restrição: </a:t>
            </a:r>
            <a:r>
              <a:rPr lang="pt-BR" sz="2400" dirty="0">
                <a:latin typeface="+mn-lt"/>
              </a:rPr>
              <a:t>Cortam o DNA em locais específicos.</a:t>
            </a:r>
          </a:p>
          <a:p>
            <a:pPr marL="342900" indent="-3429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400" b="1" dirty="0">
                <a:latin typeface="+mn-lt"/>
              </a:rPr>
              <a:t>Enzimas </a:t>
            </a:r>
            <a:r>
              <a:rPr lang="pt-BR" sz="2400" b="1" dirty="0" err="1">
                <a:latin typeface="+mn-lt"/>
              </a:rPr>
              <a:t>ligase</a:t>
            </a:r>
            <a:r>
              <a:rPr lang="pt-BR" sz="2400" b="1" dirty="0">
                <a:latin typeface="+mn-lt"/>
              </a:rPr>
              <a:t>: </a:t>
            </a:r>
            <a:r>
              <a:rPr lang="pt-BR" sz="2400" dirty="0">
                <a:latin typeface="+mn-lt"/>
              </a:rPr>
              <a:t>Unem fragmentos de DNA.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40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sz="100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</a:t>
            </a:r>
            <a:endParaRPr lang="pt-BR" dirty="0">
              <a:latin typeface="+mn-lt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20FE966-AC11-4736-B086-4CF4D29E33DA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C1D5E1B-E5E3-4169-AAB1-69A32D056B5B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Biotecnologia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aixaDeTexto 6"/>
          <p:cNvSpPr txBox="1">
            <a:spLocks noChangeArrowheads="1"/>
          </p:cNvSpPr>
          <p:nvPr/>
        </p:nvSpPr>
        <p:spPr bwMode="auto">
          <a:xfrm>
            <a:off x="3238501" y="4286250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1524000" y="1052514"/>
            <a:ext cx="33480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28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Transgênico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1524001" y="1598613"/>
            <a:ext cx="889317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2400" dirty="0">
                <a:latin typeface="+mn-lt"/>
              </a:rPr>
              <a:t>Qualquer organismo que possui um ou mais genes de outra espécie.</a:t>
            </a:r>
          </a:p>
        </p:txBody>
      </p:sp>
      <p:pic>
        <p:nvPicPr>
          <p:cNvPr id="31751" name="Picture 2" descr="http://2.bp.blogspot.com/-IbX0_yKKxMw/TiT9TL0wPtI/AAAAAAAAAEQ/UBZiV8LF9Z0/s400/Transgeni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95600" y="2133600"/>
            <a:ext cx="7128792" cy="4175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8BF033F5-DEA0-47EE-A2E0-D74539FCDC89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2BD2AC5-416C-4E17-BFF7-78F2E3BE4728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Biotecnologia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CaixaDeTexto 6"/>
          <p:cNvSpPr txBox="1">
            <a:spLocks noChangeArrowheads="1"/>
          </p:cNvSpPr>
          <p:nvPr/>
        </p:nvSpPr>
        <p:spPr bwMode="auto">
          <a:xfrm>
            <a:off x="3238501" y="4286250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pic>
        <p:nvPicPr>
          <p:cNvPr id="32771" name="Imagem 2" descr="C:\Documents and Settings\Paulinho\Meus documentos\Biologia\Pre-UFMG\Aulas\Biotecnologia\dnarecombinant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71464" y="1052736"/>
            <a:ext cx="9289032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786FC3AC-AA1E-430F-9E66-3549E223AF98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BCDF973-4754-435D-A272-512B0F03900F}"/>
              </a:ext>
            </a:extLst>
          </p:cNvPr>
          <p:cNvSpPr txBox="1">
            <a:spLocks/>
          </p:cNvSpPr>
          <p:nvPr/>
        </p:nvSpPr>
        <p:spPr>
          <a:xfrm>
            <a:off x="1271464" y="-173169"/>
            <a:ext cx="8934982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Transgenia na produção de insulina humana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00125"/>
            <a:ext cx="435597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sz="100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Alimentos Transgênicos</a:t>
            </a:r>
            <a:endParaRPr lang="pt-BR" b="1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3797" name="CaixaDeTexto 6"/>
          <p:cNvSpPr txBox="1">
            <a:spLocks noChangeArrowheads="1"/>
          </p:cNvSpPr>
          <p:nvPr/>
        </p:nvSpPr>
        <p:spPr bwMode="auto">
          <a:xfrm>
            <a:off x="3238501" y="4286250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pic>
        <p:nvPicPr>
          <p:cNvPr id="33798" name="Picture 29" descr="http://www.olibertario.org/wp-content/uploads/2009/05/simbolo-alimento-transgenic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3078164"/>
            <a:ext cx="5327650" cy="3779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799" name="Picture 31" descr="http://www.coletivoverde.com.br/wp-content/uploads/2012/02/maizena500g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00826" y="2938464"/>
            <a:ext cx="4067175" cy="3919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800" name="Picture 33" descr="http://static.hsw.com.br/gif/transgenicos-1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80100" y="981076"/>
            <a:ext cx="3708400" cy="142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72C3DA32-5F95-49E3-848D-FE1EC34D8C6E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0DFD26B8-7061-415B-98A4-C3194C446633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Biotecnologia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00125"/>
            <a:ext cx="8858250" cy="2554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Terapia Gênica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sz="100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</a:t>
            </a:r>
            <a:endParaRPr lang="pt-BR" dirty="0">
              <a:latin typeface="+mn-lt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</p:txBody>
      </p:sp>
      <p:sp>
        <p:nvSpPr>
          <p:cNvPr id="35845" name="CaixaDeTexto 6"/>
          <p:cNvSpPr txBox="1">
            <a:spLocks noChangeArrowheads="1"/>
          </p:cNvSpPr>
          <p:nvPr/>
        </p:nvSpPr>
        <p:spPr bwMode="auto">
          <a:xfrm>
            <a:off x="3238501" y="4286250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pic>
        <p:nvPicPr>
          <p:cNvPr id="35846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1773238"/>
            <a:ext cx="9144000" cy="5084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8C84DFF-7946-4A55-B3AA-D6A3D0FA61B7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A71D684-2D0A-41FE-94E4-60418C4A754D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Biotecnologia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00125"/>
            <a:ext cx="8858250" cy="2554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Identificação de pessoas pelo DNA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sz="100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</a:t>
            </a:r>
            <a:endParaRPr lang="pt-BR" dirty="0">
              <a:latin typeface="+mn-lt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lvl="1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5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Biotecnologia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</p:txBody>
      </p:sp>
      <p:sp>
        <p:nvSpPr>
          <p:cNvPr id="36869" name="CaixaDeTexto 6"/>
          <p:cNvSpPr txBox="1">
            <a:spLocks noChangeArrowheads="1"/>
          </p:cNvSpPr>
          <p:nvPr/>
        </p:nvSpPr>
        <p:spPr bwMode="auto">
          <a:xfrm>
            <a:off x="3238501" y="4286250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1524000" y="1844676"/>
            <a:ext cx="5435600" cy="30464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pt-BR" sz="2400" dirty="0">
                <a:latin typeface="+mn-lt"/>
              </a:rPr>
              <a:t>Cada indivíduo possui a sua própria informação genética.</a:t>
            </a:r>
          </a:p>
          <a:p>
            <a:pPr algn="just">
              <a:defRPr/>
            </a:pPr>
            <a:endParaRPr lang="pt-BR" sz="2400" dirty="0">
              <a:latin typeface="+mn-lt"/>
            </a:endParaRPr>
          </a:p>
          <a:p>
            <a:pPr algn="just">
              <a:defRPr/>
            </a:pPr>
            <a:r>
              <a:rPr lang="pt-BR" sz="2400" dirty="0">
                <a:latin typeface="+mn-lt"/>
              </a:rPr>
              <a:t>Nas moléculas de DNA encontram-se regiões de repetições de bases nitrogenadas, cujo número, tamanho e localização são variáveis de individuo para indivíduo.</a:t>
            </a:r>
          </a:p>
        </p:txBody>
      </p:sp>
      <p:pic>
        <p:nvPicPr>
          <p:cNvPr id="36871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89168" y="1052736"/>
            <a:ext cx="2627313" cy="54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00125"/>
            <a:ext cx="8858250" cy="2554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Identificação de pessoas pelo DNA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sz="100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</a:t>
            </a:r>
            <a:endParaRPr lang="pt-BR" dirty="0">
              <a:latin typeface="+mn-lt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</p:txBody>
      </p:sp>
      <p:sp>
        <p:nvSpPr>
          <p:cNvPr id="37893" name="CaixaDeTexto 6"/>
          <p:cNvSpPr txBox="1">
            <a:spLocks noChangeArrowheads="1"/>
          </p:cNvSpPr>
          <p:nvPr/>
        </p:nvSpPr>
        <p:spPr bwMode="auto">
          <a:xfrm>
            <a:off x="3238501" y="4286250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pic>
        <p:nvPicPr>
          <p:cNvPr id="37894" name="Picture 14" descr="http://recombinacaodna.no.sapo.pt/Electrof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10064" y="2000250"/>
            <a:ext cx="5419725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5" name="Imagem 12" descr="pcr-machine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09750" y="4214813"/>
            <a:ext cx="2000250" cy="193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CaixaDeTexto 13"/>
          <p:cNvSpPr txBox="1"/>
          <p:nvPr/>
        </p:nvSpPr>
        <p:spPr>
          <a:xfrm>
            <a:off x="1809750" y="6357939"/>
            <a:ext cx="2000250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Aparelho de PCR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6096000" y="6286500"/>
            <a:ext cx="2357438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Técnica de Eletroforese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098B4B6-B26B-446C-BEAD-E17378420A33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11E6355D-7E3A-491E-9372-415DF0C84E0F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Biotecnologia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00125"/>
            <a:ext cx="8858250" cy="2554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Identificação de pessoas pelo DNA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sz="100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</a:t>
            </a:r>
            <a:endParaRPr lang="pt-BR" dirty="0">
              <a:latin typeface="+mn-lt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</p:txBody>
      </p:sp>
      <p:sp>
        <p:nvSpPr>
          <p:cNvPr id="38917" name="CaixaDeTexto 6"/>
          <p:cNvSpPr txBox="1">
            <a:spLocks noChangeArrowheads="1"/>
          </p:cNvSpPr>
          <p:nvPr/>
        </p:nvSpPr>
        <p:spPr bwMode="auto">
          <a:xfrm>
            <a:off x="3238501" y="4286250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pic>
        <p:nvPicPr>
          <p:cNvPr id="38918" name="Picture 2" descr="http://www.infoescola.com/wp-content/uploads/2011/07/eletroforese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95550" y="1433514"/>
            <a:ext cx="6959600" cy="5210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9B6E20FC-A27E-4E8F-8D91-1EA6014AF90D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D66D0FDA-826E-4664-8F21-BB918F7C6776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Biotecnologia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4" descr="http://www.ufrgs.br/depbiot/discipl/BIO12002/Image4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67664" y="1000108"/>
            <a:ext cx="2160587" cy="5857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aixaDeTexto 8"/>
          <p:cNvSpPr txBox="1"/>
          <p:nvPr/>
        </p:nvSpPr>
        <p:spPr>
          <a:xfrm>
            <a:off x="1524000" y="1000125"/>
            <a:ext cx="8858250" cy="2554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Identificação de pessoas pelo DNA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sz="100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</a:t>
            </a:r>
            <a:endParaRPr lang="pt-BR" dirty="0">
              <a:latin typeface="+mn-lt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</p:txBody>
      </p:sp>
      <p:sp>
        <p:nvSpPr>
          <p:cNvPr id="39942" name="CaixaDeTexto 6"/>
          <p:cNvSpPr txBox="1">
            <a:spLocks noChangeArrowheads="1"/>
          </p:cNvSpPr>
          <p:nvPr/>
        </p:nvSpPr>
        <p:spPr bwMode="auto">
          <a:xfrm>
            <a:off x="3238501" y="4286250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12" name="CaixaDeTexto 11"/>
          <p:cNvSpPr txBox="1"/>
          <p:nvPr/>
        </p:nvSpPr>
        <p:spPr>
          <a:xfrm>
            <a:off x="1631951" y="1500189"/>
            <a:ext cx="5726113" cy="19383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endParaRPr lang="pt-BR" sz="2400" b="1" dirty="0">
              <a:latin typeface="+mn-lt"/>
            </a:endParaRPr>
          </a:p>
          <a:p>
            <a:pPr algn="just">
              <a:defRPr/>
            </a:pPr>
            <a:r>
              <a:rPr lang="pt-BR" sz="2400" dirty="0">
                <a:latin typeface="+mn-lt"/>
              </a:rPr>
              <a:t>Padrões de VNTR de três suspeitos de um crime em que foi feito a técnica de eletroforese utilizando-se uma gota de sangue.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FB63960-7FF4-403F-85B8-B1179CF4AC92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E7134B39-9D15-4181-9792-842862D8E535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Biotecnologia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00125"/>
            <a:ext cx="8858250" cy="21859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sz="100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</a:t>
            </a:r>
            <a:endParaRPr lang="pt-BR" dirty="0">
              <a:latin typeface="+mn-lt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</p:txBody>
      </p:sp>
      <p:sp>
        <p:nvSpPr>
          <p:cNvPr id="40965" name="CaixaDeTexto 6"/>
          <p:cNvSpPr txBox="1">
            <a:spLocks noChangeArrowheads="1"/>
          </p:cNvSpPr>
          <p:nvPr/>
        </p:nvSpPr>
        <p:spPr bwMode="auto">
          <a:xfrm>
            <a:off x="3238501" y="4286250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1565276" y="1052513"/>
            <a:ext cx="3451225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Teste de paternidade</a:t>
            </a:r>
          </a:p>
        </p:txBody>
      </p:sp>
      <p:pic>
        <p:nvPicPr>
          <p:cNvPr id="40967" name="Picture 10" descr="http://2.bp.blogspot.com/_JiAqt8lCzVA/SE6QZSyAtKI/AAAAAAAAATs/ZOJV_Q4k8uM/s400/DNAfingerprintfamily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09876" y="1773238"/>
            <a:ext cx="6670675" cy="4799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12379DE8-4989-4079-8B30-1A3D33697E55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5D5F1665-FBC2-4731-9D58-770833CD7CF6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Biotecnologia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00125"/>
            <a:ext cx="8858250" cy="21859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sz="100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</a:t>
            </a:r>
            <a:endParaRPr lang="pt-BR" dirty="0">
              <a:latin typeface="+mn-lt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</p:txBody>
      </p:sp>
      <p:sp>
        <p:nvSpPr>
          <p:cNvPr id="41989" name="CaixaDeTexto 6"/>
          <p:cNvSpPr txBox="1">
            <a:spLocks noChangeArrowheads="1"/>
          </p:cNvSpPr>
          <p:nvPr/>
        </p:nvSpPr>
        <p:spPr bwMode="auto">
          <a:xfrm>
            <a:off x="3238501" y="4286250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pic>
        <p:nvPicPr>
          <p:cNvPr id="41990" name="Picture 12" descr="http://www.icb.ufmg.br/big/genegrad/genetica/img/molecularPCR_clip_image003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1" y="2214563"/>
            <a:ext cx="4284663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91" name="Picture 2" descr="http://www.icb.ufmg.br/big/genegrad/genetica/img/molecularPCR_clip_image004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35663" y="2205039"/>
            <a:ext cx="4665662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tângulo 9"/>
          <p:cNvSpPr/>
          <p:nvPr/>
        </p:nvSpPr>
        <p:spPr>
          <a:xfrm>
            <a:off x="1565276" y="1268413"/>
            <a:ext cx="3451225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Teste de paternidade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EBBB398-CA7B-444B-8EC2-AA4019D7C5C0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5F13AAF8-364B-453E-98F8-3FE6FCA6D6B1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Biotecnologia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11" descr="http://4.bp.blogspot.com/-FEXcI4gW2SU/TjwBrZH42fI/AAAAAAAADc8/94uI-UPp_9s/s400/DNAFingerprint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2393950"/>
            <a:ext cx="6592888" cy="446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aixaDeTexto 8"/>
          <p:cNvSpPr txBox="1"/>
          <p:nvPr/>
        </p:nvSpPr>
        <p:spPr>
          <a:xfrm>
            <a:off x="1524000" y="1000125"/>
            <a:ext cx="8858250" cy="2554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Teste de paternidade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sz="100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</a:t>
            </a:r>
            <a:endParaRPr lang="pt-BR" dirty="0">
              <a:latin typeface="+mn-lt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</p:txBody>
      </p:sp>
      <p:sp>
        <p:nvSpPr>
          <p:cNvPr id="43014" name="CaixaDeTexto 6"/>
          <p:cNvSpPr txBox="1">
            <a:spLocks noChangeArrowheads="1"/>
          </p:cNvSpPr>
          <p:nvPr/>
        </p:nvSpPr>
        <p:spPr bwMode="auto">
          <a:xfrm>
            <a:off x="3238501" y="4286250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pic>
        <p:nvPicPr>
          <p:cNvPr id="43015" name="Picture 1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35864" y="1052513"/>
            <a:ext cx="3132137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14DC2F76-6511-4BEC-9038-88CAB5AB0047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3949843B-5206-4E1A-BE20-0538DC401CE6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Biotecnologia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00125"/>
            <a:ext cx="8858250" cy="2554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Teste de paternidade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sz="100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</a:t>
            </a:r>
            <a:endParaRPr lang="pt-BR" dirty="0">
              <a:latin typeface="+mn-lt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</p:txBody>
      </p:sp>
      <p:sp>
        <p:nvSpPr>
          <p:cNvPr id="44037" name="CaixaDeTexto 6"/>
          <p:cNvSpPr txBox="1">
            <a:spLocks noChangeArrowheads="1"/>
          </p:cNvSpPr>
          <p:nvPr/>
        </p:nvSpPr>
        <p:spPr bwMode="auto">
          <a:xfrm>
            <a:off x="3238501" y="4286250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pic>
        <p:nvPicPr>
          <p:cNvPr id="44038" name="Picture 9" descr="http://www.vestiprovas.com.br/arquivos/UNICAMP-PASTA2009.2-FASE%202-QUESTAO%207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40014" y="1484314"/>
            <a:ext cx="6613525" cy="5041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3FC34FEF-3948-4C02-99C8-81B8157F4EBA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7B5A04F-48BD-4566-BBF7-0803384C8C6B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Biotecnologia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299</TotalTime>
  <Words>218</Words>
  <Application>Microsoft Office PowerPoint</Application>
  <PresentationFormat>Widescreen</PresentationFormat>
  <Paragraphs>132</Paragraphs>
  <Slides>14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Tahoma</vt:lpstr>
      <vt:lpstr>Wingdings</vt:lpstr>
      <vt:lpstr>Tema do Office</vt:lpstr>
      <vt:lpstr>Biotecnologia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23</cp:revision>
  <dcterms:created xsi:type="dcterms:W3CDTF">2020-06-05T12:13:59Z</dcterms:created>
  <dcterms:modified xsi:type="dcterms:W3CDTF">2021-05-14T14:53:24Z</dcterms:modified>
</cp:coreProperties>
</file>