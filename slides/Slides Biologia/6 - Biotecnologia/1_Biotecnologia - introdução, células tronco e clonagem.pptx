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316" r:id="rId2"/>
    <p:sldId id="350" r:id="rId3"/>
    <p:sldId id="351" r:id="rId4"/>
    <p:sldId id="347" r:id="rId5"/>
    <p:sldId id="348" r:id="rId6"/>
    <p:sldId id="341" r:id="rId7"/>
    <p:sldId id="342" r:id="rId8"/>
    <p:sldId id="349" r:id="rId9"/>
    <p:sldId id="343" r:id="rId10"/>
    <p:sldId id="353" r:id="rId11"/>
    <p:sldId id="344" r:id="rId12"/>
    <p:sldId id="354" r:id="rId13"/>
    <p:sldId id="355" r:id="rId14"/>
    <p:sldId id="346" r:id="rId15"/>
    <p:sldId id="324" r:id="rId16"/>
    <p:sldId id="332" r:id="rId17"/>
    <p:sldId id="331" r:id="rId18"/>
    <p:sldId id="333" r:id="rId19"/>
    <p:sldId id="334" r:id="rId20"/>
    <p:sldId id="260" r:id="rId21"/>
    <p:sldId id="262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606"/>
    <a:srgbClr val="02A606"/>
    <a:srgbClr val="02D8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87D6E-7446-4353-8DB2-C5323A8AA8D5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F667E-8342-4971-B719-96EDB7691D0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045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EDE1EDB-2884-4ECB-8ADE-782E692CDFA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4CED51-5D4C-4EED-8903-D7CBA89556E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1D268CA-1646-4C30-A62B-4A5AAD59CFE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A145974-18F9-4ACE-8AB4-F3335CF10E8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1CB15FB-1D70-4DD7-BCB6-006852DC716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BDDDB6D-6BA3-41E2-862B-B66288D91354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086AAB6-2637-4064-A403-EC53C33D004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A094EA-ED05-4C3A-88E6-23B71DC9978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79759E-7C6D-4962-A983-14A26E75189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0FC58DD-B7FE-42FA-8BAF-694F297F8210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1DB8DD5-0274-4B39-B3BE-C1019D6E55BA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A8B602-3784-4563-9348-CD91F08C9B6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89C58D1-4558-43F8-BD22-98F534E0FAC6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A4E51C-AC8C-418C-9DDB-4CF14E96877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E10E67-83E8-45E0-A46B-0DEFC9D006F7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pt-B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FFE93BD-F91A-4E09-AB2E-A4F6FB544598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pt-B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767A172-F0EB-469C-915D-B782314F92F5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F1039DE-4FF9-45C9-AB57-EACCC186A522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7B8503-5884-4C09-B1E7-DCBD57111BA3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pt-B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147304-B483-434B-BA1F-09624AFAD3EE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/>
          </a:p>
        </p:txBody>
      </p:sp>
      <p:sp>
        <p:nvSpPr>
          <p:cNvPr id="6148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A8AB9F-78B9-4F00-87CE-F18E10CE328D}" type="slidenum">
              <a:rPr lang="pt-B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5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36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58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7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081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21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11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72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930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795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75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EB2CB-219F-436E-9B65-25A3D1B4A5D0}" type="datetimeFigureOut">
              <a:rPr lang="pt-BR" smtClean="0"/>
              <a:t>14/05/2021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23462-927B-48FA-B5D8-EAE9E12A17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065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www.allbiom.com/images/bkg2.jpg">
            <a:extLst>
              <a:ext uri="{FF2B5EF4-FFF2-40B4-BE49-F238E27FC236}">
                <a16:creationId xmlns:a16="http://schemas.microsoft.com/office/drawing/2014/main" id="{645A655A-5B12-4FB7-A94E-332C5B74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5620"/>
          <a:stretch>
            <a:fillRect/>
          </a:stretch>
        </p:blipFill>
        <p:spPr bwMode="auto">
          <a:xfrm>
            <a:off x="0" y="-29982"/>
            <a:ext cx="12192000" cy="6857999"/>
          </a:xfrm>
          <a:prstGeom prst="rect">
            <a:avLst/>
          </a:prstGeom>
          <a:noFill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044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Biotecnologia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Introdução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Células Tronco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Clonagem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1703389" y="1196975"/>
            <a:ext cx="8713787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pt-BR" sz="2800" dirty="0">
                <a:latin typeface="+mn-lt"/>
              </a:rPr>
              <a:t>Campo da biologia que envolve o uso de </a:t>
            </a:r>
            <a:r>
              <a:rPr lang="pt-BR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t>organismos vivos </a:t>
            </a:r>
            <a:r>
              <a:rPr lang="pt-BR" sz="2800" dirty="0">
                <a:latin typeface="+mn-lt"/>
              </a:rPr>
              <a:t>ou componentes biológicos para a obtenção de produtos ou serviços de </a:t>
            </a:r>
            <a:r>
              <a:rPr lang="pt-B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interesse humano. </a:t>
            </a:r>
          </a:p>
        </p:txBody>
      </p:sp>
      <p:pic>
        <p:nvPicPr>
          <p:cNvPr id="3084" name="Picture 12" descr="http://img.geocaching.com/cache/d2c63622-f1fd-4403-9dd9-8b74581143c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45064" y="2863851"/>
            <a:ext cx="1222375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6" name="Picture 14" descr="http://www.cultvinho.com/blog/wp-content/uploads/2011/01/OSTATU359.1-Fermenta%C3%A7%C3%A3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02413" y="2564904"/>
            <a:ext cx="2589212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8" name="Picture 16" descr="http://www.ufrgs.br/Alimentus/pao/imagens/mass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7575" y="4941169"/>
            <a:ext cx="1773238" cy="177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0" name="Picture 18" descr="https://encrypted-tbn0.gstatic.com/images?q=tbn:ANd9GcT6uLItCJTJyMggcvEPTEMnYo7Y2I9D19tOhTKIxrDqX-niZnFO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00825" y="4653136"/>
            <a:ext cx="25908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CaixaDeTexto 15"/>
          <p:cNvSpPr txBox="1"/>
          <p:nvPr/>
        </p:nvSpPr>
        <p:spPr>
          <a:xfrm>
            <a:off x="1524001" y="3500438"/>
            <a:ext cx="2771775" cy="4619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2400" dirty="0"/>
              <a:t>Fabricação de vinho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558925" y="5487988"/>
            <a:ext cx="2736850" cy="83026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2400" dirty="0"/>
              <a:t>Fabricação de pão</a:t>
            </a:r>
          </a:p>
          <a:p>
            <a:pPr>
              <a:defRPr/>
            </a:pPr>
            <a:r>
              <a:rPr lang="pt-BR" sz="2400" dirty="0"/>
              <a:t>caseiro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5E680CA-8EAF-4E49-B82A-9849503480BF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CE33B1E-AEA4-474B-B883-8C3BA5DED78B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de cantos arredondados 16"/>
          <p:cNvSpPr/>
          <p:nvPr/>
        </p:nvSpPr>
        <p:spPr>
          <a:xfrm>
            <a:off x="7175500" y="2924176"/>
            <a:ext cx="3168650" cy="7921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1524000" y="1071564"/>
            <a:ext cx="88582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000" b="1" dirty="0">
                <a:latin typeface="+mn-lt"/>
              </a:rPr>
              <a:t>	</a:t>
            </a:r>
            <a:endParaRPr lang="pt-BR" sz="2000" dirty="0">
              <a:latin typeface="+mn-lt"/>
            </a:endParaRPr>
          </a:p>
        </p:txBody>
      </p:sp>
      <p:sp>
        <p:nvSpPr>
          <p:cNvPr id="4101" name="CaixaDeTexto 6"/>
          <p:cNvSpPr txBox="1">
            <a:spLocks noChangeArrowheads="1"/>
          </p:cNvSpPr>
          <p:nvPr/>
        </p:nvSpPr>
        <p:spPr bwMode="auto">
          <a:xfrm>
            <a:off x="3792539" y="3789364"/>
            <a:ext cx="2232025" cy="5222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endParaRPr lang="pt-BR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1703389" y="1484314"/>
            <a:ext cx="2663825" cy="649287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Clonagem</a:t>
            </a:r>
          </a:p>
        </p:txBody>
      </p:sp>
      <p:sp>
        <p:nvSpPr>
          <p:cNvPr id="12" name="Retângulo de cantos arredondados 11"/>
          <p:cNvSpPr/>
          <p:nvPr/>
        </p:nvSpPr>
        <p:spPr>
          <a:xfrm>
            <a:off x="3000376" y="2997200"/>
            <a:ext cx="3311525" cy="6477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Células-tronco</a:t>
            </a:r>
          </a:p>
        </p:txBody>
      </p:sp>
      <p:sp>
        <p:nvSpPr>
          <p:cNvPr id="13" name="Retângulo de cantos arredondados 12"/>
          <p:cNvSpPr/>
          <p:nvPr/>
        </p:nvSpPr>
        <p:spPr>
          <a:xfrm>
            <a:off x="5664201" y="4149725"/>
            <a:ext cx="3311525" cy="6477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Transgênicos</a:t>
            </a:r>
          </a:p>
        </p:txBody>
      </p:sp>
      <p:sp>
        <p:nvSpPr>
          <p:cNvPr id="14" name="Retângulo de cantos arredondados 13"/>
          <p:cNvSpPr/>
          <p:nvPr/>
        </p:nvSpPr>
        <p:spPr>
          <a:xfrm>
            <a:off x="7248526" y="5516564"/>
            <a:ext cx="3311525" cy="649287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Terapia gênica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6311901" y="1557338"/>
            <a:ext cx="3960813" cy="6477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Teste de paternidade</a:t>
            </a:r>
          </a:p>
        </p:txBody>
      </p:sp>
      <p:sp>
        <p:nvSpPr>
          <p:cNvPr id="16" name="Retângulo de cantos arredondados 15"/>
          <p:cNvSpPr/>
          <p:nvPr/>
        </p:nvSpPr>
        <p:spPr>
          <a:xfrm>
            <a:off x="1847850" y="5516564"/>
            <a:ext cx="3816350" cy="649287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200" b="1" dirty="0"/>
              <a:t>Investigação criminal</a:t>
            </a:r>
          </a:p>
        </p:txBody>
      </p:sp>
      <p:sp>
        <p:nvSpPr>
          <p:cNvPr id="4109" name="CaixaDeTexto 17"/>
          <p:cNvSpPr txBox="1">
            <a:spLocks noChangeArrowheads="1"/>
          </p:cNvSpPr>
          <p:nvPr/>
        </p:nvSpPr>
        <p:spPr bwMode="auto">
          <a:xfrm>
            <a:off x="7464425" y="2997201"/>
            <a:ext cx="2808288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3600" b="1">
                <a:solidFill>
                  <a:schemeClr val="bg1"/>
                </a:solidFill>
                <a:latin typeface="Bebas Neue" pitchFamily="34" charset="0"/>
              </a:rPr>
              <a:t>Agricultura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69AECA-B353-4C0E-BE92-94BA23484622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719A2775-B3C0-408C-BA88-3DADB20D09C6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http://www.rntc.org.br/uploads/5/4/0/8/5408654/1118577.png?47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1450" y="2708276"/>
            <a:ext cx="6635750" cy="3673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979489"/>
            <a:ext cx="8858250" cy="3602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latin typeface="+mn-lt"/>
              </a:rPr>
              <a:t>	São células </a:t>
            </a:r>
            <a:r>
              <a:rPr lang="pt-BR" sz="2800" b="1" i="1" dirty="0">
                <a:latin typeface="+mn-lt"/>
              </a:rPr>
              <a:t>indiferenciadas</a:t>
            </a:r>
            <a:r>
              <a:rPr lang="pt-BR" sz="2800" dirty="0">
                <a:latin typeface="+mn-lt"/>
              </a:rPr>
              <a:t> capazes de se transformar em outros tipos celulares com funções específicas no organismo.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5126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B057470-1BA4-4838-AB79-0011797D9F3C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E57485D-1F3C-4617-A2F2-C8CD335FF671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979489"/>
            <a:ext cx="885825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6149" name="CaixaDeTexto 6"/>
          <p:cNvSpPr txBox="1">
            <a:spLocks noChangeArrowheads="1"/>
          </p:cNvSpPr>
          <p:nvPr/>
        </p:nvSpPr>
        <p:spPr bwMode="auto">
          <a:xfrm>
            <a:off x="3238501" y="3854847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grpSp>
        <p:nvGrpSpPr>
          <p:cNvPr id="2" name="Grupo 10"/>
          <p:cNvGrpSpPr>
            <a:grpSpLocks/>
          </p:cNvGrpSpPr>
          <p:nvPr/>
        </p:nvGrpSpPr>
        <p:grpSpPr bwMode="auto">
          <a:xfrm>
            <a:off x="1992313" y="2710260"/>
            <a:ext cx="1511300" cy="1295400"/>
            <a:chOff x="611560" y="2924944"/>
            <a:chExt cx="1512168" cy="1296144"/>
          </a:xfrm>
        </p:grpSpPr>
        <p:sp>
          <p:nvSpPr>
            <p:cNvPr id="7" name="Elipse 6"/>
            <p:cNvSpPr/>
            <p:nvPr/>
          </p:nvSpPr>
          <p:spPr>
            <a:xfrm>
              <a:off x="611560" y="2924944"/>
              <a:ext cx="1512168" cy="129614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0" name="Elipse 9"/>
            <p:cNvSpPr/>
            <p:nvPr/>
          </p:nvSpPr>
          <p:spPr>
            <a:xfrm>
              <a:off x="1115086" y="3356992"/>
              <a:ext cx="576594" cy="5035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pic>
        <p:nvPicPr>
          <p:cNvPr id="6151" name="Picture 2" descr="https://encrypted-tbn1.gstatic.com/images?q=tbn:ANd9GcRzdLY63StWoJ4n9TLyq-LdEhAnpzCf3HTjPS35jkBLAMxo3aYKu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08814" y="2276873"/>
            <a:ext cx="3659187" cy="2030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Conector de seta reta 12"/>
          <p:cNvCxnSpPr/>
          <p:nvPr/>
        </p:nvCxnSpPr>
        <p:spPr>
          <a:xfrm>
            <a:off x="3719513" y="3284935"/>
            <a:ext cx="30972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53" name="CaixaDeTexto 14"/>
          <p:cNvSpPr txBox="1">
            <a:spLocks noChangeArrowheads="1"/>
          </p:cNvSpPr>
          <p:nvPr/>
        </p:nvSpPr>
        <p:spPr bwMode="auto">
          <a:xfrm>
            <a:off x="1992313" y="4221561"/>
            <a:ext cx="17272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Célula-tronco</a:t>
            </a:r>
          </a:p>
        </p:txBody>
      </p:sp>
      <p:sp>
        <p:nvSpPr>
          <p:cNvPr id="6154" name="CaixaDeTexto 15"/>
          <p:cNvSpPr txBox="1">
            <a:spLocks noChangeArrowheads="1"/>
          </p:cNvSpPr>
          <p:nvPr/>
        </p:nvSpPr>
        <p:spPr bwMode="auto">
          <a:xfrm>
            <a:off x="8183564" y="4292997"/>
            <a:ext cx="17287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/>
              <a:t>Neurônio</a:t>
            </a:r>
          </a:p>
        </p:txBody>
      </p:sp>
      <p:sp>
        <p:nvSpPr>
          <p:cNvPr id="6155" name="CaixaDeTexto 16"/>
          <p:cNvSpPr txBox="1">
            <a:spLocks noChangeArrowheads="1"/>
          </p:cNvSpPr>
          <p:nvPr/>
        </p:nvSpPr>
        <p:spPr bwMode="auto">
          <a:xfrm>
            <a:off x="3648076" y="2622948"/>
            <a:ext cx="352742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400" b="1">
                <a:solidFill>
                  <a:srgbClr val="FF0000"/>
                </a:solidFill>
              </a:rPr>
              <a:t>Diferenciação celular</a:t>
            </a:r>
          </a:p>
        </p:txBody>
      </p:sp>
      <p:sp>
        <p:nvSpPr>
          <p:cNvPr id="6156" name="CaixaDeTexto 19"/>
          <p:cNvSpPr txBox="1">
            <a:spLocks noChangeArrowheads="1"/>
          </p:cNvSpPr>
          <p:nvPr/>
        </p:nvSpPr>
        <p:spPr bwMode="auto">
          <a:xfrm>
            <a:off x="1524000" y="4726385"/>
            <a:ext cx="25209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>
                <a:solidFill>
                  <a:srgbClr val="FF0000"/>
                </a:solidFill>
              </a:rPr>
              <a:t>Sem função definida</a:t>
            </a:r>
          </a:p>
        </p:txBody>
      </p:sp>
      <p:sp>
        <p:nvSpPr>
          <p:cNvPr id="6157" name="CaixaDeTexto 20"/>
          <p:cNvSpPr txBox="1">
            <a:spLocks noChangeArrowheads="1"/>
          </p:cNvSpPr>
          <p:nvPr/>
        </p:nvSpPr>
        <p:spPr bwMode="auto">
          <a:xfrm>
            <a:off x="7391400" y="4726385"/>
            <a:ext cx="280828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b="1">
                <a:solidFill>
                  <a:srgbClr val="FF0000"/>
                </a:solidFill>
              </a:rPr>
              <a:t>Exerce função no organismo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1631950" y="5447110"/>
            <a:ext cx="2808288" cy="646112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solidFill>
                  <a:schemeClr val="accent3">
                    <a:lumMod val="50000"/>
                  </a:schemeClr>
                </a:solidFill>
              </a:rPr>
              <a:t>Todos os genes ativados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7464425" y="5445523"/>
            <a:ext cx="2808288" cy="923925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pt-BR" b="1" dirty="0">
                <a:solidFill>
                  <a:schemeClr val="accent3">
                    <a:lumMod val="50000"/>
                  </a:schemeClr>
                </a:solidFill>
              </a:rPr>
              <a:t>Parte dos genes inativados e outra parte em atividade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5F0CF2-78B2-4EA7-90C6-487C6AA536E0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3D4094-FE2C-4906-B6D9-CB41360F68B3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7171" name="Picture 2" descr="http://1.bp.blogspot.com/-SVUm40Jgw1E/T84y8gi5EGI/AAAAAAAAAA0/DnslwpxyR6c/s400/c%25C3%25A9lulas+tronc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60648"/>
            <a:ext cx="12192000" cy="6597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143000"/>
            <a:ext cx="8858250" cy="4986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 – </a:t>
            </a:r>
            <a:r>
              <a:rPr lang="pt-BR" sz="28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Tipos: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1. Células-tronco </a:t>
            </a:r>
            <a:r>
              <a:rPr lang="pt-BR" sz="2800" b="1" dirty="0" err="1">
                <a:latin typeface="+mn-lt"/>
              </a:rPr>
              <a:t>Totipotentes</a:t>
            </a:r>
            <a:endParaRPr lang="pt-BR" sz="28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Obtidas da </a:t>
            </a:r>
            <a:r>
              <a:rPr lang="pt-BR" sz="2400" b="1" i="1" dirty="0">
                <a:latin typeface="+mn-lt"/>
              </a:rPr>
              <a:t>mórula</a:t>
            </a:r>
            <a:r>
              <a:rPr lang="pt-BR" sz="2400" dirty="0">
                <a:latin typeface="+mn-lt"/>
              </a:rPr>
              <a:t> (primeiro estágio embrionário).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Podem se </a:t>
            </a:r>
            <a:r>
              <a:rPr lang="pt-BR" sz="2400" b="1" dirty="0">
                <a:latin typeface="+mn-lt"/>
              </a:rPr>
              <a:t>diferenciar </a:t>
            </a:r>
            <a:r>
              <a:rPr lang="pt-BR" sz="2400" dirty="0">
                <a:latin typeface="+mn-lt"/>
              </a:rPr>
              <a:t>em </a:t>
            </a:r>
            <a:r>
              <a:rPr lang="pt-BR" sz="2400" b="1" dirty="0">
                <a:latin typeface="+mn-lt"/>
              </a:rPr>
              <a:t>qualquer um dos 216 tipos de células humanas</a:t>
            </a:r>
            <a:r>
              <a:rPr lang="pt-BR" sz="2400" dirty="0">
                <a:latin typeface="+mn-lt"/>
              </a:rPr>
              <a:t> e ainda </a:t>
            </a:r>
            <a:r>
              <a:rPr lang="pt-BR" sz="2400" b="1" dirty="0">
                <a:solidFill>
                  <a:srgbClr val="FF0000"/>
                </a:solidFill>
                <a:latin typeface="+mn-lt"/>
              </a:rPr>
              <a:t>formar qualquer anexo embrionário </a:t>
            </a:r>
            <a:r>
              <a:rPr lang="pt-BR" sz="2400" dirty="0">
                <a:latin typeface="+mn-lt"/>
              </a:rPr>
              <a:t>(placenta, córion, alantóide, saco vitelínico e </a:t>
            </a:r>
            <a:r>
              <a:rPr lang="pt-BR" sz="2400" dirty="0" err="1">
                <a:latin typeface="+mn-lt"/>
              </a:rPr>
              <a:t>âmnion</a:t>
            </a:r>
            <a:r>
              <a:rPr lang="pt-BR" sz="2400" dirty="0">
                <a:latin typeface="+mn-lt"/>
              </a:rPr>
              <a:t>).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7C9DE8F-F90E-47DF-9953-60C79BBA8F79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07BF799-8965-43CD-B5D1-C97F7D1DF3F5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143001"/>
            <a:ext cx="8858250" cy="3140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 – </a:t>
            </a:r>
            <a:r>
              <a:rPr lang="pt-BR" sz="28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Tipos: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1. Células-tronco </a:t>
            </a:r>
            <a:r>
              <a:rPr lang="pt-BR" sz="2800" b="1" dirty="0" err="1">
                <a:latin typeface="+mn-lt"/>
              </a:rPr>
              <a:t>Totipotentes</a:t>
            </a:r>
            <a:endParaRPr lang="pt-BR" sz="28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8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pic>
        <p:nvPicPr>
          <p:cNvPr id="9221" name="Picture 8" descr="http://farm5.static.flickr.com/4075/4901866771_3eb3d70ec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83000" y="2486027"/>
            <a:ext cx="6589464" cy="4124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de cantos arredondados 6"/>
          <p:cNvSpPr/>
          <p:nvPr/>
        </p:nvSpPr>
        <p:spPr>
          <a:xfrm>
            <a:off x="1524000" y="2924175"/>
            <a:ext cx="1619250" cy="1081088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pt-BR" sz="2000" b="1" dirty="0"/>
              <a:t>Fecundação</a:t>
            </a:r>
            <a:endParaRPr lang="pt-BR" b="1" dirty="0"/>
          </a:p>
        </p:txBody>
      </p:sp>
      <p:sp>
        <p:nvSpPr>
          <p:cNvPr id="10" name="Seta para a direita 9"/>
          <p:cNvSpPr/>
          <p:nvPr/>
        </p:nvSpPr>
        <p:spPr>
          <a:xfrm>
            <a:off x="3216276" y="3213100"/>
            <a:ext cx="358775" cy="5032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5F6C6F-67F8-4ADF-8D43-F4A60DA84967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6404EAEE-890B-4455-8235-BDE9786B1F7E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114425"/>
            <a:ext cx="8858250" cy="5708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 – </a:t>
            </a:r>
            <a:r>
              <a:rPr lang="pt-BR" sz="2800" b="1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Tipos:</a:t>
            </a:r>
            <a:endParaRPr lang="pt-BR" sz="2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</a:rPr>
              <a:t>2. Células-Tronco Embrionárias (</a:t>
            </a:r>
            <a:r>
              <a:rPr lang="pt-BR" sz="2800" b="1" dirty="0" err="1">
                <a:latin typeface="+mn-lt"/>
              </a:rPr>
              <a:t>Pluripotentes</a:t>
            </a:r>
            <a:r>
              <a:rPr lang="pt-BR" sz="2800" b="1" dirty="0">
                <a:latin typeface="+mn-lt"/>
              </a:rPr>
              <a:t>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8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9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Células retiradas do interior do embrião na fase de blastocisto, região denominada </a:t>
            </a:r>
            <a:r>
              <a:rPr lang="pt-BR" sz="2400" dirty="0" err="1">
                <a:latin typeface="+mn-lt"/>
              </a:rPr>
              <a:t>embrioblasto</a:t>
            </a:r>
            <a:r>
              <a:rPr lang="pt-BR" sz="2400" dirty="0">
                <a:latin typeface="+mn-lt"/>
              </a:rPr>
              <a:t> ou massa celular interna (MCI).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São células indiferenciadas, que podem se diferenciar em qualquer um dos </a:t>
            </a:r>
            <a:r>
              <a:rPr lang="pt-BR" sz="2400" b="1" dirty="0">
                <a:latin typeface="+mn-lt"/>
              </a:rPr>
              <a:t>216 tipos de células humanas </a:t>
            </a:r>
            <a:r>
              <a:rPr lang="pt-BR" sz="2400" dirty="0">
                <a:latin typeface="+mn-lt"/>
              </a:rPr>
              <a:t>e </a:t>
            </a:r>
            <a:r>
              <a:rPr lang="pt-BR" sz="2400" b="1" u="sng" dirty="0">
                <a:solidFill>
                  <a:srgbClr val="FF0000"/>
                </a:solidFill>
                <a:latin typeface="+mn-lt"/>
              </a:rPr>
              <a:t>não</a:t>
            </a:r>
            <a:r>
              <a:rPr lang="pt-BR" sz="24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pt-BR" sz="2400" dirty="0">
                <a:latin typeface="+mn-lt"/>
              </a:rPr>
              <a:t>forma anexos embrionários.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4ADFE1-378C-488A-8025-90B813F9219A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4BF3AFD-93BE-427F-AA63-66F439874A53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://www.lance-ufrj.org/uploads/3/2/2/5/3225660/3364401.jpg?50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67608" y="1124744"/>
            <a:ext cx="7416824" cy="507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91328C06-19F2-409E-B745-54A7C8A27B35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09C9C70-F45A-429A-B6C7-8489D467BC69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39814"/>
            <a:ext cx="8858250" cy="56784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Células-Tronco – </a:t>
            </a:r>
            <a:r>
              <a:rPr lang="pt-BR" sz="2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Tipos:</a:t>
            </a:r>
            <a:endParaRPr lang="pt-BR" sz="2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  <a:ea typeface="Tahoma" pitchFamily="34" charset="0"/>
                <a:cs typeface="Tahoma" pitchFamily="34" charset="0"/>
              </a:rPr>
              <a:t>3. Células -Tronco Adultas </a:t>
            </a:r>
            <a:r>
              <a:rPr lang="pt-BR" sz="2800" dirty="0">
                <a:latin typeface="+mn-lt"/>
                <a:ea typeface="Tahoma" pitchFamily="34" charset="0"/>
                <a:cs typeface="Tahoma" pitchFamily="34" charset="0"/>
              </a:rPr>
              <a:t>(Multipotentes)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8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900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São células indiferenciadas obtidas a partir da medula óssea, cordão umbilical, intestino e pele.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São capazes de originar somente os tipos celulares que compõem o tecido ou órgão específico onde estão situadas.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F359047-FCBA-43FD-803E-C75003581785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1CF6EB3-5771-4CB9-9BAC-07482DC0B6B5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39814"/>
            <a:ext cx="8858250" cy="3832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Células-Tronco – </a:t>
            </a:r>
            <a:r>
              <a:rPr lang="pt-BR" sz="2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Tipos:</a:t>
            </a:r>
            <a:endParaRPr lang="pt-BR" sz="28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24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latin typeface="+mn-lt"/>
                <a:ea typeface="Tahoma" pitchFamily="34" charset="0"/>
                <a:cs typeface="Tahoma" pitchFamily="34" charset="0"/>
              </a:rPr>
              <a:t>3. Células -Tronco Adultas </a:t>
            </a:r>
            <a:r>
              <a:rPr lang="pt-BR" sz="2800" dirty="0">
                <a:latin typeface="+mn-lt"/>
                <a:ea typeface="Tahoma" pitchFamily="34" charset="0"/>
                <a:cs typeface="Tahoma" pitchFamily="34" charset="0"/>
              </a:rPr>
              <a:t>(Multipotentes)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8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900" b="1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pic>
        <p:nvPicPr>
          <p:cNvPr id="1331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5914" y="2349500"/>
            <a:ext cx="6188075" cy="4294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587E87B-A4B0-485B-9B41-C4AC0594FAFB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7525307-E828-497C-A0DE-59A587D09377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111251"/>
            <a:ext cx="8858250" cy="76946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Células-Tronco</a:t>
            </a:r>
            <a:endParaRPr lang="pt-BR" sz="2400" b="1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1000" b="1" dirty="0">
              <a:solidFill>
                <a:schemeClr val="accent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pt-BR" b="1" dirty="0">
                <a:latin typeface="+mn-lt"/>
              </a:rPr>
              <a:t>	</a:t>
            </a:r>
            <a:r>
              <a:rPr lang="pt-BR" b="1" cap="all" dirty="0"/>
              <a:t> </a:t>
            </a:r>
          </a:p>
          <a:p>
            <a:pPr algn="ctr">
              <a:defRPr/>
            </a:pPr>
            <a:r>
              <a:rPr lang="pt-BR" sz="2400" b="1" cap="all" dirty="0">
                <a:solidFill>
                  <a:srgbClr val="FF0000"/>
                </a:solidFill>
              </a:rPr>
              <a:t>Lei brasileira de Biossegurança </a:t>
            </a:r>
            <a:r>
              <a:rPr lang="pt-BR" sz="2400" dirty="0">
                <a:solidFill>
                  <a:srgbClr val="FF0000"/>
                </a:solidFill>
              </a:rPr>
              <a:t> </a:t>
            </a:r>
          </a:p>
          <a:p>
            <a:pPr algn="ctr">
              <a:defRPr/>
            </a:pPr>
            <a:r>
              <a:rPr lang="pt-BR" sz="2400" b="1" cap="all" dirty="0">
                <a:solidFill>
                  <a:srgbClr val="FF0000"/>
                </a:solidFill>
              </a:rPr>
              <a:t>(Lei n° 11.105/2005)</a:t>
            </a:r>
            <a:endParaRPr lang="pt-BR" sz="2400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pt-BR" sz="2000" b="1" dirty="0">
                <a:latin typeface="+mj-lt"/>
              </a:rPr>
              <a:t> 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Só é permitido o uso de células-tronco embrionárias a partir de </a:t>
            </a:r>
            <a:r>
              <a:rPr lang="pt-BR" sz="2400" b="1" dirty="0">
                <a:latin typeface="+mn-lt"/>
              </a:rPr>
              <a:t>embriões</a:t>
            </a:r>
            <a:r>
              <a:rPr lang="pt-BR" sz="2400" dirty="0">
                <a:latin typeface="+mn-lt"/>
              </a:rPr>
              <a:t> que estejam </a:t>
            </a:r>
            <a:r>
              <a:rPr lang="pt-BR" sz="2400" b="1" dirty="0">
                <a:latin typeface="+mn-lt"/>
              </a:rPr>
              <a:t>congelados há no mínimo três anos </a:t>
            </a:r>
            <a:r>
              <a:rPr lang="pt-BR" sz="2400" dirty="0">
                <a:latin typeface="+mn-lt"/>
              </a:rPr>
              <a:t>ou que sejam por algum motivo inviável para implantação. 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pt-BR" sz="2400" dirty="0">
                <a:latin typeface="+mn-lt"/>
              </a:rPr>
              <a:t>Além disso, a utilização de células-tronco obtidas de embriões é liberada apenas para </a:t>
            </a:r>
            <a:r>
              <a:rPr lang="pt-BR" sz="2400" b="1" dirty="0">
                <a:latin typeface="+mn-lt"/>
              </a:rPr>
              <a:t>fins terapêuticos ou científicos.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pt-BR" sz="2000" dirty="0"/>
          </a:p>
          <a:p>
            <a:pPr>
              <a:defRPr/>
            </a:pPr>
            <a:endParaRPr lang="pt-BR" sz="2000" b="1" dirty="0">
              <a:latin typeface="+mj-lt"/>
            </a:endParaRPr>
          </a:p>
          <a:p>
            <a:pPr>
              <a:defRPr/>
            </a:pPr>
            <a:endParaRPr lang="pt-BR" sz="2000" b="1" dirty="0">
              <a:latin typeface="+mj-lt"/>
            </a:endParaRPr>
          </a:p>
          <a:p>
            <a:pPr>
              <a:defRPr/>
            </a:pPr>
            <a:endParaRPr lang="pt-BR" sz="2000" dirty="0">
              <a:latin typeface="+mj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8E93379-E52F-47AF-9DFA-EDCEB0CF4869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F8255AD-63F6-4E29-BFEE-F0C93A585B7C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lance-ufrj.org/uploads/3/2/2/5/3225660/8226747.png?30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91544" y="1628800"/>
            <a:ext cx="4968552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1524000" y="1000125"/>
            <a:ext cx="8858250" cy="2185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Células-tronco IPS (</a:t>
            </a:r>
            <a:r>
              <a:rPr lang="pt-BR" sz="28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Pluripotentes</a:t>
            </a:r>
            <a:r>
              <a:rPr lang="pt-BR" sz="28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Induzidas)</a:t>
            </a:r>
          </a:p>
          <a:p>
            <a:pPr marL="800100" lvl="1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b="1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latin typeface="+mn-lt"/>
              </a:rPr>
              <a:t>	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sp>
        <p:nvSpPr>
          <p:cNvPr id="16392" name="CaixaDeTexto 9"/>
          <p:cNvSpPr txBox="1">
            <a:spLocks noChangeArrowheads="1"/>
          </p:cNvSpPr>
          <p:nvPr/>
        </p:nvSpPr>
        <p:spPr bwMode="auto">
          <a:xfrm>
            <a:off x="6959600" y="1916113"/>
            <a:ext cx="31686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pt-BR" sz="2400" b="1">
                <a:solidFill>
                  <a:srgbClr val="FF0000"/>
                </a:solidFill>
              </a:rPr>
              <a:t>Não há necessidade de uso de embriões.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E65FD1A-92FB-4D1C-80B3-85ED38F220F3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CF8AC06-8F1C-4A81-9E13-74A49AA916D7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858250" cy="2492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b="1" dirty="0">
                <a:solidFill>
                  <a:schemeClr val="accent1">
                    <a:lumMod val="50000"/>
                  </a:schemeClr>
                </a:solidFill>
                <a:latin typeface="+mn-lt"/>
                <a:cs typeface="Tahoma" pitchFamily="34" charset="0"/>
              </a:rPr>
              <a:t>Clonagem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buFontTx/>
              <a:buAutoNum type="arabicParenR"/>
              <a:defRPr/>
            </a:pPr>
            <a:endParaRPr lang="pt-BR" sz="2800" b="1" dirty="0">
              <a:solidFill>
                <a:schemeClr val="accent1">
                  <a:lumMod val="50000"/>
                </a:schemeClr>
              </a:solidFill>
              <a:latin typeface="+mn-lt"/>
              <a:cs typeface="Tahoma" pitchFamily="34" charset="0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800" dirty="0">
                <a:latin typeface="+mn-lt"/>
              </a:rPr>
              <a:t>	Um clone é um indivíduo derivado de outro e que possui o mesmo patrimônio genético do indivíduo original.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17413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17414" name="Picture 2" descr="http://3.bp.blogspot.com/-xKQShZpntyo/UGx5uMh9DWI/AAAAAAAAMbQ/do1RytEO5-k/s1600/bebe-gemeos-1725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06674" y="3500439"/>
            <a:ext cx="470535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5" name="Picture 4" descr="http://www.cantareira.br/ceatec/wp-content/uploads/2008/06/solo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72250" y="3213100"/>
            <a:ext cx="409575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8441F790-7F70-406B-BDFF-CA4F500CB87A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E20BF78-6DA0-46FF-8290-D0D7739836C2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85825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18437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sp>
        <p:nvSpPr>
          <p:cNvPr id="10" name="Retângulo 9"/>
          <p:cNvSpPr/>
          <p:nvPr/>
        </p:nvSpPr>
        <p:spPr>
          <a:xfrm>
            <a:off x="1524001" y="2852739"/>
            <a:ext cx="2627313" cy="129698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pt-BR" sz="3600" dirty="0"/>
              <a:t>Clonagem</a:t>
            </a:r>
          </a:p>
        </p:txBody>
      </p:sp>
      <p:cxnSp>
        <p:nvCxnSpPr>
          <p:cNvPr id="12" name="Conector angulado 11"/>
          <p:cNvCxnSpPr>
            <a:stCxn id="10" idx="3"/>
          </p:cNvCxnSpPr>
          <p:nvPr/>
        </p:nvCxnSpPr>
        <p:spPr>
          <a:xfrm flipV="1">
            <a:off x="4151313" y="2636838"/>
            <a:ext cx="1008062" cy="8636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angulado 13"/>
          <p:cNvCxnSpPr/>
          <p:nvPr/>
        </p:nvCxnSpPr>
        <p:spPr>
          <a:xfrm>
            <a:off x="4151313" y="3500439"/>
            <a:ext cx="1008062" cy="865187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441" name="CaixaDeTexto 17"/>
          <p:cNvSpPr txBox="1">
            <a:spLocks noChangeArrowheads="1"/>
          </p:cNvSpPr>
          <p:nvPr/>
        </p:nvSpPr>
        <p:spPr bwMode="auto">
          <a:xfrm>
            <a:off x="5087939" y="2349500"/>
            <a:ext cx="17287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800"/>
              <a:t>Natural</a:t>
            </a:r>
          </a:p>
        </p:txBody>
      </p:sp>
      <p:sp>
        <p:nvSpPr>
          <p:cNvPr id="18442" name="CaixaDeTexto 18"/>
          <p:cNvSpPr txBox="1">
            <a:spLocks noChangeArrowheads="1"/>
          </p:cNvSpPr>
          <p:nvPr/>
        </p:nvSpPr>
        <p:spPr bwMode="auto">
          <a:xfrm>
            <a:off x="5087939" y="4130675"/>
            <a:ext cx="17287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2800"/>
              <a:t>Artificial</a:t>
            </a:r>
          </a:p>
        </p:txBody>
      </p:sp>
      <p:cxnSp>
        <p:nvCxnSpPr>
          <p:cNvPr id="21" name="Conector angulado 20"/>
          <p:cNvCxnSpPr>
            <a:stCxn id="18442" idx="3"/>
          </p:cNvCxnSpPr>
          <p:nvPr/>
        </p:nvCxnSpPr>
        <p:spPr>
          <a:xfrm flipV="1">
            <a:off x="6816725" y="3860801"/>
            <a:ext cx="647700" cy="53022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angulado 22"/>
          <p:cNvCxnSpPr>
            <a:stCxn id="18442" idx="3"/>
          </p:cNvCxnSpPr>
          <p:nvPr/>
        </p:nvCxnSpPr>
        <p:spPr>
          <a:xfrm>
            <a:off x="6816725" y="4391026"/>
            <a:ext cx="647700" cy="550863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7464426" y="3573464"/>
            <a:ext cx="2447925" cy="522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2800" dirty="0">
                <a:solidFill>
                  <a:schemeClr val="accent3">
                    <a:lumMod val="75000"/>
                  </a:schemeClr>
                </a:solidFill>
              </a:rPr>
              <a:t>Reprodutiva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7608889" y="4705351"/>
            <a:ext cx="2447925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2800" dirty="0">
                <a:solidFill>
                  <a:schemeClr val="accent3">
                    <a:lumMod val="75000"/>
                  </a:schemeClr>
                </a:solidFill>
              </a:rPr>
              <a:t>Terapêutica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BD5631-371B-4B2A-AA9E-1B8083A1BF07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E47195F-FC3C-4827-9243-20E695385C9F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85825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latin typeface="+mn-lt"/>
              </a:rPr>
              <a:t>Clonagem Natural </a:t>
            </a: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dirty="0">
                <a:latin typeface="+mn-lt"/>
              </a:rPr>
              <a:t>	Ocorre por reprodução assexuada (estaquia, fragmentação, brotamento, bipartição, ...) ou devido à separação das células do embrião na fase de blastocisto.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19461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19462" name="Picture 2" descr="https://encrypted-tbn1.gstatic.com/images?q=tbn:ANd9GcQGRyM66f0W3clhPcT-MCYxKtDhMPpJkrhNOCvbdyHllynWH5i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2888" y="2997201"/>
            <a:ext cx="6627812" cy="357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4823D0F6-A1EF-4F9B-8AB0-B1025C9C6E54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6BDC7F7-BC7C-4BE7-A7E3-BE6F7A535B98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/>
          <p:cNvSpPr txBox="1"/>
          <p:nvPr/>
        </p:nvSpPr>
        <p:spPr>
          <a:xfrm>
            <a:off x="1524000" y="1071564"/>
            <a:ext cx="8858250" cy="2554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b="1" dirty="0">
                <a:latin typeface="+mn-lt"/>
              </a:rPr>
              <a:t>Clonagem Natural </a:t>
            </a: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4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2400" dirty="0">
                <a:latin typeface="+mn-lt"/>
              </a:rPr>
              <a:t>	Ocorre por reprodução assexuada (estaquia, fragmentação, brotamento, bipartição, ...) ou devido à separação das células do embrião na fase de blastocisto.</a:t>
            </a: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  <a:p>
            <a:pPr marL="342900" indent="-342900"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2000" dirty="0">
              <a:latin typeface="+mn-lt"/>
            </a:endParaRPr>
          </a:p>
        </p:txBody>
      </p:sp>
      <p:sp>
        <p:nvSpPr>
          <p:cNvPr id="20485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0486" name="Picture 2" descr="http://2.bp.blogspot.com/-jJOtXvM28aU/TyGfAPTzunI/AAAAAAAAAsA/2xtqVE2Mmk0/s1600/031110muda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665" y="3240360"/>
            <a:ext cx="5838825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C1908A99-DDBD-4B4F-9B52-EEFB092B37CE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17332B3-F5F8-4B21-A76D-4A5AC894D0A1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>
                <a:solidFill>
                  <a:schemeClr val="bg1"/>
                </a:solidFill>
              </a:rPr>
              <a:t>Biotecnologia</a:t>
            </a:r>
            <a:endParaRPr lang="pt-BR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1507" name="Picture 2" descr="http://4.bp.blogspot.com/_NIzKKpcHXHs/TEOhttS0hVI/AAAAAAAAANw/JZzxJInIxts/s640/imagem+gemeos.jpg"/>
          <p:cNvPicPr>
            <a:picLocks noChangeAspect="1" noChangeArrowheads="1"/>
          </p:cNvPicPr>
          <p:nvPr/>
        </p:nvPicPr>
        <p:blipFill>
          <a:blip r:embed="rId3" cstate="print"/>
          <a:srcRect b="9541"/>
          <a:stretch>
            <a:fillRect/>
          </a:stretch>
        </p:blipFill>
        <p:spPr bwMode="auto">
          <a:xfrm>
            <a:off x="2423592" y="1196752"/>
            <a:ext cx="7344816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0AFA5171-5E41-43EC-9AB2-9C9A8885E79B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8911808-5D50-4507-B025-9661D576838F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Clonagem Natural em Humanos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2532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75376" y="1052736"/>
            <a:ext cx="4384675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3" name="Picture 6" descr="http://www.terapiagenica.es/wordpress/wp-content/uploads/2008/02/microinyeccio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75520" y="2204864"/>
            <a:ext cx="3779838" cy="24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EEB642BC-B587-4C3D-9450-3C4905930F98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8EF5A24-38EA-4FAF-B8F5-46D563B710EC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Clonagem Artificial Reprodutiva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1" descr="http://www.sobiologia.com.br/figuras/Biotecnologia/clonagem_terapeutica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5560" y="1196752"/>
            <a:ext cx="7416824" cy="5256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B01C48B-3406-4539-A395-A81FDB249966}"/>
              </a:ext>
            </a:extLst>
          </p:cNvPr>
          <p:cNvSpPr/>
          <p:nvPr/>
        </p:nvSpPr>
        <p:spPr>
          <a:xfrm>
            <a:off x="0" y="1"/>
            <a:ext cx="12192000" cy="87956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BEB2AA1-F7CD-4E57-9D24-309764D2B624}"/>
              </a:ext>
            </a:extLst>
          </p:cNvPr>
          <p:cNvSpPr txBox="1">
            <a:spLocks/>
          </p:cNvSpPr>
          <p:nvPr/>
        </p:nvSpPr>
        <p:spPr>
          <a:xfrm>
            <a:off x="2152650" y="20570"/>
            <a:ext cx="7886700" cy="94608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>
                <a:solidFill>
                  <a:schemeClr val="bg1"/>
                </a:solidFill>
              </a:rPr>
              <a:t>Clonagem artificial terapêutica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aixaDeTexto 6"/>
          <p:cNvSpPr txBox="1">
            <a:spLocks noChangeArrowheads="1"/>
          </p:cNvSpPr>
          <p:nvPr/>
        </p:nvSpPr>
        <p:spPr bwMode="auto">
          <a:xfrm>
            <a:off x="3238501" y="4286250"/>
            <a:ext cx="428625" cy="3698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pt-BR"/>
          </a:p>
        </p:txBody>
      </p:sp>
      <p:pic>
        <p:nvPicPr>
          <p:cNvPr id="29699" name="Imagem 9" descr="clonagem terapeutica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aixaDeTexto 3"/>
          <p:cNvSpPr txBox="1"/>
          <p:nvPr/>
        </p:nvSpPr>
        <p:spPr>
          <a:xfrm>
            <a:off x="1524000" y="130522"/>
            <a:ext cx="9144000" cy="1138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lvl="1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5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</a:rPr>
              <a:t>Biotecnologia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</TotalTime>
  <Words>484</Words>
  <Application>Microsoft Office PowerPoint</Application>
  <PresentationFormat>Widescreen</PresentationFormat>
  <Paragraphs>183</Paragraphs>
  <Slides>22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Bebas Neue</vt:lpstr>
      <vt:lpstr>Calibri</vt:lpstr>
      <vt:lpstr>Calibri Light</vt:lpstr>
      <vt:lpstr>Tahoma</vt:lpstr>
      <vt:lpstr>Wingdings</vt:lpstr>
      <vt:lpstr>Tema do Office</vt:lpstr>
      <vt:lpstr>Biotecnologia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22</cp:revision>
  <dcterms:created xsi:type="dcterms:W3CDTF">2020-06-05T12:13:59Z</dcterms:created>
  <dcterms:modified xsi:type="dcterms:W3CDTF">2021-05-14T14:50:46Z</dcterms:modified>
</cp:coreProperties>
</file>