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316" r:id="rId2"/>
    <p:sldId id="257" r:id="rId3"/>
    <p:sldId id="258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8" r:id="rId15"/>
    <p:sldId id="283" r:id="rId16"/>
    <p:sldId id="276" r:id="rId17"/>
    <p:sldId id="277" r:id="rId18"/>
    <p:sldId id="279" r:id="rId19"/>
    <p:sldId id="280" r:id="rId20"/>
    <p:sldId id="281" r:id="rId21"/>
    <p:sldId id="282" r:id="rId22"/>
    <p:sldId id="284" r:id="rId23"/>
    <p:sldId id="285" r:id="rId24"/>
    <p:sldId id="286" r:id="rId25"/>
    <p:sldId id="287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B606"/>
    <a:srgbClr val="02A606"/>
    <a:srgbClr val="02D8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218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10/05/2021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7647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10/05/2021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4481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10/05/2021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8676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10/05/2021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8895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10/05/2021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0489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10/05/2021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4370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10/05/2021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7417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10/05/2021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3475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10/05/2021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9063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10/05/2021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08001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10/05/2021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4873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1EB2CB-219F-436E-9B65-25A3D1B4A5D0}" type="datetimeFigureOut">
              <a:rPr lang="pt-BR" smtClean="0"/>
              <a:t>10/05/2021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1030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Núcleo celular, o que é? Funções, estrutura nuclear e divisão celular">
            <a:extLst>
              <a:ext uri="{FF2B5EF4-FFF2-40B4-BE49-F238E27FC236}">
                <a16:creationId xmlns:a16="http://schemas.microsoft.com/office/drawing/2014/main" id="{BC9BA1A1-B914-46AE-8826-C95F6425DE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8117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2435979C-8683-4775-A51B-7B69B8A514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1682583"/>
            <a:ext cx="12191999" cy="987029"/>
          </a:xfr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Núcleo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01B4C986-036F-4177-A597-967B1FA8B789}"/>
              </a:ext>
            </a:extLst>
          </p:cNvPr>
          <p:cNvSpPr txBox="1">
            <a:spLocks/>
          </p:cNvSpPr>
          <p:nvPr/>
        </p:nvSpPr>
        <p:spPr>
          <a:xfrm>
            <a:off x="0" y="2561814"/>
            <a:ext cx="12191998" cy="133164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lIns="68580" tIns="34290" rIns="68580" bIns="34290" rtlCol="0" anchor="b">
            <a:normAutofit fontScale="4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dirty="0"/>
          </a:p>
          <a:p>
            <a:pPr>
              <a:lnSpc>
                <a:spcPct val="120000"/>
              </a:lnSpc>
            </a:pPr>
            <a:r>
              <a:rPr lang="pt-BR" sz="3700" b="1" dirty="0"/>
              <a:t>Características</a:t>
            </a:r>
          </a:p>
          <a:p>
            <a:pPr>
              <a:lnSpc>
                <a:spcPct val="120000"/>
              </a:lnSpc>
            </a:pPr>
            <a:r>
              <a:rPr lang="pt-BR" sz="3700" b="1" dirty="0"/>
              <a:t>Cromossomos</a:t>
            </a:r>
          </a:p>
          <a:p>
            <a:pPr>
              <a:lnSpc>
                <a:spcPct val="120000"/>
              </a:lnSpc>
            </a:pPr>
            <a:r>
              <a:rPr lang="pt-BR" sz="3700" b="1" dirty="0"/>
              <a:t>Mutações</a:t>
            </a:r>
          </a:p>
          <a:p>
            <a:endParaRPr lang="pt-BR" sz="45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13135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0" y="20570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Núcleo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171" y="1825625"/>
            <a:ext cx="11556275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Região da célula que abriga o material genético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Componentes: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Carioteca: envoltório que delimita o núcleo; ausente em procariontes; possui poros para a saída de RNAm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Nucleoplasma/</a:t>
            </a:r>
            <a:r>
              <a:rPr lang="pt-BR" dirty="0" err="1"/>
              <a:t>cariolinfa</a:t>
            </a:r>
            <a:r>
              <a:rPr lang="pt-BR" dirty="0"/>
              <a:t>: líquido que preenche o núcleo, rico em nucleotídeos;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Nucléolo: região com alta concentração de </a:t>
            </a:r>
            <a:r>
              <a:rPr lang="pt-BR" dirty="0" err="1"/>
              <a:t>RNAr</a:t>
            </a:r>
            <a:r>
              <a:rPr lang="pt-BR" dirty="0"/>
              <a:t>, fundamental para a formação dos ribossomos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Material genético: DNA e RNA (ácidos nucleicos)</a:t>
            </a:r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04654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0" y="20570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Núcleo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7920EDA4-892D-4BD8-9C71-DAB29C9E53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7" name="Picture 2" descr="Núcleo e ribossomos (artigo) | Khan Academy">
            <a:extLst>
              <a:ext uri="{FF2B5EF4-FFF2-40B4-BE49-F238E27FC236}">
                <a16:creationId xmlns:a16="http://schemas.microsoft.com/office/drawing/2014/main" id="{EA6BDA54-AD04-4541-89DB-D59FA17745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1276" y="1825625"/>
            <a:ext cx="6699802" cy="4660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1151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0" y="20570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DNA no Núcleo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178" y="1585737"/>
            <a:ext cx="11321142" cy="490782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Molécula muito grande então deve ser compactada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Proteínas </a:t>
            </a:r>
            <a:r>
              <a:rPr lang="pt-BR" b="1" dirty="0"/>
              <a:t>Histonas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DNA se organiza em </a:t>
            </a:r>
            <a:r>
              <a:rPr lang="pt-BR" b="1" dirty="0"/>
              <a:t>cromossomos</a:t>
            </a:r>
            <a:r>
              <a:rPr lang="pt-BR" dirty="0"/>
              <a:t>, visíveis durante a divisão celular, fora da divisão = </a:t>
            </a:r>
            <a:r>
              <a:rPr lang="pt-BR" b="1" dirty="0"/>
              <a:t>cromatina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Eucromatina: DNA solto, ativo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Heterocromatina: DNA condensado, inativo</a:t>
            </a:r>
          </a:p>
          <a:p>
            <a:pPr marL="457200" lvl="1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sz="2000" dirty="0"/>
              <a:t>OBS: todas as células tem o mesmo </a:t>
            </a:r>
          </a:p>
          <a:p>
            <a:pPr marL="0" indent="0">
              <a:buNone/>
            </a:pPr>
            <a:r>
              <a:rPr lang="pt-BR" sz="2000" dirty="0"/>
              <a:t>DNA, o que muda são as regiões de </a:t>
            </a:r>
          </a:p>
          <a:p>
            <a:pPr marL="0" indent="0">
              <a:buNone/>
            </a:pPr>
            <a:r>
              <a:rPr lang="pt-BR" sz="2000" dirty="0"/>
              <a:t>Eucromatina e Heterocromatina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A75EBBB-95D9-462D-A5D7-17ABD27747D6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3563" y="4317859"/>
            <a:ext cx="4766849" cy="21757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02458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0" y="20570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Cromossomo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4641" y="1606306"/>
            <a:ext cx="5986456" cy="490782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Molécula de DNA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Centrômero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Constrição primária do cromossomo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Cromátide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Braço do cromossomo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Satélite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Região com DNA para produzir Ribossomo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Telômero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DNA não codificante para proteção da molécula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0E8A6B1-3518-45D4-AC84-056E56A449C7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3664" y="1606306"/>
            <a:ext cx="3714336" cy="462221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18548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0" y="20570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Cromossomo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1484243"/>
            <a:ext cx="11251474" cy="500932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Cromossomo pode ser: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000" dirty="0"/>
              <a:t>Simples: formado por 1 cromátide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000" dirty="0"/>
              <a:t>Duplicado: formado por 2 cromátides-irmãs (possuem o mesmo DNA)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200" dirty="0"/>
              <a:t>1 Cromossomo simples = 1 molécula de DNA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200" dirty="0"/>
              <a:t>2 Cromossomo duplicado = 2 moléculas de DNA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200" dirty="0"/>
              <a:t>Quantidade de cromossomos = quantidade de centrômeros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02BF90A-9DE2-4062-BE7A-9E3CABD317BF}"/>
              </a:ext>
            </a:extLst>
          </p:cNvPr>
          <p:cNvPicPr/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706" y="3991862"/>
            <a:ext cx="6437590" cy="256080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748349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0" y="20570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Cromossomo - Tipos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1589" y="1948070"/>
            <a:ext cx="8621368" cy="454549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Classificados quanto a altura do centrômero:</a:t>
            </a:r>
            <a:endParaRPr lang="pt-BR" sz="2200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F484FFE8-54C8-48AC-8171-DC079185C1B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5085" y="2816349"/>
            <a:ext cx="5101107" cy="255740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429868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3999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Cromossomos Homólogos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931" y="1470991"/>
            <a:ext cx="11112138" cy="5366440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Cromossomos que possuem x </a:t>
            </a:r>
            <a:r>
              <a:rPr lang="pt-BR" sz="2400" dirty="0" err="1"/>
              <a:t>mesmx</a:t>
            </a:r>
            <a:r>
              <a:rPr lang="pt-BR" sz="2400" dirty="0"/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Posição de Centrômero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Sequência de genes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Tamanho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Mas são de origens diferentes: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Materna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Paterna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Ex recebemos: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23 cromossomos do pai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23 cromossomos da mãe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Os 23 cromossomos do pai são homólogos aos da mãe pois carregam os mesmos genes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OBS: carregar os mesmos genes não significa carregar os mesmos alelos (veremos isso mais pra frente)</a:t>
            </a:r>
          </a:p>
        </p:txBody>
      </p:sp>
      <p:pic>
        <p:nvPicPr>
          <p:cNvPr id="7170" name="Picture 2" descr="O que são Cromossomos Homólogos - Planeta Biológico">
            <a:extLst>
              <a:ext uri="{FF2B5EF4-FFF2-40B4-BE49-F238E27FC236}">
                <a16:creationId xmlns:a16="http://schemas.microsoft.com/office/drawing/2014/main" id="{E900D7B3-99EA-4BC2-8040-2E180E246A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2043" y="2003978"/>
            <a:ext cx="4288369" cy="2634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3678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3999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Cromossomos Homólogos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C81AE97-9C26-4E23-B9F5-A51B011277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1216" y="2157465"/>
            <a:ext cx="6190810" cy="3382479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C1C9FB6F-BD04-40BE-AE51-10FA4A44693E}"/>
              </a:ext>
            </a:extLst>
          </p:cNvPr>
          <p:cNvSpPr txBox="1"/>
          <p:nvPr/>
        </p:nvSpPr>
        <p:spPr>
          <a:xfrm>
            <a:off x="409303" y="2255520"/>
            <a:ext cx="446191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 é homólogo de 1 pois carregam os mesmos</a:t>
            </a:r>
          </a:p>
          <a:p>
            <a:r>
              <a:rPr lang="pt-BR" dirty="0"/>
              <a:t>Genes e possuem o mesmo tamanho e posição de centrômero</a:t>
            </a:r>
          </a:p>
          <a:p>
            <a:r>
              <a:rPr lang="pt-BR" dirty="0"/>
              <a:t>Mas eles não são homólogos de 20 pois não carregam mesmos genes nem possuem mesmo tamanho.</a:t>
            </a:r>
          </a:p>
        </p:txBody>
      </p:sp>
    </p:spTree>
    <p:extLst>
      <p:ext uri="{BB962C8B-B14F-4D97-AF65-F5344CB8AC3E}">
        <p14:creationId xmlns:p14="http://schemas.microsoft.com/office/powerpoint/2010/main" val="9389045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3999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Tipos de Cromossomos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970" y="1815548"/>
            <a:ext cx="11164389" cy="502188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200" b="1" dirty="0"/>
              <a:t>Autossomos:</a:t>
            </a:r>
            <a:r>
              <a:rPr lang="pt-BR" sz="2200" dirty="0"/>
              <a:t> cromossomos que carregam genes não relacionados ao sexo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200" b="1" dirty="0" err="1"/>
              <a:t>Alossomos</a:t>
            </a:r>
            <a:r>
              <a:rPr lang="pt-BR" sz="2200" b="1" dirty="0"/>
              <a:t> (sexuais)</a:t>
            </a:r>
            <a:r>
              <a:rPr lang="pt-BR" sz="2200" dirty="0"/>
              <a:t>: cromossomos que determinam o sexo. Pode ser o X e o Y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sz="2200" dirty="0"/>
          </a:p>
        </p:txBody>
      </p:sp>
      <p:pic>
        <p:nvPicPr>
          <p:cNvPr id="7" name="Picture 2" descr="Cromossomo Y: além da determinação do sexo' - Avanço Genômico do ...">
            <a:extLst>
              <a:ext uri="{FF2B5EF4-FFF2-40B4-BE49-F238E27FC236}">
                <a16:creationId xmlns:a16="http://schemas.microsoft.com/office/drawing/2014/main" id="{46F0E381-569B-4247-B795-9C2E688535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3523" y="3429001"/>
            <a:ext cx="2857500" cy="2619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40089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3999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 err="1">
                <a:solidFill>
                  <a:schemeClr val="bg1"/>
                </a:solidFill>
              </a:rPr>
              <a:t>Ploidia</a:t>
            </a:r>
            <a:endParaRPr lang="pt-BR" sz="6000" b="1" dirty="0">
              <a:solidFill>
                <a:schemeClr val="bg1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389" y="1577010"/>
            <a:ext cx="11138262" cy="526042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Número de </a:t>
            </a:r>
            <a:r>
              <a:rPr lang="pt-BR" sz="2400" b="1" dirty="0"/>
              <a:t>Conjuntos Gênicos</a:t>
            </a:r>
            <a:r>
              <a:rPr lang="pt-BR" sz="2400" dirty="0"/>
              <a:t> na célula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Haploide: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000" dirty="0"/>
              <a:t>1 conjunto gênico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000" dirty="0"/>
              <a:t>Não há homólogos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000" dirty="0"/>
              <a:t>Cada gene aparece 1 vez apenas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8B1F51FB-0D91-4B97-AC5C-25882E9EA0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5168" y="3545472"/>
            <a:ext cx="7514210" cy="3291959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D916C33-1026-4F4C-B886-F32E19C54323}"/>
              </a:ext>
            </a:extLst>
          </p:cNvPr>
          <p:cNvSpPr txBox="1"/>
          <p:nvPr/>
        </p:nvSpPr>
        <p:spPr>
          <a:xfrm>
            <a:off x="6338339" y="2007360"/>
            <a:ext cx="3634072" cy="16619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Diploide: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000" dirty="0"/>
              <a:t>2 conjuntos gênicos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000" dirty="0"/>
              <a:t>Pares de Homólogos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000" dirty="0"/>
              <a:t>Cada gene aparece 2 vezes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343688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3999" cy="1325563"/>
          </a:xfrm>
        </p:spPr>
        <p:txBody>
          <a:bodyPr>
            <a:noAutofit/>
          </a:bodyPr>
          <a:lstStyle/>
          <a:p>
            <a:pPr algn="ctr"/>
            <a:r>
              <a:rPr lang="pt-BR" sz="4000" b="1" dirty="0">
                <a:solidFill>
                  <a:schemeClr val="bg1"/>
                </a:solidFill>
              </a:rPr>
              <a:t>Uma célula tem quantos cromossomos?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1589" y="1577010"/>
            <a:ext cx="8621368" cy="526042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Varia de acordo com a espécie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Espécie humana: células somáticas (2n) e células gaméticas (n)</a:t>
            </a:r>
            <a:endParaRPr lang="pt-BR" sz="20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C1BD997-A3A4-4FCF-923A-82470CAC2F3D}"/>
              </a:ext>
            </a:extLst>
          </p:cNvPr>
          <p:cNvSpPr txBox="1"/>
          <p:nvPr/>
        </p:nvSpPr>
        <p:spPr>
          <a:xfrm>
            <a:off x="1904755" y="3030232"/>
            <a:ext cx="852470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dirty="0"/>
              <a:t>Célula Somática (2n) = 46 cromossomos ou 23 pares de cromossomos</a:t>
            </a:r>
          </a:p>
          <a:p>
            <a:r>
              <a:rPr lang="pt-BR" sz="2200" dirty="0"/>
              <a:t>		         </a:t>
            </a:r>
            <a:r>
              <a:rPr lang="pt-BR" sz="2200" dirty="0">
                <a:sym typeface="Wingdings" panose="05000000000000000000" pitchFamily="2" charset="2"/>
              </a:rPr>
              <a:t> 44 autossomos + 2 sexuais</a:t>
            </a:r>
          </a:p>
          <a:p>
            <a:r>
              <a:rPr lang="pt-BR" sz="2200" dirty="0">
                <a:sym typeface="Wingdings" panose="05000000000000000000" pitchFamily="2" charset="2"/>
              </a:rPr>
              <a:t>				              			 XX = fêmea; XY = macho;</a:t>
            </a:r>
            <a:endParaRPr lang="pt-BR" sz="22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9C803FD-8858-4CDC-87AE-4DA482B052F5}"/>
              </a:ext>
            </a:extLst>
          </p:cNvPr>
          <p:cNvSpPr txBox="1"/>
          <p:nvPr/>
        </p:nvSpPr>
        <p:spPr>
          <a:xfrm>
            <a:off x="1939662" y="5112858"/>
            <a:ext cx="852470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dirty="0"/>
              <a:t>Célula Gamética (n) = 23 cromossomos</a:t>
            </a:r>
          </a:p>
          <a:p>
            <a:r>
              <a:rPr lang="pt-BR" sz="2200" dirty="0"/>
              <a:t>		         </a:t>
            </a:r>
            <a:r>
              <a:rPr lang="pt-BR" sz="2200" dirty="0">
                <a:sym typeface="Wingdings" panose="05000000000000000000" pitchFamily="2" charset="2"/>
              </a:rPr>
              <a:t> 22 autossomos + 1 sexual</a:t>
            </a:r>
          </a:p>
        </p:txBody>
      </p:sp>
      <p:sp>
        <p:nvSpPr>
          <p:cNvPr id="10" name="Seta: para Baixo 9">
            <a:extLst>
              <a:ext uri="{FF2B5EF4-FFF2-40B4-BE49-F238E27FC236}">
                <a16:creationId xmlns:a16="http://schemas.microsoft.com/office/drawing/2014/main" id="{545D6503-0480-43E8-A930-98EB45B70CD0}"/>
              </a:ext>
            </a:extLst>
          </p:cNvPr>
          <p:cNvSpPr/>
          <p:nvPr/>
        </p:nvSpPr>
        <p:spPr>
          <a:xfrm>
            <a:off x="4846570" y="3889423"/>
            <a:ext cx="556591" cy="1223434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8342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3999" cy="1325563"/>
          </a:xfrm>
        </p:spPr>
        <p:txBody>
          <a:bodyPr>
            <a:noAutofit/>
          </a:bodyPr>
          <a:lstStyle/>
          <a:p>
            <a:pPr algn="ctr"/>
            <a:r>
              <a:rPr lang="pt-BR" sz="4000" b="1" dirty="0">
                <a:solidFill>
                  <a:schemeClr val="bg1"/>
                </a:solidFill>
              </a:rPr>
              <a:t>A fecundação formará um novo ser vivo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3025A56-C011-4C28-882C-26098D996F24}"/>
              </a:ext>
            </a:extLst>
          </p:cNvPr>
          <p:cNvSpPr txBox="1"/>
          <p:nvPr/>
        </p:nvSpPr>
        <p:spPr>
          <a:xfrm>
            <a:off x="1780795" y="1744322"/>
            <a:ext cx="466870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dirty="0"/>
              <a:t>Célula Gamética (n) = 23</a:t>
            </a:r>
          </a:p>
          <a:p>
            <a:r>
              <a:rPr lang="pt-BR" sz="2200" dirty="0"/>
              <a:t>   </a:t>
            </a:r>
            <a:r>
              <a:rPr lang="pt-BR" sz="2200" dirty="0">
                <a:sym typeface="Wingdings" panose="05000000000000000000" pitchFamily="2" charset="2"/>
              </a:rPr>
              <a:t> 22 autossomos + X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162CB67-4496-4B8E-8538-82537C2CF5D2}"/>
              </a:ext>
            </a:extLst>
          </p:cNvPr>
          <p:cNvSpPr txBox="1"/>
          <p:nvPr/>
        </p:nvSpPr>
        <p:spPr>
          <a:xfrm>
            <a:off x="6882887" y="1733553"/>
            <a:ext cx="447422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dirty="0"/>
              <a:t>Célula Gamética (n) = 23 </a:t>
            </a:r>
          </a:p>
          <a:p>
            <a:r>
              <a:rPr lang="pt-BR" sz="2200" dirty="0">
                <a:sym typeface="Wingdings" panose="05000000000000000000" pitchFamily="2" charset="2"/>
              </a:rPr>
              <a:t> 22 autossomos + X</a:t>
            </a:r>
          </a:p>
        </p:txBody>
      </p:sp>
      <p:sp>
        <p:nvSpPr>
          <p:cNvPr id="13" name="Sinal de Adição 12">
            <a:extLst>
              <a:ext uri="{FF2B5EF4-FFF2-40B4-BE49-F238E27FC236}">
                <a16:creationId xmlns:a16="http://schemas.microsoft.com/office/drawing/2014/main" id="{4A349E67-9A73-4FEF-B6E1-AAD15131B249}"/>
              </a:ext>
            </a:extLst>
          </p:cNvPr>
          <p:cNvSpPr/>
          <p:nvPr/>
        </p:nvSpPr>
        <p:spPr>
          <a:xfrm>
            <a:off x="5671930" y="1909860"/>
            <a:ext cx="467762" cy="475533"/>
          </a:xfrm>
          <a:prstGeom prst="mathPlu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84222B1-044A-48B1-8940-4CE2EC34C811}"/>
              </a:ext>
            </a:extLst>
          </p:cNvPr>
          <p:cNvSpPr txBox="1"/>
          <p:nvPr/>
        </p:nvSpPr>
        <p:spPr>
          <a:xfrm>
            <a:off x="4115146" y="3044280"/>
            <a:ext cx="466870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dirty="0"/>
              <a:t>	Zigoto(2n) = 46</a:t>
            </a:r>
          </a:p>
          <a:p>
            <a:r>
              <a:rPr lang="pt-BR" sz="2200" dirty="0"/>
              <a:t>   </a:t>
            </a:r>
            <a:r>
              <a:rPr lang="pt-BR" sz="2200" dirty="0">
                <a:sym typeface="Wingdings" panose="05000000000000000000" pitchFamily="2" charset="2"/>
              </a:rPr>
              <a:t> 44 autossomos + XX (fêmea)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753D596A-A24B-440F-810A-0E0A2DD3D9F4}"/>
              </a:ext>
            </a:extLst>
          </p:cNvPr>
          <p:cNvSpPr txBox="1"/>
          <p:nvPr/>
        </p:nvSpPr>
        <p:spPr>
          <a:xfrm>
            <a:off x="2012708" y="4405596"/>
            <a:ext cx="466870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dirty="0"/>
              <a:t>Célula Gamética (n) = 23</a:t>
            </a:r>
          </a:p>
          <a:p>
            <a:r>
              <a:rPr lang="pt-BR" sz="2200" dirty="0"/>
              <a:t>   </a:t>
            </a:r>
            <a:r>
              <a:rPr lang="pt-BR" sz="2200" dirty="0">
                <a:sym typeface="Wingdings" panose="05000000000000000000" pitchFamily="2" charset="2"/>
              </a:rPr>
              <a:t> 22 autossomos + X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412F995D-D19D-43D1-BAA8-6162618CCDCC}"/>
              </a:ext>
            </a:extLst>
          </p:cNvPr>
          <p:cNvSpPr txBox="1"/>
          <p:nvPr/>
        </p:nvSpPr>
        <p:spPr>
          <a:xfrm>
            <a:off x="6882887" y="4398217"/>
            <a:ext cx="447422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dirty="0"/>
              <a:t>Célula Gamética (n) = 23 </a:t>
            </a:r>
          </a:p>
          <a:p>
            <a:r>
              <a:rPr lang="pt-BR" sz="2200" dirty="0">
                <a:sym typeface="Wingdings" panose="05000000000000000000" pitchFamily="2" charset="2"/>
              </a:rPr>
              <a:t> 22 autossomos + Y</a:t>
            </a:r>
          </a:p>
        </p:txBody>
      </p:sp>
      <p:sp>
        <p:nvSpPr>
          <p:cNvPr id="17" name="Sinal de Adição 16">
            <a:extLst>
              <a:ext uri="{FF2B5EF4-FFF2-40B4-BE49-F238E27FC236}">
                <a16:creationId xmlns:a16="http://schemas.microsoft.com/office/drawing/2014/main" id="{3980B380-50E6-46EC-8177-21BAF0E4A1AD}"/>
              </a:ext>
            </a:extLst>
          </p:cNvPr>
          <p:cNvSpPr/>
          <p:nvPr/>
        </p:nvSpPr>
        <p:spPr>
          <a:xfrm>
            <a:off x="5671930" y="4552549"/>
            <a:ext cx="467762" cy="475533"/>
          </a:xfrm>
          <a:prstGeom prst="mathPlu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649F8162-E700-4B6D-A485-62FB9D2E0EF1}"/>
              </a:ext>
            </a:extLst>
          </p:cNvPr>
          <p:cNvSpPr txBox="1"/>
          <p:nvPr/>
        </p:nvSpPr>
        <p:spPr>
          <a:xfrm>
            <a:off x="4347059" y="5705554"/>
            <a:ext cx="466870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dirty="0"/>
              <a:t>	Zigoto(2n) = 46</a:t>
            </a:r>
          </a:p>
          <a:p>
            <a:r>
              <a:rPr lang="pt-BR" sz="2200" dirty="0"/>
              <a:t>   </a:t>
            </a:r>
            <a:r>
              <a:rPr lang="pt-BR" sz="2200" dirty="0">
                <a:sym typeface="Wingdings" panose="05000000000000000000" pitchFamily="2" charset="2"/>
              </a:rPr>
              <a:t> 44 autossomos + XY (macho)</a:t>
            </a:r>
          </a:p>
        </p:txBody>
      </p:sp>
      <p:sp>
        <p:nvSpPr>
          <p:cNvPr id="8" name="Igual a 7">
            <a:extLst>
              <a:ext uri="{FF2B5EF4-FFF2-40B4-BE49-F238E27FC236}">
                <a16:creationId xmlns:a16="http://schemas.microsoft.com/office/drawing/2014/main" id="{98535A36-69E5-4FAD-AAD2-DD3D476F6E9E}"/>
              </a:ext>
            </a:extLst>
          </p:cNvPr>
          <p:cNvSpPr/>
          <p:nvPr/>
        </p:nvSpPr>
        <p:spPr>
          <a:xfrm>
            <a:off x="5660646" y="2617943"/>
            <a:ext cx="490330" cy="426337"/>
          </a:xfrm>
          <a:prstGeom prst="mathEqual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9" name="Igual a 18">
            <a:extLst>
              <a:ext uri="{FF2B5EF4-FFF2-40B4-BE49-F238E27FC236}">
                <a16:creationId xmlns:a16="http://schemas.microsoft.com/office/drawing/2014/main" id="{844356C4-03C7-43D1-B2E9-DB5A0FF4AD2A}"/>
              </a:ext>
            </a:extLst>
          </p:cNvPr>
          <p:cNvSpPr/>
          <p:nvPr/>
        </p:nvSpPr>
        <p:spPr>
          <a:xfrm>
            <a:off x="5636108" y="5183959"/>
            <a:ext cx="490330" cy="426337"/>
          </a:xfrm>
          <a:prstGeom prst="mathEqual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61248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1166D130-DA36-4A7D-AC64-437DE5C29940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8614" y="1504921"/>
            <a:ext cx="7287508" cy="53530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487161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3999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Cromatina Sexual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343" y="1470992"/>
            <a:ext cx="11347268" cy="5387009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200" dirty="0"/>
              <a:t>Corpúsculo de </a:t>
            </a:r>
            <a:r>
              <a:rPr lang="pt-BR" sz="2200" dirty="0" err="1"/>
              <a:t>Barr</a:t>
            </a:r>
            <a:r>
              <a:rPr lang="pt-BR" sz="2200" dirty="0"/>
              <a:t> =&gt; Geneticista Mary Lyon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200" dirty="0"/>
              <a:t>Inativação dos cromossomos X “extras”, ou seja, um cromossomo X fica ativado e os outros não = compensação de dose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200" dirty="0"/>
              <a:t>Típica de fêmeas de mamíferos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200" dirty="0"/>
              <a:t>A inativação é aleatória = mosaicismo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200" dirty="0"/>
              <a:t>Durante fase embrionária (segunda semana) </a:t>
            </a:r>
          </a:p>
          <a:p>
            <a:pPr marL="0" indent="0">
              <a:buNone/>
            </a:pPr>
            <a:endParaRPr lang="pt-BR" sz="2200" dirty="0"/>
          </a:p>
          <a:p>
            <a:pPr marL="0" indent="0">
              <a:buNone/>
            </a:pPr>
            <a:r>
              <a:rPr lang="pt-BR" sz="2200" dirty="0"/>
              <a:t>				</a:t>
            </a:r>
            <a:r>
              <a:rPr lang="pt-BR" sz="2200" b="1" dirty="0"/>
              <a:t>Nº de C.S. = nº cromossomo x – 1</a:t>
            </a:r>
          </a:p>
          <a:p>
            <a:pPr marL="0" indent="0">
              <a:buNone/>
            </a:pPr>
            <a:endParaRPr lang="pt-BR" sz="2200" dirty="0"/>
          </a:p>
          <a:p>
            <a:pPr>
              <a:buFont typeface="Wingdings" panose="05000000000000000000" pitchFamily="2" charset="2"/>
              <a:buChar char="Ø"/>
            </a:pPr>
            <a:r>
              <a:rPr lang="pt-BR" sz="2200" dirty="0"/>
              <a:t>Mulheres normais (XX) = 1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200" dirty="0"/>
              <a:t>Homem normal (XY) = 0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200" dirty="0"/>
              <a:t>Homem com </a:t>
            </a:r>
            <a:r>
              <a:rPr lang="pt-BR" sz="2200" dirty="0" err="1"/>
              <a:t>Klinefelter</a:t>
            </a:r>
            <a:r>
              <a:rPr lang="pt-BR" sz="2200" dirty="0"/>
              <a:t> (XXY) = 1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200" dirty="0"/>
              <a:t>Mulher com Turner (X0) = 0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200" dirty="0"/>
              <a:t>Mulher com Triplo X (XXX) = 2</a:t>
            </a:r>
          </a:p>
        </p:txBody>
      </p:sp>
    </p:spTree>
    <p:extLst>
      <p:ext uri="{BB962C8B-B14F-4D97-AF65-F5344CB8AC3E}">
        <p14:creationId xmlns:p14="http://schemas.microsoft.com/office/powerpoint/2010/main" val="1936427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3999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 err="1">
                <a:solidFill>
                  <a:schemeClr val="bg1"/>
                </a:solidFill>
              </a:rPr>
              <a:t>Cariograma</a:t>
            </a:r>
            <a:endParaRPr lang="pt-BR" sz="6000" b="1" dirty="0">
              <a:solidFill>
                <a:schemeClr val="bg1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1589" y="1815548"/>
            <a:ext cx="8621368" cy="502188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200" dirty="0"/>
              <a:t>Representação gráfica dos cromossomos da espécie</a:t>
            </a:r>
          </a:p>
        </p:txBody>
      </p:sp>
      <p:pic>
        <p:nvPicPr>
          <p:cNvPr id="8" name="Picture 4" descr="BIOVIVER: CARIÓTIPO">
            <a:extLst>
              <a:ext uri="{FF2B5EF4-FFF2-40B4-BE49-F238E27FC236}">
                <a16:creationId xmlns:a16="http://schemas.microsoft.com/office/drawing/2014/main" id="{72A384C6-D73F-49E7-A4DA-44430FCBF4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440229"/>
            <a:ext cx="9144000" cy="337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40D1695A-60A8-4D82-80B7-54A24FA9EC97}"/>
              </a:ext>
            </a:extLst>
          </p:cNvPr>
          <p:cNvSpPr txBox="1"/>
          <p:nvPr/>
        </p:nvSpPr>
        <p:spPr>
          <a:xfrm>
            <a:off x="3731078" y="5918512"/>
            <a:ext cx="833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Macho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9B832A7-8E9C-48F4-9F26-2ECDB0DD7420}"/>
              </a:ext>
            </a:extLst>
          </p:cNvPr>
          <p:cNvSpPr txBox="1"/>
          <p:nvPr/>
        </p:nvSpPr>
        <p:spPr>
          <a:xfrm>
            <a:off x="7931428" y="5918512"/>
            <a:ext cx="8128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Fêmea</a:t>
            </a:r>
          </a:p>
        </p:txBody>
      </p:sp>
    </p:spTree>
    <p:extLst>
      <p:ext uri="{BB962C8B-B14F-4D97-AF65-F5344CB8AC3E}">
        <p14:creationId xmlns:p14="http://schemas.microsoft.com/office/powerpoint/2010/main" val="23187435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3999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Mutações Cromossômicas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1589" y="1470991"/>
            <a:ext cx="8621368" cy="536644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Grandes mudanças no material genético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Geralmente afetam muitas características do organismo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Pode ser: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000" dirty="0"/>
              <a:t>Estruturais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000" dirty="0"/>
              <a:t>Numéricas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6156261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3999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Estruturais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1589" y="1470991"/>
            <a:ext cx="8621368" cy="536644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200" dirty="0"/>
              <a:t>Deleção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1800" dirty="0"/>
              <a:t>Ex: braço curto do cromossomo 5 = Cri </a:t>
            </a:r>
            <a:r>
              <a:rPr lang="pt-BR" sz="1800" dirty="0" err="1"/>
              <a:t>du</a:t>
            </a:r>
            <a:r>
              <a:rPr lang="pt-BR" sz="1800" dirty="0"/>
              <a:t> Chat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200" dirty="0"/>
              <a:t>Duplicação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47660BE-7A9F-4065-9A23-961C6CF2B3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9044" y="3246784"/>
            <a:ext cx="2456115" cy="3034748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FD26652-462E-4A1B-8F03-29A16D820D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393" y="2749135"/>
            <a:ext cx="5919489" cy="3158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3060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959" y="20570"/>
            <a:ext cx="9027040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Estruturais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1589" y="1470991"/>
            <a:ext cx="8621368" cy="536644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200" dirty="0"/>
              <a:t>Inversão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200" dirty="0"/>
              <a:t>Translocação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E9EABD8-64AF-428B-81E2-5BE27EB9C8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938" y="1366115"/>
            <a:ext cx="4943061" cy="2651327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2FACFAC4-28F4-4072-A415-22FA53AA9D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0959" y="2652985"/>
            <a:ext cx="3967023" cy="2840864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0E17A03A-0294-44C5-8B94-2D2BAB37A5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0710" y="4073418"/>
            <a:ext cx="3848910" cy="2678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6556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3999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Mutações Numéricas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389" y="1470991"/>
            <a:ext cx="11225348" cy="536644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200" dirty="0"/>
              <a:t>São as </a:t>
            </a:r>
            <a:r>
              <a:rPr lang="pt-BR" sz="2200" b="1" dirty="0"/>
              <a:t>mais importantes</a:t>
            </a:r>
            <a:r>
              <a:rPr lang="pt-BR" sz="2200" dirty="0"/>
              <a:t>!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200" dirty="0"/>
              <a:t>Alteram a quantidade de cromossomos nas células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200" b="1" dirty="0" err="1"/>
              <a:t>Euploidia</a:t>
            </a:r>
            <a:r>
              <a:rPr lang="pt-BR" sz="2200" dirty="0"/>
              <a:t>: alteração da </a:t>
            </a:r>
            <a:r>
              <a:rPr lang="pt-BR" sz="2200" dirty="0" err="1"/>
              <a:t>ploidia</a:t>
            </a:r>
            <a:r>
              <a:rPr lang="pt-BR" sz="2200" dirty="0"/>
              <a:t> do indivíduo (ex: 2n </a:t>
            </a:r>
            <a:r>
              <a:rPr lang="pt-BR" sz="2200" dirty="0">
                <a:sym typeface="Wingdings" panose="05000000000000000000" pitchFamily="2" charset="2"/>
              </a:rPr>
              <a:t> 3n)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200" b="1" dirty="0" err="1">
                <a:sym typeface="Wingdings" panose="05000000000000000000" pitchFamily="2" charset="2"/>
              </a:rPr>
              <a:t>Aneuploidia</a:t>
            </a:r>
            <a:r>
              <a:rPr lang="pt-BR" sz="2200" dirty="0">
                <a:sym typeface="Wingdings" panose="05000000000000000000" pitchFamily="2" charset="2"/>
              </a:rPr>
              <a:t>: ganho / perda de alguns cromossomos sem alterar a </a:t>
            </a:r>
            <a:r>
              <a:rPr lang="pt-BR" sz="2200" dirty="0" err="1">
                <a:sym typeface="Wingdings" panose="05000000000000000000" pitchFamily="2" charset="2"/>
              </a:rPr>
              <a:t>ploidia</a:t>
            </a:r>
            <a:endParaRPr lang="pt-BR" sz="22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000" b="1" dirty="0">
                <a:sym typeface="Wingdings" panose="05000000000000000000" pitchFamily="2" charset="2"/>
              </a:rPr>
              <a:t>Autossômicas</a:t>
            </a:r>
            <a:r>
              <a:rPr lang="pt-BR" sz="2000" dirty="0">
                <a:sym typeface="Wingdings" panose="05000000000000000000" pitchFamily="2" charset="2"/>
              </a:rPr>
              <a:t>: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pt-BR" sz="1800" dirty="0">
                <a:sym typeface="Wingdings" panose="05000000000000000000" pitchFamily="2" charset="2"/>
              </a:rPr>
              <a:t>Down (trissomia do 21)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pt-BR" sz="1800" dirty="0">
                <a:sym typeface="Wingdings" panose="05000000000000000000" pitchFamily="2" charset="2"/>
              </a:rPr>
              <a:t>Edwards (trissomia do 18)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pt-BR" sz="1800" dirty="0">
                <a:sym typeface="Wingdings" panose="05000000000000000000" pitchFamily="2" charset="2"/>
              </a:rPr>
              <a:t>Patau (trissomia do 13)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000" b="1" dirty="0">
                <a:sym typeface="Wingdings" panose="05000000000000000000" pitchFamily="2" charset="2"/>
              </a:rPr>
              <a:t>Sexuais: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pt-BR" sz="1800" dirty="0">
                <a:sym typeface="Wingdings" panose="05000000000000000000" pitchFamily="2" charset="2"/>
              </a:rPr>
              <a:t>Turner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pt-BR" sz="1800" dirty="0" err="1">
                <a:sym typeface="Wingdings" panose="05000000000000000000" pitchFamily="2" charset="2"/>
              </a:rPr>
              <a:t>Klinefelter</a:t>
            </a:r>
            <a:endParaRPr lang="pt-BR" sz="1800" dirty="0">
              <a:sym typeface="Wingdings" panose="05000000000000000000" pitchFamily="2" charset="2"/>
            </a:endParaRPr>
          </a:p>
          <a:p>
            <a:pPr lvl="2">
              <a:buFont typeface="Wingdings" panose="05000000000000000000" pitchFamily="2" charset="2"/>
              <a:buChar char="Ø"/>
            </a:pPr>
            <a:r>
              <a:rPr lang="pt-BR" sz="1800" dirty="0">
                <a:sym typeface="Wingdings" panose="05000000000000000000" pitchFamily="2" charset="2"/>
              </a:rPr>
              <a:t>Triplo X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pt-BR" sz="1800" dirty="0">
                <a:sym typeface="Wingdings" panose="05000000000000000000" pitchFamily="2" charset="2"/>
              </a:rPr>
              <a:t>Duplo Y</a:t>
            </a:r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4695198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3999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Síndrome de Down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263" y="1470991"/>
            <a:ext cx="10197735" cy="536644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Possui um cromossomo a mais no par 21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2n = 47, XX ou XY + 21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4E17303-A2E7-46D0-B51C-ACF734C10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3609" y="2529993"/>
            <a:ext cx="6124782" cy="408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9803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3999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Síndrome de Turner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8011" y="1470991"/>
            <a:ext cx="10249987" cy="536644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Ausência de um dos cromossomos X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Fêmea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2n = 45, X0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Sem cromatina sexual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16EB6AF-7998-4768-BA0D-00540F5B17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8549" y="2305879"/>
            <a:ext cx="5304334" cy="4184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2067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3999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Síndrome de </a:t>
            </a:r>
            <a:r>
              <a:rPr lang="pt-BR" sz="6000" b="1" dirty="0" err="1">
                <a:solidFill>
                  <a:schemeClr val="bg1"/>
                </a:solidFill>
              </a:rPr>
              <a:t>Klinefelter</a:t>
            </a:r>
            <a:endParaRPr lang="pt-BR" sz="6000" b="1" dirty="0">
              <a:solidFill>
                <a:schemeClr val="bg1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555" y="1470991"/>
            <a:ext cx="10206444" cy="536644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Homem com um cromossomo X a mais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2n = 47, XXY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1 Cromatina sexual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81503C0-6D80-42DE-B637-4588F4396D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6824" y="2279373"/>
            <a:ext cx="5683589" cy="4260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0219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rissomia do triplo X - educação diferente">
            <a:extLst>
              <a:ext uri="{FF2B5EF4-FFF2-40B4-BE49-F238E27FC236}">
                <a16:creationId xmlns:a16="http://schemas.microsoft.com/office/drawing/2014/main" id="{C62DC891-F746-4045-B4A3-5BD6EC525C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6224" y="2614681"/>
            <a:ext cx="5971776" cy="4222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3999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Síndrome do Triplo X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223" y="1470991"/>
            <a:ext cx="10136775" cy="536644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Trissomia do X (</a:t>
            </a:r>
            <a:r>
              <a:rPr lang="pt-BR" sz="2400" dirty="0" err="1"/>
              <a:t>Superfêmea</a:t>
            </a:r>
            <a:r>
              <a:rPr lang="pt-BR" sz="2400" dirty="0"/>
              <a:t>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Fêmea com 1 cromossomo X a mais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2n = 47, XXX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2 Cromatinas sexuais</a:t>
            </a:r>
          </a:p>
        </p:txBody>
      </p:sp>
    </p:spTree>
    <p:extLst>
      <p:ext uri="{BB962C8B-B14F-4D97-AF65-F5344CB8AC3E}">
        <p14:creationId xmlns:p14="http://schemas.microsoft.com/office/powerpoint/2010/main" val="16723275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570"/>
            <a:ext cx="9143999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Síndrome do Duplo Y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07" y="1470991"/>
            <a:ext cx="10154192" cy="536644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Macho com 2 cromossomos 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2n = 47, XYY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400" dirty="0"/>
              <a:t>Sem cromatina sexual</a:t>
            </a:r>
          </a:p>
        </p:txBody>
      </p:sp>
      <p:pic>
        <p:nvPicPr>
          <p:cNvPr id="2050" name="Picture 2" descr="Doenças Genéticas: Síndrome 47,XYY">
            <a:extLst>
              <a:ext uri="{FF2B5EF4-FFF2-40B4-BE49-F238E27FC236}">
                <a16:creationId xmlns:a16="http://schemas.microsoft.com/office/drawing/2014/main" id="{B59F07A4-1457-4BCC-A5D7-6E50370756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0123" y="2925279"/>
            <a:ext cx="5129008" cy="380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50818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283</TotalTime>
  <Words>875</Words>
  <Application>Microsoft Office PowerPoint</Application>
  <PresentationFormat>Widescreen</PresentationFormat>
  <Paragraphs>159</Paragraphs>
  <Slides>25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Calibri Light</vt:lpstr>
      <vt:lpstr>Wingdings</vt:lpstr>
      <vt:lpstr>Tema do Office</vt:lpstr>
      <vt:lpstr>Núcleo</vt:lpstr>
      <vt:lpstr>Núcleo</vt:lpstr>
      <vt:lpstr>Núcleo</vt:lpstr>
      <vt:lpstr>DNA no Núcleo</vt:lpstr>
      <vt:lpstr>Cromossomo</vt:lpstr>
      <vt:lpstr>Cromossomo</vt:lpstr>
      <vt:lpstr>Cromossomo - Tipos</vt:lpstr>
      <vt:lpstr>Cromossomos Homólogos</vt:lpstr>
      <vt:lpstr>Cromossomos Homólogos</vt:lpstr>
      <vt:lpstr>Tipos de Cromossomos</vt:lpstr>
      <vt:lpstr>Ploidia</vt:lpstr>
      <vt:lpstr>Uma célula tem quantos cromossomos?</vt:lpstr>
      <vt:lpstr>A fecundação formará um novo ser vivo</vt:lpstr>
      <vt:lpstr>Apresentação do PowerPoint</vt:lpstr>
      <vt:lpstr>Cromatina Sexual</vt:lpstr>
      <vt:lpstr>Cariograma</vt:lpstr>
      <vt:lpstr>Mutações Cromossômicas</vt:lpstr>
      <vt:lpstr>Estruturais</vt:lpstr>
      <vt:lpstr>Estruturais</vt:lpstr>
      <vt:lpstr>Mutações Numéricas</vt:lpstr>
      <vt:lpstr>Síndrome de Down</vt:lpstr>
      <vt:lpstr>Síndrome de Turner</vt:lpstr>
      <vt:lpstr>Síndrome de Klinefelter</vt:lpstr>
      <vt:lpstr>Síndrome do Triplo X</vt:lpstr>
      <vt:lpstr>Síndrome do Duplo 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Bruno Barbosa</dc:creator>
  <cp:lastModifiedBy>Bruno Barbosa</cp:lastModifiedBy>
  <cp:revision>22</cp:revision>
  <dcterms:created xsi:type="dcterms:W3CDTF">2020-06-05T12:13:59Z</dcterms:created>
  <dcterms:modified xsi:type="dcterms:W3CDTF">2021-05-10T20:34:16Z</dcterms:modified>
</cp:coreProperties>
</file>