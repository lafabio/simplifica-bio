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316" r:id="rId2"/>
    <p:sldId id="257" r:id="rId3"/>
    <p:sldId id="317" r:id="rId4"/>
    <p:sldId id="318" r:id="rId5"/>
    <p:sldId id="319" r:id="rId6"/>
    <p:sldId id="320" r:id="rId7"/>
    <p:sldId id="321" r:id="rId8"/>
    <p:sldId id="322" r:id="rId9"/>
    <p:sldId id="323" r:id="rId10"/>
    <p:sldId id="324" r:id="rId11"/>
    <p:sldId id="325" r:id="rId12"/>
    <p:sldId id="326" r:id="rId13"/>
    <p:sldId id="327" r:id="rId14"/>
    <p:sldId id="328" r:id="rId15"/>
    <p:sldId id="329" r:id="rId16"/>
    <p:sldId id="330" r:id="rId17"/>
    <p:sldId id="33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B606"/>
    <a:srgbClr val="02A606"/>
    <a:srgbClr val="02D8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218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11/05/2021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0596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11/05/2021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236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11/05/2021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9580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11/05/2021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770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11/05/2021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0818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11/05/2021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2215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11/05/2021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5111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11/05/2021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972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11/05/2021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930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11/05/2021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7951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11/05/2021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6758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1EB2CB-219F-436E-9B65-25A3D1B4A5D0}" type="datetimeFigureOut">
              <a:rPr lang="pt-BR" smtClean="0"/>
              <a:t>11/05/2021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0654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tmp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http://guiadoestudante.abril.com.br/imagem/capa-reino-animal.jpg">
            <a:extLst>
              <a:ext uri="{FF2B5EF4-FFF2-40B4-BE49-F238E27FC236}">
                <a16:creationId xmlns:a16="http://schemas.microsoft.com/office/drawing/2014/main" id="{88DFAEB1-5A88-477B-91D5-2E98F6FCF0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62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2435979C-8683-4775-A51B-7B69B8A514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00443"/>
            <a:ext cx="12192000" cy="1316038"/>
          </a:xfr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Reino Animal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01B4C986-036F-4177-A597-967B1FA8B789}"/>
              </a:ext>
            </a:extLst>
          </p:cNvPr>
          <p:cNvSpPr txBox="1">
            <a:spLocks/>
          </p:cNvSpPr>
          <p:nvPr/>
        </p:nvSpPr>
        <p:spPr>
          <a:xfrm>
            <a:off x="0" y="2272751"/>
            <a:ext cx="12192000" cy="1775526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 fontScale="8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8000" dirty="0"/>
          </a:p>
          <a:p>
            <a:pPr>
              <a:lnSpc>
                <a:spcPct val="120000"/>
              </a:lnSpc>
            </a:pPr>
            <a:r>
              <a:rPr lang="pt-BR" sz="3400" b="1" dirty="0"/>
              <a:t>Cordados:</a:t>
            </a:r>
          </a:p>
          <a:p>
            <a:pPr>
              <a:lnSpc>
                <a:spcPct val="120000"/>
              </a:lnSpc>
            </a:pPr>
            <a:r>
              <a:rPr lang="pt-BR" sz="3400" b="1" dirty="0"/>
              <a:t>Peixes e Anfíbios</a:t>
            </a:r>
          </a:p>
          <a:p>
            <a:endParaRPr lang="pt-B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13135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398" y="20570"/>
            <a:ext cx="11284676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Filo dos Cordados - Características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975" y="1729831"/>
            <a:ext cx="11284676" cy="4688386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 err="1"/>
              <a:t>Endoesqueleto</a:t>
            </a:r>
            <a:r>
              <a:rPr lang="pt-BR" dirty="0"/>
              <a:t> calcário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Notocorda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Cefalocordados: vida toda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Urocordados: apenas fase larval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Nos vertebrados forma a coluna vertebral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Cauda pós anal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Tubo Nervoso Dorsal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Fendas branquiais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Metameria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Divisão: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Protocordados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Vertebrados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  <p:pic>
        <p:nvPicPr>
          <p:cNvPr id="13" name="Imagem 3" descr="Texto&#10;&#10;Descrição gerada automaticamente">
            <a:extLst>
              <a:ext uri="{FF2B5EF4-FFF2-40B4-BE49-F238E27FC236}">
                <a16:creationId xmlns:a16="http://schemas.microsoft.com/office/drawing/2014/main" id="{7627CE33-37FB-4584-9BFD-5F1A44C1EB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1126" y="4222430"/>
            <a:ext cx="7705725" cy="213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04654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398" y="20570"/>
            <a:ext cx="11284676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Filo dos Cordados - Classificação</a:t>
            </a:r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1CF33BF8-6023-4AA5-B362-4C031196D3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8343" y="1625328"/>
            <a:ext cx="1949450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5720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7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indent="-273050" defTabSz="4572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"/>
              <a:defRPr sz="2200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indent="-228600" defTabSz="457200">
              <a:spcBef>
                <a:spcPct val="20000"/>
              </a:spcBef>
              <a:buClr>
                <a:srgbClr val="8CADAE"/>
              </a:buClr>
              <a:buSzPct val="75000"/>
              <a:buFont typeface="Wingdings 2" panose="05020102010507070707" pitchFamily="18" charset="2"/>
              <a:buChar char="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3pPr>
            <a:lvl4pPr indent="-228600" defTabSz="457200">
              <a:spcBef>
                <a:spcPct val="20000"/>
              </a:spcBef>
              <a:buClr>
                <a:srgbClr val="8C7B70"/>
              </a:buClr>
              <a:buSzPct val="70000"/>
              <a:buFont typeface="Wingdings" panose="05000000000000000000" pitchFamily="2" charset="2"/>
              <a:buChar char=""/>
              <a:defRPr sz="2000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indent="-228600" defTabSz="457200">
              <a:spcBef>
                <a:spcPct val="20000"/>
              </a:spcBef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5pPr>
            <a:lvl6pPr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6pPr>
            <a:lvl7pPr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7pPr>
            <a:lvl8pPr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8pPr>
            <a:lvl9pPr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Protocordados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altLang="pt-BR" sz="2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Acraniata</a:t>
            </a:r>
            <a:r>
              <a:rPr lang="pt-BR" altLang="pt-BR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</p:txBody>
      </p:sp>
      <p:sp>
        <p:nvSpPr>
          <p:cNvPr id="9" name="Text Box 4">
            <a:extLst>
              <a:ext uri="{FF2B5EF4-FFF2-40B4-BE49-F238E27FC236}">
                <a16:creationId xmlns:a16="http://schemas.microsoft.com/office/drawing/2014/main" id="{68BAEA8B-E32D-4AE7-98E3-3C71D8D0DC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1081" y="1496741"/>
            <a:ext cx="1955800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5720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7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indent="-273050" defTabSz="4572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"/>
              <a:defRPr sz="2200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indent="-228600" defTabSz="457200">
              <a:spcBef>
                <a:spcPct val="20000"/>
              </a:spcBef>
              <a:buClr>
                <a:srgbClr val="8CADAE"/>
              </a:buClr>
              <a:buSzPct val="75000"/>
              <a:buFont typeface="Wingdings 2" panose="05020102010507070707" pitchFamily="18" charset="2"/>
              <a:buChar char="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3pPr>
            <a:lvl4pPr indent="-228600" defTabSz="457200">
              <a:spcBef>
                <a:spcPct val="20000"/>
              </a:spcBef>
              <a:buClr>
                <a:srgbClr val="8C7B70"/>
              </a:buClr>
              <a:buSzPct val="70000"/>
              <a:buFont typeface="Wingdings" panose="05000000000000000000" pitchFamily="2" charset="2"/>
              <a:buChar char=""/>
              <a:defRPr sz="2000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indent="-228600" defTabSz="457200">
              <a:spcBef>
                <a:spcPct val="20000"/>
              </a:spcBef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5pPr>
            <a:lvl6pPr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6pPr>
            <a:lvl7pPr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7pPr>
            <a:lvl8pPr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8pPr>
            <a:lvl9pPr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Cefalocordados </a:t>
            </a:r>
          </a:p>
        </p:txBody>
      </p:sp>
      <p:sp>
        <p:nvSpPr>
          <p:cNvPr id="10" name="Text Box 5">
            <a:extLst>
              <a:ext uri="{FF2B5EF4-FFF2-40B4-BE49-F238E27FC236}">
                <a16:creationId xmlns:a16="http://schemas.microsoft.com/office/drawing/2014/main" id="{502E61E5-AB56-4CDD-9AF3-BF655DF30D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5543" y="2215878"/>
            <a:ext cx="1641475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5720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7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indent="-273050" defTabSz="4572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"/>
              <a:defRPr sz="2200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indent="-228600" defTabSz="457200">
              <a:spcBef>
                <a:spcPct val="20000"/>
              </a:spcBef>
              <a:buClr>
                <a:srgbClr val="8CADAE"/>
              </a:buClr>
              <a:buSzPct val="75000"/>
              <a:buFont typeface="Wingdings 2" panose="05020102010507070707" pitchFamily="18" charset="2"/>
              <a:buChar char="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3pPr>
            <a:lvl4pPr indent="-228600" defTabSz="457200">
              <a:spcBef>
                <a:spcPct val="20000"/>
              </a:spcBef>
              <a:buClr>
                <a:srgbClr val="8C7B70"/>
              </a:buClr>
              <a:buSzPct val="70000"/>
              <a:buFont typeface="Wingdings" panose="05000000000000000000" pitchFamily="2" charset="2"/>
              <a:buChar char=""/>
              <a:defRPr sz="2000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indent="-228600" defTabSz="457200">
              <a:spcBef>
                <a:spcPct val="20000"/>
              </a:spcBef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5pPr>
            <a:lvl6pPr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6pPr>
            <a:lvl7pPr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7pPr>
            <a:lvl8pPr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8pPr>
            <a:lvl9pPr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Urocordados</a:t>
            </a:r>
          </a:p>
        </p:txBody>
      </p:sp>
      <p:sp>
        <p:nvSpPr>
          <p:cNvPr id="11" name="AutoShape 6">
            <a:extLst>
              <a:ext uri="{FF2B5EF4-FFF2-40B4-BE49-F238E27FC236}">
                <a16:creationId xmlns:a16="http://schemas.microsoft.com/office/drawing/2014/main" id="{67D25AD0-7C71-44B7-875C-CAA7F72196EB}"/>
              </a:ext>
            </a:extLst>
          </p:cNvPr>
          <p:cNvSpPr>
            <a:spLocks/>
          </p:cNvSpPr>
          <p:nvPr/>
        </p:nvSpPr>
        <p:spPr bwMode="auto">
          <a:xfrm>
            <a:off x="5329918" y="1433241"/>
            <a:ext cx="215900" cy="1368425"/>
          </a:xfrm>
          <a:prstGeom prst="leftBrace">
            <a:avLst>
              <a:gd name="adj1" fmla="val 52819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defTabSz="45720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7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indent="-273050" defTabSz="4572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"/>
              <a:defRPr sz="2200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indent="-228600" defTabSz="457200">
              <a:spcBef>
                <a:spcPct val="20000"/>
              </a:spcBef>
              <a:buClr>
                <a:srgbClr val="8CADAE"/>
              </a:buClr>
              <a:buSzPct val="75000"/>
              <a:buFont typeface="Wingdings 2" panose="05020102010507070707" pitchFamily="18" charset="2"/>
              <a:buChar char="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3pPr>
            <a:lvl4pPr indent="-228600" defTabSz="457200">
              <a:spcBef>
                <a:spcPct val="20000"/>
              </a:spcBef>
              <a:buClr>
                <a:srgbClr val="8C7B70"/>
              </a:buClr>
              <a:buSzPct val="70000"/>
              <a:buFont typeface="Wingdings" panose="05000000000000000000" pitchFamily="2" charset="2"/>
              <a:buChar char=""/>
              <a:defRPr sz="2000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indent="-228600" defTabSz="457200">
              <a:spcBef>
                <a:spcPct val="20000"/>
              </a:spcBef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5pPr>
            <a:lvl6pPr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6pPr>
            <a:lvl7pPr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7pPr>
            <a:lvl8pPr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8pPr>
            <a:lvl9pPr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altLang="pt-BR" sz="22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Box 7">
            <a:extLst>
              <a:ext uri="{FF2B5EF4-FFF2-40B4-BE49-F238E27FC236}">
                <a16:creationId xmlns:a16="http://schemas.microsoft.com/office/drawing/2014/main" id="{982E9F49-AFB6-401D-9E33-E23FB7A366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5318" y="4170091"/>
            <a:ext cx="1663700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5720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7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indent="-273050" defTabSz="4572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"/>
              <a:defRPr sz="2200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indent="-228600" defTabSz="457200">
              <a:spcBef>
                <a:spcPct val="20000"/>
              </a:spcBef>
              <a:buClr>
                <a:srgbClr val="8CADAE"/>
              </a:buClr>
              <a:buSzPct val="75000"/>
              <a:buFont typeface="Wingdings 2" panose="05020102010507070707" pitchFamily="18" charset="2"/>
              <a:buChar char="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3pPr>
            <a:lvl4pPr indent="-228600" defTabSz="457200">
              <a:spcBef>
                <a:spcPct val="20000"/>
              </a:spcBef>
              <a:buClr>
                <a:srgbClr val="8C7B70"/>
              </a:buClr>
              <a:buSzPct val="70000"/>
              <a:buFont typeface="Wingdings" panose="05000000000000000000" pitchFamily="2" charset="2"/>
              <a:buChar char=""/>
              <a:defRPr sz="2000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indent="-228600" defTabSz="457200">
              <a:spcBef>
                <a:spcPct val="20000"/>
              </a:spcBef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5pPr>
            <a:lvl6pPr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6pPr>
            <a:lvl7pPr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7pPr>
            <a:lvl8pPr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8pPr>
            <a:lvl9pPr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Eucordados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Vertebrados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(Craniata)</a:t>
            </a:r>
          </a:p>
        </p:txBody>
      </p:sp>
      <p:sp>
        <p:nvSpPr>
          <p:cNvPr id="14" name="Text Box 8">
            <a:extLst>
              <a:ext uri="{FF2B5EF4-FFF2-40B4-BE49-F238E27FC236}">
                <a16:creationId xmlns:a16="http://schemas.microsoft.com/office/drawing/2014/main" id="{BDE4E919-74C2-473B-8218-A0E734AF38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0281" y="3162028"/>
            <a:ext cx="3201987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5720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7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indent="-273050" defTabSz="4572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"/>
              <a:defRPr sz="2200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indent="-228600" defTabSz="457200">
              <a:spcBef>
                <a:spcPct val="20000"/>
              </a:spcBef>
              <a:buClr>
                <a:srgbClr val="8CADAE"/>
              </a:buClr>
              <a:buSzPct val="75000"/>
              <a:buFont typeface="Wingdings 2" panose="05020102010507070707" pitchFamily="18" charset="2"/>
              <a:buChar char="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3pPr>
            <a:lvl4pPr indent="-228600" defTabSz="457200">
              <a:spcBef>
                <a:spcPct val="20000"/>
              </a:spcBef>
              <a:buClr>
                <a:srgbClr val="8C7B70"/>
              </a:buClr>
              <a:buSzPct val="70000"/>
              <a:buFont typeface="Wingdings" panose="05000000000000000000" pitchFamily="2" charset="2"/>
              <a:buChar char=""/>
              <a:defRPr sz="2000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indent="-228600" defTabSz="457200">
              <a:spcBef>
                <a:spcPct val="20000"/>
              </a:spcBef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5pPr>
            <a:lvl6pPr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6pPr>
            <a:lvl7pPr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7pPr>
            <a:lvl8pPr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8pPr>
            <a:lvl9pPr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Ciclostomados (agnathos)</a:t>
            </a:r>
          </a:p>
        </p:txBody>
      </p:sp>
      <p:sp>
        <p:nvSpPr>
          <p:cNvPr id="15" name="Text Box 9">
            <a:extLst>
              <a:ext uri="{FF2B5EF4-FFF2-40B4-BE49-F238E27FC236}">
                <a16:creationId xmlns:a16="http://schemas.microsoft.com/office/drawing/2014/main" id="{C4E650DE-00CA-4A57-8E69-D0608CA74F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0281" y="3809728"/>
            <a:ext cx="1406154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5720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7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indent="-273050" defTabSz="4572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"/>
              <a:defRPr sz="2200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indent="-228600" defTabSz="457200">
              <a:spcBef>
                <a:spcPct val="20000"/>
              </a:spcBef>
              <a:buClr>
                <a:srgbClr val="8CADAE"/>
              </a:buClr>
              <a:buSzPct val="75000"/>
              <a:buFont typeface="Wingdings 2" panose="05020102010507070707" pitchFamily="18" charset="2"/>
              <a:buChar char="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3pPr>
            <a:lvl4pPr indent="-228600" defTabSz="457200">
              <a:spcBef>
                <a:spcPct val="20000"/>
              </a:spcBef>
              <a:buClr>
                <a:srgbClr val="8C7B70"/>
              </a:buClr>
              <a:buSzPct val="70000"/>
              <a:buFont typeface="Wingdings" panose="05000000000000000000" pitchFamily="2" charset="2"/>
              <a:buChar char=""/>
              <a:defRPr sz="2000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indent="-228600" defTabSz="457200">
              <a:spcBef>
                <a:spcPct val="20000"/>
              </a:spcBef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5pPr>
            <a:lvl6pPr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6pPr>
            <a:lvl7pPr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7pPr>
            <a:lvl8pPr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8pPr>
            <a:lvl9pPr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Condrictes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Osteictes</a:t>
            </a:r>
            <a:endParaRPr lang="pt-BR" altLang="pt-BR" sz="2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Box 10">
            <a:extLst>
              <a:ext uri="{FF2B5EF4-FFF2-40B4-BE49-F238E27FC236}">
                <a16:creationId xmlns:a16="http://schemas.microsoft.com/office/drawing/2014/main" id="{3BFEA72A-7ED8-48FD-BFEB-4D05CD7FF0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7234" y="4532041"/>
            <a:ext cx="1217612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5720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7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indent="-273050" defTabSz="4572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"/>
              <a:defRPr sz="2200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indent="-228600" defTabSz="457200">
              <a:spcBef>
                <a:spcPct val="20000"/>
              </a:spcBef>
              <a:buClr>
                <a:srgbClr val="8CADAE"/>
              </a:buClr>
              <a:buSzPct val="75000"/>
              <a:buFont typeface="Wingdings 2" panose="05020102010507070707" pitchFamily="18" charset="2"/>
              <a:buChar char="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3pPr>
            <a:lvl4pPr indent="-228600" defTabSz="457200">
              <a:spcBef>
                <a:spcPct val="20000"/>
              </a:spcBef>
              <a:buClr>
                <a:srgbClr val="8C7B70"/>
              </a:buClr>
              <a:buSzPct val="70000"/>
              <a:buFont typeface="Wingdings" panose="05000000000000000000" pitchFamily="2" charset="2"/>
              <a:buChar char=""/>
              <a:defRPr sz="2000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indent="-228600" defTabSz="457200">
              <a:spcBef>
                <a:spcPct val="20000"/>
              </a:spcBef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5pPr>
            <a:lvl6pPr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6pPr>
            <a:lvl7pPr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7pPr>
            <a:lvl8pPr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8pPr>
            <a:lvl9pPr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Anfíbios</a:t>
            </a:r>
          </a:p>
        </p:txBody>
      </p:sp>
      <p:sp>
        <p:nvSpPr>
          <p:cNvPr id="17" name="Text Box 11">
            <a:extLst>
              <a:ext uri="{FF2B5EF4-FFF2-40B4-BE49-F238E27FC236}">
                <a16:creationId xmlns:a16="http://schemas.microsoft.com/office/drawing/2014/main" id="{4331D2A3-EAD8-446D-B6FA-585BC253ED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0281" y="4962253"/>
            <a:ext cx="1030287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5720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7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indent="-273050" defTabSz="4572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"/>
              <a:defRPr sz="2200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indent="-228600" defTabSz="457200">
              <a:spcBef>
                <a:spcPct val="20000"/>
              </a:spcBef>
              <a:buClr>
                <a:srgbClr val="8CADAE"/>
              </a:buClr>
              <a:buSzPct val="75000"/>
              <a:buFont typeface="Wingdings 2" panose="05020102010507070707" pitchFamily="18" charset="2"/>
              <a:buChar char="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3pPr>
            <a:lvl4pPr indent="-228600" defTabSz="457200">
              <a:spcBef>
                <a:spcPct val="20000"/>
              </a:spcBef>
              <a:buClr>
                <a:srgbClr val="8C7B70"/>
              </a:buClr>
              <a:buSzPct val="70000"/>
              <a:buFont typeface="Wingdings" panose="05000000000000000000" pitchFamily="2" charset="2"/>
              <a:buChar char=""/>
              <a:defRPr sz="2000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indent="-228600" defTabSz="457200">
              <a:spcBef>
                <a:spcPct val="20000"/>
              </a:spcBef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5pPr>
            <a:lvl6pPr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6pPr>
            <a:lvl7pPr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7pPr>
            <a:lvl8pPr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8pPr>
            <a:lvl9pPr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Répteis </a:t>
            </a:r>
          </a:p>
        </p:txBody>
      </p:sp>
      <p:sp>
        <p:nvSpPr>
          <p:cNvPr id="18" name="Text Box 12">
            <a:extLst>
              <a:ext uri="{FF2B5EF4-FFF2-40B4-BE49-F238E27FC236}">
                <a16:creationId xmlns:a16="http://schemas.microsoft.com/office/drawing/2014/main" id="{4C55ECD8-7DA7-46CE-A0D2-97116ABF63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0281" y="5538516"/>
            <a:ext cx="742950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5720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7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indent="-273050" defTabSz="4572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"/>
              <a:defRPr sz="2200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indent="-228600" defTabSz="457200">
              <a:spcBef>
                <a:spcPct val="20000"/>
              </a:spcBef>
              <a:buClr>
                <a:srgbClr val="8CADAE"/>
              </a:buClr>
              <a:buSzPct val="75000"/>
              <a:buFont typeface="Wingdings 2" panose="05020102010507070707" pitchFamily="18" charset="2"/>
              <a:buChar char="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3pPr>
            <a:lvl4pPr indent="-228600" defTabSz="457200">
              <a:spcBef>
                <a:spcPct val="20000"/>
              </a:spcBef>
              <a:buClr>
                <a:srgbClr val="8C7B70"/>
              </a:buClr>
              <a:buSzPct val="70000"/>
              <a:buFont typeface="Wingdings" panose="05000000000000000000" pitchFamily="2" charset="2"/>
              <a:buChar char=""/>
              <a:defRPr sz="2000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indent="-228600" defTabSz="457200">
              <a:spcBef>
                <a:spcPct val="20000"/>
              </a:spcBef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5pPr>
            <a:lvl6pPr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6pPr>
            <a:lvl7pPr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7pPr>
            <a:lvl8pPr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8pPr>
            <a:lvl9pPr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Aves </a:t>
            </a:r>
          </a:p>
        </p:txBody>
      </p:sp>
      <p:sp>
        <p:nvSpPr>
          <p:cNvPr id="19" name="Text Box 13">
            <a:extLst>
              <a:ext uri="{FF2B5EF4-FFF2-40B4-BE49-F238E27FC236}">
                <a16:creationId xmlns:a16="http://schemas.microsoft.com/office/drawing/2014/main" id="{657E94B9-4751-410D-93B6-F6C5D7E4DD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0281" y="6041753"/>
            <a:ext cx="14224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5720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7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indent="-273050" defTabSz="4572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"/>
              <a:defRPr sz="2200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indent="-228600" defTabSz="457200">
              <a:spcBef>
                <a:spcPct val="20000"/>
              </a:spcBef>
              <a:buClr>
                <a:srgbClr val="8CADAE"/>
              </a:buClr>
              <a:buSzPct val="75000"/>
              <a:buFont typeface="Wingdings 2" panose="05020102010507070707" pitchFamily="18" charset="2"/>
              <a:buChar char="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3pPr>
            <a:lvl4pPr indent="-228600" defTabSz="457200">
              <a:spcBef>
                <a:spcPct val="20000"/>
              </a:spcBef>
              <a:buClr>
                <a:srgbClr val="8C7B70"/>
              </a:buClr>
              <a:buSzPct val="70000"/>
              <a:buFont typeface="Wingdings" panose="05000000000000000000" pitchFamily="2" charset="2"/>
              <a:buChar char=""/>
              <a:defRPr sz="2000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indent="-228600" defTabSz="457200">
              <a:spcBef>
                <a:spcPct val="20000"/>
              </a:spcBef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5pPr>
            <a:lvl6pPr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6pPr>
            <a:lvl7pPr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7pPr>
            <a:lvl8pPr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8pPr>
            <a:lvl9pPr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Mamíferos </a:t>
            </a:r>
          </a:p>
        </p:txBody>
      </p:sp>
      <p:sp>
        <p:nvSpPr>
          <p:cNvPr id="20" name="AutoShape 14">
            <a:extLst>
              <a:ext uri="{FF2B5EF4-FFF2-40B4-BE49-F238E27FC236}">
                <a16:creationId xmlns:a16="http://schemas.microsoft.com/office/drawing/2014/main" id="{0DFF0404-0A15-4968-A8AF-27F646BAF9A3}"/>
              </a:ext>
            </a:extLst>
          </p:cNvPr>
          <p:cNvSpPr>
            <a:spLocks/>
          </p:cNvSpPr>
          <p:nvPr/>
        </p:nvSpPr>
        <p:spPr bwMode="auto">
          <a:xfrm>
            <a:off x="5347381" y="3225528"/>
            <a:ext cx="215900" cy="3313113"/>
          </a:xfrm>
          <a:prstGeom prst="leftBrace">
            <a:avLst>
              <a:gd name="adj1" fmla="val 12788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defTabSz="45720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7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indent="-273050" defTabSz="4572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"/>
              <a:defRPr sz="2200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indent="-228600" defTabSz="457200">
              <a:spcBef>
                <a:spcPct val="20000"/>
              </a:spcBef>
              <a:buClr>
                <a:srgbClr val="8CADAE"/>
              </a:buClr>
              <a:buSzPct val="75000"/>
              <a:buFont typeface="Wingdings 2" panose="05020102010507070707" pitchFamily="18" charset="2"/>
              <a:buChar char="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3pPr>
            <a:lvl4pPr indent="-228600" defTabSz="457200">
              <a:spcBef>
                <a:spcPct val="20000"/>
              </a:spcBef>
              <a:buClr>
                <a:srgbClr val="8C7B70"/>
              </a:buClr>
              <a:buSzPct val="70000"/>
              <a:buFont typeface="Wingdings" panose="05000000000000000000" pitchFamily="2" charset="2"/>
              <a:buChar char=""/>
              <a:defRPr sz="2000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indent="-228600" defTabSz="457200">
              <a:spcBef>
                <a:spcPct val="20000"/>
              </a:spcBef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5pPr>
            <a:lvl6pPr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6pPr>
            <a:lvl7pPr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7pPr>
            <a:lvl8pPr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8pPr>
            <a:lvl9pPr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altLang="pt-BR" sz="22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AutoShape 15">
            <a:extLst>
              <a:ext uri="{FF2B5EF4-FFF2-40B4-BE49-F238E27FC236}">
                <a16:creationId xmlns:a16="http://schemas.microsoft.com/office/drawing/2014/main" id="{A4340E5B-4565-43EA-A34B-DCEF42241A8A}"/>
              </a:ext>
            </a:extLst>
          </p:cNvPr>
          <p:cNvSpPr>
            <a:spLocks/>
          </p:cNvSpPr>
          <p:nvPr/>
        </p:nvSpPr>
        <p:spPr bwMode="auto">
          <a:xfrm>
            <a:off x="7850868" y="4025628"/>
            <a:ext cx="142875" cy="2592388"/>
          </a:xfrm>
          <a:prstGeom prst="rightBrace">
            <a:avLst>
              <a:gd name="adj1" fmla="val 15120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defTabSz="45720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7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indent="-273050" defTabSz="4572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"/>
              <a:defRPr sz="2200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indent="-228600" defTabSz="457200">
              <a:spcBef>
                <a:spcPct val="20000"/>
              </a:spcBef>
              <a:buClr>
                <a:srgbClr val="8CADAE"/>
              </a:buClr>
              <a:buSzPct val="75000"/>
              <a:buFont typeface="Wingdings 2" panose="05020102010507070707" pitchFamily="18" charset="2"/>
              <a:buChar char="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3pPr>
            <a:lvl4pPr indent="-228600" defTabSz="457200">
              <a:spcBef>
                <a:spcPct val="20000"/>
              </a:spcBef>
              <a:buClr>
                <a:srgbClr val="8C7B70"/>
              </a:buClr>
              <a:buSzPct val="70000"/>
              <a:buFont typeface="Wingdings" panose="05000000000000000000" pitchFamily="2" charset="2"/>
              <a:buChar char=""/>
              <a:defRPr sz="2000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indent="-228600" defTabSz="457200">
              <a:spcBef>
                <a:spcPct val="20000"/>
              </a:spcBef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5pPr>
            <a:lvl6pPr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6pPr>
            <a:lvl7pPr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7pPr>
            <a:lvl8pPr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8pPr>
            <a:lvl9pPr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altLang="pt-BR" sz="22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Box 16">
            <a:extLst>
              <a:ext uri="{FF2B5EF4-FFF2-40B4-BE49-F238E27FC236}">
                <a16:creationId xmlns:a16="http://schemas.microsoft.com/office/drawing/2014/main" id="{13CDDF48-535F-483D-A464-F814A7CD3D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7568" y="4952728"/>
            <a:ext cx="2332038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5720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7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indent="-273050" defTabSz="4572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"/>
              <a:defRPr sz="2200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indent="-228600" defTabSz="457200">
              <a:spcBef>
                <a:spcPct val="20000"/>
              </a:spcBef>
              <a:buClr>
                <a:srgbClr val="8CADAE"/>
              </a:buClr>
              <a:buSzPct val="75000"/>
              <a:buFont typeface="Wingdings 2" panose="05020102010507070707" pitchFamily="18" charset="2"/>
              <a:buChar char="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3pPr>
            <a:lvl4pPr indent="-228600" defTabSz="457200">
              <a:spcBef>
                <a:spcPct val="20000"/>
              </a:spcBef>
              <a:buClr>
                <a:srgbClr val="8C7B70"/>
              </a:buClr>
              <a:buSzPct val="70000"/>
              <a:buFont typeface="Wingdings" panose="05000000000000000000" pitchFamily="2" charset="2"/>
              <a:buChar char=""/>
              <a:defRPr sz="2000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indent="-228600" defTabSz="457200">
              <a:spcBef>
                <a:spcPct val="20000"/>
              </a:spcBef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5pPr>
            <a:lvl6pPr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6pPr>
            <a:lvl7pPr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7pPr>
            <a:lvl8pPr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8pPr>
            <a:lvl9pPr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(gnathostomados)</a:t>
            </a:r>
          </a:p>
        </p:txBody>
      </p:sp>
    </p:spTree>
    <p:extLst>
      <p:ext uri="{BB962C8B-B14F-4D97-AF65-F5344CB8AC3E}">
        <p14:creationId xmlns:p14="http://schemas.microsoft.com/office/powerpoint/2010/main" val="264661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398" y="20570"/>
            <a:ext cx="11284676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Protocordados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975" y="1729831"/>
            <a:ext cx="11284676" cy="468838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A) Urocordados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Notocorda apenas na fase larval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 err="1"/>
              <a:t>Ascídias</a:t>
            </a:r>
            <a:endParaRPr lang="pt-BR" dirty="0"/>
          </a:p>
          <a:p>
            <a:pPr lvl="1">
              <a:buFont typeface="Wingdings" panose="05000000000000000000" pitchFamily="2" charset="2"/>
              <a:buChar char="Ø"/>
            </a:pPr>
            <a:endParaRPr lang="pt-BR" dirty="0"/>
          </a:p>
          <a:p>
            <a:pPr lvl="1">
              <a:buFont typeface="Wingdings" panose="05000000000000000000" pitchFamily="2" charset="2"/>
              <a:buChar char="Ø"/>
            </a:pPr>
            <a:endParaRPr lang="pt-BR" dirty="0"/>
          </a:p>
          <a:p>
            <a:pPr lvl="1">
              <a:buFont typeface="Wingdings" panose="05000000000000000000" pitchFamily="2" charset="2"/>
              <a:buChar char="Ø"/>
            </a:pPr>
            <a:endParaRPr lang="pt-BR" dirty="0"/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B) Cefalocordados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Notocorda se mantem por toda a vida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Anfioxo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  <p:pic>
        <p:nvPicPr>
          <p:cNvPr id="7" name="Picture 2" descr="http://neofronteras.com/wp-content/photos/ascidia.jpg">
            <a:extLst>
              <a:ext uri="{FF2B5EF4-FFF2-40B4-BE49-F238E27FC236}">
                <a16:creationId xmlns:a16="http://schemas.microsoft.com/office/drawing/2014/main" id="{D9A341DE-4D49-4A5D-A4AB-5575D22BA3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5845" y="1366702"/>
            <a:ext cx="2920932" cy="2547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4" descr="http://conteudobio.files.wordpress.com/2010/05/01-anfioxo2.jpg">
            <a:extLst>
              <a:ext uri="{FF2B5EF4-FFF2-40B4-BE49-F238E27FC236}">
                <a16:creationId xmlns:a16="http://schemas.microsoft.com/office/drawing/2014/main" id="{D8839719-97D5-4A15-A22A-15D7992CA1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0945" y="4085733"/>
            <a:ext cx="3170732" cy="2160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28723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398" y="20570"/>
            <a:ext cx="11284676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Peixes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975" y="1729831"/>
            <a:ext cx="11284676" cy="468838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Aquáticos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Esqueleto interno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Brânquias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Nadadeiras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Grupos: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Ciclostomados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Condrictes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 err="1"/>
              <a:t>Osteictes</a:t>
            </a:r>
            <a:endParaRPr lang="pt-BR" dirty="0"/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  <p:sp>
        <p:nvSpPr>
          <p:cNvPr id="9" name="Espaço Reservado para Conteúdo 5">
            <a:extLst>
              <a:ext uri="{FF2B5EF4-FFF2-40B4-BE49-F238E27FC236}">
                <a16:creationId xmlns:a16="http://schemas.microsoft.com/office/drawing/2014/main" id="{8B3D99C9-64EF-41A0-8CE6-3C1AC6BD2FE3}"/>
              </a:ext>
            </a:extLst>
          </p:cNvPr>
          <p:cNvSpPr txBox="1">
            <a:spLocks/>
          </p:cNvSpPr>
          <p:nvPr/>
        </p:nvSpPr>
        <p:spPr>
          <a:xfrm>
            <a:off x="5418364" y="1726656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Wingdings" panose="05000000000000000000" pitchFamily="2" charset="2"/>
              <a:buChar char="Ø"/>
              <a:defRPr/>
            </a:pPr>
            <a:r>
              <a:rPr lang="pt-BR" altLang="pt-BR" dirty="0"/>
              <a:t>OBS: Ciclostomados</a:t>
            </a:r>
          </a:p>
          <a:p>
            <a:pPr lvl="2">
              <a:buFont typeface="Wingdings" panose="05000000000000000000" pitchFamily="2" charset="2"/>
              <a:buChar char="Ø"/>
              <a:defRPr/>
            </a:pPr>
            <a:r>
              <a:rPr lang="pt-BR" altLang="pt-BR" dirty="0"/>
              <a:t>Agnatos (sem mandíbula)</a:t>
            </a:r>
          </a:p>
          <a:p>
            <a:pPr lvl="2">
              <a:buFont typeface="Wingdings" panose="05000000000000000000" pitchFamily="2" charset="2"/>
              <a:buChar char="Ø"/>
              <a:defRPr/>
            </a:pPr>
            <a:r>
              <a:rPr lang="pt-BR" altLang="pt-BR" dirty="0" err="1"/>
              <a:t>Ex</a:t>
            </a:r>
            <a:r>
              <a:rPr lang="pt-BR" altLang="pt-BR" dirty="0"/>
              <a:t>: Lampreias e feiticeiras (peixe-bruxa)</a:t>
            </a:r>
          </a:p>
          <a:p>
            <a:endParaRPr lang="pt-BR" dirty="0"/>
          </a:p>
        </p:txBody>
      </p:sp>
      <p:pic>
        <p:nvPicPr>
          <p:cNvPr id="10" name="Picture 4" descr="http://www.mariajoaodealmeida.com/img_upload/lampreia%202.jpg">
            <a:extLst>
              <a:ext uri="{FF2B5EF4-FFF2-40B4-BE49-F238E27FC236}">
                <a16:creationId xmlns:a16="http://schemas.microsoft.com/office/drawing/2014/main" id="{09BACA73-6A6D-4BC9-9ADB-CF6D732B96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7278" y="3054305"/>
            <a:ext cx="3697877" cy="2639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49958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398" y="20570"/>
            <a:ext cx="11284676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Peixes – Condrictes e </a:t>
            </a:r>
            <a:r>
              <a:rPr lang="pt-BR" sz="6000" b="1" dirty="0" err="1">
                <a:solidFill>
                  <a:schemeClr val="bg1"/>
                </a:solidFill>
              </a:rPr>
              <a:t>Osteictes</a:t>
            </a:r>
            <a:endParaRPr lang="pt-BR" sz="6000" b="1" dirty="0">
              <a:solidFill>
                <a:schemeClr val="bg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975" y="1729831"/>
            <a:ext cx="11284676" cy="468838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Apresentam Escamas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Linha Lateral - mecanorreceptor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Pecilotérmicos (Heterotérmicos/</a:t>
            </a:r>
            <a:r>
              <a:rPr lang="pt-BR" dirty="0" err="1"/>
              <a:t>Ectotérmicos</a:t>
            </a:r>
            <a:r>
              <a:rPr lang="pt-BR" dirty="0"/>
              <a:t>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T varia com o ambiente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Coração </a:t>
            </a:r>
            <a:r>
              <a:rPr lang="pt-BR" dirty="0" err="1"/>
              <a:t>bicavitário</a:t>
            </a:r>
            <a:r>
              <a:rPr lang="pt-BR" dirty="0"/>
              <a:t> (1 A + 1 V)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Circulação simples completa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Respiração Branquial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Mandíbula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  <p:pic>
        <p:nvPicPr>
          <p:cNvPr id="7" name="Picture 2" descr="Circulação sanguínea de peixes, anfíbios, répteis, mamíferos e aves. |  matheuswagnerbioifes">
            <a:extLst>
              <a:ext uri="{FF2B5EF4-FFF2-40B4-BE49-F238E27FC236}">
                <a16:creationId xmlns:a16="http://schemas.microsoft.com/office/drawing/2014/main" id="{3418B3E0-CC1C-4D87-A5E0-108431DF9D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0614" y="2168118"/>
            <a:ext cx="2090003" cy="3675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3307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398" y="20570"/>
            <a:ext cx="11284676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Peixes – Condrictes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975" y="1729831"/>
            <a:ext cx="11284676" cy="468838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Elasmobrânquios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Peixes Cartilaginosos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Esqueleto cartilaginoso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Escamas </a:t>
            </a:r>
            <a:r>
              <a:rPr lang="pt-BR" dirty="0" err="1"/>
              <a:t>placoides</a:t>
            </a:r>
            <a:endParaRPr lang="pt-BR" dirty="0"/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Fendas Branquiais sem bombeamento  de água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Sem opérculo (exceção: quimeras)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Uremia Fisiológica (acumulam ureia no corpo</a:t>
            </a:r>
          </a:p>
          <a:p>
            <a:pPr marL="0" indent="0">
              <a:buNone/>
            </a:pPr>
            <a:r>
              <a:rPr lang="pt-BR" dirty="0"/>
              <a:t>Para </a:t>
            </a:r>
            <a:r>
              <a:rPr lang="pt-BR" dirty="0" err="1"/>
              <a:t>osmorregulação</a:t>
            </a:r>
            <a:r>
              <a:rPr lang="pt-BR" dirty="0"/>
              <a:t>)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  <p:pic>
        <p:nvPicPr>
          <p:cNvPr id="8" name="Picture 2" descr="http://mundo-marinho.mundoentrepatas.com/imagenes/tubarao-branco.jpg?phpMyAdmin=PfqG0iessiXP%2C5Zcan9pxZp0nv2">
            <a:extLst>
              <a:ext uri="{FF2B5EF4-FFF2-40B4-BE49-F238E27FC236}">
                <a16:creationId xmlns:a16="http://schemas.microsoft.com/office/drawing/2014/main" id="{C42A84AB-1E15-474D-9EE5-1EAA80CEFA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4034" y="1628730"/>
            <a:ext cx="3510617" cy="2340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 descr="http://wallpaper.ultradownloads.com.br/65619_Papel-de-Parede-Arraia--65619_1024x768.jpg">
            <a:extLst>
              <a:ext uri="{FF2B5EF4-FFF2-40B4-BE49-F238E27FC236}">
                <a16:creationId xmlns:a16="http://schemas.microsoft.com/office/drawing/2014/main" id="{CF5AAE0B-6848-4385-9EA0-3D5BBA401A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4034" y="3968931"/>
            <a:ext cx="3510617" cy="26421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95007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398" y="20570"/>
            <a:ext cx="11284676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Peixes – Condrictes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975" y="1729831"/>
            <a:ext cx="11284676" cy="4688386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b="1" dirty="0"/>
              <a:t>Não</a:t>
            </a:r>
            <a:r>
              <a:rPr lang="pt-BR" dirty="0"/>
              <a:t> há bexiga natatória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Ampolas de </a:t>
            </a:r>
            <a:r>
              <a:rPr lang="pt-BR" dirty="0" err="1"/>
              <a:t>lorenzini</a:t>
            </a:r>
            <a:r>
              <a:rPr lang="pt-BR" dirty="0"/>
              <a:t> </a:t>
            </a:r>
            <a:r>
              <a:rPr lang="pt-BR" dirty="0">
                <a:sym typeface="Wingdings" panose="05000000000000000000" pitchFamily="2" charset="2"/>
              </a:rPr>
              <a:t></a:t>
            </a:r>
            <a:r>
              <a:rPr lang="pt-BR" dirty="0"/>
              <a:t> captação de cargas elétricas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 err="1"/>
              <a:t>Eletrorreceptor</a:t>
            </a:r>
            <a:endParaRPr lang="pt-BR" dirty="0"/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Boca Ventral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Muito óleo no Fígado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Flutuabilidade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 err="1"/>
              <a:t>Dióicos</a:t>
            </a:r>
            <a:endParaRPr lang="pt-BR" dirty="0"/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Órgão copulador = </a:t>
            </a:r>
            <a:r>
              <a:rPr lang="pt-BR" dirty="0" err="1"/>
              <a:t>Clásper</a:t>
            </a:r>
            <a:endParaRPr lang="pt-BR" dirty="0"/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Fecundação interna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Desenvolvimento direto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Ovíparos, ovovivíparos e vivíparos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  <p:pic>
        <p:nvPicPr>
          <p:cNvPr id="8" name="Picture 2" descr="http://mundo-marinho.mundoentrepatas.com/imagenes/tubarao-branco.jpg?phpMyAdmin=PfqG0iessiXP%2C5Zcan9pxZp0nv2">
            <a:extLst>
              <a:ext uri="{FF2B5EF4-FFF2-40B4-BE49-F238E27FC236}">
                <a16:creationId xmlns:a16="http://schemas.microsoft.com/office/drawing/2014/main" id="{C42A84AB-1E15-474D-9EE5-1EAA80CEFA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4034" y="1628730"/>
            <a:ext cx="3510617" cy="2340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 descr="http://wallpaper.ultradownloads.com.br/65619_Papel-de-Parede-Arraia--65619_1024x768.jpg">
            <a:extLst>
              <a:ext uri="{FF2B5EF4-FFF2-40B4-BE49-F238E27FC236}">
                <a16:creationId xmlns:a16="http://schemas.microsoft.com/office/drawing/2014/main" id="{CF5AAE0B-6848-4385-9EA0-3D5BBA401A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4034" y="3968931"/>
            <a:ext cx="3510617" cy="26421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95769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398" y="20570"/>
            <a:ext cx="11284676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Peixes – Condrictes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975" y="1729831"/>
            <a:ext cx="10971168" cy="468838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 err="1"/>
              <a:t>Clásper</a:t>
            </a:r>
            <a:r>
              <a:rPr lang="pt-BR" dirty="0"/>
              <a:t> = aparelho reprodutor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Válvula espiral = maior eficiência na absorção de nutrientes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Cloaca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  <p:pic>
        <p:nvPicPr>
          <p:cNvPr id="7" name="Picture 2" descr="http://www.bio.gc.ca/sharks/images/reproduction-fig1-eng.jpg">
            <a:extLst>
              <a:ext uri="{FF2B5EF4-FFF2-40B4-BE49-F238E27FC236}">
                <a16:creationId xmlns:a16="http://schemas.microsoft.com/office/drawing/2014/main" id="{EE60DD86-DB57-42EF-AAF7-335F3F6D02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0798" y="3953170"/>
            <a:ext cx="3379712" cy="25347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2" descr="http://interna.coceducacao.com.br/ebook/content/pictures/2002-41-142-25-i004.jpg">
            <a:extLst>
              <a:ext uri="{FF2B5EF4-FFF2-40B4-BE49-F238E27FC236}">
                <a16:creationId xmlns:a16="http://schemas.microsoft.com/office/drawing/2014/main" id="{E63A8E82-292B-451F-8FB9-C6F4FA0F92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3406" y="3874792"/>
            <a:ext cx="3548121" cy="24199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47866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398" y="20570"/>
            <a:ext cx="11284676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Peixes – </a:t>
            </a:r>
            <a:r>
              <a:rPr lang="pt-BR" sz="6000" b="1" dirty="0" err="1">
                <a:solidFill>
                  <a:schemeClr val="bg1"/>
                </a:solidFill>
              </a:rPr>
              <a:t>Osteictes</a:t>
            </a:r>
            <a:endParaRPr lang="pt-BR" sz="6000" b="1" dirty="0">
              <a:solidFill>
                <a:schemeClr val="bg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975" y="1729831"/>
            <a:ext cx="10971168" cy="468838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Esqueleto ósseo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Excretam amônia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Boca terminal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Com bexiga natatória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Com opérculo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Sem válvula espiral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Ânus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  <p:pic>
        <p:nvPicPr>
          <p:cNvPr id="8" name="Picture 2" descr="http://2.bp.blogspot.com/-g2Gz8PQzJ58/Udd24EPijCI/AAAAAAAAHZM/Hy1PRCNzjqY/s1600/Angelfish.jpg">
            <a:extLst>
              <a:ext uri="{FF2B5EF4-FFF2-40B4-BE49-F238E27FC236}">
                <a16:creationId xmlns:a16="http://schemas.microsoft.com/office/drawing/2014/main" id="{3DCB0420-C0AD-4346-AD4A-85A63D3986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5856" y="1835830"/>
            <a:ext cx="3481033" cy="2506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 descr="http://www.perolanegrapescados.com.br/salmao_01.jpg">
            <a:extLst>
              <a:ext uri="{FF2B5EF4-FFF2-40B4-BE49-F238E27FC236}">
                <a16:creationId xmlns:a16="http://schemas.microsoft.com/office/drawing/2014/main" id="{E2BBE5E7-E269-4455-8CA5-4238DA8C99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8736" y="4448172"/>
            <a:ext cx="5375275" cy="195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183346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398" y="20570"/>
            <a:ext cx="11284676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Peixes – Condrictes x </a:t>
            </a:r>
            <a:r>
              <a:rPr lang="pt-BR" sz="6000" b="1" dirty="0" err="1">
                <a:solidFill>
                  <a:schemeClr val="bg1"/>
                </a:solidFill>
              </a:rPr>
              <a:t>Osteictes</a:t>
            </a:r>
            <a:endParaRPr lang="pt-BR" sz="6000" b="1" dirty="0">
              <a:solidFill>
                <a:schemeClr val="bg1"/>
              </a:solidFill>
            </a:endParaRP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126FAF1E-1741-48F7-8113-E10B674071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0" name="Espaço Reservado para Conteúdo 5" descr="Diagrama&#10;&#10;Descrição gerada automaticamente">
            <a:extLst>
              <a:ext uri="{FF2B5EF4-FFF2-40B4-BE49-F238E27FC236}">
                <a16:creationId xmlns:a16="http://schemas.microsoft.com/office/drawing/2014/main" id="{19BEF14A-CC7D-47D7-894E-94CC16D098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37587" y="1651453"/>
            <a:ext cx="6516825" cy="4935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7749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398" y="20570"/>
            <a:ext cx="11284676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Anfíbios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975" y="1729831"/>
            <a:ext cx="10971168" cy="468838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 err="1"/>
              <a:t>Ex</a:t>
            </a:r>
            <a:r>
              <a:rPr lang="pt-BR" dirty="0"/>
              <a:t>: Sapo, perereca, rã, salamandra, cobra cega</a:t>
            </a:r>
          </a:p>
        </p:txBody>
      </p:sp>
      <p:pic>
        <p:nvPicPr>
          <p:cNvPr id="10" name="Picture 2" descr="sapo estranho">
            <a:extLst>
              <a:ext uri="{FF2B5EF4-FFF2-40B4-BE49-F238E27FC236}">
                <a16:creationId xmlns:a16="http://schemas.microsoft.com/office/drawing/2014/main" id="{DB1B2306-97D0-4592-8AB4-FDD311F077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975" y="2333051"/>
            <a:ext cx="3279909" cy="2273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2" descr="http://upload.wikimedia.org/wikipedia/commons/5/59/Salamandra_salamandra_CZ.JPG">
            <a:extLst>
              <a:ext uri="{FF2B5EF4-FFF2-40B4-BE49-F238E27FC236}">
                <a16:creationId xmlns:a16="http://schemas.microsoft.com/office/drawing/2014/main" id="{4F7DB8DA-9218-46AA-B59F-13224ACEB7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0791" y="2333052"/>
            <a:ext cx="3533415" cy="23023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2" descr="http://www.mundoeducacao.com/upload/conteudo_legenda/e834acfb175fc41d1d4ed40442e06654.jpg">
            <a:extLst>
              <a:ext uri="{FF2B5EF4-FFF2-40B4-BE49-F238E27FC236}">
                <a16:creationId xmlns:a16="http://schemas.microsoft.com/office/drawing/2014/main" id="{98E88479-92E2-44B9-9236-F078DB7EDD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5113" y="2333051"/>
            <a:ext cx="3533415" cy="2355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931328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398" y="20570"/>
            <a:ext cx="11284676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Anfíbios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975" y="1729831"/>
            <a:ext cx="10971168" cy="4688386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Primeiro Vertebrado terrestre mas ainda depende d’ água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“Vida Duplas” – metamorfose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Larva girino </a:t>
            </a:r>
            <a:r>
              <a:rPr lang="pt-BR" dirty="0">
                <a:sym typeface="Wingdings" panose="05000000000000000000" pitchFamily="2" charset="2"/>
              </a:rPr>
              <a:t></a:t>
            </a:r>
            <a:r>
              <a:rPr lang="pt-BR" dirty="0"/>
              <a:t> aquático com brânquias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Adulto </a:t>
            </a:r>
            <a:r>
              <a:rPr lang="pt-BR" dirty="0">
                <a:sym typeface="Wingdings" panose="05000000000000000000" pitchFamily="2" charset="2"/>
              </a:rPr>
              <a:t></a:t>
            </a:r>
            <a:r>
              <a:rPr lang="pt-BR" dirty="0"/>
              <a:t> terrestre com pulmões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Coração </a:t>
            </a:r>
            <a:r>
              <a:rPr lang="pt-BR" dirty="0" err="1"/>
              <a:t>tricavitário</a:t>
            </a:r>
            <a:r>
              <a:rPr lang="pt-BR" dirty="0"/>
              <a:t> (2 A + 1 V)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600" dirty="0"/>
              <a:t>Circulação Dupla Incompleta (Mistura de sangue arterial e venoso)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Respiração cutânea (adulto) e pulmonar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Excreção: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Girino – amônia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Adulto – ureia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Pecilotérmicos (Heterotérmicos/</a:t>
            </a:r>
            <a:r>
              <a:rPr lang="pt-BR" dirty="0" err="1"/>
              <a:t>Ectotérmicos</a:t>
            </a:r>
            <a:r>
              <a:rPr lang="pt-BR" dirty="0"/>
              <a:t>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Pele Lisa, secreção de muco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Fecundação Externa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544760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398" y="20570"/>
            <a:ext cx="11284676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Anfíbios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185054C2-CF9D-42FD-ABFF-F060E188C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7" name="Espaço Reservado para Conteúdo 6" descr="Diagrama&#10;&#10;Descrição gerada automaticamente">
            <a:extLst>
              <a:ext uri="{FF2B5EF4-FFF2-40B4-BE49-F238E27FC236}">
                <a16:creationId xmlns:a16="http://schemas.microsoft.com/office/drawing/2014/main" id="{FC695788-1AB3-408D-9422-18323859ED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5631" y="2217511"/>
            <a:ext cx="7886700" cy="3847945"/>
          </a:xfrm>
          <a:prstGeom prst="rect">
            <a:avLst/>
          </a:prstGeom>
        </p:spPr>
      </p:pic>
      <p:pic>
        <p:nvPicPr>
          <p:cNvPr id="8" name="Picture 2" descr="http://www.netxplica.com/manual.virtual/exercicios/imagem/circulacao.dupla.incompleta.png">
            <a:extLst>
              <a:ext uri="{FF2B5EF4-FFF2-40B4-BE49-F238E27FC236}">
                <a16:creationId xmlns:a16="http://schemas.microsoft.com/office/drawing/2014/main" id="{F26B653C-1434-49A4-8184-7629E2147F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359" y="1825625"/>
            <a:ext cx="3892472" cy="4860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377848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398" y="20570"/>
            <a:ext cx="11284676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Anfíbios - Ordens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181" y="1375138"/>
            <a:ext cx="10971168" cy="46883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1) Anuros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 err="1"/>
              <a:t>Ex</a:t>
            </a:r>
            <a:r>
              <a:rPr lang="pt-BR" dirty="0"/>
              <a:t>: sapo, perereca e rã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Sem cauda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Fecundação externa com cópula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Pode possuir glândula de veneno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  <p:pic>
        <p:nvPicPr>
          <p:cNvPr id="9" name="Picture 2" descr="http://fairies04.pbworks.com/f/1215710124/000sapo%20foto.jpg">
            <a:extLst>
              <a:ext uri="{FF2B5EF4-FFF2-40B4-BE49-F238E27FC236}">
                <a16:creationId xmlns:a16="http://schemas.microsoft.com/office/drawing/2014/main" id="{151D9BD8-0218-4F8C-93F0-A5F7BF04DC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2279" y="4377962"/>
            <a:ext cx="2579687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0" name="Picture 2" descr="Sapos, pererecas e rãs da América do Sul – Revista Arco">
            <a:extLst>
              <a:ext uri="{FF2B5EF4-FFF2-40B4-BE49-F238E27FC236}">
                <a16:creationId xmlns:a16="http://schemas.microsoft.com/office/drawing/2014/main" id="{BAC50D20-3831-459A-BA4B-D0953F8344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1734" y="1907650"/>
            <a:ext cx="4940266" cy="4231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http://imagens3.publico.pt/imagens.aspx/744173?tp=UH&amp;db=IMAGENS">
            <a:extLst>
              <a:ext uri="{FF2B5EF4-FFF2-40B4-BE49-F238E27FC236}">
                <a16:creationId xmlns:a16="http://schemas.microsoft.com/office/drawing/2014/main" id="{A8B74895-E58A-4A04-BB7B-EE23FB1C21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8929" y="3352936"/>
            <a:ext cx="2648806" cy="21299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4" descr="http://www.guiadoscuriosos.com.br/_img/_conteudo/54211.jpg">
            <a:extLst>
              <a:ext uri="{FF2B5EF4-FFF2-40B4-BE49-F238E27FC236}">
                <a16:creationId xmlns:a16="http://schemas.microsoft.com/office/drawing/2014/main" id="{2E6756D6-2168-424C-A0B0-90ABAB4F6C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183" y="3621132"/>
            <a:ext cx="2743200" cy="177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311617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398" y="20570"/>
            <a:ext cx="11284676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Anfíbios - Ordens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181" y="1375138"/>
            <a:ext cx="10971168" cy="46883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2) Urodelos (</a:t>
            </a:r>
            <a:r>
              <a:rPr lang="pt-BR" dirty="0" err="1"/>
              <a:t>caudata</a:t>
            </a:r>
            <a:r>
              <a:rPr lang="pt-BR" dirty="0"/>
              <a:t>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 err="1"/>
              <a:t>Ex</a:t>
            </a:r>
            <a:r>
              <a:rPr lang="pt-BR" dirty="0"/>
              <a:t>: salamandra e </a:t>
            </a:r>
            <a:r>
              <a:rPr lang="pt-BR" dirty="0" err="1"/>
              <a:t>axolote</a:t>
            </a:r>
            <a:endParaRPr lang="pt-BR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Com cauda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Neotenia (larvas maduras sexualmente)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  <p:pic>
        <p:nvPicPr>
          <p:cNvPr id="10" name="Picture 2" descr="http://www.axolotlmag.com/wp-content/uploads/2014/08/axolotl1-960x960.jpg">
            <a:extLst>
              <a:ext uri="{FF2B5EF4-FFF2-40B4-BE49-F238E27FC236}">
                <a16:creationId xmlns:a16="http://schemas.microsoft.com/office/drawing/2014/main" id="{0F0B2FFC-7786-4B11-A3CB-0F47D5664C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4117" y="3577059"/>
            <a:ext cx="2881312" cy="287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4" descr="http://upload.wikimedia.org/wikipedia/commons/d/d9/Salamandra_plamista_po_skalowaniu.jpg">
            <a:extLst>
              <a:ext uri="{FF2B5EF4-FFF2-40B4-BE49-F238E27FC236}">
                <a16:creationId xmlns:a16="http://schemas.microsoft.com/office/drawing/2014/main" id="{56DEABB1-C711-43C5-8915-C02C48411F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355" y="3496906"/>
            <a:ext cx="4425588" cy="2959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453572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398" y="20570"/>
            <a:ext cx="11284676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Anfíbios - Ordens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598" y="1746046"/>
            <a:ext cx="10971168" cy="46883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3) Ápodos (</a:t>
            </a:r>
            <a:r>
              <a:rPr lang="pt-BR" dirty="0" err="1"/>
              <a:t>gymnophionas</a:t>
            </a:r>
            <a:r>
              <a:rPr lang="pt-BR" dirty="0"/>
              <a:t>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 err="1"/>
              <a:t>Ex</a:t>
            </a:r>
            <a:r>
              <a:rPr lang="pt-BR" dirty="0"/>
              <a:t>: cobra cega e </a:t>
            </a:r>
            <a:r>
              <a:rPr lang="pt-BR" dirty="0" err="1"/>
              <a:t>cecílias</a:t>
            </a:r>
            <a:endParaRPr lang="pt-BR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Sem patas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Não são cegas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Olhos rudimentares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Captam luz mas não formam imagens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Única ordem de anfíbios com órgão copulador</a:t>
            </a:r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7" name="Picture 4" descr="http://www.ninha.bio.br/biologia/repteis_anfibios/nova-cecilia3.jpg">
            <a:extLst>
              <a:ext uri="{FF2B5EF4-FFF2-40B4-BE49-F238E27FC236}">
                <a16:creationId xmlns:a16="http://schemas.microsoft.com/office/drawing/2014/main" id="{DFDF447B-92E2-496D-A805-68C618AD0F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6733" y="4266945"/>
            <a:ext cx="3035230" cy="2046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 descr="http://chc.cienciahoje.uol.com.br/wp-content/uploads/2012/10/foto_tupan-38-600x450.jpg">
            <a:extLst>
              <a:ext uri="{FF2B5EF4-FFF2-40B4-BE49-F238E27FC236}">
                <a16:creationId xmlns:a16="http://schemas.microsoft.com/office/drawing/2014/main" id="{8EFBF125-1AD3-488F-BB41-F260DE0423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6733" y="1772715"/>
            <a:ext cx="3035230" cy="2276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3141658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577</TotalTime>
  <Words>438</Words>
  <Application>Microsoft Office PowerPoint</Application>
  <PresentationFormat>Widescreen</PresentationFormat>
  <Paragraphs>134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Wingdings</vt:lpstr>
      <vt:lpstr>Tema do Office</vt:lpstr>
      <vt:lpstr>Reino Animal</vt:lpstr>
      <vt:lpstr>Filo dos Cordados - Características</vt:lpstr>
      <vt:lpstr>Filo dos Cordados - Classificação</vt:lpstr>
      <vt:lpstr>Protocordados</vt:lpstr>
      <vt:lpstr>Peixes</vt:lpstr>
      <vt:lpstr>Peixes – Condrictes e Osteictes</vt:lpstr>
      <vt:lpstr>Peixes – Condrictes</vt:lpstr>
      <vt:lpstr>Peixes – Condrictes</vt:lpstr>
      <vt:lpstr>Peixes – Condrictes</vt:lpstr>
      <vt:lpstr>Peixes – Osteictes</vt:lpstr>
      <vt:lpstr>Peixes – Condrictes x Osteictes</vt:lpstr>
      <vt:lpstr>Anfíbios</vt:lpstr>
      <vt:lpstr>Anfíbios</vt:lpstr>
      <vt:lpstr>Anfíbios</vt:lpstr>
      <vt:lpstr>Anfíbios - Ordens</vt:lpstr>
      <vt:lpstr>Anfíbios - Ordens</vt:lpstr>
      <vt:lpstr>Anfíbios - Ordens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Bruno Barbosa</dc:creator>
  <cp:lastModifiedBy>Bruno Barbosa</cp:lastModifiedBy>
  <cp:revision>35</cp:revision>
  <dcterms:created xsi:type="dcterms:W3CDTF">2020-06-05T12:13:59Z</dcterms:created>
  <dcterms:modified xsi:type="dcterms:W3CDTF">2021-05-11T18:28:18Z</dcterms:modified>
</cp:coreProperties>
</file>