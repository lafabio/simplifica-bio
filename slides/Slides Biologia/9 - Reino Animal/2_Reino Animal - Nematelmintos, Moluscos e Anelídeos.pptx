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316" r:id="rId2"/>
    <p:sldId id="257" r:id="rId3"/>
    <p:sldId id="317" r:id="rId4"/>
    <p:sldId id="318" r:id="rId5"/>
    <p:sldId id="319" r:id="rId6"/>
    <p:sldId id="320" r:id="rId7"/>
    <p:sldId id="321" r:id="rId8"/>
    <p:sldId id="322" r:id="rId9"/>
    <p:sldId id="323" r:id="rId10"/>
    <p:sldId id="324" r:id="rId11"/>
    <p:sldId id="325" r:id="rId12"/>
    <p:sldId id="326" r:id="rId13"/>
    <p:sldId id="327" r:id="rId14"/>
    <p:sldId id="328" r:id="rId15"/>
    <p:sldId id="329" r:id="rId16"/>
    <p:sldId id="330" r:id="rId17"/>
    <p:sldId id="331" r:id="rId18"/>
    <p:sldId id="332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B606"/>
    <a:srgbClr val="02A606"/>
    <a:srgbClr val="02D80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218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11/05/2021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005962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11/05/2021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02368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11/05/2021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95803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11/05/2021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770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11/05/2021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0818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11/05/2021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2215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11/05/2021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85111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11/05/2021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972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11/05/2021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9307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11/05/2021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79518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11/05/2021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6758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1EB2CB-219F-436E-9B65-25A3D1B4A5D0}" type="datetimeFigureOut">
              <a:rPr lang="pt-BR" smtClean="0"/>
              <a:t>11/05/2021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0654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eg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jpe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http://guiadoestudante.abril.com.br/imagem/capa-reino-animal.jpg">
            <a:extLst>
              <a:ext uri="{FF2B5EF4-FFF2-40B4-BE49-F238E27FC236}">
                <a16:creationId xmlns:a16="http://schemas.microsoft.com/office/drawing/2014/main" id="{88DFAEB1-5A88-477B-91D5-2E98F6FCF0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62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2435979C-8683-4775-A51B-7B69B8A514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00443"/>
            <a:ext cx="12192000" cy="1316038"/>
          </a:xfr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Reino Animal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01B4C986-036F-4177-A597-967B1FA8B789}"/>
              </a:ext>
            </a:extLst>
          </p:cNvPr>
          <p:cNvSpPr txBox="1">
            <a:spLocks/>
          </p:cNvSpPr>
          <p:nvPr/>
        </p:nvSpPr>
        <p:spPr>
          <a:xfrm>
            <a:off x="0" y="2272751"/>
            <a:ext cx="12192000" cy="1775526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rmAutofit fontScale="3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sz="8000" dirty="0"/>
          </a:p>
          <a:p>
            <a:pPr>
              <a:lnSpc>
                <a:spcPct val="120000"/>
              </a:lnSpc>
            </a:pPr>
            <a:r>
              <a:rPr lang="pt-BR" sz="8000" b="1" dirty="0"/>
              <a:t>Nematelmintos</a:t>
            </a:r>
          </a:p>
          <a:p>
            <a:pPr>
              <a:lnSpc>
                <a:spcPct val="120000"/>
              </a:lnSpc>
            </a:pPr>
            <a:r>
              <a:rPr lang="pt-BR" sz="8000" b="1" dirty="0"/>
              <a:t>Moluscos</a:t>
            </a:r>
          </a:p>
          <a:p>
            <a:pPr>
              <a:lnSpc>
                <a:spcPct val="120000"/>
              </a:lnSpc>
            </a:pPr>
            <a:r>
              <a:rPr lang="pt-BR" sz="8000" b="1" dirty="0"/>
              <a:t>Anelídeos</a:t>
            </a:r>
          </a:p>
          <a:p>
            <a:endParaRPr lang="pt-BR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13135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398" y="20570"/>
            <a:ext cx="11284676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Filo dos Nematelmintos (</a:t>
            </a:r>
            <a:r>
              <a:rPr lang="pt-BR" sz="6000" b="1" dirty="0" err="1">
                <a:solidFill>
                  <a:schemeClr val="bg1"/>
                </a:solidFill>
              </a:rPr>
              <a:t>Asquelmintos</a:t>
            </a:r>
            <a:r>
              <a:rPr lang="pt-BR" sz="6000" b="1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975" y="1729831"/>
            <a:ext cx="11284676" cy="4351338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Vermes cilíndricos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 err="1"/>
              <a:t>Ex</a:t>
            </a:r>
            <a:r>
              <a:rPr lang="pt-BR" dirty="0"/>
              <a:t>: Lombriga, bicho geográfico, </a:t>
            </a:r>
            <a:r>
              <a:rPr lang="pt-BR" i="1" dirty="0" err="1"/>
              <a:t>Ancylostoma</a:t>
            </a:r>
            <a:r>
              <a:rPr lang="pt-BR" i="1" dirty="0"/>
              <a:t> </a:t>
            </a:r>
            <a:r>
              <a:rPr lang="pt-BR" i="1" dirty="0" err="1"/>
              <a:t>duodenale</a:t>
            </a:r>
            <a:r>
              <a:rPr lang="pt-BR" dirty="0"/>
              <a:t>, </a:t>
            </a:r>
            <a:r>
              <a:rPr lang="pt-BR" i="1" dirty="0" err="1"/>
              <a:t>Necator</a:t>
            </a:r>
            <a:r>
              <a:rPr lang="pt-BR" i="1" dirty="0"/>
              <a:t> </a:t>
            </a:r>
            <a:r>
              <a:rPr lang="pt-BR" i="1" dirty="0" err="1"/>
              <a:t>americanus</a:t>
            </a:r>
            <a:endParaRPr lang="pt-BR" i="1" dirty="0"/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Vida livre (maioria) e parasitas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Primeiros com tubo digestivo completo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Excreção: canais excretores na pele (Células H)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Sistema Nervoso: ganglionar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Reprodução: dioicos com dimorfismo sexual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Cutícula revestindo a pele (proteção)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  <p:pic>
        <p:nvPicPr>
          <p:cNvPr id="5" name="Picture 2" descr="http://2.bp.blogspot.com/-PnGQKbKAt4Q/UNUOqXzNA2I/AAAAAAAAARA/DA3wyE9mI38/s1600/Lombriga.jpg">
            <a:extLst>
              <a:ext uri="{FF2B5EF4-FFF2-40B4-BE49-F238E27FC236}">
                <a16:creationId xmlns:a16="http://schemas.microsoft.com/office/drawing/2014/main" id="{A31C99E9-DB5F-4B1A-A685-D5E450E610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949292" y="3080385"/>
            <a:ext cx="3419475" cy="2262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6546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398" y="20570"/>
            <a:ext cx="11284676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Ascaridíase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975" y="1729831"/>
            <a:ext cx="6268539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sz="2400" i="1" dirty="0"/>
              <a:t>Ascaris lumbricoides</a:t>
            </a:r>
            <a:r>
              <a:rPr lang="pt-BR" sz="2400" dirty="0"/>
              <a:t> = Lombriga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Contaminação: água e alimentos contaminados com fezes humanas que possuem o ovo da lombriga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Nem sempre fica no intestino, pode ir para outros lugares: garganta, nariz, orelha, olhos, pulmões e cérebro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  <p:pic>
        <p:nvPicPr>
          <p:cNvPr id="19458" name="Picture 2" descr="Ascaridíase - causas, sintomas, tratamento - Doenças - InfoEscola">
            <a:extLst>
              <a:ext uri="{FF2B5EF4-FFF2-40B4-BE49-F238E27FC236}">
                <a16:creationId xmlns:a16="http://schemas.microsoft.com/office/drawing/2014/main" id="{2F48325C-0557-4AC2-AE78-45432612E5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6524" y="1520847"/>
            <a:ext cx="5785476" cy="53165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4234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398" y="20570"/>
            <a:ext cx="11284676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Amarelão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975" y="1729831"/>
            <a:ext cx="6268539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Amarelão (Ancilostomose)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400" i="1" dirty="0" err="1"/>
              <a:t>Ancylostoma</a:t>
            </a:r>
            <a:r>
              <a:rPr lang="pt-BR" sz="2400" i="1" dirty="0"/>
              <a:t> </a:t>
            </a:r>
            <a:r>
              <a:rPr lang="pt-BR" sz="2400" i="1" dirty="0" err="1"/>
              <a:t>duodenale</a:t>
            </a:r>
            <a:r>
              <a:rPr lang="pt-BR" sz="2400" i="1" dirty="0"/>
              <a:t> / </a:t>
            </a:r>
            <a:r>
              <a:rPr lang="pt-BR" sz="2400" i="1" dirty="0" err="1"/>
              <a:t>Necator</a:t>
            </a:r>
            <a:r>
              <a:rPr lang="pt-BR" sz="2400" i="1" dirty="0"/>
              <a:t> </a:t>
            </a:r>
            <a:r>
              <a:rPr lang="pt-BR" sz="2400" i="1" dirty="0" err="1"/>
              <a:t>americanus</a:t>
            </a:r>
            <a:endParaRPr lang="pt-BR" sz="2400" i="1" dirty="0"/>
          </a:p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Penetra pela pele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“Doença do homem do campo” pois era comum andar descalço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Provoca anemia e hemorragias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Verme se alimenta do sangue do hospedeiro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Morte das células sanguíneas provoca icterícia (aparência amarelada da pele)</a:t>
            </a:r>
            <a:endParaRPr lang="pt-BR" dirty="0"/>
          </a:p>
        </p:txBody>
      </p:sp>
      <p:pic>
        <p:nvPicPr>
          <p:cNvPr id="21506" name="Picture 2" descr="Amarelão: o que é, sintomas, diagnóstico e tratamento - Tua Saúde">
            <a:extLst>
              <a:ext uri="{FF2B5EF4-FFF2-40B4-BE49-F238E27FC236}">
                <a16:creationId xmlns:a16="http://schemas.microsoft.com/office/drawing/2014/main" id="{E27954F7-C099-4519-8525-3B6390382E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4548" y="1942012"/>
            <a:ext cx="4959772" cy="3309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02897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398" y="20570"/>
            <a:ext cx="11284676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Filariose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975" y="1729831"/>
            <a:ext cx="9821636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Elefantíase (Filariose) – </a:t>
            </a:r>
            <a:r>
              <a:rPr lang="pt-BR" dirty="0" err="1"/>
              <a:t>Filária</a:t>
            </a:r>
            <a:r>
              <a:rPr lang="pt-BR" dirty="0"/>
              <a:t> - </a:t>
            </a:r>
            <a:r>
              <a:rPr lang="pt-BR" i="1" dirty="0" err="1"/>
              <a:t>Wuchereria</a:t>
            </a:r>
            <a:r>
              <a:rPr lang="pt-BR" i="1" dirty="0"/>
              <a:t> </a:t>
            </a:r>
            <a:r>
              <a:rPr lang="pt-BR" i="1" dirty="0" err="1"/>
              <a:t>bancrofti</a:t>
            </a:r>
            <a:endParaRPr lang="pt-BR" i="1" dirty="0"/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Entopem vasos linfáticos da perna, mamas e saco escrotal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Sem drenagem linfática = inchaço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Hospedeiro Intermediário = mosquito Culex (mosquito comum)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  <p:pic>
        <p:nvPicPr>
          <p:cNvPr id="7" name="Picture 7" descr="http://www.medicinageriatrica.com.br/wp-content/uploads/2008/02/elefantiase.JPG">
            <a:extLst>
              <a:ext uri="{FF2B5EF4-FFF2-40B4-BE49-F238E27FC236}">
                <a16:creationId xmlns:a16="http://schemas.microsoft.com/office/drawing/2014/main" id="{C3869A6C-0CA3-499A-ADE1-6E44D21C3B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1574" y="3905500"/>
            <a:ext cx="1905000" cy="283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9" descr="http://3.bp.blogspot.com/-rUgpgc4mKjc/VAbhIRJKl2I/AAAAAAAAGoU/9x-YT4WBkqc/s1600/elefantiase_02.jpg">
            <a:extLst>
              <a:ext uri="{FF2B5EF4-FFF2-40B4-BE49-F238E27FC236}">
                <a16:creationId xmlns:a16="http://schemas.microsoft.com/office/drawing/2014/main" id="{C05A75D6-54C4-4A91-93DB-34FF1BF4D7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278" y="4341790"/>
            <a:ext cx="3486150" cy="202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100205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398" y="20570"/>
            <a:ext cx="11284676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Bicho Geográfico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974" y="1729831"/>
            <a:ext cx="11284675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i="1" dirty="0" err="1"/>
              <a:t>Ancylostoma</a:t>
            </a:r>
            <a:r>
              <a:rPr lang="pt-BR" i="1" dirty="0"/>
              <a:t> brasiliensis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Cães e Gatos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Humanos pegam na praia em contato com areia contaminada com fezes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Verme avança 1cm por dia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  <p:pic>
        <p:nvPicPr>
          <p:cNvPr id="9" name="Picture 2" descr="http://static.tuasaude.com/img/posts/2013/01/a823a767fd4ed55149669acd792ab14a.jpeg">
            <a:extLst>
              <a:ext uri="{FF2B5EF4-FFF2-40B4-BE49-F238E27FC236}">
                <a16:creationId xmlns:a16="http://schemas.microsoft.com/office/drawing/2014/main" id="{C407F370-A2FF-4CB1-87D7-914F12BF28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585755"/>
            <a:ext cx="4032250" cy="2986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582891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398" y="20570"/>
            <a:ext cx="11284676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Oxiurose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974" y="1729831"/>
            <a:ext cx="11284675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i="1" dirty="0" err="1"/>
              <a:t>Enterobius</a:t>
            </a:r>
            <a:r>
              <a:rPr lang="pt-BR" i="1" dirty="0"/>
              <a:t> </a:t>
            </a:r>
            <a:r>
              <a:rPr lang="pt-BR" i="1" dirty="0" err="1"/>
              <a:t>vermicularis</a:t>
            </a:r>
            <a:r>
              <a:rPr lang="pt-BR" i="1" dirty="0"/>
              <a:t> </a:t>
            </a:r>
            <a:r>
              <a:rPr lang="pt-BR" dirty="0"/>
              <a:t>(oxiúro)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Vivem no trato digestivo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Fêmeas grávidas migram para a região anal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Causa prurido anal (coceira)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Carrega os ovos nas unhas (</a:t>
            </a:r>
            <a:r>
              <a:rPr lang="pt-BR" dirty="0" err="1"/>
              <a:t>Recontaminação</a:t>
            </a:r>
            <a:r>
              <a:rPr lang="pt-BR" dirty="0"/>
              <a:t>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Contaminação primária: alimentos contaminados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113727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398" y="20570"/>
            <a:ext cx="11284676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Filo dos Moluscos</a:t>
            </a:r>
          </a:p>
        </p:txBody>
      </p:sp>
      <p:pic>
        <p:nvPicPr>
          <p:cNvPr id="8" name="Picture 2" descr="http://www.escreveretriste.com/wp-content/uploads/2012/02/Polvo.jpg">
            <a:extLst>
              <a:ext uri="{FF2B5EF4-FFF2-40B4-BE49-F238E27FC236}">
                <a16:creationId xmlns:a16="http://schemas.microsoft.com/office/drawing/2014/main" id="{E9F966E8-5CF4-4784-AEE2-69EDB3EEA2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983" y="4248150"/>
            <a:ext cx="3681700" cy="255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2" descr="http://aquabr.com.br/imagens/noticias/lula-colossal.jpg">
            <a:extLst>
              <a:ext uri="{FF2B5EF4-FFF2-40B4-BE49-F238E27FC236}">
                <a16:creationId xmlns:a16="http://schemas.microsoft.com/office/drawing/2014/main" id="{00A9B738-6CA6-4E03-ACF3-61001D741D38}"/>
              </a:ext>
            </a:extLst>
          </p:cNvPr>
          <p:cNvPicPr>
            <a:picLocks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226017" y="1325564"/>
            <a:ext cx="3810000" cy="2857500"/>
          </a:xfrm>
        </p:spPr>
      </p:pic>
      <p:pic>
        <p:nvPicPr>
          <p:cNvPr id="10" name="Picture 2" descr="http://www.dreamstime.com/mussel-thumb11280037.jpg">
            <a:extLst>
              <a:ext uri="{FF2B5EF4-FFF2-40B4-BE49-F238E27FC236}">
                <a16:creationId xmlns:a16="http://schemas.microsoft.com/office/drawing/2014/main" id="{7043EF01-AC00-447C-8D96-0BF16BD33D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0033" y="4076199"/>
            <a:ext cx="3810001" cy="255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2" descr="http://upload.wikimedia.org/wikipedia/commons/d/d3/Brown_snail_closeup.jpg">
            <a:extLst>
              <a:ext uri="{FF2B5EF4-FFF2-40B4-BE49-F238E27FC236}">
                <a16:creationId xmlns:a16="http://schemas.microsoft.com/office/drawing/2014/main" id="{6DE5F271-F4B5-44A1-903A-BE2D6D5564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9642" y="4293394"/>
            <a:ext cx="4016375" cy="2462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2" descr="http://animais.culturamix.com/blog/wp-content/uploads/2010/06/011.jpg">
            <a:extLst>
              <a:ext uri="{FF2B5EF4-FFF2-40B4-BE49-F238E27FC236}">
                <a16:creationId xmlns:a16="http://schemas.microsoft.com/office/drawing/2014/main" id="{20B8092F-3C1E-4DEC-A5D6-F9EF6DADFF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0121" y="1398587"/>
            <a:ext cx="3109913" cy="2332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Espaço Reservado para Conteúdo 2">
            <a:extLst>
              <a:ext uri="{FF2B5EF4-FFF2-40B4-BE49-F238E27FC236}">
                <a16:creationId xmlns:a16="http://schemas.microsoft.com/office/drawing/2014/main" id="{E830C386-4172-4C98-AF5D-22A709DC6699}"/>
              </a:ext>
            </a:extLst>
          </p:cNvPr>
          <p:cNvSpPr txBox="1">
            <a:spLocks/>
          </p:cNvSpPr>
          <p:nvPr/>
        </p:nvSpPr>
        <p:spPr>
          <a:xfrm>
            <a:off x="202627" y="1456463"/>
            <a:ext cx="11284675" cy="272660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Caracol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Polvo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Lula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Mexilhão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Lesma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Ostra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738304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398" y="20570"/>
            <a:ext cx="11284676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Filo dos Moluscos</a:t>
            </a:r>
          </a:p>
        </p:txBody>
      </p:sp>
      <p:sp>
        <p:nvSpPr>
          <p:cNvPr id="13" name="Espaço Reservado para Conteúdo 2">
            <a:extLst>
              <a:ext uri="{FF2B5EF4-FFF2-40B4-BE49-F238E27FC236}">
                <a16:creationId xmlns:a16="http://schemas.microsoft.com/office/drawing/2014/main" id="{E830C386-4172-4C98-AF5D-22A709DC6699}"/>
              </a:ext>
            </a:extLst>
          </p:cNvPr>
          <p:cNvSpPr txBox="1">
            <a:spLocks/>
          </p:cNvSpPr>
          <p:nvPr/>
        </p:nvSpPr>
        <p:spPr>
          <a:xfrm>
            <a:off x="453663" y="1578383"/>
            <a:ext cx="6391274" cy="4805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Aquáticos e terrestres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Divisão do corpo: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Cabeça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Pé musculoso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Massa Visceral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Manto (interno) </a:t>
            </a:r>
            <a:r>
              <a:rPr lang="pt-BR" dirty="0">
                <a:sym typeface="Wingdings" panose="05000000000000000000" pitchFamily="2" charset="2"/>
              </a:rPr>
              <a:t></a:t>
            </a:r>
            <a:r>
              <a:rPr lang="pt-BR" dirty="0"/>
              <a:t> formação da concha calcária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pt-BR" sz="2200" dirty="0"/>
              <a:t>Cavidade do Manto: abertura do ânus e poros excretores; brânquias; pulmões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  <p:pic>
        <p:nvPicPr>
          <p:cNvPr id="14" name="Picture 18" descr="http://www.sobiologia.com.br/figuras/Reinos2/moluscos.jpg">
            <a:extLst>
              <a:ext uri="{FF2B5EF4-FFF2-40B4-BE49-F238E27FC236}">
                <a16:creationId xmlns:a16="http://schemas.microsoft.com/office/drawing/2014/main" id="{9123C9CB-70CB-4B1C-9BDA-E48E847678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4830" y="1994263"/>
            <a:ext cx="4875284" cy="31960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558362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398" y="20570"/>
            <a:ext cx="11284676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Filo dos Moluscos</a:t>
            </a:r>
          </a:p>
        </p:txBody>
      </p:sp>
      <p:sp>
        <p:nvSpPr>
          <p:cNvPr id="13" name="Espaço Reservado para Conteúdo 2">
            <a:extLst>
              <a:ext uri="{FF2B5EF4-FFF2-40B4-BE49-F238E27FC236}">
                <a16:creationId xmlns:a16="http://schemas.microsoft.com/office/drawing/2014/main" id="{E830C386-4172-4C98-AF5D-22A709DC6699}"/>
              </a:ext>
            </a:extLst>
          </p:cNvPr>
          <p:cNvSpPr txBox="1">
            <a:spLocks/>
          </p:cNvSpPr>
          <p:nvPr/>
        </p:nvSpPr>
        <p:spPr>
          <a:xfrm>
            <a:off x="453663" y="1578383"/>
            <a:ext cx="10510428" cy="4805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Tubo digestivo: completo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Com </a:t>
            </a:r>
            <a:r>
              <a:rPr lang="pt-BR" dirty="0" err="1"/>
              <a:t>Rádula</a:t>
            </a:r>
            <a:r>
              <a:rPr lang="pt-BR" dirty="0"/>
              <a:t> </a:t>
            </a:r>
            <a:r>
              <a:rPr lang="pt-BR" dirty="0">
                <a:sym typeface="Wingdings" panose="05000000000000000000" pitchFamily="2" charset="2"/>
              </a:rPr>
              <a:t></a:t>
            </a:r>
            <a:r>
              <a:rPr lang="pt-BR" dirty="0"/>
              <a:t> estrutura na boca para raspar alimento. Exceção: bivalves (</a:t>
            </a:r>
            <a:r>
              <a:rPr lang="pt-BR" dirty="0" err="1"/>
              <a:t>Pecilópodos</a:t>
            </a:r>
            <a:r>
              <a:rPr lang="pt-BR" dirty="0"/>
              <a:t>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Respiração: Pulmonar (terrestre) ou Branquial (aquático)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Circulação: aberta (lacunar)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200" dirty="0"/>
              <a:t>Liquido: hemolinfa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200" dirty="0"/>
              <a:t>Hemoceles se enchem de sangue; é onde ocorrem as trocas gasosas com os tecidos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200" dirty="0"/>
              <a:t>Pigmento Hemocianina (Cu)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Sistema nervoso ganglionar</a:t>
            </a:r>
          </a:p>
        </p:txBody>
      </p:sp>
    </p:spTree>
    <p:extLst>
      <p:ext uri="{BB962C8B-B14F-4D97-AF65-F5344CB8AC3E}">
        <p14:creationId xmlns:p14="http://schemas.microsoft.com/office/powerpoint/2010/main" val="24309756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398" y="20570"/>
            <a:ext cx="11284676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Filo dos Moluscos - Classes</a:t>
            </a:r>
          </a:p>
        </p:txBody>
      </p:sp>
      <p:sp>
        <p:nvSpPr>
          <p:cNvPr id="13" name="Espaço Reservado para Conteúdo 2">
            <a:extLst>
              <a:ext uri="{FF2B5EF4-FFF2-40B4-BE49-F238E27FC236}">
                <a16:creationId xmlns:a16="http://schemas.microsoft.com/office/drawing/2014/main" id="{E830C386-4172-4C98-AF5D-22A709DC6699}"/>
              </a:ext>
            </a:extLst>
          </p:cNvPr>
          <p:cNvSpPr txBox="1">
            <a:spLocks/>
          </p:cNvSpPr>
          <p:nvPr/>
        </p:nvSpPr>
        <p:spPr>
          <a:xfrm>
            <a:off x="453663" y="1578383"/>
            <a:ext cx="10510428" cy="4805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2600" dirty="0"/>
              <a:t>A) </a:t>
            </a:r>
            <a:r>
              <a:rPr lang="pt-BR" sz="2600" dirty="0" err="1"/>
              <a:t>Gastrópodos</a:t>
            </a:r>
            <a:endParaRPr lang="pt-BR" sz="26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200" dirty="0" err="1"/>
              <a:t>Ex</a:t>
            </a:r>
            <a:r>
              <a:rPr lang="pt-BR" sz="2200" dirty="0"/>
              <a:t>: lesma, caramujo e caracol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200" dirty="0"/>
              <a:t>Concha univalve ou ausente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200" dirty="0" err="1"/>
              <a:t>Omatóforos</a:t>
            </a:r>
            <a:r>
              <a:rPr lang="pt-BR" sz="2200" dirty="0"/>
              <a:t>: sustentam os olhos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200" dirty="0"/>
              <a:t>Hermafroditas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200" dirty="0"/>
              <a:t>Muco</a:t>
            </a:r>
          </a:p>
          <a:p>
            <a:pPr marL="0" indent="0">
              <a:buNone/>
            </a:pPr>
            <a:r>
              <a:rPr lang="pt-BR" sz="2600" dirty="0"/>
              <a:t>B) </a:t>
            </a:r>
            <a:r>
              <a:rPr lang="pt-BR" sz="2600" dirty="0" err="1"/>
              <a:t>Bivalvos</a:t>
            </a:r>
            <a:r>
              <a:rPr lang="pt-BR" sz="2600" dirty="0"/>
              <a:t> (</a:t>
            </a:r>
            <a:r>
              <a:rPr lang="pt-BR" sz="2600" dirty="0" err="1"/>
              <a:t>pecylopoda</a:t>
            </a:r>
            <a:r>
              <a:rPr lang="pt-BR" sz="2600" dirty="0"/>
              <a:t>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200" dirty="0" err="1"/>
              <a:t>Ex</a:t>
            </a:r>
            <a:r>
              <a:rPr lang="pt-BR" sz="2200" dirty="0"/>
              <a:t>: Marisco, mexilhão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200" dirty="0"/>
              <a:t>Concha Bivalve (duas partes articuladas)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200" dirty="0"/>
              <a:t>Sifões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200" dirty="0"/>
              <a:t>SEM </a:t>
            </a:r>
            <a:r>
              <a:rPr lang="pt-BR" sz="2200" dirty="0" err="1"/>
              <a:t>rádula</a:t>
            </a:r>
            <a:endParaRPr lang="pt-BR" sz="22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200" dirty="0"/>
              <a:t>Pérola é formada por lesões no manto, que secreta concha</a:t>
            </a:r>
          </a:p>
          <a:p>
            <a:pPr marL="457200" lvl="1" indent="0">
              <a:buNone/>
            </a:pPr>
            <a:r>
              <a:rPr lang="pt-BR" sz="2200" dirty="0"/>
              <a:t>para proteção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sz="2600" dirty="0"/>
          </a:p>
          <a:p>
            <a:pPr>
              <a:buFont typeface="Wingdings" panose="05000000000000000000" pitchFamily="2" charset="2"/>
              <a:buChar char="Ø"/>
            </a:pPr>
            <a:endParaRPr lang="pt-BR" sz="2600" dirty="0"/>
          </a:p>
        </p:txBody>
      </p:sp>
      <p:pic>
        <p:nvPicPr>
          <p:cNvPr id="5" name="Picture 2" descr="http://www.portalamazonia.com.br/jornais/amazoniatv/files/2013/05/Caracol-gigante.jpg">
            <a:extLst>
              <a:ext uri="{FF2B5EF4-FFF2-40B4-BE49-F238E27FC236}">
                <a16:creationId xmlns:a16="http://schemas.microsoft.com/office/drawing/2014/main" id="{E7278399-16E2-449B-830F-B0E602A33F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1878" y="1557814"/>
            <a:ext cx="2982913" cy="2236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6" descr="http://cdn.olhares.pt/client/files/foto/big/408/4085689.jpg">
            <a:extLst>
              <a:ext uri="{FF2B5EF4-FFF2-40B4-BE49-F238E27FC236}">
                <a16:creationId xmlns:a16="http://schemas.microsoft.com/office/drawing/2014/main" id="{30314BF7-DB62-4478-BD7D-BCDC2ACBA8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7657" y="1598952"/>
            <a:ext cx="3160712" cy="2106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2" descr="http://www.infopedia.pt/apoio/recursos/conch115616.jpg">
            <a:extLst>
              <a:ext uri="{FF2B5EF4-FFF2-40B4-BE49-F238E27FC236}">
                <a16:creationId xmlns:a16="http://schemas.microsoft.com/office/drawing/2014/main" id="{E3F70EDC-4BD6-4E2C-94F5-89CA9E9A75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8691" y="4026851"/>
            <a:ext cx="3460750" cy="259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465602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398" y="20570"/>
            <a:ext cx="11284676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Filo dos Moluscos - Classes</a:t>
            </a:r>
          </a:p>
        </p:txBody>
      </p:sp>
      <p:sp>
        <p:nvSpPr>
          <p:cNvPr id="13" name="Espaço Reservado para Conteúdo 2">
            <a:extLst>
              <a:ext uri="{FF2B5EF4-FFF2-40B4-BE49-F238E27FC236}">
                <a16:creationId xmlns:a16="http://schemas.microsoft.com/office/drawing/2014/main" id="{E830C386-4172-4C98-AF5D-22A709DC6699}"/>
              </a:ext>
            </a:extLst>
          </p:cNvPr>
          <p:cNvSpPr txBox="1">
            <a:spLocks/>
          </p:cNvSpPr>
          <p:nvPr/>
        </p:nvSpPr>
        <p:spPr>
          <a:xfrm>
            <a:off x="453663" y="1578383"/>
            <a:ext cx="10510428" cy="4805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2600" dirty="0"/>
              <a:t>C) </a:t>
            </a:r>
            <a:r>
              <a:rPr lang="pt-BR" sz="2600" dirty="0" err="1"/>
              <a:t>Cefalópodos</a:t>
            </a:r>
            <a:endParaRPr lang="pt-BR" sz="26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 err="1"/>
              <a:t>Ex</a:t>
            </a:r>
            <a:r>
              <a:rPr lang="pt-BR" dirty="0"/>
              <a:t>: Lula e polvo, </a:t>
            </a:r>
            <a:r>
              <a:rPr lang="pt-BR" dirty="0" err="1"/>
              <a:t>nautilus</a:t>
            </a:r>
            <a:endParaRPr lang="pt-BR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Marinhos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Braços com Ventosas e/ou tentáculos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Camuflagem e mimetismo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Bolsa com tinta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Visão bem desenvolvida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Circulação fechada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Concha: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pt-BR" sz="2200" dirty="0"/>
              <a:t>Externa: Nautilus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pt-BR" sz="2200" dirty="0"/>
              <a:t>Interna (chamada de pena): Lula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pt-BR" sz="2200" dirty="0"/>
              <a:t>Ausente: Polvo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pt-BR" sz="2200" dirty="0"/>
          </a:p>
          <a:p>
            <a:pPr marL="0" indent="0">
              <a:buNone/>
            </a:pPr>
            <a:endParaRPr lang="pt-BR" sz="2600" dirty="0"/>
          </a:p>
          <a:p>
            <a:pPr>
              <a:buFont typeface="Wingdings" panose="05000000000000000000" pitchFamily="2" charset="2"/>
              <a:buChar char="Ø"/>
            </a:pPr>
            <a:endParaRPr lang="pt-BR" sz="2600" dirty="0"/>
          </a:p>
        </p:txBody>
      </p:sp>
      <p:pic>
        <p:nvPicPr>
          <p:cNvPr id="10" name="Picture 4" descr="http://rockntech.com.br/wp-content/uploads/2013/08/criaturas-mais-horripilantes_8.jpg">
            <a:extLst>
              <a:ext uri="{FF2B5EF4-FFF2-40B4-BE49-F238E27FC236}">
                <a16:creationId xmlns:a16="http://schemas.microsoft.com/office/drawing/2014/main" id="{A04D0245-1BE6-4281-BAB7-A4E3BD3648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3636" y="1504998"/>
            <a:ext cx="3627438" cy="2855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6" descr="http://palaeo.gly.bris.ac.uk/palaeofiles/fossilgroups/cephalopoda/sub-Nautilus.jpg">
            <a:extLst>
              <a:ext uri="{FF2B5EF4-FFF2-40B4-BE49-F238E27FC236}">
                <a16:creationId xmlns:a16="http://schemas.microsoft.com/office/drawing/2014/main" id="{22B8FAE1-3995-478E-A78E-AB63CA7449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3636" y="4434295"/>
            <a:ext cx="3652837" cy="222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763863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398" y="20570"/>
            <a:ext cx="11284676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Filo dos Moluscos - Classes</a:t>
            </a:r>
          </a:p>
        </p:txBody>
      </p:sp>
      <p:sp>
        <p:nvSpPr>
          <p:cNvPr id="13" name="Espaço Reservado para Conteúdo 2">
            <a:extLst>
              <a:ext uri="{FF2B5EF4-FFF2-40B4-BE49-F238E27FC236}">
                <a16:creationId xmlns:a16="http://schemas.microsoft.com/office/drawing/2014/main" id="{E830C386-4172-4C98-AF5D-22A709DC6699}"/>
              </a:ext>
            </a:extLst>
          </p:cNvPr>
          <p:cNvSpPr txBox="1">
            <a:spLocks/>
          </p:cNvSpPr>
          <p:nvPr/>
        </p:nvSpPr>
        <p:spPr>
          <a:xfrm>
            <a:off x="453663" y="1578383"/>
            <a:ext cx="10510428" cy="4805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2600" dirty="0"/>
              <a:t>C) </a:t>
            </a:r>
            <a:r>
              <a:rPr lang="pt-BR" sz="2600" dirty="0" err="1"/>
              <a:t>Cefalópodos</a:t>
            </a:r>
            <a:endParaRPr lang="pt-BR" sz="26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200" dirty="0"/>
              <a:t>Células cromatóforos --&gt; camuflagem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pt-BR" sz="2200" dirty="0"/>
          </a:p>
          <a:p>
            <a:pPr marL="0" indent="0">
              <a:buNone/>
            </a:pPr>
            <a:endParaRPr lang="pt-BR" sz="2600" dirty="0"/>
          </a:p>
          <a:p>
            <a:pPr>
              <a:buFont typeface="Wingdings" panose="05000000000000000000" pitchFamily="2" charset="2"/>
              <a:buChar char="Ø"/>
            </a:pPr>
            <a:endParaRPr lang="pt-BR" sz="2600" dirty="0"/>
          </a:p>
        </p:txBody>
      </p:sp>
      <p:pic>
        <p:nvPicPr>
          <p:cNvPr id="7" name="Picture 3">
            <a:extLst>
              <a:ext uri="{FF2B5EF4-FFF2-40B4-BE49-F238E27FC236}">
                <a16:creationId xmlns:a16="http://schemas.microsoft.com/office/drawing/2014/main" id="{103B1FF8-04AC-4F25-B2BB-6430B95EC2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2553" y="2759574"/>
            <a:ext cx="5905500" cy="3217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422776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398" y="20570"/>
            <a:ext cx="11284676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Filo dos Anelídeos</a:t>
            </a:r>
          </a:p>
        </p:txBody>
      </p:sp>
      <p:sp>
        <p:nvSpPr>
          <p:cNvPr id="13" name="Espaço Reservado para Conteúdo 2">
            <a:extLst>
              <a:ext uri="{FF2B5EF4-FFF2-40B4-BE49-F238E27FC236}">
                <a16:creationId xmlns:a16="http://schemas.microsoft.com/office/drawing/2014/main" id="{E830C386-4172-4C98-AF5D-22A709DC6699}"/>
              </a:ext>
            </a:extLst>
          </p:cNvPr>
          <p:cNvSpPr txBox="1">
            <a:spLocks/>
          </p:cNvSpPr>
          <p:nvPr/>
        </p:nvSpPr>
        <p:spPr>
          <a:xfrm>
            <a:off x="453663" y="1578383"/>
            <a:ext cx="5354954" cy="4805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Minhoca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Sanguessugas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Verme de fogo</a:t>
            </a:r>
          </a:p>
        </p:txBody>
      </p:sp>
      <p:pic>
        <p:nvPicPr>
          <p:cNvPr id="5" name="Picture 2" descr="http://ciclovivo.com.br/public/img/noticias/minhoca.bmp">
            <a:extLst>
              <a:ext uri="{FF2B5EF4-FFF2-40B4-BE49-F238E27FC236}">
                <a16:creationId xmlns:a16="http://schemas.microsoft.com/office/drawing/2014/main" id="{B43F1BB7-DC4F-481A-A7B9-499D8E81A9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478811" y="1702163"/>
            <a:ext cx="3421062" cy="2393950"/>
          </a:xfrm>
          <a:prstGeom prst="rect">
            <a:avLst/>
          </a:prstGeom>
        </p:spPr>
      </p:pic>
      <p:pic>
        <p:nvPicPr>
          <p:cNvPr id="7" name="Picture 4" descr="http://obomsamaritano.com.br/wp-content/uploads/2011/10/sanguessuga.jpg">
            <a:extLst>
              <a:ext uri="{FF2B5EF4-FFF2-40B4-BE49-F238E27FC236}">
                <a16:creationId xmlns:a16="http://schemas.microsoft.com/office/drawing/2014/main" id="{BBCDF760-C2F8-407C-A8B1-3AD7CAA6E4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447087" y="1702163"/>
            <a:ext cx="3744913" cy="2336800"/>
          </a:xfrm>
          <a:prstGeom prst="rect">
            <a:avLst/>
          </a:prstGeom>
        </p:spPr>
      </p:pic>
      <p:pic>
        <p:nvPicPr>
          <p:cNvPr id="8" name="Picture 4" descr="http://www.cm-funchal.pt/ciencia/images/stories/especie_do_mes/2012/05/fig1_pedro%20vasconcelos_h.carunculata_madeira.rz.jpg">
            <a:extLst>
              <a:ext uri="{FF2B5EF4-FFF2-40B4-BE49-F238E27FC236}">
                <a16:creationId xmlns:a16="http://schemas.microsoft.com/office/drawing/2014/main" id="{0D7A2FD7-00AA-4138-A92E-2445131A6C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9961" y="4232365"/>
            <a:ext cx="3675184" cy="24449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137211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398" y="20570"/>
            <a:ext cx="11284676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Filo dos Anelídeos</a:t>
            </a:r>
          </a:p>
        </p:txBody>
      </p:sp>
      <p:sp>
        <p:nvSpPr>
          <p:cNvPr id="13" name="Espaço Reservado para Conteúdo 2">
            <a:extLst>
              <a:ext uri="{FF2B5EF4-FFF2-40B4-BE49-F238E27FC236}">
                <a16:creationId xmlns:a16="http://schemas.microsoft.com/office/drawing/2014/main" id="{E830C386-4172-4C98-AF5D-22A709DC6699}"/>
              </a:ext>
            </a:extLst>
          </p:cNvPr>
          <p:cNvSpPr txBox="1">
            <a:spLocks/>
          </p:cNvSpPr>
          <p:nvPr/>
        </p:nvSpPr>
        <p:spPr>
          <a:xfrm>
            <a:off x="453663" y="1578383"/>
            <a:ext cx="10510428" cy="4805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pt-BR" sz="2600" dirty="0" err="1"/>
              <a:t>Metamerização</a:t>
            </a:r>
            <a:r>
              <a:rPr lang="pt-BR" sz="2600" dirty="0"/>
              <a:t> </a:t>
            </a:r>
            <a:r>
              <a:rPr lang="pt-BR" sz="2600" dirty="0" err="1"/>
              <a:t>Homômera</a:t>
            </a:r>
            <a:r>
              <a:rPr lang="pt-BR" sz="2600" dirty="0"/>
              <a:t> = corpo dividido em anéis iguais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Terrestres e aquáticos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Tubo digestivo completo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200" dirty="0"/>
              <a:t>Papo - armazenar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200" dirty="0"/>
              <a:t>Moela - triturar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200" dirty="0" err="1"/>
              <a:t>Tiflossole</a:t>
            </a:r>
            <a:r>
              <a:rPr lang="pt-BR" sz="2200" dirty="0"/>
              <a:t> (estrutura do tubo digestório que proporciona maior superfície contato)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Circulação Fechada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200" dirty="0"/>
              <a:t>Corações laterais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200" dirty="0"/>
              <a:t>Hemoglobina (direto no plasma)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Excreção = </a:t>
            </a:r>
            <a:r>
              <a:rPr lang="pt-BR" sz="2600" dirty="0" err="1"/>
              <a:t>nefrídeos</a:t>
            </a:r>
            <a:endParaRPr lang="pt-BR" sz="26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200" dirty="0"/>
              <a:t>Começa em um anel e termina no outro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Sistema nervoso = ganglionar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sz="2600" dirty="0"/>
          </a:p>
          <a:p>
            <a:pPr>
              <a:buFont typeface="Wingdings" panose="05000000000000000000" pitchFamily="2" charset="2"/>
              <a:buChar char="Ø"/>
            </a:pPr>
            <a:endParaRPr lang="pt-BR" sz="2600" dirty="0"/>
          </a:p>
        </p:txBody>
      </p:sp>
    </p:spTree>
    <p:extLst>
      <p:ext uri="{BB962C8B-B14F-4D97-AF65-F5344CB8AC3E}">
        <p14:creationId xmlns:p14="http://schemas.microsoft.com/office/powerpoint/2010/main" val="6473243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398" y="20570"/>
            <a:ext cx="11284676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Filo dos Anelídeos - Classificação</a:t>
            </a:r>
          </a:p>
        </p:txBody>
      </p:sp>
      <p:sp>
        <p:nvSpPr>
          <p:cNvPr id="13" name="Espaço Reservado para Conteúdo 2">
            <a:extLst>
              <a:ext uri="{FF2B5EF4-FFF2-40B4-BE49-F238E27FC236}">
                <a16:creationId xmlns:a16="http://schemas.microsoft.com/office/drawing/2014/main" id="{E830C386-4172-4C98-AF5D-22A709DC6699}"/>
              </a:ext>
            </a:extLst>
          </p:cNvPr>
          <p:cNvSpPr txBox="1">
            <a:spLocks/>
          </p:cNvSpPr>
          <p:nvPr/>
        </p:nvSpPr>
        <p:spPr>
          <a:xfrm>
            <a:off x="453663" y="1578383"/>
            <a:ext cx="10510428" cy="4805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2600" dirty="0"/>
              <a:t>A) Oligoquetos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600" dirty="0" err="1"/>
              <a:t>Ex</a:t>
            </a:r>
            <a:r>
              <a:rPr lang="pt-BR" sz="2600" dirty="0"/>
              <a:t>: minhoca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Poucas cerdas de quitina (locomoção)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Hermafroditas </a:t>
            </a:r>
            <a:r>
              <a:rPr lang="pt-BR" sz="2600" dirty="0">
                <a:sym typeface="Wingdings" panose="05000000000000000000" pitchFamily="2" charset="2"/>
              </a:rPr>
              <a:t></a:t>
            </a:r>
            <a:r>
              <a:rPr lang="pt-BR" sz="2600" dirty="0"/>
              <a:t> fecundação cruzada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200" dirty="0"/>
              <a:t>Clitelo – anel maior utilizado para reprodução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Muco – evitar perda d’água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Aerização do solo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Reciclagem de matéria orgânica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Fezes compõem o húmus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sz="2600" dirty="0"/>
          </a:p>
          <a:p>
            <a:pPr>
              <a:buFont typeface="Wingdings" panose="05000000000000000000" pitchFamily="2" charset="2"/>
              <a:buChar char="Ø"/>
            </a:pPr>
            <a:endParaRPr lang="pt-BR" sz="2600" dirty="0"/>
          </a:p>
        </p:txBody>
      </p:sp>
      <p:pic>
        <p:nvPicPr>
          <p:cNvPr id="5" name="Picture 2" descr="http://fdr.com.br/formacao/2013/wp-content/uploads/2012/12/corpo_da_minhoca_adulta.png">
            <a:extLst>
              <a:ext uri="{FF2B5EF4-FFF2-40B4-BE49-F238E27FC236}">
                <a16:creationId xmlns:a16="http://schemas.microsoft.com/office/drawing/2014/main" id="{2CDBD41E-A23F-46D9-8677-D702B2CDD2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5455" y="3395666"/>
            <a:ext cx="4235450" cy="201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EF049501-9113-4864-BAEE-C023CB8F891B}"/>
              </a:ext>
            </a:extLst>
          </p:cNvPr>
          <p:cNvPicPr>
            <a:picLocks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478485" y="1366702"/>
            <a:ext cx="4485606" cy="1837852"/>
          </a:xfrm>
        </p:spPr>
      </p:pic>
      <p:pic>
        <p:nvPicPr>
          <p:cNvPr id="8" name="Picture 4">
            <a:extLst>
              <a:ext uri="{FF2B5EF4-FFF2-40B4-BE49-F238E27FC236}">
                <a16:creationId xmlns:a16="http://schemas.microsoft.com/office/drawing/2014/main" id="{8653A9F3-2919-4EBF-AA9B-0966A0EEA8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5772" y="4735659"/>
            <a:ext cx="3027823" cy="201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548263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398" y="20570"/>
            <a:ext cx="11284676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Filo dos Anelídeos - Classificação</a:t>
            </a:r>
          </a:p>
        </p:txBody>
      </p:sp>
      <p:sp>
        <p:nvSpPr>
          <p:cNvPr id="13" name="Espaço Reservado para Conteúdo 2">
            <a:extLst>
              <a:ext uri="{FF2B5EF4-FFF2-40B4-BE49-F238E27FC236}">
                <a16:creationId xmlns:a16="http://schemas.microsoft.com/office/drawing/2014/main" id="{E830C386-4172-4C98-AF5D-22A709DC6699}"/>
              </a:ext>
            </a:extLst>
          </p:cNvPr>
          <p:cNvSpPr txBox="1">
            <a:spLocks/>
          </p:cNvSpPr>
          <p:nvPr/>
        </p:nvSpPr>
        <p:spPr>
          <a:xfrm>
            <a:off x="453663" y="1578383"/>
            <a:ext cx="10510428" cy="4805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2600" dirty="0"/>
              <a:t>B) Hirudíneos/</a:t>
            </a:r>
            <a:r>
              <a:rPr lang="pt-BR" sz="2600" dirty="0" err="1"/>
              <a:t>Aquetos</a:t>
            </a:r>
            <a:endParaRPr lang="pt-BR" sz="2600" dirty="0"/>
          </a:p>
          <a:p>
            <a:pPr>
              <a:buFont typeface="Wingdings" panose="05000000000000000000" pitchFamily="2" charset="2"/>
              <a:buChar char="Ø"/>
            </a:pPr>
            <a:r>
              <a:rPr lang="pt-BR" sz="2600" dirty="0" err="1"/>
              <a:t>Ex</a:t>
            </a:r>
            <a:r>
              <a:rPr lang="pt-BR" sz="2600" dirty="0"/>
              <a:t>: Sanguessuga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600" dirty="0" err="1"/>
              <a:t>Hematóforo</a:t>
            </a:r>
            <a:endParaRPr lang="pt-BR" sz="2600" dirty="0"/>
          </a:p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Ectoparasita </a:t>
            </a:r>
            <a:r>
              <a:rPr lang="pt-BR" sz="2600" dirty="0">
                <a:sym typeface="Wingdings" panose="05000000000000000000" pitchFamily="2" charset="2"/>
              </a:rPr>
              <a:t></a:t>
            </a:r>
            <a:r>
              <a:rPr lang="pt-BR" sz="2600" dirty="0"/>
              <a:t> ventosas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Sem cerdas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Hermafroditas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sz="2600" dirty="0"/>
          </a:p>
        </p:txBody>
      </p:sp>
      <p:pic>
        <p:nvPicPr>
          <p:cNvPr id="10" name="Picture 2" descr="http://1.bp.blogspot.com/-Z_K9qf890Lo/T3HqfB_ZP6I/AAAAAAAAAcI/FyNdXX5sJoI/s1600/_sanguessuga%255B1%255D.jpg">
            <a:extLst>
              <a:ext uri="{FF2B5EF4-FFF2-40B4-BE49-F238E27FC236}">
                <a16:creationId xmlns:a16="http://schemas.microsoft.com/office/drawing/2014/main" id="{697FA588-D758-4B31-BCE9-797399B77A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9226" y="3737519"/>
            <a:ext cx="5267325" cy="2538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086222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398" y="20570"/>
            <a:ext cx="11284676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Filo dos Anelídeos - Classificação</a:t>
            </a:r>
          </a:p>
        </p:txBody>
      </p:sp>
      <p:sp>
        <p:nvSpPr>
          <p:cNvPr id="13" name="Espaço Reservado para Conteúdo 2">
            <a:extLst>
              <a:ext uri="{FF2B5EF4-FFF2-40B4-BE49-F238E27FC236}">
                <a16:creationId xmlns:a16="http://schemas.microsoft.com/office/drawing/2014/main" id="{E830C386-4172-4C98-AF5D-22A709DC6699}"/>
              </a:ext>
            </a:extLst>
          </p:cNvPr>
          <p:cNvSpPr txBox="1">
            <a:spLocks/>
          </p:cNvSpPr>
          <p:nvPr/>
        </p:nvSpPr>
        <p:spPr>
          <a:xfrm>
            <a:off x="453663" y="1578383"/>
            <a:ext cx="10510428" cy="4805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2600" dirty="0"/>
              <a:t>C) </a:t>
            </a:r>
            <a:r>
              <a:rPr lang="pt-BR" sz="2600" dirty="0" err="1"/>
              <a:t>Poliquetos</a:t>
            </a:r>
            <a:endParaRPr lang="pt-BR" sz="26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200" dirty="0" err="1"/>
              <a:t>Ex</a:t>
            </a:r>
            <a:r>
              <a:rPr lang="pt-BR" sz="2200" dirty="0"/>
              <a:t>: Verme de fogo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200" dirty="0"/>
              <a:t>Muitas Cerdas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200" dirty="0"/>
              <a:t>Locomoção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200" dirty="0"/>
              <a:t>Captura de alimento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200" dirty="0"/>
              <a:t>Proteção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200" dirty="0" err="1"/>
              <a:t>Parapódios</a:t>
            </a:r>
            <a:r>
              <a:rPr lang="pt-BR" sz="2200" dirty="0"/>
              <a:t> (Pés laterais)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200" dirty="0" err="1"/>
              <a:t>Dióicos</a:t>
            </a:r>
            <a:endParaRPr lang="pt-BR" sz="22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200" dirty="0"/>
              <a:t>Marinhos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200" dirty="0" err="1"/>
              <a:t>Extrovergem</a:t>
            </a:r>
            <a:r>
              <a:rPr lang="pt-BR" sz="2200" dirty="0"/>
              <a:t> a faringe</a:t>
            </a:r>
          </a:p>
        </p:txBody>
      </p:sp>
      <p:pic>
        <p:nvPicPr>
          <p:cNvPr id="7" name="Picture 2" descr="http://www.cm-funchal.pt/ciencia/images/stories/especie_do_mes/2012/05/fig2_pedro%20vasconcelos_madeira.rz.jpg">
            <a:extLst>
              <a:ext uri="{FF2B5EF4-FFF2-40B4-BE49-F238E27FC236}">
                <a16:creationId xmlns:a16="http://schemas.microsoft.com/office/drawing/2014/main" id="{D7C54F1D-4519-479F-A4A9-641ECBE338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6994" y="1995080"/>
            <a:ext cx="4070350" cy="272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6452928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439</TotalTime>
  <Words>645</Words>
  <Application>Microsoft Office PowerPoint</Application>
  <PresentationFormat>Widescreen</PresentationFormat>
  <Paragraphs>144</Paragraphs>
  <Slides>18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Wingdings</vt:lpstr>
      <vt:lpstr>Tema do Office</vt:lpstr>
      <vt:lpstr>Reino Animal</vt:lpstr>
      <vt:lpstr>Filo dos Nematelmintos (Asquelmintos)</vt:lpstr>
      <vt:lpstr>Ascaridíase</vt:lpstr>
      <vt:lpstr>Amarelão</vt:lpstr>
      <vt:lpstr>Filariose</vt:lpstr>
      <vt:lpstr>Bicho Geográfico</vt:lpstr>
      <vt:lpstr>Oxiurose</vt:lpstr>
      <vt:lpstr>Filo dos Moluscos</vt:lpstr>
      <vt:lpstr>Filo dos Moluscos</vt:lpstr>
      <vt:lpstr>Filo dos Moluscos</vt:lpstr>
      <vt:lpstr>Filo dos Moluscos - Classes</vt:lpstr>
      <vt:lpstr>Filo dos Moluscos - Classes</vt:lpstr>
      <vt:lpstr>Filo dos Moluscos - Classes</vt:lpstr>
      <vt:lpstr>Filo dos Anelídeos</vt:lpstr>
      <vt:lpstr>Filo dos Anelídeos</vt:lpstr>
      <vt:lpstr>Filo dos Anelídeos - Classificação</vt:lpstr>
      <vt:lpstr>Filo dos Anelídeos - Classificação</vt:lpstr>
      <vt:lpstr>Filo dos Anelídeos - Classificação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Bruno Barbosa</dc:creator>
  <cp:lastModifiedBy>Bruno Barbosa</cp:lastModifiedBy>
  <cp:revision>29</cp:revision>
  <dcterms:created xsi:type="dcterms:W3CDTF">2020-06-05T12:13:59Z</dcterms:created>
  <dcterms:modified xsi:type="dcterms:W3CDTF">2021-05-11T16:09:53Z</dcterms:modified>
</cp:coreProperties>
</file>