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6" r:id="rId2"/>
    <p:sldId id="257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7" r:id="rId12"/>
    <p:sldId id="328" r:id="rId13"/>
    <p:sldId id="329" r:id="rId14"/>
    <p:sldId id="326" r:id="rId15"/>
    <p:sldId id="325" r:id="rId16"/>
    <p:sldId id="330" r:id="rId17"/>
    <p:sldId id="331" r:id="rId18"/>
    <p:sldId id="33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16/05/2021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16/05/2021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16/05/2021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16/05/2021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16/05/2021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16/05/2021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16/05/2021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16/05/2021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16/05/2021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16/05/2021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16/05/2021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16/05/2021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or que a imagem mais famosa da evolução humana está errada - Revista  Galileu | Ciência">
            <a:extLst>
              <a:ext uri="{FF2B5EF4-FFF2-40B4-BE49-F238E27FC236}">
                <a16:creationId xmlns:a16="http://schemas.microsoft.com/office/drawing/2014/main" id="{028D3F20-CEE5-4787-BEA6-7CBD739DC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871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r que a imagem mais famosa da evolução humana está errada - Revista  Galileu | Ciência">
            <a:extLst>
              <a:ext uri="{FF2B5EF4-FFF2-40B4-BE49-F238E27FC236}">
                <a16:creationId xmlns:a16="http://schemas.microsoft.com/office/drawing/2014/main" id="{8E824829-8A90-446F-9D56-DF7CF5E4D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6024"/>
            <a:ext cx="12192000" cy="4871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Evolução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pPr>
              <a:lnSpc>
                <a:spcPct val="120000"/>
              </a:lnSpc>
            </a:pPr>
            <a:r>
              <a:rPr lang="pt-BR" sz="3100" b="1" dirty="0"/>
              <a:t>Teoria Sintética da Evolução</a:t>
            </a:r>
          </a:p>
          <a:p>
            <a:pPr>
              <a:lnSpc>
                <a:spcPct val="120000"/>
              </a:lnSpc>
            </a:pPr>
            <a:r>
              <a:rPr lang="pt-BR" sz="3100" b="1" dirty="0"/>
              <a:t>Especiação</a:t>
            </a:r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Teoria Sintética da Evolução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Neodarwinismo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Combina as ideias de seleção natural de Darwin com as da genética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Explica o surgimento das novas características por meio de fatores que geram variabilidade genética nas populações: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Mutação ao acaso!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Crossing Over/Permutação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Reprodução Sexuada = união aleatória de gametas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Migração (Fluxo Gênico)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Deriva Genética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465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903" y="20570"/>
            <a:ext cx="10406743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O que é Deriva Genética?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Processos aleatórios que reduzem a variabilidade genética de uma população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Não há relação com maior ou menor adaptabilidade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Exemplo: Queimada elimina indivíduos aleatórios da população. Os que sobrevivem não são necessariamente os mais adaptados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Populações pequenas = maior efeito da deriva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Algumas características podem desaparecer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Ocorre totalmente ao acaso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Pode causar diminuição da variabilidade genética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Podem ser: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Efeito gargalo de garrafa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Efeito fundador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696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199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Deriva Genética – Efeito Gargalo de Garrafa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Redução drástica de uma população por algum evento ambiental ou de causas humanas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Pode causar desaparecimento de certas características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Redução da variabilidade genética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Pois, por acaso, ao sobreviverem poucos indivíduos pode ser que apenas os que tenham uma certa característica tenham sobrevivido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2" descr="separado">
            <a:extLst>
              <a:ext uri="{FF2B5EF4-FFF2-40B4-BE49-F238E27FC236}">
                <a16:creationId xmlns:a16="http://schemas.microsoft.com/office/drawing/2014/main" id="{FB33A302-AAD0-4289-92E5-CD5BBECDD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1395" y="3868316"/>
            <a:ext cx="4833256" cy="279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186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Efeito Gargalo de Garrafa - 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Elefantes marinhos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Baixa variabilidade genética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Gargalo causado por seres humanos (caça)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Final do século 19 = aprox. 20 indivíduos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Atualmente mais de 30mil porém com variabilidade genética</a:t>
            </a:r>
          </a:p>
          <a:p>
            <a:pPr marL="0" indent="0">
              <a:buNone/>
            </a:pPr>
            <a:r>
              <a:rPr lang="pt-BR" sz="2200" dirty="0"/>
              <a:t>dos 20 que haviam sobrado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2" descr="elefante-marinho">
            <a:extLst>
              <a:ext uri="{FF2B5EF4-FFF2-40B4-BE49-F238E27FC236}">
                <a16:creationId xmlns:a16="http://schemas.microsoft.com/office/drawing/2014/main" id="{7967F924-88A3-49A4-9386-B76B0A12C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033" y="2201046"/>
            <a:ext cx="3313112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7780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Deriva Genética – Efeito do Fundador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112846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Formação de uma nova população por emigração de indivíduos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Indivíduos que migraram possuem pequena porção dos genes da população original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Um dos métodos mais comuns de dispersão e de origem de novas espécies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2" descr="Efeito fundador">
            <a:extLst>
              <a:ext uri="{FF2B5EF4-FFF2-40B4-BE49-F238E27FC236}">
                <a16:creationId xmlns:a16="http://schemas.microsoft.com/office/drawing/2014/main" id="{85F5A76D-95E9-487B-A7FC-2A2170CBB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473" y="3169920"/>
            <a:ext cx="4819054" cy="3109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913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Tipos de Seleção Natural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7017476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Direcional – condições ambientais favorecem um fenótipo extremo diferente da média da população.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 err="1"/>
              <a:t>Ex</a:t>
            </a:r>
            <a:r>
              <a:rPr lang="pt-BR" sz="2000" dirty="0"/>
              <a:t>: árvore escura seleciona positivamente mariposas brancas e negativamente as pretas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Estabilizadora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Populações em ambientes estáveis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Média dos indivíduos bem adaptadas – reforço da seleção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Favorecimento dos indivíduos médios (fenótipo intermediário)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Seleção negativa dos extremos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 err="1"/>
              <a:t>Ex</a:t>
            </a:r>
            <a:r>
              <a:rPr lang="pt-BR" sz="2000" dirty="0"/>
              <a:t>: tamanho do bebê em humanos (nascimento)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dirty="0"/>
              <a:t>Variação de 1 – 5.5kg – alta mortalidade nos extremos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8" name="Picture 4" descr="http://4.bp.blogspot.com/_T_SyRpeyNIM/TPcUZi94jfI/AAAAAAAAADI/WRJOPZqQ8Dk/s400/HD-PROVAS-MARIPOSAS.jpg">
            <a:extLst>
              <a:ext uri="{FF2B5EF4-FFF2-40B4-BE49-F238E27FC236}">
                <a16:creationId xmlns:a16="http://schemas.microsoft.com/office/drawing/2014/main" id="{BB9B3CA8-92D6-4ED8-A77E-DA4CBA7C0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496" y="1541416"/>
            <a:ext cx="3869134" cy="300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6944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Tipos de Seleção Natural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5" y="1729831"/>
            <a:ext cx="8315054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Disruptiva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Extremos favorecidos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Intermediários eliminados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 err="1"/>
              <a:t>Ex</a:t>
            </a:r>
            <a:r>
              <a:rPr lang="pt-BR" sz="2200" dirty="0"/>
              <a:t>: pássaro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dirty="0"/>
              <a:t>Alimentação: sementes duras e larvas escondidas na madeira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dirty="0"/>
              <a:t>Favorecimento: bico forte e bico fino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dirty="0"/>
              <a:t>Eliminados: bicos intermediários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2" descr="http://1.bp.blogspot.com/_DtOqvp0u6_g/TJz_m-TrkAI/AAAAAAAAAOY/Ae0vYU8IbgA/s200/fort.jpg">
            <a:extLst>
              <a:ext uri="{FF2B5EF4-FFF2-40B4-BE49-F238E27FC236}">
                <a16:creationId xmlns:a16="http://schemas.microsoft.com/office/drawing/2014/main" id="{6D2AE2E9-33A2-4576-8AA1-79D3C4417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" y="4807268"/>
            <a:ext cx="1905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 descr="http://3.bp.blogspot.com/_DtOqvp0u6_g/TJz_mJXsYII/AAAAAAAAAOU/rxhnWa85-BA/s200/del.jpg">
            <a:extLst>
              <a:ext uri="{FF2B5EF4-FFF2-40B4-BE49-F238E27FC236}">
                <a16:creationId xmlns:a16="http://schemas.microsoft.com/office/drawing/2014/main" id="{4B99DB81-6169-423B-B5C5-6211FF368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4740" y="4807268"/>
            <a:ext cx="1905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 descr="http://1.bp.blogspot.com/_DtOqvp0u6_g/TJz_n2Nr_PI/AAAAAAAAAOc/fBVGAQzQerI/s200/int.jpg">
            <a:extLst>
              <a:ext uri="{FF2B5EF4-FFF2-40B4-BE49-F238E27FC236}">
                <a16:creationId xmlns:a16="http://schemas.microsoft.com/office/drawing/2014/main" id="{0C6D30EA-A243-4E02-877B-32FB85B58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153" y="4813618"/>
            <a:ext cx="2160587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8" descr="http://1.bp.blogspot.com/_DtOqvp0u6_g/TJz_oUF-WZI/AAAAAAAAAOg/BBAnpujJ4rs/s400/sele%C3%A7aodisruptiva.jpg">
            <a:extLst>
              <a:ext uri="{FF2B5EF4-FFF2-40B4-BE49-F238E27FC236}">
                <a16:creationId xmlns:a16="http://schemas.microsoft.com/office/drawing/2014/main" id="{C32F848B-E87F-435A-AD45-EAD2DA55A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3869056"/>
            <a:ext cx="3816350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3375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Tipos de Seleção Natural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2057A5B-2B8F-4BFA-80A9-E3C17AD7F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2" name="Picture 2" descr="http://api.ning.com/files/EQDYRgOLGVXHBatrrdI1rSntGZr4bJ1UTDkLf55N0mdUxrt2me6qV4NMDsvdQhMJjKhqID4fVFlUwBK4M1ZwGnGE3cGuxxGx/tipos_selecao_adaptado_legendado.png">
            <a:extLst>
              <a:ext uri="{FF2B5EF4-FFF2-40B4-BE49-F238E27FC236}">
                <a16:creationId xmlns:a16="http://schemas.microsoft.com/office/drawing/2014/main" id="{85818441-924A-42CE-963C-321F71601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466" y="1825625"/>
            <a:ext cx="4137118" cy="4837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3775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Especiação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35" y="1405530"/>
            <a:ext cx="12117664" cy="51412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b="1" dirty="0"/>
              <a:t>Espécie</a:t>
            </a:r>
            <a:r>
              <a:rPr lang="pt-BR" sz="2400" dirty="0"/>
              <a:t>: grupo de indivíduos capazes de se reproduzir entre si e gerar descendentes férteis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Possuem características morfológicas semelhantes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Possuem mesmo conjunto gênico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Duas populações são de mesma espécie quando há </a:t>
            </a:r>
            <a:r>
              <a:rPr lang="pt-BR" sz="2400" b="1" dirty="0"/>
              <a:t>fluxo gênico </a:t>
            </a:r>
            <a:r>
              <a:rPr lang="pt-BR" sz="2400" dirty="0"/>
              <a:t>entre elas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Fluxo gênico = troca de genes entre suas populações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 err="1"/>
              <a:t>Ex</a:t>
            </a:r>
            <a:r>
              <a:rPr lang="pt-BR" sz="2400" dirty="0"/>
              <a:t>: o Fila e o chihuahua são da mesma espécie! Mesmo sendo de raças distintas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Por mais que eles não consigam cruzar diretamente por serem de tamanhos muito distintos, o Fila e o Chihuahua ainda são da mesma espécie pois há fluxo gênico entre eles. Pois eles podem cruzar com raças intermediárias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sz="2000" dirty="0"/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9" name="Picture 2" descr="Fila Brasileiro - Raças de Cachorros">
            <a:extLst>
              <a:ext uri="{FF2B5EF4-FFF2-40B4-BE49-F238E27FC236}">
                <a16:creationId xmlns:a16="http://schemas.microsoft.com/office/drawing/2014/main" id="{90C1D7AB-3B66-4FA3-883C-BF4F648BF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312" y="4713136"/>
            <a:ext cx="2504953" cy="186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Cachorro Chihuahua: características e fotos">
            <a:extLst>
              <a:ext uri="{FF2B5EF4-FFF2-40B4-BE49-F238E27FC236}">
                <a16:creationId xmlns:a16="http://schemas.microsoft.com/office/drawing/2014/main" id="{070FB2DC-0DD5-432B-9AC4-2E13B35EA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795" y="4612304"/>
            <a:ext cx="1536226" cy="1680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9A8A8C08-ECF9-4296-B162-0C1795D27F9C}"/>
              </a:ext>
            </a:extLst>
          </p:cNvPr>
          <p:cNvSpPr/>
          <p:nvPr/>
        </p:nvSpPr>
        <p:spPr>
          <a:xfrm>
            <a:off x="4468254" y="5102608"/>
            <a:ext cx="450574" cy="2503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BF5F65CB-183D-4EED-AFAB-A18D47B56CDD}"/>
              </a:ext>
            </a:extLst>
          </p:cNvPr>
          <p:cNvSpPr/>
          <p:nvPr/>
        </p:nvSpPr>
        <p:spPr>
          <a:xfrm>
            <a:off x="5052422" y="5102608"/>
            <a:ext cx="450574" cy="2503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F2657278-4DEA-49B3-A94F-E214341A7A56}"/>
              </a:ext>
            </a:extLst>
          </p:cNvPr>
          <p:cNvSpPr/>
          <p:nvPr/>
        </p:nvSpPr>
        <p:spPr>
          <a:xfrm>
            <a:off x="5603462" y="5102608"/>
            <a:ext cx="450574" cy="2503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208EC157-7DCA-4E35-BB6D-FA1E5CC93BF8}"/>
              </a:ext>
            </a:extLst>
          </p:cNvPr>
          <p:cNvSpPr/>
          <p:nvPr/>
        </p:nvSpPr>
        <p:spPr>
          <a:xfrm>
            <a:off x="6145871" y="5102608"/>
            <a:ext cx="450574" cy="2503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5365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Especiação – Isolamento Reprodutivo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36" y="1553576"/>
            <a:ext cx="12117664" cy="51412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Quando acaba o fluxo gênico, as espécies podem entrar em isolamento reprodutivo. Quando isso ocorre elas são chamadas de espécies diferentes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000" dirty="0"/>
          </a:p>
          <a:p>
            <a:pPr lvl="1">
              <a:buFont typeface="Wingdings" panose="05000000000000000000" pitchFamily="2" charset="2"/>
              <a:buChar char="Ø"/>
            </a:pPr>
            <a:endParaRPr lang="pt-BR" sz="2000" dirty="0"/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9908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Isolamento Reprodutivo </a:t>
            </a:r>
            <a:r>
              <a:rPr lang="pt-BR" sz="6000" b="1" dirty="0" err="1">
                <a:solidFill>
                  <a:schemeClr val="bg1"/>
                </a:solidFill>
              </a:rPr>
              <a:t>Pré-zigótico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427" y="1553576"/>
            <a:ext cx="12117664" cy="51412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Ocorre antes da formação do zigoto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Isolamento </a:t>
            </a:r>
            <a:r>
              <a:rPr lang="pt-BR" sz="2400" b="1" dirty="0"/>
              <a:t>mecânico</a:t>
            </a:r>
            <a:r>
              <a:rPr lang="pt-BR" sz="2400" dirty="0"/>
              <a:t> – incompatibilidade do aparelho reprodutor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Isolamento </a:t>
            </a:r>
            <a:r>
              <a:rPr lang="pt-BR" sz="2400" b="1" dirty="0"/>
              <a:t>estacional</a:t>
            </a:r>
            <a:r>
              <a:rPr lang="pt-BR" sz="2400" dirty="0"/>
              <a:t> – diferentes períodos de maturação sexual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Isolamento </a:t>
            </a:r>
            <a:r>
              <a:rPr lang="pt-BR" sz="2400" b="1" dirty="0"/>
              <a:t>gamético</a:t>
            </a:r>
            <a:r>
              <a:rPr lang="pt-BR" sz="2400" dirty="0"/>
              <a:t> – gametas incompatíveis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Isolamento </a:t>
            </a:r>
            <a:r>
              <a:rPr lang="pt-BR" sz="2400" b="1" dirty="0"/>
              <a:t>ecológico</a:t>
            </a:r>
            <a:r>
              <a:rPr lang="pt-BR" sz="2400" dirty="0"/>
              <a:t> – horários diferentes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Isolamento </a:t>
            </a:r>
            <a:r>
              <a:rPr lang="pt-BR" sz="2400" b="1" dirty="0"/>
              <a:t>etológico</a:t>
            </a:r>
            <a:r>
              <a:rPr lang="pt-BR" sz="2400" dirty="0"/>
              <a:t> (comportamental) – padrões de corte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000" dirty="0"/>
          </a:p>
          <a:p>
            <a:pPr lvl="1">
              <a:buFont typeface="Wingdings" panose="05000000000000000000" pitchFamily="2" charset="2"/>
              <a:buChar char="Ø"/>
            </a:pPr>
            <a:endParaRPr lang="pt-BR" sz="2000" dirty="0"/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2723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Isolamento Reprodutivo Pós-</a:t>
            </a:r>
            <a:r>
              <a:rPr lang="pt-BR" sz="6000" b="1" dirty="0" err="1">
                <a:solidFill>
                  <a:schemeClr val="bg1"/>
                </a:solidFill>
              </a:rPr>
              <a:t>zigótico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36" y="1553576"/>
            <a:ext cx="12117664" cy="51412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Ocorre após a fecundação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Mortalidade do Zigoto – após a fecundação, o zigoto morre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Inviabilidade do híbrido – morte do indivíduo antes de alcançar idade reprodutiva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Esterilidade do híbrido – sobrevive, porém estéril (</a:t>
            </a:r>
            <a:r>
              <a:rPr lang="pt-BR" sz="2400" dirty="0" err="1"/>
              <a:t>ex</a:t>
            </a:r>
            <a:r>
              <a:rPr lang="pt-BR" sz="2400" dirty="0"/>
              <a:t>: mula = jumento + égua; e </a:t>
            </a:r>
            <a:r>
              <a:rPr lang="pt-BR" sz="2400" dirty="0" err="1"/>
              <a:t>liger</a:t>
            </a:r>
            <a:r>
              <a:rPr lang="pt-BR" sz="2400" dirty="0"/>
              <a:t> = Leão + Tigre)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000" dirty="0"/>
          </a:p>
          <a:p>
            <a:pPr lvl="1">
              <a:buFont typeface="Wingdings" panose="05000000000000000000" pitchFamily="2" charset="2"/>
              <a:buChar char="Ø"/>
            </a:pPr>
            <a:endParaRPr lang="pt-BR" sz="2000" dirty="0"/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6" descr="Origem da mula, conheça a história desse peculiar animal">
            <a:extLst>
              <a:ext uri="{FF2B5EF4-FFF2-40B4-BE49-F238E27FC236}">
                <a16:creationId xmlns:a16="http://schemas.microsoft.com/office/drawing/2014/main" id="{1B2564E6-D29C-4EB3-9FE6-2E3AA2E45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681" y="3640183"/>
            <a:ext cx="3950737" cy="2765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op 10 Hybrid Animals (com imagens) | Animais loucos, Animais ...">
            <a:extLst>
              <a:ext uri="{FF2B5EF4-FFF2-40B4-BE49-F238E27FC236}">
                <a16:creationId xmlns:a16="http://schemas.microsoft.com/office/drawing/2014/main" id="{8DAE886D-C8E2-46DB-91DB-8EEA11980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584" y="3640183"/>
            <a:ext cx="3732498" cy="290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571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Especiação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055" y="1477282"/>
            <a:ext cx="7182939" cy="5141231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Processo de surgimento de novas espécies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Ela pode ser: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b="1" dirty="0" err="1"/>
              <a:t>Anagênese</a:t>
            </a:r>
            <a:r>
              <a:rPr lang="pt-BR" sz="2200" dirty="0"/>
              <a:t> –Linear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b="1" dirty="0" err="1"/>
              <a:t>Cladogênese</a:t>
            </a:r>
            <a:r>
              <a:rPr lang="pt-BR" sz="2200" dirty="0"/>
              <a:t> – Ancestral comum -&gt; 2+ espécies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Na </a:t>
            </a:r>
            <a:r>
              <a:rPr lang="pt-BR" sz="2400" dirty="0" err="1"/>
              <a:t>anagênese</a:t>
            </a:r>
            <a:r>
              <a:rPr lang="pt-BR" sz="2400" dirty="0"/>
              <a:t> a espécie anterior é substituída pela nova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Na </a:t>
            </a:r>
            <a:r>
              <a:rPr lang="pt-BR" sz="2400" dirty="0" err="1"/>
              <a:t>cladogênese</a:t>
            </a:r>
            <a:r>
              <a:rPr lang="pt-BR" sz="2400" dirty="0"/>
              <a:t> há uma bifurcação (surgimento de nó) onde a espécie antiga segue existindo e uma nova surge a partir dela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Podemos classificar a especiação em:</a:t>
            </a:r>
          </a:p>
          <a:p>
            <a:pPr lvl="1"/>
            <a:r>
              <a:rPr lang="pt-BR" altLang="pt-BR" sz="2000" dirty="0" err="1"/>
              <a:t>Alopátrica</a:t>
            </a:r>
            <a:endParaRPr lang="pt-BR" altLang="pt-BR" sz="2000" dirty="0"/>
          </a:p>
          <a:p>
            <a:pPr lvl="1"/>
            <a:r>
              <a:rPr lang="pt-BR" altLang="pt-BR" sz="2000" dirty="0" err="1"/>
              <a:t>Simpátrica</a:t>
            </a:r>
            <a:endParaRPr lang="pt-BR" altLang="pt-BR" sz="2000" dirty="0"/>
          </a:p>
          <a:p>
            <a:pPr lvl="1"/>
            <a:r>
              <a:rPr lang="pt-BR" altLang="pt-BR" sz="2000" dirty="0" err="1"/>
              <a:t>Peripátrica</a:t>
            </a:r>
            <a:endParaRPr lang="pt-BR" altLang="pt-BR" sz="2000" dirty="0"/>
          </a:p>
          <a:p>
            <a:pPr lvl="1"/>
            <a:r>
              <a:rPr lang="pt-BR" altLang="pt-BR" sz="2000" dirty="0" err="1"/>
              <a:t>Parapátrica</a:t>
            </a:r>
            <a:endParaRPr lang="pt-BR" altLang="pt-BR" sz="2000" dirty="0"/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2" descr="http://djalmasantos.files.wordpress.com/2012/11/ana-cla.jpg">
            <a:extLst>
              <a:ext uri="{FF2B5EF4-FFF2-40B4-BE49-F238E27FC236}">
                <a16:creationId xmlns:a16="http://schemas.microsoft.com/office/drawing/2014/main" id="{4323C7D7-7CD1-4F9E-B8E1-DD079B2F8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412" y="1637212"/>
            <a:ext cx="3743325" cy="410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227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Especiação </a:t>
            </a:r>
            <a:r>
              <a:rPr lang="pt-BR" sz="6000" b="1" dirty="0" err="1">
                <a:solidFill>
                  <a:schemeClr val="bg1"/>
                </a:solidFill>
              </a:rPr>
              <a:t>Alopátrica</a:t>
            </a:r>
            <a:r>
              <a:rPr lang="pt-BR" sz="6000" b="1" dirty="0">
                <a:solidFill>
                  <a:schemeClr val="bg1"/>
                </a:solidFill>
              </a:rPr>
              <a:t> - </a:t>
            </a:r>
            <a:r>
              <a:rPr lang="pt-BR" sz="6000" b="1" dirty="0" err="1">
                <a:solidFill>
                  <a:schemeClr val="bg1"/>
                </a:solidFill>
              </a:rPr>
              <a:t>Cladogênese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055" y="1477282"/>
            <a:ext cx="11441431" cy="51412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Isolamento geográfico entre espécies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Ocorre quando há uma barreira geográfica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Populações evoluem independente uma da outra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Redução do fluxo gênico (troca de genes entre as populações)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Podem gerar 2 espécies novas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400" dirty="0"/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8" name="Picture 2" descr="http://www.ib.usp.br/evosite/evo101/images/beetlespeciation.gif">
            <a:extLst>
              <a:ext uri="{FF2B5EF4-FFF2-40B4-BE49-F238E27FC236}">
                <a16:creationId xmlns:a16="http://schemas.microsoft.com/office/drawing/2014/main" id="{B218E57A-1A37-4174-A5F4-EDF03774B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268" y="3864112"/>
            <a:ext cx="7129462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9197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Especiação </a:t>
            </a:r>
            <a:r>
              <a:rPr lang="pt-BR" sz="6000" b="1" dirty="0" err="1">
                <a:solidFill>
                  <a:schemeClr val="bg1"/>
                </a:solidFill>
              </a:rPr>
              <a:t>Simpátrica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055" y="1477282"/>
            <a:ext cx="11441431" cy="51412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Espécies ocupam mesmo ambiente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Mudança genética dentro da população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Não há cruzamento entre as populações devido a alguma modificação genética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 err="1"/>
              <a:t>Ex</a:t>
            </a:r>
            <a:r>
              <a:rPr lang="pt-BR" sz="2400" dirty="0"/>
              <a:t>: poliploidia em plantas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4098" name="Picture 2" descr="ESPECIAÇÃO - ProEnem">
            <a:extLst>
              <a:ext uri="{FF2B5EF4-FFF2-40B4-BE49-F238E27FC236}">
                <a16:creationId xmlns:a16="http://schemas.microsoft.com/office/drawing/2014/main" id="{36C1F82A-EDD7-40B4-98E5-3DFF40892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565" y="3814219"/>
            <a:ext cx="7128368" cy="1994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8045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Especiação </a:t>
            </a:r>
            <a:r>
              <a:rPr lang="pt-BR" sz="6000" b="1" dirty="0" err="1">
                <a:solidFill>
                  <a:schemeClr val="bg1"/>
                </a:solidFill>
              </a:rPr>
              <a:t>Peripátrica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055" y="1477282"/>
            <a:ext cx="11441431" cy="51412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É como se fosse uma especiação </a:t>
            </a:r>
            <a:r>
              <a:rPr lang="pt-BR" sz="2200" dirty="0" err="1"/>
              <a:t>alopátrica</a:t>
            </a:r>
            <a:r>
              <a:rPr lang="pt-BR" sz="2200" dirty="0"/>
              <a:t> mas envolve a conquista de um novo ambiente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 err="1"/>
              <a:t>Ex</a:t>
            </a:r>
            <a:r>
              <a:rPr lang="pt-BR" sz="2200" dirty="0"/>
              <a:t>: Isolamento após migrar para uma ilha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 err="1"/>
              <a:t>Ex</a:t>
            </a:r>
            <a:r>
              <a:rPr lang="pt-BR" sz="2200" dirty="0"/>
              <a:t>: tentilhões de Darwin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3" descr="especiação peripátrica">
            <a:extLst>
              <a:ext uri="{FF2B5EF4-FFF2-40B4-BE49-F238E27FC236}">
                <a16:creationId xmlns:a16="http://schemas.microsoft.com/office/drawing/2014/main" id="{696F7349-E338-42B3-AF9E-30438B35E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652" y="2965677"/>
            <a:ext cx="4319588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6603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0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Especiação </a:t>
            </a:r>
            <a:r>
              <a:rPr lang="pt-BR" sz="6000" b="1" dirty="0" err="1">
                <a:solidFill>
                  <a:schemeClr val="bg1"/>
                </a:solidFill>
              </a:rPr>
              <a:t>Parapátrica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055" y="1477282"/>
            <a:ext cx="11441431" cy="514123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Sem barreira geográfica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População grande e contínua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Reprodução proximal = a reprodução ocorre entre organismos próximos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Baixo fluxo gênico entre as pontas pois estes não se encontram para cruzar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Gradiente Genético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3" descr="http://2.bp.blogspot.com/-DdDFWyZAuzU/U-tlULvD7PI/AAAAAAAAM8A/DJqt7Wl8SkE/s1600/FIG_013.PNG">
            <a:extLst>
              <a:ext uri="{FF2B5EF4-FFF2-40B4-BE49-F238E27FC236}">
                <a16:creationId xmlns:a16="http://schemas.microsoft.com/office/drawing/2014/main" id="{908429F5-81D2-43D4-AAB8-ED694A0A6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378" y="3643085"/>
            <a:ext cx="4895850" cy="261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88595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</TotalTime>
  <Words>793</Words>
  <Application>Microsoft Office PowerPoint</Application>
  <PresentationFormat>Widescreen</PresentationFormat>
  <Paragraphs>135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Tema do Office</vt:lpstr>
      <vt:lpstr>Evolução</vt:lpstr>
      <vt:lpstr>Teoria Sintética da Evolução</vt:lpstr>
      <vt:lpstr>O que é Deriva Genética?</vt:lpstr>
      <vt:lpstr>Deriva Genética – Efeito Gargalo de Garrafa</vt:lpstr>
      <vt:lpstr>Efeito Gargalo de Garrafa - Exemplo</vt:lpstr>
      <vt:lpstr>Deriva Genética – Efeito do Fundador</vt:lpstr>
      <vt:lpstr>Tipos de Seleção Natural</vt:lpstr>
      <vt:lpstr>Tipos de Seleção Natural</vt:lpstr>
      <vt:lpstr>Tipos de Seleção Natural</vt:lpstr>
      <vt:lpstr>Especiação</vt:lpstr>
      <vt:lpstr>Especiação – Isolamento Reprodutivo</vt:lpstr>
      <vt:lpstr>Isolamento Reprodutivo Pré-zigótico</vt:lpstr>
      <vt:lpstr>Isolamento Reprodutivo Pós-zigótico</vt:lpstr>
      <vt:lpstr>Especiação</vt:lpstr>
      <vt:lpstr>Especiação Alopátrica - Cladogênese</vt:lpstr>
      <vt:lpstr>Especiação Simpátrica</vt:lpstr>
      <vt:lpstr>Especiação Peripátrica</vt:lpstr>
      <vt:lpstr>Especiação Parapátrica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28</cp:revision>
  <dcterms:created xsi:type="dcterms:W3CDTF">2020-06-05T12:13:59Z</dcterms:created>
  <dcterms:modified xsi:type="dcterms:W3CDTF">2021-05-16T13:35:28Z</dcterms:modified>
</cp:coreProperties>
</file>