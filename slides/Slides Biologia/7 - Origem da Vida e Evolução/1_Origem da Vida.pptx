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rigem da vida e os desentendimentos entre Ciência e Religião |  cientistasfeministas">
            <a:extLst>
              <a:ext uri="{FF2B5EF4-FFF2-40B4-BE49-F238E27FC236}">
                <a16:creationId xmlns:a16="http://schemas.microsoft.com/office/drawing/2014/main" id="{1F76370C-1278-446F-82FD-C2A5E5FDE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17230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Origem da Vida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8000" b="1" dirty="0"/>
              <a:t>Biogênese x Abiogênese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Hipóteses sobre surgimento da vida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Evolução do Metabolismo Energético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Hipóteses sobre o surgimento de uma nova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Abiogênese</a:t>
            </a:r>
            <a:r>
              <a:rPr lang="pt-BR" dirty="0"/>
              <a:t>: vida tem origem não biológica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Matéria Bruta + Energia Vital (Princípio Ativo) = Vida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Geração Espontânea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Sapos surgiam do lago, larvas da carne em putrefação, etc.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Biogênese</a:t>
            </a:r>
            <a:r>
              <a:rPr lang="pt-BR" dirty="0"/>
              <a:t>: vida tem origem biológica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Um ser vivo só é originado a partir de outro preexistente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Reprodução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Receita para fabricar ratos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Van </a:t>
            </a:r>
            <a:r>
              <a:rPr lang="pt-BR" b="1" dirty="0" err="1"/>
              <a:t>Helmont</a:t>
            </a:r>
            <a:r>
              <a:rPr lang="pt-BR" b="1" dirty="0"/>
              <a:t>: </a:t>
            </a:r>
            <a:r>
              <a:rPr lang="pt-BR" dirty="0"/>
              <a:t>deixando roupa suja e trigo em um ambiente escuro e fechado por 21 dias fazia surgirem ratos por geração espontânea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4" descr="1 FICHA informativa: “Origem da Vida: Abiogénese ou Biogénese?”">
            <a:extLst>
              <a:ext uri="{FF2B5EF4-FFF2-40B4-BE49-F238E27FC236}">
                <a16:creationId xmlns:a16="http://schemas.microsoft.com/office/drawing/2014/main" id="{6701AAC3-F404-4D4C-83AD-4B3D9BCDF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287" y="3218797"/>
            <a:ext cx="7350051" cy="225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07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Experimento de Francesco </a:t>
            </a:r>
            <a:r>
              <a:rPr lang="pt-BR" sz="5000" b="1" dirty="0" err="1">
                <a:solidFill>
                  <a:schemeClr val="bg1"/>
                </a:solidFill>
              </a:rPr>
              <a:t>Redi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6935383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Séc. XVII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Colocou pedaços de carne em potes de vidro. Metade dos potes ficaram abertos e a outra metade cobertos com gaze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Após alguns dias percebeu presença de larvas de moscas na carne e na gaze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Concluiu que as moscas eram capazes de reprodução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Mas ainda haviam dúvidas sobre a origem dos vermes intestinais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Experimento sobre a geração espontânea.">
            <a:extLst>
              <a:ext uri="{FF2B5EF4-FFF2-40B4-BE49-F238E27FC236}">
                <a16:creationId xmlns:a16="http://schemas.microsoft.com/office/drawing/2014/main" id="{81DDBD9B-82B6-4556-885B-8869639FF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358" y="2211975"/>
            <a:ext cx="4556667" cy="302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03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Experimento de John </a:t>
            </a:r>
            <a:r>
              <a:rPr lang="pt-BR" sz="5000" b="1" dirty="0" err="1">
                <a:solidFill>
                  <a:schemeClr val="bg1"/>
                </a:solidFill>
              </a:rPr>
              <a:t>Needham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11206300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Séc. XVII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Aqueceu brevemente frascos com caldo nutritivo (caldo de carne e legumes, nutritivo para microrganismos)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Percebeu que surgiram microrganismos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Concluiu que surgiram por geração espontânea do caldo nutritivo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2" descr="Experimento de geração espontânea.">
            <a:extLst>
              <a:ext uri="{FF2B5EF4-FFF2-40B4-BE49-F238E27FC236}">
                <a16:creationId xmlns:a16="http://schemas.microsoft.com/office/drawing/2014/main" id="{AF804921-979F-4161-A3B2-84659FDE8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806" y="4482867"/>
            <a:ext cx="8460388" cy="1715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25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Experimento de </a:t>
            </a:r>
            <a:r>
              <a:rPr lang="pt-BR" sz="5000" b="1" dirty="0" err="1">
                <a:solidFill>
                  <a:schemeClr val="bg1"/>
                </a:solidFill>
              </a:rPr>
              <a:t>Lazzaro</a:t>
            </a:r>
            <a:r>
              <a:rPr lang="pt-BR" sz="5000" b="1" dirty="0">
                <a:solidFill>
                  <a:schemeClr val="bg1"/>
                </a:solidFill>
              </a:rPr>
              <a:t> </a:t>
            </a:r>
            <a:r>
              <a:rPr lang="pt-BR" sz="5000" b="1" dirty="0" err="1">
                <a:solidFill>
                  <a:schemeClr val="bg1"/>
                </a:solidFill>
              </a:rPr>
              <a:t>Spallanzani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11206300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Séc. XVII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Dizia que o experimento de </a:t>
            </a:r>
            <a:r>
              <a:rPr lang="pt-BR" sz="2400" dirty="0" err="1"/>
              <a:t>Needham</a:t>
            </a:r>
            <a:r>
              <a:rPr lang="pt-BR" sz="2400" dirty="0"/>
              <a:t> tinha erros de protocolo e permitia contaminação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Ferveu o caldo por tempo prolongado e vedou os frascos, impedindo entrada do 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caldo ficou livre de microrganismos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Defensores da geração espontânea diziam que a ausência de oxigênio eliminava o princípio ativo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4" descr="Experimento oposto à geração espontânea.">
            <a:extLst>
              <a:ext uri="{FF2B5EF4-FFF2-40B4-BE49-F238E27FC236}">
                <a16:creationId xmlns:a16="http://schemas.microsoft.com/office/drawing/2014/main" id="{EDE6F324-7501-4B98-8B78-7396BF85B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043" y="4478972"/>
            <a:ext cx="8422586" cy="182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28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Experimento de Louis Pasteur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5519603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Séc. XIX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Experimento do pescoço de cisne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vapor d’água formado pela fervura do caldo nutritivo formava um “filtro” que impedia a entrada de microrganismos, mantendo o caldo esterilizado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Ao quebrar o tubo em formato de S é permitida a entrada dos microrganismos que se reproduzem no caldo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Comprova a Biogênese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Mas se um ser vivo só se origina de outro, de onde veio o primeiro?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4" descr="UEMA 2019: Para que Pasteur derrubasse a teoria da abiogênese, no ...">
            <a:extLst>
              <a:ext uri="{FF2B5EF4-FFF2-40B4-BE49-F238E27FC236}">
                <a16:creationId xmlns:a16="http://schemas.microsoft.com/office/drawing/2014/main" id="{7685D6B0-979F-4C0D-8596-A8C23837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733" y="2078174"/>
            <a:ext cx="5814293" cy="353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49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Hipóteses sobre o surgimento da vida na Terra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11258552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Criacionismo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ser superior criou tudo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Panspermia Cósmica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vida (ou elementos necessários para formar a vida) veio de fora em um meteoro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Evolução dos Compostos Químicos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moléculas químicas adquiriram complexidade até formar o primeiro ser vivo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É a mais aceita atualmente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225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Evolução Química – características da Terra primitiva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11258552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 Terra tem aproximadamente 4,5 bilhões de anos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 primeiro ser vivo teria surgido há 3,5 bilhões de anos.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Como era a Terra Primitiva?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Quente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Erupções Vulcânicas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Sem camada de ozônio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Radiação solar muito forte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Tempestades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Disputa por habitats moldou a atmosfera da Terra primitiva">
            <a:extLst>
              <a:ext uri="{FF2B5EF4-FFF2-40B4-BE49-F238E27FC236}">
                <a16:creationId xmlns:a16="http://schemas.microsoft.com/office/drawing/2014/main" id="{4B9A84E7-7ECF-48BA-988E-0A121C80B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146" y="3456237"/>
            <a:ext cx="6731960" cy="252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938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Gases da Atmosfera primitiva x atual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4" y="1729831"/>
            <a:ext cx="4622620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Atmosfera atual: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78% Nitrogênio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21% Oxigênio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1% Gás Carbônico e outros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256170F-627E-4892-BB5D-3831E55647AF}"/>
              </a:ext>
            </a:extLst>
          </p:cNvPr>
          <p:cNvSpPr txBox="1">
            <a:spLocks/>
          </p:cNvSpPr>
          <p:nvPr/>
        </p:nvSpPr>
        <p:spPr>
          <a:xfrm>
            <a:off x="5300797" y="1722302"/>
            <a:ext cx="4622620" cy="4784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Atmosfera primitiva: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Metano (CH</a:t>
            </a:r>
            <a:r>
              <a:rPr lang="pt-BR" baseline="-25000" dirty="0"/>
              <a:t>4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Hidrogênio (H</a:t>
            </a:r>
            <a:r>
              <a:rPr lang="pt-BR" baseline="-25000" dirty="0"/>
              <a:t>2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Amônia (NH</a:t>
            </a:r>
            <a:r>
              <a:rPr lang="pt-BR" baseline="-25000" dirty="0"/>
              <a:t>3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Vapor d’água (H</a:t>
            </a:r>
            <a:r>
              <a:rPr lang="pt-BR" baseline="-25000" dirty="0"/>
              <a:t>2</a:t>
            </a:r>
            <a:r>
              <a:rPr lang="pt-BR" dirty="0"/>
              <a:t>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Há indícios da presença de CO</a:t>
            </a:r>
            <a:r>
              <a:rPr lang="pt-BR" baseline="-25000" dirty="0"/>
              <a:t>2</a:t>
            </a:r>
            <a:r>
              <a:rPr lang="pt-BR" dirty="0"/>
              <a:t> também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7230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Evolução Química – Oparin e </a:t>
            </a:r>
            <a:r>
              <a:rPr lang="pt-BR" sz="5000" b="1" dirty="0" err="1">
                <a:solidFill>
                  <a:schemeClr val="bg1"/>
                </a:solidFill>
              </a:rPr>
              <a:t>Haldane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3" y="1729831"/>
            <a:ext cx="11336929" cy="4784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Descargas elétricas e a radiação solar teriam modificado as moléculas da atmosfera primitiva, formando as primeiras moléculas orgânicas que passaram a se aglomerar nos oceanos após o resfriamento da Terra.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Nos oceanos teriam surgido os coacervados (agrupamentos proteicos envolvidos por uma capa de água). Eles NÃO são os primeiros seres vivos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Esses aglomerados de moléculas, com o passar do tempo, formaram estruturas de metabolismo simples que absorviam substâncias do meio ambiente, formando as primeiras células (primeiros seres vivos)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Surgiu apenas após a formação da membrana plasmática e do material genético (que teria sido primeiro o RNA e depois do DNA)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5725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Evolução Química – Oparin e </a:t>
            </a:r>
            <a:r>
              <a:rPr lang="pt-BR" sz="5000" b="1" dirty="0" err="1">
                <a:solidFill>
                  <a:schemeClr val="bg1"/>
                </a:solidFill>
              </a:rPr>
              <a:t>Haldane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0457061-157D-4537-B0C0-7140937CD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Picture 2" descr="Seres vivos - constituídos de células - ppt carregar">
            <a:extLst>
              <a:ext uri="{FF2B5EF4-FFF2-40B4-BE49-F238E27FC236}">
                <a16:creationId xmlns:a16="http://schemas.microsoft.com/office/drawing/2014/main" id="{47300A43-B37D-428C-B245-926CF58BA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325" y="1515540"/>
            <a:ext cx="6991350" cy="524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140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Evolução Química – Evidência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3" y="1729830"/>
            <a:ext cx="6181456" cy="51075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Experimento de Miller-</a:t>
            </a:r>
            <a:r>
              <a:rPr lang="pt-BR" sz="2400" dirty="0" err="1"/>
              <a:t>Urey</a:t>
            </a: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Comprova que é possível produzir aminoácidos (molécula complexa) a partir de moléculas simples em condições similares às da Terra primitiva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vapor da água formado na fervura (1) se mistura com os demais gases da atmosfera primitiva, onde sofrem descargas elétricas (3).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que é formado passa por um condensador (4)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resultado é coletado (5). Observando-se aminoácidos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Imagem 4" descr="Uma imagem contendo mapa, texto&#10;&#10;Descrição gerada automaticamente">
            <a:extLst>
              <a:ext uri="{FF2B5EF4-FFF2-40B4-BE49-F238E27FC236}">
                <a16:creationId xmlns:a16="http://schemas.microsoft.com/office/drawing/2014/main" id="{5FFE2771-2A39-4F10-A5A9-6FD9949B3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767" y="1811383"/>
            <a:ext cx="5640643" cy="401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77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Como era o 1º Ser vivo?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2" y="1729830"/>
            <a:ext cx="11511101" cy="51075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1º ser vivo: membrana plasmática + material genético (RNA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DNA)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Procarioto unicelular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Do que se alimentava? Como produzia energia?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Duas hipóteses: a hipótese heterotrófica e a hipótese autotrófica da evolução do metabolismo energético</a:t>
            </a:r>
          </a:p>
        </p:txBody>
      </p:sp>
    </p:spTree>
    <p:extLst>
      <p:ext uri="{BB962C8B-B14F-4D97-AF65-F5344CB8AC3E}">
        <p14:creationId xmlns:p14="http://schemas.microsoft.com/office/powerpoint/2010/main" val="3829936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Evolução da Vida Primitiva – Hipótese Heterotrófica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729831"/>
            <a:ext cx="11782697" cy="49670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 primeiro ser vivo era fermentador, produzindo CO</a:t>
            </a:r>
            <a:r>
              <a:rPr lang="pt-BR" sz="2600" baseline="-25000" dirty="0"/>
              <a:t>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Em seguida teria surgido o processo de fotossíntese, adicionando o O</a:t>
            </a:r>
            <a:r>
              <a:rPr lang="pt-BR" sz="2600" baseline="-25000" dirty="0"/>
              <a:t>2</a:t>
            </a:r>
            <a:r>
              <a:rPr lang="pt-BR" sz="2600" dirty="0"/>
              <a:t> na atmosfera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Só então poderia surgir a Respiração Celular, que consome O2 para produzir glicose (energia)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Após o surgimento da respiração celular é que ocorre o surgimento da célula eucariótica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Quando a concentração de O2 está próxima da atual, há o surgimento da camada de ozônio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Com a camada de ozônio a vida pôde sair da água e conquistar o meio terrestre</a:t>
            </a:r>
          </a:p>
        </p:txBody>
      </p:sp>
    </p:spTree>
    <p:extLst>
      <p:ext uri="{BB962C8B-B14F-4D97-AF65-F5344CB8AC3E}">
        <p14:creationId xmlns:p14="http://schemas.microsoft.com/office/powerpoint/2010/main" val="2989952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Evolução da Vida Primitiva – Hipótese Autotrófica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651" y="1590494"/>
            <a:ext cx="11782697" cy="49670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 primeiro ser vivo era quimiossintetizante e utilizada energia de oxidação da crosta terrestre para produzir sua energia (</a:t>
            </a:r>
            <a:r>
              <a:rPr lang="pt-BR" sz="2600" dirty="0" err="1"/>
              <a:t>quimiolitoautotrófico</a:t>
            </a:r>
            <a:r>
              <a:rPr lang="pt-BR" sz="26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Em seguida teria surgido o primeiro fermentador, produzindo CO</a:t>
            </a:r>
            <a:r>
              <a:rPr lang="pt-BR" sz="2600" baseline="-25000" dirty="0"/>
              <a:t>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Em seguida teria surgido o processo de fotossíntese, adicionando o O</a:t>
            </a:r>
            <a:r>
              <a:rPr lang="pt-BR" sz="2600" baseline="-25000" dirty="0"/>
              <a:t>2</a:t>
            </a:r>
            <a:r>
              <a:rPr lang="pt-BR" sz="2600" dirty="0"/>
              <a:t> na atmosfera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Só então poderia surgir a Respiração Celular, que consome O2 para produzir glicose (energia)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Após o surgimento da respiração celular é que ocorre o surgimento da célula eucariótica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Quando a concentração de O2 está próxima da atual, há o surgimento da camada de ozônio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Com a camada de ozônio a vida pôde sair da água e conquistar o meio terrestre</a:t>
            </a:r>
          </a:p>
        </p:txBody>
      </p:sp>
    </p:spTree>
    <p:extLst>
      <p:ext uri="{BB962C8B-B14F-4D97-AF65-F5344CB8AC3E}">
        <p14:creationId xmlns:p14="http://schemas.microsoft.com/office/powerpoint/2010/main" val="2080033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057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Evolução da Vida Primitiva – Resumo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36EAC7B-1349-4886-A569-118F9FF43E60}"/>
              </a:ext>
            </a:extLst>
          </p:cNvPr>
          <p:cNvSpPr txBox="1"/>
          <p:nvPr/>
        </p:nvSpPr>
        <p:spPr>
          <a:xfrm>
            <a:off x="4841967" y="1366702"/>
            <a:ext cx="3310650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QUIMIOSSÍNTESE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FERMENTAÇÃO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FOTOSSÍNTESE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RESPIRAÇÃO CELULAR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CÉLULA EUCARIÓTICA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CAMADA DE OZÔNIO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CONQUISTA DO MEIO TERRESTRE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DAB305B9-868E-4C94-96A3-921323BDE536}"/>
              </a:ext>
            </a:extLst>
          </p:cNvPr>
          <p:cNvSpPr/>
          <p:nvPr/>
        </p:nvSpPr>
        <p:spPr>
          <a:xfrm>
            <a:off x="6334290" y="1739311"/>
            <a:ext cx="258099" cy="452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06B594AD-A02D-4749-915C-D54875E32A78}"/>
              </a:ext>
            </a:extLst>
          </p:cNvPr>
          <p:cNvSpPr/>
          <p:nvPr/>
        </p:nvSpPr>
        <p:spPr>
          <a:xfrm>
            <a:off x="6334289" y="2564765"/>
            <a:ext cx="258099" cy="452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5D8BEA50-8BE1-493C-863C-6AAB5C3BB2E3}"/>
              </a:ext>
            </a:extLst>
          </p:cNvPr>
          <p:cNvSpPr/>
          <p:nvPr/>
        </p:nvSpPr>
        <p:spPr>
          <a:xfrm>
            <a:off x="6334289" y="3359806"/>
            <a:ext cx="258099" cy="452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F146FDDE-30B6-42D8-913A-3EA3588E9970}"/>
              </a:ext>
            </a:extLst>
          </p:cNvPr>
          <p:cNvSpPr/>
          <p:nvPr/>
        </p:nvSpPr>
        <p:spPr>
          <a:xfrm>
            <a:off x="6334289" y="4223168"/>
            <a:ext cx="258099" cy="452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C5C9F262-4EDB-447A-B363-DB6AD8733862}"/>
              </a:ext>
            </a:extLst>
          </p:cNvPr>
          <p:cNvSpPr/>
          <p:nvPr/>
        </p:nvSpPr>
        <p:spPr>
          <a:xfrm>
            <a:off x="6368242" y="5020687"/>
            <a:ext cx="258099" cy="452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8D92D8E2-5D62-4BEA-B813-D76F0476DFEF}"/>
              </a:ext>
            </a:extLst>
          </p:cNvPr>
          <p:cNvSpPr/>
          <p:nvPr/>
        </p:nvSpPr>
        <p:spPr>
          <a:xfrm>
            <a:off x="6384777" y="5871350"/>
            <a:ext cx="258099" cy="452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have Esquerda 13">
            <a:extLst>
              <a:ext uri="{FF2B5EF4-FFF2-40B4-BE49-F238E27FC236}">
                <a16:creationId xmlns:a16="http://schemas.microsoft.com/office/drawing/2014/main" id="{A5F96338-4DA3-4E73-A93E-F37A64EB3A2B}"/>
              </a:ext>
            </a:extLst>
          </p:cNvPr>
          <p:cNvSpPr/>
          <p:nvPr/>
        </p:nvSpPr>
        <p:spPr>
          <a:xfrm>
            <a:off x="4371703" y="2192156"/>
            <a:ext cx="121920" cy="452985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F87921B-3D38-427E-9529-544792618CB8}"/>
              </a:ext>
            </a:extLst>
          </p:cNvPr>
          <p:cNvSpPr txBox="1"/>
          <p:nvPr/>
        </p:nvSpPr>
        <p:spPr>
          <a:xfrm>
            <a:off x="3300447" y="2384136"/>
            <a:ext cx="513410" cy="4355295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pt-BR" dirty="0"/>
              <a:t>HETEROTRÓFICA</a:t>
            </a:r>
          </a:p>
        </p:txBody>
      </p:sp>
      <p:sp>
        <p:nvSpPr>
          <p:cNvPr id="16" name="Chave Esquerda 15">
            <a:extLst>
              <a:ext uri="{FF2B5EF4-FFF2-40B4-BE49-F238E27FC236}">
                <a16:creationId xmlns:a16="http://schemas.microsoft.com/office/drawing/2014/main" id="{9DCA1533-E1E2-4BAB-9C83-BE637B329B78}"/>
              </a:ext>
            </a:extLst>
          </p:cNvPr>
          <p:cNvSpPr/>
          <p:nvPr/>
        </p:nvSpPr>
        <p:spPr>
          <a:xfrm rot="10800000">
            <a:off x="8180918" y="1403713"/>
            <a:ext cx="178525" cy="528128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2834133-2771-4C2B-8557-B563625A2319}"/>
              </a:ext>
            </a:extLst>
          </p:cNvPr>
          <p:cNvSpPr txBox="1"/>
          <p:nvPr/>
        </p:nvSpPr>
        <p:spPr>
          <a:xfrm>
            <a:off x="8639401" y="2311788"/>
            <a:ext cx="513410" cy="3689921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pt-BR" dirty="0"/>
              <a:t>AUTOTRÓFICA</a:t>
            </a:r>
          </a:p>
        </p:txBody>
      </p:sp>
    </p:spTree>
    <p:extLst>
      <p:ext uri="{BB962C8B-B14F-4D97-AF65-F5344CB8AC3E}">
        <p14:creationId xmlns:p14="http://schemas.microsoft.com/office/powerpoint/2010/main" val="3798661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953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Tema do Office</vt:lpstr>
      <vt:lpstr>Origem da Vida</vt:lpstr>
      <vt:lpstr>Hipóteses sobre o surgimento de uma nova vida</vt:lpstr>
      <vt:lpstr>Receita para fabricar ratos</vt:lpstr>
      <vt:lpstr>Experimento de Francesco Redi</vt:lpstr>
      <vt:lpstr>Experimento de John Needham</vt:lpstr>
      <vt:lpstr>Experimento de Lazzaro Spallanzani</vt:lpstr>
      <vt:lpstr>Experimento de Louis Pasteur</vt:lpstr>
      <vt:lpstr>Hipóteses sobre o surgimento da vida na Terra</vt:lpstr>
      <vt:lpstr>Evolução Química – características da Terra primitiva</vt:lpstr>
      <vt:lpstr>Gases da Atmosfera primitiva x atual</vt:lpstr>
      <vt:lpstr>Evolução Química – Oparin e Haldane</vt:lpstr>
      <vt:lpstr>Evolução Química – Oparin e Haldane</vt:lpstr>
      <vt:lpstr>Evolução Química – Evidência</vt:lpstr>
      <vt:lpstr>Como era o 1º Ser vivo?</vt:lpstr>
      <vt:lpstr>Evolução da Vida Primitiva – Hipótese Heterotrófica</vt:lpstr>
      <vt:lpstr>Evolução da Vida Primitiva – Hipótese Autotrófica</vt:lpstr>
      <vt:lpstr>Evolução da Vida Primitiva – Resumo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24</cp:revision>
  <dcterms:created xsi:type="dcterms:W3CDTF">2020-06-05T12:13:59Z</dcterms:created>
  <dcterms:modified xsi:type="dcterms:W3CDTF">2021-05-10T17:46:36Z</dcterms:modified>
</cp:coreProperties>
</file>