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30" r:id="rId16"/>
    <p:sldId id="331" r:id="rId17"/>
    <p:sldId id="332" r:id="rId18"/>
    <p:sldId id="333" r:id="rId19"/>
    <p:sldId id="33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r que a imagem mais famosa da evolução humana está errada - Revista  Galileu | Ciência">
            <a:extLst>
              <a:ext uri="{FF2B5EF4-FFF2-40B4-BE49-F238E27FC236}">
                <a16:creationId xmlns:a16="http://schemas.microsoft.com/office/drawing/2014/main" id="{028D3F20-CEE5-4787-BEA6-7CBD739DC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87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 que a imagem mais famosa da evolução humana está errada - Revista  Galileu | Ciência">
            <a:extLst>
              <a:ext uri="{FF2B5EF4-FFF2-40B4-BE49-F238E27FC236}">
                <a16:creationId xmlns:a16="http://schemas.microsoft.com/office/drawing/2014/main" id="{8E824829-8A90-446F-9D56-DF7CF5E4D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6024"/>
            <a:ext cx="12192000" cy="487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Evolução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3100" b="1" dirty="0"/>
              <a:t>Introdução</a:t>
            </a:r>
          </a:p>
          <a:p>
            <a:pPr>
              <a:lnSpc>
                <a:spcPct val="120000"/>
              </a:lnSpc>
            </a:pPr>
            <a:r>
              <a:rPr lang="pt-BR" sz="3100" b="1" dirty="0"/>
              <a:t>Teorias Evolutivas</a:t>
            </a:r>
          </a:p>
          <a:p>
            <a:pPr>
              <a:lnSpc>
                <a:spcPct val="120000"/>
              </a:lnSpc>
            </a:pPr>
            <a:r>
              <a:rPr lang="pt-BR" sz="3100" b="1" dirty="0"/>
              <a:t>Evidencias Evolutivas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O que é evoluir?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Evolução é um fenômeno natural da vida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Modificações dos organismos ao longo das gerações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Relacionado às adaptações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Características que permitem a sobrevivência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Como ela acontece?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Lamarckismo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Jean-Baptiste Lamarck (séc. XIX)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Sociedade criacionista fixista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Percebeu que os seres vivos se modificavam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Trabalhou com plantas e invertebrados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Primeiro a tentar explicar a evolução dos seres vivos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Criou duas leis: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Lamarquismo – Wikipédia, a enciclopédia livre">
            <a:extLst>
              <a:ext uri="{FF2B5EF4-FFF2-40B4-BE49-F238E27FC236}">
                <a16:creationId xmlns:a16="http://schemas.microsoft.com/office/drawing/2014/main" id="{3C733279-6C84-481B-9EDE-0F484C3CD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692" y="1627869"/>
            <a:ext cx="2224709" cy="215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75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Lamarckismo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1º Lei: Uso e Desuso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Órgãos/Estruturas desenvolvem-se com o uso e atrofiam com o desuso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Girafas adquiriram pescoço longo de tanto “forçar” o pescoço para alcançar as árvores mais altas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Lamarckismo">
            <a:extLst>
              <a:ext uri="{FF2B5EF4-FFF2-40B4-BE49-F238E27FC236}">
                <a16:creationId xmlns:a16="http://schemas.microsoft.com/office/drawing/2014/main" id="{4DEF0060-F459-450D-8630-E3C17B512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539" y="3111496"/>
            <a:ext cx="4967044" cy="353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19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Lamarckismo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2º Lei: Transmissão das características adquiridas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Características adquiridas ao longo da vida eram transmitidas para a geração seguinte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Então a girafa que tinha ficado “pescoçuda” passaria essa característica para a próxima geração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Para Lamarck o meio determina as características do ser vivo: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O urso polar é branco porque vive na neve.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Falar isso diz que o urso polar se tornou branco por causa do meio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024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Darwinismo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Charles Robert Darwin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Pai da Evolução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Século XIX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Viagem no Beagle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Viajou por vários lugares do mundo, incluindo o Brasil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Evolução por meio da Seleção Natural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upload.wikimedia.org/wikipedia/commons/c/c4/Charles_Robert_Darwin_by_John_Collier-crop.jpg">
            <a:extLst>
              <a:ext uri="{FF2B5EF4-FFF2-40B4-BE49-F238E27FC236}">
                <a16:creationId xmlns:a16="http://schemas.microsoft.com/office/drawing/2014/main" id="{D81CB872-EE10-4920-BD29-B848351EC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890" y="1605053"/>
            <a:ext cx="2093095" cy="26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55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Darwinismo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Para Darwin o meio seleciona características já existentes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Os mais adaptados sobrevivem e se reproduzem, passando suas características para a próxima geração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Darwin não sabia explicar a origem da diversidade (não haviam conhecimentos da genética)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Todos os organismos derivam de um ancestral comum.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8365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Seleção Natural – o que é?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Os recursos do meio são limitados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Dentro de uma população de uma mesma espécie há indivíduos com diferentes características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Quem possui características mais vantajosas está mais adaptado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 mais adaptado vive por mais tempo e, consequentemente, se reproduz mais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Quem se reproduz mais tem mais filhos, passando a característica vantajosa para a próxima geração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Após várias gerações a tendência é essa característica se tornar o padrão na população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76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Seleção Natural – o que é?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Para Darwin o meio não cria características, elas surgem aleatoriamente na população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 meio apenas </a:t>
            </a:r>
            <a:r>
              <a:rPr lang="pt-BR" b="1" dirty="0"/>
              <a:t>seleciona</a:t>
            </a:r>
            <a:r>
              <a:rPr lang="pt-BR" dirty="0"/>
              <a:t> características que são mais adaptadas àquele meio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 urso polar vive na neve porque ele é branco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Essa frase dá a entender que existiam cores diferentes para o urso, mas o branco é o que sobreviveu melhor na neve e foi selecionado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6229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Seleção Natural – As girafas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De acordo com a seleção natural teria surgido, aleatoriamente, uma girafa com o pescoço um pouco maior que as outras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Essa característica teria se tornado benéfica para o indivíduo, que sobreviveria mais e teria mais filhos passando essa característica adiante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Por que as girafas tem o pescoço comprido?">
            <a:extLst>
              <a:ext uri="{FF2B5EF4-FFF2-40B4-BE49-F238E27FC236}">
                <a16:creationId xmlns:a16="http://schemas.microsoft.com/office/drawing/2014/main" id="{8E175A49-B1AF-483E-930F-36A8FF4D4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428" y="3529398"/>
            <a:ext cx="4039144" cy="30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23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Evidências Evolutivas - Fósseis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Fóssil = qualquer evidência de vida no passado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Ossos encontrados em rochas sedimentares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Conchas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Pegadas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Impressões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Animais inteiros preservados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4" descr="Fóssil potro">
            <a:extLst>
              <a:ext uri="{FF2B5EF4-FFF2-40B4-BE49-F238E27FC236}">
                <a16:creationId xmlns:a16="http://schemas.microsoft.com/office/drawing/2014/main" id="{74763F48-721F-4589-B0C7-87A7C6796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566" y="2965552"/>
            <a:ext cx="4594387" cy="291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967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Evidências Evolutivas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Desenvolvimento embrionário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Organismos mais aparentados possuem semelhanças nas fases iniciais do desenvolvimento embrionário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Biologia Molecular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Mais similaridade do DNA = maior parentesco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2299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Evidências Evolutivas – Órgãos Homólogos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Mesma origem embrionária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braço do ser humano e asa do morcego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Podem ter funções diferentes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Demonstram ancestralidade comum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Surgem por irradiação adaptativa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Existia um ancestral comum e que ao conquistar novos meios, foi selecionado de maneira distinta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30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Evidências Evolutivas – Órgãos Homólogos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8E33E8A-2EC4-4910-A34C-9A9513F66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62ABCA-D29B-4C2C-9D8B-EF0787A0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605756"/>
            <a:ext cx="90011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22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Órgãos Análogos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8E33E8A-2EC4-4910-A34C-9A9513F66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83" y="1712413"/>
            <a:ext cx="11170920" cy="4351338"/>
          </a:xfrm>
        </p:spPr>
        <p:txBody>
          <a:bodyPr/>
          <a:lstStyle/>
          <a:p>
            <a:r>
              <a:rPr lang="pt-BR" dirty="0"/>
              <a:t>Não são evidências evolutivas pois não demonstram ancestralidade comum</a:t>
            </a:r>
          </a:p>
          <a:p>
            <a:r>
              <a:rPr lang="pt-BR" dirty="0"/>
              <a:t>Surgem por convergência adaptativa (organismos diferentes que, em um mesmo meio podem ser selecionados para terem características em comum)</a:t>
            </a:r>
          </a:p>
          <a:p>
            <a:r>
              <a:rPr lang="pt-BR" dirty="0" err="1"/>
              <a:t>Ex</a:t>
            </a:r>
            <a:r>
              <a:rPr lang="pt-BR" dirty="0"/>
              <a:t>: asa da ave e asa do inseto</a:t>
            </a:r>
          </a:p>
          <a:p>
            <a:pPr lvl="1"/>
            <a:r>
              <a:rPr lang="pt-BR" dirty="0"/>
              <a:t>Possuem estruturas e origens totalmente diferentes, mas a mesma função!</a:t>
            </a:r>
          </a:p>
        </p:txBody>
      </p:sp>
    </p:spTree>
    <p:extLst>
      <p:ext uri="{BB962C8B-B14F-4D97-AF65-F5344CB8AC3E}">
        <p14:creationId xmlns:p14="http://schemas.microsoft.com/office/powerpoint/2010/main" val="2142643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Seleção Natural – o caso dos antibióticos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8637272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Você já ouviu falar em superbactérias?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400" dirty="0">
                <a:latin typeface="+mj-lt"/>
              </a:rPr>
              <a:t>São bactérias resistentes a grande maioria dos antibióticos conhecidos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Bactérias são organismos que se reproduzem muito rápido, conseguem trocar material genético e sofrem mutações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Grande variabilidade genética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Grande possibilidade de surgir um gene que confira resistência a certo antibiótico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A banalização dos antibióticos e a origem das superbactérias ...">
            <a:extLst>
              <a:ext uri="{FF2B5EF4-FFF2-40B4-BE49-F238E27FC236}">
                <a16:creationId xmlns:a16="http://schemas.microsoft.com/office/drawing/2014/main" id="{8506D361-7945-42C9-8E59-8783D6FDC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43" y="2028825"/>
            <a:ext cx="30480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4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Seleção Natural – o caso dos antibióticos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111714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Imagine a seguinte situação: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8601246-7008-4997-8E68-458707A9205F}"/>
              </a:ext>
            </a:extLst>
          </p:cNvPr>
          <p:cNvSpPr/>
          <p:nvPr/>
        </p:nvSpPr>
        <p:spPr>
          <a:xfrm>
            <a:off x="3563699" y="2693978"/>
            <a:ext cx="2822713" cy="2809461"/>
          </a:xfrm>
          <a:prstGeom prst="ellipse">
            <a:avLst/>
          </a:prstGeom>
          <a:solidFill>
            <a:srgbClr val="5B9BD5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1379A3A-DF7B-4474-8FC2-AB496951F90E}"/>
              </a:ext>
            </a:extLst>
          </p:cNvPr>
          <p:cNvSpPr/>
          <p:nvPr/>
        </p:nvSpPr>
        <p:spPr>
          <a:xfrm>
            <a:off x="1256752" y="2852624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79C0828-ABF1-46B7-A34A-4DBFFEA6D9DE}"/>
              </a:ext>
            </a:extLst>
          </p:cNvPr>
          <p:cNvSpPr/>
          <p:nvPr/>
        </p:nvSpPr>
        <p:spPr>
          <a:xfrm>
            <a:off x="1256752" y="4466109"/>
            <a:ext cx="265044" cy="2915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7D482A-DDED-4C19-A99F-79726D7C24EE}"/>
              </a:ext>
            </a:extLst>
          </p:cNvPr>
          <p:cNvSpPr txBox="1"/>
          <p:nvPr/>
        </p:nvSpPr>
        <p:spPr>
          <a:xfrm>
            <a:off x="1800091" y="2601045"/>
            <a:ext cx="1557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Bactéria com gene de resistência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1AC958C-C7B1-48D2-881C-FF5E94A6450C}"/>
              </a:ext>
            </a:extLst>
          </p:cNvPr>
          <p:cNvSpPr txBox="1"/>
          <p:nvPr/>
        </p:nvSpPr>
        <p:spPr>
          <a:xfrm>
            <a:off x="1823815" y="4221117"/>
            <a:ext cx="1557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Bactéria sem gene de resistência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0EA6C82-4EEA-4984-929A-95155D88128E}"/>
              </a:ext>
            </a:extLst>
          </p:cNvPr>
          <p:cNvSpPr/>
          <p:nvPr/>
        </p:nvSpPr>
        <p:spPr>
          <a:xfrm>
            <a:off x="4358071" y="3305456"/>
            <a:ext cx="265044" cy="2915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F5F440A-F5BB-47CB-BFE3-68241629B6CD}"/>
              </a:ext>
            </a:extLst>
          </p:cNvPr>
          <p:cNvSpPr/>
          <p:nvPr/>
        </p:nvSpPr>
        <p:spPr>
          <a:xfrm>
            <a:off x="5179705" y="3759344"/>
            <a:ext cx="265044" cy="2915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3C96C09-FB82-42A7-AF7B-FCD0C97F7AF4}"/>
              </a:ext>
            </a:extLst>
          </p:cNvPr>
          <p:cNvSpPr/>
          <p:nvPr/>
        </p:nvSpPr>
        <p:spPr>
          <a:xfrm>
            <a:off x="4358071" y="4193526"/>
            <a:ext cx="265044" cy="2915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14E02E9-53B3-46ED-BBF9-72AD6AA10332}"/>
              </a:ext>
            </a:extLst>
          </p:cNvPr>
          <p:cNvSpPr/>
          <p:nvPr/>
        </p:nvSpPr>
        <p:spPr>
          <a:xfrm>
            <a:off x="5179705" y="3073715"/>
            <a:ext cx="265044" cy="2915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8691D6F-E6AB-4179-9AFA-5E8490F4F014}"/>
              </a:ext>
            </a:extLst>
          </p:cNvPr>
          <p:cNvSpPr/>
          <p:nvPr/>
        </p:nvSpPr>
        <p:spPr>
          <a:xfrm>
            <a:off x="5444749" y="4779416"/>
            <a:ext cx="265044" cy="29154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66DE209-3183-4925-9C2A-CEE693B5C1A3}"/>
              </a:ext>
            </a:extLst>
          </p:cNvPr>
          <p:cNvSpPr/>
          <p:nvPr/>
        </p:nvSpPr>
        <p:spPr>
          <a:xfrm>
            <a:off x="3973757" y="3759344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41362C7-60E6-4423-B90E-7649C5908F26}"/>
              </a:ext>
            </a:extLst>
          </p:cNvPr>
          <p:cNvSpPr/>
          <p:nvPr/>
        </p:nvSpPr>
        <p:spPr>
          <a:xfrm>
            <a:off x="4677194" y="3772596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8347F1A-6952-444B-AFF8-C1E2DAD535D5}"/>
              </a:ext>
            </a:extLst>
          </p:cNvPr>
          <p:cNvSpPr/>
          <p:nvPr/>
        </p:nvSpPr>
        <p:spPr>
          <a:xfrm>
            <a:off x="4761727" y="4660146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E86CDDB-C968-449A-BFA1-142A45D344CB}"/>
              </a:ext>
            </a:extLst>
          </p:cNvPr>
          <p:cNvSpPr/>
          <p:nvPr/>
        </p:nvSpPr>
        <p:spPr>
          <a:xfrm>
            <a:off x="5577271" y="3597004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5E2EB08-87C0-4036-BFF4-1C782A58AB64}"/>
              </a:ext>
            </a:extLst>
          </p:cNvPr>
          <p:cNvSpPr/>
          <p:nvPr/>
        </p:nvSpPr>
        <p:spPr>
          <a:xfrm>
            <a:off x="5365235" y="4269380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39B4EE7-7608-4713-8F35-736546CCA49D}"/>
              </a:ext>
            </a:extLst>
          </p:cNvPr>
          <p:cNvSpPr txBox="1"/>
          <p:nvPr/>
        </p:nvSpPr>
        <p:spPr>
          <a:xfrm>
            <a:off x="7539662" y="3297679"/>
            <a:ext cx="1931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acontece se adicionarmos um antibiótico?</a:t>
            </a:r>
          </a:p>
        </p:txBody>
      </p:sp>
    </p:spTree>
    <p:extLst>
      <p:ext uri="{BB962C8B-B14F-4D97-AF65-F5344CB8AC3E}">
        <p14:creationId xmlns:p14="http://schemas.microsoft.com/office/powerpoint/2010/main" val="70191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Seleção Natural – o caso dos antibióticos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4"/>
            <a:ext cx="1117146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Bactérias sem resistência = morte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Bactérias resistentes = vivem e se reproduzem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8FCAC19A-63CD-4A04-A45E-BEDC0DC4E0BD}"/>
              </a:ext>
            </a:extLst>
          </p:cNvPr>
          <p:cNvSpPr/>
          <p:nvPr/>
        </p:nvSpPr>
        <p:spPr>
          <a:xfrm>
            <a:off x="2446730" y="2959400"/>
            <a:ext cx="2822713" cy="2809461"/>
          </a:xfrm>
          <a:prstGeom prst="ellipse">
            <a:avLst/>
          </a:prstGeom>
          <a:solidFill>
            <a:srgbClr val="5B9BD5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37D66CF-AE2B-4B15-A1F0-048ABE8D1FDF}"/>
              </a:ext>
            </a:extLst>
          </p:cNvPr>
          <p:cNvSpPr/>
          <p:nvPr/>
        </p:nvSpPr>
        <p:spPr>
          <a:xfrm>
            <a:off x="2804536" y="3976503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BD557EC-C140-4D71-A285-12F3E188FAFF}"/>
              </a:ext>
            </a:extLst>
          </p:cNvPr>
          <p:cNvSpPr/>
          <p:nvPr/>
        </p:nvSpPr>
        <p:spPr>
          <a:xfrm>
            <a:off x="3507973" y="3989755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B1C734B-BC42-4FF7-BE5B-9BFF7F35FF76}"/>
              </a:ext>
            </a:extLst>
          </p:cNvPr>
          <p:cNvSpPr/>
          <p:nvPr/>
        </p:nvSpPr>
        <p:spPr>
          <a:xfrm>
            <a:off x="3592506" y="4877305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186FBCB-2A2E-49EC-AFCF-8BE34BBCCC94}"/>
              </a:ext>
            </a:extLst>
          </p:cNvPr>
          <p:cNvSpPr/>
          <p:nvPr/>
        </p:nvSpPr>
        <p:spPr>
          <a:xfrm>
            <a:off x="4408050" y="3814163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4CA26202-89C6-43F8-94CA-38558A87F9C1}"/>
              </a:ext>
            </a:extLst>
          </p:cNvPr>
          <p:cNvSpPr/>
          <p:nvPr/>
        </p:nvSpPr>
        <p:spPr>
          <a:xfrm>
            <a:off x="4196014" y="4486539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BBF4F1B-BD9F-488E-B917-B1B1E69E9C4D}"/>
              </a:ext>
            </a:extLst>
          </p:cNvPr>
          <p:cNvSpPr/>
          <p:nvPr/>
        </p:nvSpPr>
        <p:spPr>
          <a:xfrm>
            <a:off x="3951384" y="3509537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E5D6DD6E-AB36-45E3-96AF-FA8AA9956E4B}"/>
              </a:ext>
            </a:extLst>
          </p:cNvPr>
          <p:cNvSpPr/>
          <p:nvPr/>
        </p:nvSpPr>
        <p:spPr>
          <a:xfrm>
            <a:off x="3229676" y="3363763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07D613E-1A26-40BA-B4B6-677AA502DE1D}"/>
              </a:ext>
            </a:extLst>
          </p:cNvPr>
          <p:cNvSpPr/>
          <p:nvPr/>
        </p:nvSpPr>
        <p:spPr>
          <a:xfrm>
            <a:off x="3188850" y="4562998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E1F95BA9-0954-47C7-810A-D9B6FB4A50D7}"/>
              </a:ext>
            </a:extLst>
          </p:cNvPr>
          <p:cNvSpPr/>
          <p:nvPr/>
        </p:nvSpPr>
        <p:spPr>
          <a:xfrm>
            <a:off x="4623934" y="4628999"/>
            <a:ext cx="265044" cy="2915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6DBFB97-2870-4208-B000-45151F3E1E50}"/>
              </a:ext>
            </a:extLst>
          </p:cNvPr>
          <p:cNvSpPr txBox="1"/>
          <p:nvPr/>
        </p:nvSpPr>
        <p:spPr>
          <a:xfrm>
            <a:off x="6027864" y="3272006"/>
            <a:ext cx="2504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Se utilizar o mesmo antibiótico novamente, vai funcionar?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9F9B0B6-E548-4A0E-8BDC-8B45E9D9122E}"/>
              </a:ext>
            </a:extLst>
          </p:cNvPr>
          <p:cNvSpPr txBox="1"/>
          <p:nvPr/>
        </p:nvSpPr>
        <p:spPr>
          <a:xfrm>
            <a:off x="6059018" y="4195336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Não pois só sobraram bactérias resistentes</a:t>
            </a:r>
          </a:p>
        </p:txBody>
      </p:sp>
    </p:spTree>
    <p:extLst>
      <p:ext uri="{BB962C8B-B14F-4D97-AF65-F5344CB8AC3E}">
        <p14:creationId xmlns:p14="http://schemas.microsoft.com/office/powerpoint/2010/main" val="4153498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0570"/>
            <a:ext cx="11354346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Seleção Natural – o caso dos antibióticos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7" y="1529533"/>
            <a:ext cx="11606894" cy="48799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Ao utilizar um antibiótico de maneira equivocada selecionamos as bactérias mais resistentes, que sobrevivem e passam essa resistência para as outras, além de multiplicarem-se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Por isso devemos sempre seguir orientação do médico ao utilizarmos antibióticos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BRASIL: desde 2011 farmácias só podem vender antibióticos mediante apresentação de receita médica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Utilizar antibióticos cria organismos resistentes?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NÃO! Os antibióticos não induzem mutações nem criam características novas nas bactérias. Eles apenas SELECIONAM as bactérias mais resistentes.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Podemos dizer que os antibióticos criam uma pressão seletiva, que acelera a fixação da característica de resistência, que já existia na população ou que, ao surgir, se dissemine mais rapidamente.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9711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842</Words>
  <Application>Microsoft Office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Tema do Office</vt:lpstr>
      <vt:lpstr>Evolução</vt:lpstr>
      <vt:lpstr>O que é evoluir?</vt:lpstr>
      <vt:lpstr>Lamarckismo</vt:lpstr>
      <vt:lpstr>Lamarckismo</vt:lpstr>
      <vt:lpstr>Lamarckismo</vt:lpstr>
      <vt:lpstr>Darwinismo</vt:lpstr>
      <vt:lpstr>Darwinismo</vt:lpstr>
      <vt:lpstr>Seleção Natural – o que é?</vt:lpstr>
      <vt:lpstr>Seleção Natural – o que é?</vt:lpstr>
      <vt:lpstr>Seleção Natural – As girafas</vt:lpstr>
      <vt:lpstr>Evidências Evolutivas - Fósseis</vt:lpstr>
      <vt:lpstr>Evidências Evolutivas</vt:lpstr>
      <vt:lpstr>Evidências Evolutivas – Órgãos Homólogos</vt:lpstr>
      <vt:lpstr>Evidências Evolutivas – Órgãos Homólogos</vt:lpstr>
      <vt:lpstr>Órgãos Análogos</vt:lpstr>
      <vt:lpstr>Seleção Natural – o caso dos antibióticos</vt:lpstr>
      <vt:lpstr>Seleção Natural – o caso dos antibióticos</vt:lpstr>
      <vt:lpstr>Seleção Natural – o caso dos antibióticos</vt:lpstr>
      <vt:lpstr>Seleção Natural – o caso dos antibióticos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23</cp:revision>
  <dcterms:created xsi:type="dcterms:W3CDTF">2020-06-05T12:13:59Z</dcterms:created>
  <dcterms:modified xsi:type="dcterms:W3CDTF">2021-05-10T18:40:36Z</dcterms:modified>
</cp:coreProperties>
</file>