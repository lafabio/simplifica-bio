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>
            <a:extLst>
              <a:ext uri="{FF2B5EF4-FFF2-40B4-BE49-F238E27FC236}">
                <a16:creationId xmlns:a16="http://schemas.microsoft.com/office/drawing/2014/main" id="{B39C35FB-D4A1-4E0A-B8FD-C2EC63BFC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101" y="2840037"/>
            <a:ext cx="6457898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4EA5F322-D990-4CD7-A4EE-FAC02AE1C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9723"/>
            <a:ext cx="5734103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7185A07-B5DD-4E1A-8301-0F2C7323A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102" y="0"/>
            <a:ext cx="6457898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4C3B88-BBE4-44F1-BF67-438F4F215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734103" cy="40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Histologia Animal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3100" b="1" dirty="0"/>
              <a:t>Tecido Muscular</a:t>
            </a:r>
          </a:p>
          <a:p>
            <a:pPr>
              <a:lnSpc>
                <a:spcPct val="120000"/>
              </a:lnSpc>
            </a:pPr>
            <a:r>
              <a:rPr lang="pt-BR" sz="3100" b="1" dirty="0"/>
              <a:t>Tecido Nervoso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Origem: mesodérmica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Locomoção e transporte de sangue (coração + artérias)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Propriedades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Excitabilidade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Extensibilidade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Elasticidade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Contrabilidade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Constituição: fibras musculares (miócitos)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Células alongadas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Actina e Miosina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contração muscular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Classificação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Liso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Estriado Esquelético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Estriado Cardíaco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628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 Liso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Encontrado: trato digestivo (peristaltismo), artérias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Contração Lenta e Involuntária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Células fusiformes mononucleadas </a:t>
            </a:r>
            <a:r>
              <a:rPr lang="pt-BR" sz="2600" dirty="0">
                <a:sym typeface="Wingdings" panose="05000000000000000000" pitchFamily="2" charset="2"/>
              </a:rPr>
              <a:t></a:t>
            </a:r>
            <a:r>
              <a:rPr lang="pt-BR" sz="2600" dirty="0"/>
              <a:t> baixo metabolismo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Sem estrias transversais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www.ufrgs.br/biologiacelularatlas/fotos/foto_morfo_9_1.jpg">
            <a:extLst>
              <a:ext uri="{FF2B5EF4-FFF2-40B4-BE49-F238E27FC236}">
                <a16:creationId xmlns:a16="http://schemas.microsoft.com/office/drawing/2014/main" id="{00132C68-8326-4143-A33A-1E812665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4704112" cy="297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7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 Estriado Esquelético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7026184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Encontrado: Ligado aos ossos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Células multinucleadas 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alto metabolismo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Presença de Estrias transversais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Contração rápida e voluntária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Componente: miofibrilas com sarcômeros (unidade contráctil)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Proteína Actina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Proteína Miosina</a:t>
            </a: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Sobreposição das actinas e miosinas = contração muscular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5F7EBD4A-D7EF-48C3-AD55-89C942F28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736" y="2216510"/>
            <a:ext cx="4894830" cy="326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94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 Estriado Esquelético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0"/>
            <a:ext cx="4665754" cy="4766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Placa motora sinaliza o músculo que este deve contrair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retículo sarcoplasmático libera cálcio para o citoplasma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 miosina “puxa” a actina, ocorrendo sobreposição das proteínas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sarcômero contrai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 músculo contrai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Vídeo: https://www.youtube.com/watch?v=-Mfo3Af5E3c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www.sobiologia.com.br/figuras/Histologia/muscular5.jpg">
            <a:extLst>
              <a:ext uri="{FF2B5EF4-FFF2-40B4-BE49-F238E27FC236}">
                <a16:creationId xmlns:a16="http://schemas.microsoft.com/office/drawing/2014/main" id="{7D54FC29-6ACC-419A-A3DD-B0F251C8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729" y="2203268"/>
            <a:ext cx="6826296" cy="344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838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Muscular Estriado Cardíaco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Encontrado: no coração = miocárdio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Células </a:t>
            </a:r>
            <a:r>
              <a:rPr lang="pt-BR" sz="2400" dirty="0" err="1"/>
              <a:t>mononuceladas</a:t>
            </a:r>
            <a:r>
              <a:rPr lang="pt-BR" sz="2400" dirty="0"/>
              <a:t> com estrias transversais e anastomosadas (unidas pelos citoplasmas)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Presença de discos intercalares (origem proteica) = maior resistência ao tecido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Contração rápida e involuntária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9E844F51-EDC0-454E-A403-B691FC81C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892" y="3490110"/>
            <a:ext cx="4112078" cy="307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66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Nervoso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Proporciona reações a estímulos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Contrações musculares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Raciocínio e memória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Origem ectodérmica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Células: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b="1" dirty="0"/>
              <a:t>Neurônios:</a:t>
            </a:r>
            <a:r>
              <a:rPr lang="pt-BR" sz="2200" dirty="0"/>
              <a:t> conduzem impulsos nervosos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b="1" dirty="0"/>
              <a:t>Células gliais </a:t>
            </a:r>
            <a:r>
              <a:rPr lang="pt-BR" sz="2200" dirty="0"/>
              <a:t>(neuroglias): auxiliam os neurônios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b="1" dirty="0" err="1"/>
              <a:t>Astrócitos</a:t>
            </a:r>
            <a:r>
              <a:rPr lang="pt-BR" dirty="0"/>
              <a:t>: nutrição e sustentação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b="1" dirty="0"/>
              <a:t>Oligodendrócitos e Células de </a:t>
            </a:r>
            <a:r>
              <a:rPr lang="pt-BR" b="1" dirty="0" err="1"/>
              <a:t>Schwann</a:t>
            </a:r>
            <a:r>
              <a:rPr lang="pt-BR" dirty="0"/>
              <a:t>: proteção, auxílio e produção da bainha de Mielina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b="1" dirty="0" err="1"/>
              <a:t>Microglias</a:t>
            </a:r>
            <a:r>
              <a:rPr lang="pt-BR" b="1" dirty="0"/>
              <a:t>:</a:t>
            </a:r>
            <a:r>
              <a:rPr lang="pt-BR" dirty="0"/>
              <a:t> defesa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70B651B2-8072-4A9E-BD84-89BB51E7E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371" y="1634940"/>
            <a:ext cx="3978058" cy="27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3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Tecido Nervoso – Anatomia de um Neurônio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0" y="5420684"/>
            <a:ext cx="7790951" cy="1325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Excitabilidade = capacidade de reagir a estímulos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Condutibilidade = transmitir informações por impulsos nervosos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Nervos = conjunto de axônios de neurônios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Espaço Reservado para Conteúdo 7" descr="Diagrama&#10;&#10;Descrição gerada automaticamente">
            <a:extLst>
              <a:ext uri="{FF2B5EF4-FFF2-40B4-BE49-F238E27FC236}">
                <a16:creationId xmlns:a16="http://schemas.microsoft.com/office/drawing/2014/main" id="{A3877868-615C-4455-97FD-E8BE3BAC2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83" y="1339137"/>
            <a:ext cx="8194824" cy="3216737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388A66E-72FE-4ECA-A9C2-1B9706260964}"/>
              </a:ext>
            </a:extLst>
          </p:cNvPr>
          <p:cNvCxnSpPr/>
          <p:nvPr/>
        </p:nvCxnSpPr>
        <p:spPr>
          <a:xfrm>
            <a:off x="5345550" y="4548878"/>
            <a:ext cx="0" cy="702365"/>
          </a:xfrm>
          <a:prstGeom prst="line">
            <a:avLst/>
          </a:prstGeom>
          <a:ln w="57150">
            <a:solidFill>
              <a:srgbClr val="D20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645382F-C39A-4622-9AC2-F5BC4D52FB6C}"/>
              </a:ext>
            </a:extLst>
          </p:cNvPr>
          <p:cNvCxnSpPr>
            <a:cxnSpLocks/>
          </p:cNvCxnSpPr>
          <p:nvPr/>
        </p:nvCxnSpPr>
        <p:spPr>
          <a:xfrm>
            <a:off x="5345550" y="5218113"/>
            <a:ext cx="801757" cy="0"/>
          </a:xfrm>
          <a:prstGeom prst="line">
            <a:avLst/>
          </a:prstGeom>
          <a:ln w="57150">
            <a:solidFill>
              <a:srgbClr val="D20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1995B5-36BD-44BF-A392-DE4BDBCDA2DF}"/>
              </a:ext>
            </a:extLst>
          </p:cNvPr>
          <p:cNvSpPr txBox="1"/>
          <p:nvPr/>
        </p:nvSpPr>
        <p:spPr>
          <a:xfrm>
            <a:off x="6273203" y="5033447"/>
            <a:ext cx="17942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Nó de </a:t>
            </a:r>
            <a:r>
              <a:rPr lang="pt-BR" sz="2200" dirty="0" err="1"/>
              <a:t>Ranvier</a:t>
            </a:r>
            <a:endParaRPr lang="pt-BR" sz="2200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655C0351-21B8-4FE1-A7B0-060142A9FD53}"/>
              </a:ext>
            </a:extLst>
          </p:cNvPr>
          <p:cNvSpPr txBox="1">
            <a:spLocks/>
          </p:cNvSpPr>
          <p:nvPr/>
        </p:nvSpPr>
        <p:spPr>
          <a:xfrm>
            <a:off x="8180623" y="5507111"/>
            <a:ext cx="384812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Neurônios com mais bainha de mielina propagam impulso nervoso mais rapidamente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7084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Impulso Nervoso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Corrente elétrica que percorre rapidamente o neurônio, desde os dendritos até os botões terminais do axônio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Inicia-se com um estímulo, que deve ser forte suficiente para ultrapassar o limiar de excitação do neurônio, retirando-o do estado de repouso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Forte atuação da bomba de sódio e potássio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Impulso nervoso = potencial de ação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791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Impulso Nervoso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3" y="1434316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REPOUSO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Grande concentração de Na+ fora da célula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Grande concentração de K+ dentro da célula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Parte externa da membrana carregada positivamente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Membrana polarizada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Mantido pela bomba de sódio e potássio, que joga 3 Na+ para fora e 2 K+ para dentro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B440A330-B822-4BB3-AD0D-07452E60D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853" y="3706699"/>
            <a:ext cx="6748314" cy="313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7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Impulso Nervoso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3" y="1434316"/>
            <a:ext cx="11284676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ESTÍMULO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Alteração na permeabilidade da membrana plasmática do neurônio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Abertura de canais, entrada de Na+ na célula e saída de K+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Interior da célula se torna positivo = inversão das cargas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Membrana Despolarizada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Potencial de 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 resposta do neurônio é sempre de mesma intensidade “Lei do tudo ou Nada”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REPOLARIZAÇÃO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Fechamento dos canais de Na+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Abertura dos canais de K+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K+ sai da célula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Carga interna volta a ser negativa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03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Impulso Nervoso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87233B1-3341-4E3C-AEBE-AC6581AF1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1986D750-CC60-4991-8771-719BCEDAC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111" y="1525820"/>
            <a:ext cx="5624513" cy="509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68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Sinapses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3" y="1434316"/>
            <a:ext cx="66343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Forma de comunicação dos neurônios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b="1" dirty="0"/>
              <a:t>Elétricas</a:t>
            </a:r>
            <a:r>
              <a:rPr lang="pt-BR" sz="2400" dirty="0"/>
              <a:t> = rara nos vertebrados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Comunicação direta entre neurônios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Ocorre no tecido cardíaco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b="1" dirty="0"/>
              <a:t>Químicas</a:t>
            </a:r>
            <a:r>
              <a:rPr lang="pt-BR" sz="2400" dirty="0"/>
              <a:t> = comuns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Comunicação pela liberação de substâncias químicas = neurotransmissores (</a:t>
            </a:r>
            <a:r>
              <a:rPr lang="pt-BR" sz="2200" dirty="0" err="1"/>
              <a:t>ex</a:t>
            </a:r>
            <a:r>
              <a:rPr lang="pt-BR" sz="2200" dirty="0"/>
              <a:t>: acetilcolina, noradrenalina, serotonina, dopamina)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Os neurotransmissores são liberados em um espaço entre os neurônios = fenda sináptica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Não há contato físico entre os neurônios!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www.culturamix.com/wp-content/uploads/2012/01/sinapse-artificial-8.jpg">
            <a:extLst>
              <a:ext uri="{FF2B5EF4-FFF2-40B4-BE49-F238E27FC236}">
                <a16:creationId xmlns:a16="http://schemas.microsoft.com/office/drawing/2014/main" id="{EC1DB292-D984-4542-A55C-86BB4BB4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977" y="1776548"/>
            <a:ext cx="5391023" cy="459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1261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1439</TotalTime>
  <Words>553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Tema do Office</vt:lpstr>
      <vt:lpstr>Histologia Animal</vt:lpstr>
      <vt:lpstr>Tecido Muscular</vt:lpstr>
      <vt:lpstr>Tecido Muscular</vt:lpstr>
      <vt:lpstr>Tecido Muscular Liso</vt:lpstr>
      <vt:lpstr>Tecido Muscular Estriado Esquelético</vt:lpstr>
      <vt:lpstr>Tecido Muscular Estriado Esquelético</vt:lpstr>
      <vt:lpstr>Tecido Muscular Estriado Cardíaco</vt:lpstr>
      <vt:lpstr>Tecido Nervoso</vt:lpstr>
      <vt:lpstr>Tecido Nervoso – Anatomia de um Neurônio</vt:lpstr>
      <vt:lpstr>Impulso Nervoso</vt:lpstr>
      <vt:lpstr>Impulso Nervoso</vt:lpstr>
      <vt:lpstr>Impulso Nervoso</vt:lpstr>
      <vt:lpstr>Impulso Nervoso</vt:lpstr>
      <vt:lpstr>Sinapses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35</cp:revision>
  <dcterms:created xsi:type="dcterms:W3CDTF">2020-06-05T12:13:59Z</dcterms:created>
  <dcterms:modified xsi:type="dcterms:W3CDTF">2021-05-11T13:33:04Z</dcterms:modified>
</cp:coreProperties>
</file>