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9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>
            <a:extLst>
              <a:ext uri="{FF2B5EF4-FFF2-40B4-BE49-F238E27FC236}">
                <a16:creationId xmlns:a16="http://schemas.microsoft.com/office/drawing/2014/main" id="{B39C35FB-D4A1-4E0A-B8FD-C2EC63BFC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101" y="2840037"/>
            <a:ext cx="6457898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4EA5F322-D990-4CD7-A4EE-FAC02AE1C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9723"/>
            <a:ext cx="5734103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7185A07-B5DD-4E1A-8301-0F2C7323A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102" y="0"/>
            <a:ext cx="6457898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4C3B88-BBE4-44F1-BF67-438F4F215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734103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Histologia Animal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3100" b="1" dirty="0"/>
              <a:t>Tecido Epitelial</a:t>
            </a:r>
          </a:p>
          <a:p>
            <a:pPr>
              <a:lnSpc>
                <a:spcPct val="120000"/>
              </a:lnSpc>
            </a:pPr>
            <a:r>
              <a:rPr lang="pt-BR" sz="3100" b="1" dirty="0"/>
              <a:t>Tecido Conjuntivo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Epitelial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Caracterizado por Células Justapostas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Indiferenciadas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Pouca/Nenhuma Substância intercelular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Origem: Variada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Ectoderme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Mesoderme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Endoderme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Avascular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Nutrição pelo conjuntivo adjacente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Sustentação: Lâmina Basal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Epitelial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Quanto à forma das células: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Pavimentosa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trocas (capilares)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Cúbica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revestimento (glândulas)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Prismática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revestimento (intestino)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Quanto ao número de camadas: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Simples: uma camada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Estratificado: várias camadas. Importante para proteção. </a:t>
            </a:r>
            <a:r>
              <a:rPr lang="pt-BR" dirty="0" err="1"/>
              <a:t>Ex</a:t>
            </a:r>
            <a:r>
              <a:rPr lang="pt-BR" dirty="0"/>
              <a:t>: Epitélio da pele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Pseudoestratificado: uma camada com células de diferentes alturas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Transição: poucas camadas, células com diferentes tamanhos, permite expansão do órgão. </a:t>
            </a:r>
            <a:r>
              <a:rPr lang="pt-BR" dirty="0" err="1"/>
              <a:t>Ex</a:t>
            </a:r>
            <a:r>
              <a:rPr lang="pt-BR" dirty="0"/>
              <a:t>: bexiga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720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Epitelial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Quanto à função: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Revestimento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Glandular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889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Epitelial de Revestimento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F175556-48EC-4EBA-941C-3CF978879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Reveste os órgãos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1CEE4CF7-71FC-4340-892C-AF05E35E9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46133"/>
            <a:ext cx="60007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3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Epitelial Glandular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Glândulas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Podem 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Exócrinas: secreção para fora do corpo ou dentro de cavidades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Sudoríparas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Mamárias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Lacrimais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Endócrinas: secretam hormônios para a corrente sanguínea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Hipófise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 err="1"/>
              <a:t>Tireóide</a:t>
            </a:r>
            <a:endParaRPr lang="pt-BR" sz="22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Adrenais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Etc.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Anfícrinas</a:t>
            </a:r>
            <a:r>
              <a:rPr lang="pt-BR" dirty="0"/>
              <a:t> (Mistas): porção exócrina e </a:t>
            </a:r>
            <a:r>
              <a:rPr lang="pt-BR" dirty="0" err="1"/>
              <a:t>endócria.Ex</a:t>
            </a:r>
            <a:r>
              <a:rPr lang="pt-BR" dirty="0"/>
              <a:t>: Pâncreas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Exócrina: suco pancreático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Endócrina: Insulina e Glucagon</a:t>
            </a:r>
          </a:p>
        </p:txBody>
      </p:sp>
    </p:spTree>
    <p:extLst>
      <p:ext uri="{BB962C8B-B14F-4D97-AF65-F5344CB8AC3E}">
        <p14:creationId xmlns:p14="http://schemas.microsoft.com/office/powerpoint/2010/main" val="215134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Rico em Substância Intercelular (Intersticial)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Grande diversidade de tipos celulares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Vascularização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União entre tecidos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Fibras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Origem: mesoderme</a:t>
            </a:r>
          </a:p>
        </p:txBody>
      </p:sp>
    </p:spTree>
    <p:extLst>
      <p:ext uri="{BB962C8B-B14F-4D97-AF65-F5344CB8AC3E}">
        <p14:creationId xmlns:p14="http://schemas.microsoft.com/office/powerpoint/2010/main" val="251082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-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600" dirty="0"/>
              <a:t>1) Substância intercelular: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Água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Polissacarídeos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Proteínas</a:t>
            </a:r>
          </a:p>
          <a:p>
            <a:pPr marL="0" indent="0">
              <a:buNone/>
            </a:pPr>
            <a:r>
              <a:rPr lang="pt-BR" sz="2600" dirty="0"/>
              <a:t>2) Fibras proteicas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Colágenas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colágeno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resistência a tração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Elásticas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elastina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elasticidade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Reticulares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colágeno fino em rede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650027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-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600" dirty="0"/>
              <a:t>3) Células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Mesenquimatosas: dão origem a outras células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Fibroblastos: mais frequentes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Produção da substância intercelular/fibras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Retículo endoplasmático e </a:t>
            </a:r>
            <a:r>
              <a:rPr lang="pt-BR" dirty="0" err="1"/>
              <a:t>golgi</a:t>
            </a:r>
            <a:r>
              <a:rPr lang="pt-BR" dirty="0"/>
              <a:t> desenvolvidos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Fibroblasto = ativo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Fibrócito</a:t>
            </a:r>
            <a:r>
              <a:rPr lang="pt-BR" dirty="0"/>
              <a:t> = inativo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BA721DB-EF04-4846-8B09-3F8CCE835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505" y="4126486"/>
            <a:ext cx="4407876" cy="195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22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- 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600" dirty="0"/>
              <a:t>3) Células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Macrófagos: alto poder fagocitário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proteção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Mastócitos: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Heparina: anticoagulante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Histamina: vasodilatador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Plasmócitos</a:t>
            </a:r>
            <a:r>
              <a:rPr lang="pt-BR" sz="2200" dirty="0"/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Produção de anticorpos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defesa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Originam-se dos linfócitos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Adipócitos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Acumulam gotas lipídicas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reserva de energia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48811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Propriamente Dito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Hematopoiético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Adiposo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Sanguíneo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Cartilaginoso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Tecido Conjuntivo Ósseo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52719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Propriamente Dito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600" dirty="0"/>
              <a:t>A)Frouxo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Abundância de substância intercelular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Pobre em fibras (frouxo)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Diversidade 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Preenchimento de espaços entre os órgãos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Nutrição e sustentação de epitélios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Constitui os Nervos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Cicatrização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21800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Propriamente Dito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600" dirty="0"/>
              <a:t>B) Denso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Rico em fibras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denso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Menor quantidade de </a:t>
            </a:r>
            <a:r>
              <a:rPr lang="pt-BR" sz="2400" dirty="0" err="1"/>
              <a:t>subtância</a:t>
            </a:r>
            <a:r>
              <a:rPr lang="pt-BR" sz="2400" dirty="0"/>
              <a:t> intercelular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Fibroblasto como principal célula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B1) Modelado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Fibras colágenas ordenadas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Tendões e ligamentos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B2) Não Modelado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Fibras colágenas não ordenadas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Derme e Pericôndrio (tecido que nutre cartilagens)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29435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Hematopoiético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Produção e amadurecimento das células sanguíneas</a:t>
            </a:r>
          </a:p>
          <a:p>
            <a:pPr marL="0" indent="0">
              <a:buNone/>
            </a:pPr>
            <a:r>
              <a:rPr lang="pt-BR" sz="2600" dirty="0"/>
              <a:t>A) Mieloide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Medula óssea vermelha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produção das células</a:t>
            </a:r>
          </a:p>
          <a:p>
            <a:pPr marL="0" indent="0">
              <a:buNone/>
            </a:pPr>
            <a:r>
              <a:rPr lang="pt-BR" sz="2600" dirty="0"/>
              <a:t>B) Linfoide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Amadurecimento das células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Tonsilas (antigas </a:t>
            </a:r>
            <a:r>
              <a:rPr lang="pt-BR" sz="2200" dirty="0" err="1"/>
              <a:t>amidgalas</a:t>
            </a:r>
            <a:r>
              <a:rPr lang="pt-BR" sz="22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Linfonodos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Timo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Baço</a:t>
            </a:r>
          </a:p>
        </p:txBody>
      </p:sp>
    </p:spTree>
    <p:extLst>
      <p:ext uri="{BB962C8B-B14F-4D97-AF65-F5344CB8AC3E}">
        <p14:creationId xmlns:p14="http://schemas.microsoft.com/office/powerpoint/2010/main" val="154597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Adiposo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Armazenamento de lipídios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Adipócitos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reserva de energia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Isolante térmico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Proteção contra choques mecânicos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>
              <a:buNone/>
            </a:pPr>
            <a:r>
              <a:rPr lang="pt-BR" dirty="0"/>
              <a:t>A) Unilocular (Branco)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Uma única gota lipídica grande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>
              <a:buNone/>
            </a:pPr>
            <a:r>
              <a:rPr lang="pt-BR" dirty="0"/>
              <a:t>B) Multilocular (Pardo/Marrom)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Diversas gotas lipídicas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Ricas em mitocôndrias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Animais hibernantes e Humanos Recém Nascidos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14494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Sanguíneo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Plasma (líquido) + Elementos Figurados (células)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>
              <a:buNone/>
            </a:pPr>
            <a:r>
              <a:rPr lang="pt-BR" sz="2400" dirty="0"/>
              <a:t>Plasma: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Água (90%)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Excretas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Nutrientes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Gases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Sais minerais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Proteínas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Carboidratos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Etc.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274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Sangue – Elementos Figurados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Hemácias (Glóbulos Vermelhos/Eritrócitos)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Transporte de gases (O2)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Bicôncavas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Ausência de Núcleo nos mamíferos (120 dias)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Pigmento: hemoglobina (Fe)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O2</a:t>
            </a:r>
          </a:p>
          <a:p>
            <a:pPr marL="457200" lvl="1" indent="0">
              <a:buNone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Leucócitos (Glóbulos brancos)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Defesa contra invasores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Sobrevivem aproximadamente 12 dias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Realizam diapedese, fagocitose e digestão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5" name="Picture 2" descr="http://www.colegiovascodagama.pt/ciencias3c/images/propriedadesgb.gif">
            <a:extLst>
              <a:ext uri="{FF2B5EF4-FFF2-40B4-BE49-F238E27FC236}">
                <a16:creationId xmlns:a16="http://schemas.microsoft.com/office/drawing/2014/main" id="{1CDCFD6E-B8FC-4C84-A212-9A51745F6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463" y="4140278"/>
            <a:ext cx="5551537" cy="266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O que são hemácias? - Brasil Escola">
            <a:extLst>
              <a:ext uri="{FF2B5EF4-FFF2-40B4-BE49-F238E27FC236}">
                <a16:creationId xmlns:a16="http://schemas.microsoft.com/office/drawing/2014/main" id="{4FF04C4F-3DF6-4682-B540-54D12014B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743" y="1426948"/>
            <a:ext cx="2581547" cy="258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39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Sangue – Leucócitos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CB9A7B6-7E84-49A4-A0E4-D52B09C77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1FFAC1A-638E-42DD-A742-833F58B8F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675" y="1393313"/>
            <a:ext cx="8352928" cy="5444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4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Leucócitos - Linfócitos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 = produzido na medula óssea </a:t>
            </a:r>
            <a:r>
              <a:rPr lang="pt-BR" sz="2600" dirty="0">
                <a:sym typeface="Wingdings" panose="05000000000000000000" pitchFamily="2" charset="2"/>
              </a:rPr>
              <a:t></a:t>
            </a:r>
            <a:r>
              <a:rPr lang="pt-BR" sz="2600" dirty="0"/>
              <a:t> Timo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CD4 = auxiliar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Reconhecimento de invasores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Estimula os Linfócitos B a produzir anticorpos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Estimula os Macrófagos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Alvo da AIDS (SIDA)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CD8 = citotóxicos/</a:t>
            </a:r>
            <a:r>
              <a:rPr lang="pt-BR" dirty="0" err="1"/>
              <a:t>citolíticos</a:t>
            </a:r>
            <a:endParaRPr lang="pt-BR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200" dirty="0"/>
              <a:t>Destruir células infectadas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B = produzido na medula óssea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Produção de anticorpos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06024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Sangue – Elementos Figurados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Plaquetas (</a:t>
            </a:r>
            <a:r>
              <a:rPr lang="pt-BR" sz="2600" dirty="0" err="1"/>
              <a:t>trombócitos</a:t>
            </a:r>
            <a:r>
              <a:rPr lang="pt-BR" sz="26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Derivados de Megacariócitos na medula vermelha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Homeostasia = coagulação sanguínea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Sobrevivem em média 10 dias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7" name="Picture 2" descr="http://www.afh.bio.br/cardio/img/coagulacao%20sanguinea.jpg">
            <a:extLst>
              <a:ext uri="{FF2B5EF4-FFF2-40B4-BE49-F238E27FC236}">
                <a16:creationId xmlns:a16="http://schemas.microsoft.com/office/drawing/2014/main" id="{DC7391BF-DB45-4A95-A500-656AFB189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05" y="2708366"/>
            <a:ext cx="5588520" cy="381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www.infoescola.com/wp-content/uploads/2009/12/coagula%C3%A7%C3%A3o1.jpg">
            <a:extLst>
              <a:ext uri="{FF2B5EF4-FFF2-40B4-BE49-F238E27FC236}">
                <a16:creationId xmlns:a16="http://schemas.microsoft.com/office/drawing/2014/main" id="{1DA76ECB-3154-42C7-9A11-74DE9EAFE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136" y="3531279"/>
            <a:ext cx="4323487" cy="290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04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Cartilaginoso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Formação das cartilagens do corpo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Nariz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Orelha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Discos intervertebrais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“Esqueleto” embrionário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Articulações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Sustentação com flexibilidade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Único tecido conjuntivo avascular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Molde para formação dos ossos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802219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Cartilaginoso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705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Células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Condroblastos: célula ativa, alto metabolismo, produção das fibras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Condrócitos: células com menor metabolismo, dentro de espaços chamados de lacunas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Classificação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Hialina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Elástica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Fibrosa</a:t>
            </a:r>
          </a:p>
        </p:txBody>
      </p:sp>
    </p:spTree>
    <p:extLst>
      <p:ext uri="{BB962C8B-B14F-4D97-AF65-F5344CB8AC3E}">
        <p14:creationId xmlns:p14="http://schemas.microsoft.com/office/powerpoint/2010/main" val="262161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Cartilaginoso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958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Cartilagem Hialina: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Cartilagem mais comum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Nariz, articulações, laringe, traqueia e brônquios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Esqueleto embrionário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Quantidade Moderada de Fibras Colágenas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Cartilagem Elástica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Fibras elásticas &gt; fibras colágenas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Trompa de Eustáquio, pavilhão auditivo, epiglote e laringe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Cartilagem fibrosa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Grande Quantidade de Fibras Colágenas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Articulações e ponto de contato entre tendões e ossos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Discos intervertebrais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721536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Cartilaginoso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1AC4A05-9433-4CD7-8D49-B86ED8576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Cb</a:t>
            </a:r>
            <a:r>
              <a:rPr lang="pt-BR" dirty="0"/>
              <a:t> = condroblasto</a:t>
            </a:r>
          </a:p>
          <a:p>
            <a:r>
              <a:rPr lang="pt-BR" dirty="0"/>
              <a:t>C = condrócito</a:t>
            </a:r>
          </a:p>
        </p:txBody>
      </p:sp>
      <p:pic>
        <p:nvPicPr>
          <p:cNvPr id="7" name="Picture 2" descr="http://www.pucrs.br/fabio/histologia/atlasvirtual/maxim/cart-hial-resp-12a1.jpg">
            <a:extLst>
              <a:ext uri="{FF2B5EF4-FFF2-40B4-BE49-F238E27FC236}">
                <a16:creationId xmlns:a16="http://schemas.microsoft.com/office/drawing/2014/main" id="{83037D15-3514-4F8D-BEF2-878D340A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911" y="1645920"/>
            <a:ext cx="6553499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191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Ósseo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958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Rígidos e Resistentes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Fibras colágenas + cálcio e fósforo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Vascularizado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Funções: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Resistência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Proteção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Armazenamento de lipídios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Movimento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Sustentação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Reserva de Cálcio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171542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Ósseo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958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Células: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Osteoblastos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prod. Matriz óssea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Osteoclastos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reabsorção óssea, remodelação dos ossos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Canais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Havers</a:t>
            </a:r>
            <a:r>
              <a:rPr lang="pt-BR" dirty="0"/>
              <a:t>: longitudinais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Volkmann: transversais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5" name="Picture 2" descr="http://www.sobiologia.com.br/figuras/Histologia/canais_de_Havers.jpg">
            <a:extLst>
              <a:ext uri="{FF2B5EF4-FFF2-40B4-BE49-F238E27FC236}">
                <a16:creationId xmlns:a16="http://schemas.microsoft.com/office/drawing/2014/main" id="{7DC39803-54FB-411D-90DC-DBF39820D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313" y="3571982"/>
            <a:ext cx="3816424" cy="274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600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Ósseo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D41A60A-7900-41A0-96F1-24BD44C73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C295F61-1551-4C0B-9C80-7ED961A87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061" y="1550455"/>
            <a:ext cx="3358568" cy="5275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http://www.sobiologia.com.br/figuras/Histologia/ossolongo.jpg">
            <a:extLst>
              <a:ext uri="{FF2B5EF4-FFF2-40B4-BE49-F238E27FC236}">
                <a16:creationId xmlns:a16="http://schemas.microsoft.com/office/drawing/2014/main" id="{C6BD96F9-D65B-40C2-A8B5-9BD478050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56" y="1428206"/>
            <a:ext cx="2535387" cy="527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014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Ósseo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958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Fibras Colágenas dão resistência aos ossos mas não dureza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Cálcio dá dureza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Ausência = doença dos ossos de vidro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Experiência para remoção de cálcio de osso de galinha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Osso + Vinagre + 3 semanas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7" name="Picture 2" descr="http://i.ytimg.com/vi/kAkYUD-sAYk/hqdefault.jpg">
            <a:extLst>
              <a:ext uri="{FF2B5EF4-FFF2-40B4-BE49-F238E27FC236}">
                <a16:creationId xmlns:a16="http://schemas.microsoft.com/office/drawing/2014/main" id="{075CF5C6-0B2B-4F59-8309-ADF5525D7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75260"/>
            <a:ext cx="3669041" cy="275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825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Conjuntivo Ósseo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11284676" cy="4958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Ossos em constante remodelação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Osteoblastos + Osteoclastos</a:t>
            </a:r>
          </a:p>
          <a:p>
            <a:pPr marL="0" indent="0">
              <a:buNone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Capacidade de Regeneração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8" name="Picture 4" descr="http://www.sobiologia.com.br/figuras/Histologia/remodelacao_ossea.jpg">
            <a:extLst>
              <a:ext uri="{FF2B5EF4-FFF2-40B4-BE49-F238E27FC236}">
                <a16:creationId xmlns:a16="http://schemas.microsoft.com/office/drawing/2014/main" id="{7D3B0871-EB79-4B90-9624-6BFDC7A7C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804" y="2289218"/>
            <a:ext cx="4953000" cy="35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136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99" y="1454716"/>
            <a:ext cx="5850528" cy="495835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Maior órgão do corpo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Epiderme (epitelial) + Derme (conjuntivo denso)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Tela subcutânea = tecido adiposo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Epiderme estratificada queratinizada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Proteção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No contato da epiderme com a derme são encontrados melanócitos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Produção de melanina (coram a pele)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Proteção contra raios ultravioleta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Derme = fibras colágenas e elásticas; vasos sanguíneos, nervos e raiz dos pelos, glândulas sudoríparas e sebáceas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8225B702-153D-4F0C-9F96-D2000E4B9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28541"/>
            <a:ext cx="5950601" cy="401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453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</TotalTime>
  <Words>958</Words>
  <Application>Microsoft Office PowerPoint</Application>
  <PresentationFormat>Widescreen</PresentationFormat>
  <Paragraphs>246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Tema do Office</vt:lpstr>
      <vt:lpstr>Histologia Animal</vt:lpstr>
      <vt:lpstr>Tecido Epitelial</vt:lpstr>
      <vt:lpstr>Tecido Epitelial - Classificação</vt:lpstr>
      <vt:lpstr>Tecido Epitelial - Classificação</vt:lpstr>
      <vt:lpstr>Tecido Epitelial de Revestimento</vt:lpstr>
      <vt:lpstr>Tecido Epitelial Glandular</vt:lpstr>
      <vt:lpstr>Tecido Conjuntivo</vt:lpstr>
      <vt:lpstr>Tecido Conjuntivo - Composição</vt:lpstr>
      <vt:lpstr>Tecido Conjuntivo - Composição</vt:lpstr>
      <vt:lpstr>Tecido Conjuntivo - Composição</vt:lpstr>
      <vt:lpstr>Tecido Conjuntivo - Classificação</vt:lpstr>
      <vt:lpstr>Tecido Conjuntivo Propriamente Dito</vt:lpstr>
      <vt:lpstr>Tecido Conjuntivo Propriamente Dito</vt:lpstr>
      <vt:lpstr>Tecido Conjuntivo Hematopoiético</vt:lpstr>
      <vt:lpstr>Tecido Conjuntivo Adiposo</vt:lpstr>
      <vt:lpstr>Tecido Conjuntivo Sanguíneo</vt:lpstr>
      <vt:lpstr>Sangue – Elementos Figurados</vt:lpstr>
      <vt:lpstr>Sangue – Leucócitos</vt:lpstr>
      <vt:lpstr>Leucócitos - Linfócitos</vt:lpstr>
      <vt:lpstr>Sangue – Elementos Figurados</vt:lpstr>
      <vt:lpstr>Tecido Conjuntivo Cartilaginoso</vt:lpstr>
      <vt:lpstr>Tecido Conjuntivo Cartilaginoso</vt:lpstr>
      <vt:lpstr>Tecido Conjuntivo Cartilaginoso</vt:lpstr>
      <vt:lpstr>Tecido Conjuntivo Cartilaginoso</vt:lpstr>
      <vt:lpstr>Tecido Conjuntivo Ósseo</vt:lpstr>
      <vt:lpstr>Tecido Conjuntivo Ósseo</vt:lpstr>
      <vt:lpstr>Tecido Conjuntivo Ósseo</vt:lpstr>
      <vt:lpstr>Tecido Conjuntivo Ósseo</vt:lpstr>
      <vt:lpstr>Tecido Conjuntivo Ósseo</vt:lpstr>
      <vt:lpstr>PELE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31</cp:revision>
  <dcterms:created xsi:type="dcterms:W3CDTF">2020-06-05T12:13:59Z</dcterms:created>
  <dcterms:modified xsi:type="dcterms:W3CDTF">2021-05-11T01:03:02Z</dcterms:modified>
</cp:coreProperties>
</file>