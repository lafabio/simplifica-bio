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2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A21AB-8212-48D9-9A82-7D1EB693F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237267-B257-47B1-BDCC-AB818F95B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C758AE-AD6A-404B-91FA-52F8B251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D6EEED-D6EC-4669-BF20-ECDB43FD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35ABB3-7373-44C0-978A-2FB50B09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09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3D429-609C-4392-B8C7-C0BF889E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2FB70B-4899-407F-9220-0BF302CEA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91912C-5B28-485C-A966-FA9312C26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7AA062-6EEB-45EC-983E-F7008520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C09C17-82EA-442D-8620-006F0682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073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CEF2D-9697-4A7E-9F49-24D2E4BE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46D19F-C82A-42E1-83DC-F39891989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32E121-1CA6-42AD-AF5F-795E919D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066FFE-3585-4D61-8336-EB6C494C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4FB0B7-A338-42C1-B884-CD9ACA71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29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A5701-4BF1-420B-9478-D195E23C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040215-140C-4FFB-B712-748A9601C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463D7E-2E3C-4F47-8E10-1917DB0DE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FEAF73-F0E9-414C-8FD9-B8D083B8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03393A-09DD-40EE-94DC-651BD5A3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5D028A-D9AC-4478-B5C2-DE67D4B0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22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6298A7-6489-4141-9653-5054FF4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1D314D-847F-488B-9FE4-AF1AFBB54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6EE1EF-0A90-478B-9BB3-8FB07C2A7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5D90A1-5C37-4399-A156-BFBC2A5B2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14785C-C563-4799-8B06-E7A48DA0F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E571F8-21D5-4DED-9FED-8672333A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7CA6FF-7A3A-4F23-A52A-971E7827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0B9AD8-92B4-4944-8627-897B2A1A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7389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E341E-20E5-49F9-9301-07EAF460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D948E1-EAB1-4DCC-85E4-EE908C66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14E15E-0BCE-438D-9CD1-53C490D0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BFE01A-716F-45E7-ABC6-D7E25272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64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6C36EB-5702-4EC2-AD0F-83AE5268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662227-8FA0-4B70-94AE-2227DD5A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D7E6FF-E6FB-4AD3-A596-02B2E868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8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E8E7A-AE49-48DE-B369-B0D8D8038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F17EC2-50E1-41DE-9FCC-A1A1AB74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6D0044-5AC7-4EAC-811D-4B509D8F4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F74A8F-21B3-41C2-8A61-9EF75FCD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12FB87-4FFC-4495-9821-582E3CD0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1F5DEF-2820-4064-867A-8FB5079A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24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3B718-5C5B-4AA6-8F6A-E8F1482B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602FAB-3269-4B0C-8D10-9A3958B54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B882E6-E9AF-4894-B9F3-F1A4B4325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F3998A-C0EA-4286-99B3-526B4DDD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97DE9C-DC66-42F1-80ED-7BB090D0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7F7CE3-A173-435B-A4B5-9175F20A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31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F224F-BC14-471B-A748-4377D686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1B8C1E-A721-4807-87A6-E35A66972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0431EA-ACEB-4846-8340-E1D3BC72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7CF908-44E2-49C9-8248-AE4917D4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0C8084-4C8C-4A9F-ACFA-B178A370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210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57D63F-251A-40D9-BEA5-15898B1A6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95F1A7-7A34-48CB-AF2F-392BA3A17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854ECC-41D4-4107-B38B-B6979AD7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F3510D-6916-473B-BFB0-DF2D989B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DE559A-21A2-410F-9579-CDE17991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05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75EE861-C7CA-41D3-B578-AE94B532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770710-2650-4046-91FE-9C92D456E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30C44E-1A79-4A25-8468-EE1651662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BF9A3-C757-45B3-ACC3-9A3AB8725227}" type="datetimeFigureOut">
              <a:rPr lang="pt-BR" smtClean="0"/>
              <a:t>13/05/2021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6B8A25-7577-47B0-A0B0-2D9D9E7A9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944C3E-CF3B-4E03-9521-5B3662412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81CFE-ACE5-4B20-BF80-7EF702B0C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58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4CF9E81-73DD-4543-98A0-983D8C5DF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2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90D6047-0A43-4494-8AE8-810C6A028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Biológica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E5B1FB6-E629-471A-AE41-B9F4E5DEF29D}"/>
              </a:ext>
            </a:extLst>
          </p:cNvPr>
          <p:cNvSpPr txBox="1">
            <a:spLocks/>
          </p:cNvSpPr>
          <p:nvPr/>
        </p:nvSpPr>
        <p:spPr>
          <a:xfrm>
            <a:off x="0" y="2425413"/>
            <a:ext cx="12192000" cy="1316038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endParaRPr lang="pt-BR" sz="8000" b="1" dirty="0"/>
          </a:p>
          <a:p>
            <a:r>
              <a:rPr lang="pt-BR" sz="8000" b="1" dirty="0"/>
              <a:t>Protozoários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243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6505135" cy="4351338"/>
          </a:xfrm>
        </p:spPr>
        <p:txBody>
          <a:bodyPr/>
          <a:lstStyle/>
          <a:p>
            <a:r>
              <a:rPr lang="pt-BR" dirty="0"/>
              <a:t>Unicelulares</a:t>
            </a:r>
          </a:p>
          <a:p>
            <a:r>
              <a:rPr lang="pt-BR" dirty="0"/>
              <a:t>Eucariontes</a:t>
            </a:r>
          </a:p>
          <a:p>
            <a:r>
              <a:rPr lang="pt-BR" dirty="0"/>
              <a:t>Heterótrofos</a:t>
            </a:r>
          </a:p>
          <a:p>
            <a:r>
              <a:rPr lang="pt-BR" dirty="0"/>
              <a:t>Estruturas locomotoras (no geral)</a:t>
            </a:r>
          </a:p>
          <a:p>
            <a:r>
              <a:rPr lang="pt-BR" dirty="0"/>
              <a:t>Reino Protista (não </a:t>
            </a:r>
            <a:r>
              <a:rPr lang="pt-BR" dirty="0" err="1"/>
              <a:t>monofilético</a:t>
            </a:r>
            <a:r>
              <a:rPr lang="pt-BR" dirty="0"/>
              <a:t>)</a:t>
            </a:r>
          </a:p>
          <a:p>
            <a:r>
              <a:rPr lang="pt-BR" dirty="0"/>
              <a:t>Preferência por lugares úmidos</a:t>
            </a:r>
          </a:p>
          <a:p>
            <a:r>
              <a:rPr lang="pt-BR" dirty="0"/>
              <a:t>Isolados (maioria) ou coloniais</a:t>
            </a:r>
          </a:p>
        </p:txBody>
      </p:sp>
    </p:spTree>
    <p:extLst>
      <p:ext uri="{BB962C8B-B14F-4D97-AF65-F5344CB8AC3E}">
        <p14:creationId xmlns:p14="http://schemas.microsoft.com/office/powerpoint/2010/main" val="84203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Modo de Vida Variável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6675706" cy="4351338"/>
          </a:xfrm>
        </p:spPr>
        <p:txBody>
          <a:bodyPr/>
          <a:lstStyle/>
          <a:p>
            <a:r>
              <a:rPr lang="pt-BR" dirty="0"/>
              <a:t>Vida Livre (</a:t>
            </a:r>
            <a:r>
              <a:rPr lang="pt-BR" i="1" dirty="0" err="1"/>
              <a:t>Paramecium</a:t>
            </a:r>
            <a:r>
              <a:rPr lang="pt-BR" i="1" dirty="0"/>
              <a:t> sp.</a:t>
            </a:r>
            <a:r>
              <a:rPr lang="pt-BR" dirty="0"/>
              <a:t>)</a:t>
            </a:r>
          </a:p>
          <a:p>
            <a:r>
              <a:rPr lang="pt-BR" dirty="0"/>
              <a:t>Sésseis (</a:t>
            </a:r>
            <a:r>
              <a:rPr lang="pt-BR" i="1" dirty="0" err="1"/>
              <a:t>Vorticella</a:t>
            </a:r>
            <a:r>
              <a:rPr lang="pt-BR" i="1" dirty="0"/>
              <a:t> sp.</a:t>
            </a:r>
            <a:r>
              <a:rPr lang="pt-BR" dirty="0"/>
              <a:t>)</a:t>
            </a:r>
          </a:p>
          <a:p>
            <a:r>
              <a:rPr lang="pt-BR" dirty="0"/>
              <a:t>Comensais (</a:t>
            </a:r>
            <a:r>
              <a:rPr lang="pt-BR" i="1" dirty="0" err="1"/>
              <a:t>Entamoeba</a:t>
            </a:r>
            <a:r>
              <a:rPr lang="pt-BR" i="1" dirty="0"/>
              <a:t> coli</a:t>
            </a:r>
            <a:r>
              <a:rPr lang="pt-BR" dirty="0"/>
              <a:t>)</a:t>
            </a:r>
          </a:p>
          <a:p>
            <a:r>
              <a:rPr lang="pt-BR" dirty="0"/>
              <a:t>Mutualistas (</a:t>
            </a:r>
            <a:r>
              <a:rPr lang="pt-BR" i="1" dirty="0" err="1"/>
              <a:t>Trichonympha</a:t>
            </a:r>
            <a:r>
              <a:rPr lang="pt-BR" i="1" dirty="0"/>
              <a:t> sp.</a:t>
            </a:r>
            <a:r>
              <a:rPr lang="pt-BR" dirty="0"/>
              <a:t>)</a:t>
            </a:r>
          </a:p>
          <a:p>
            <a:r>
              <a:rPr lang="pt-BR" dirty="0"/>
              <a:t>Parasitas (</a:t>
            </a:r>
            <a:r>
              <a:rPr lang="pt-BR" i="1" dirty="0" err="1"/>
              <a:t>Entamoeba</a:t>
            </a:r>
            <a:r>
              <a:rPr lang="pt-BR" i="1" dirty="0"/>
              <a:t> </a:t>
            </a:r>
            <a:r>
              <a:rPr lang="pt-BR" i="1" dirty="0" err="1"/>
              <a:t>histolytica</a:t>
            </a:r>
            <a:r>
              <a:rPr lang="pt-BR" dirty="0"/>
              <a:t>, </a:t>
            </a:r>
            <a:r>
              <a:rPr lang="pt-BR" i="1" dirty="0" err="1"/>
              <a:t>Plasmodium</a:t>
            </a:r>
            <a:r>
              <a:rPr lang="pt-BR" i="1" dirty="0"/>
              <a:t> </a:t>
            </a:r>
            <a:r>
              <a:rPr lang="pt-BR" i="1" dirty="0" err="1"/>
              <a:t>vivax</a:t>
            </a:r>
            <a:r>
              <a:rPr lang="pt-BR" dirty="0"/>
              <a:t>, </a:t>
            </a:r>
            <a:r>
              <a:rPr lang="pt-BR" i="1" dirty="0"/>
              <a:t>Trypanosoma </a:t>
            </a:r>
            <a:r>
              <a:rPr lang="pt-BR" i="1" dirty="0" err="1"/>
              <a:t>cruzi</a:t>
            </a:r>
            <a:r>
              <a:rPr lang="pt-BR" dirty="0"/>
              <a:t>)</a:t>
            </a:r>
          </a:p>
        </p:txBody>
      </p:sp>
      <p:pic>
        <p:nvPicPr>
          <p:cNvPr id="1026" name="Picture 2" descr="Resultado de imagem para paramecium">
            <a:extLst>
              <a:ext uri="{FF2B5EF4-FFF2-40B4-BE49-F238E27FC236}">
                <a16:creationId xmlns:a16="http://schemas.microsoft.com/office/drawing/2014/main" id="{EBFEB1EC-85F6-4697-AB7D-7DBAE9DD6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6" y="1776343"/>
            <a:ext cx="4957970" cy="330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vorticella sp">
            <a:extLst>
              <a:ext uri="{FF2B5EF4-FFF2-40B4-BE49-F238E27FC236}">
                <a16:creationId xmlns:a16="http://schemas.microsoft.com/office/drawing/2014/main" id="{26C40985-0F91-41BC-9482-D2E095FA5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5" y="1776342"/>
            <a:ext cx="4957970" cy="327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m para entamoeba coli">
            <a:extLst>
              <a:ext uri="{FF2B5EF4-FFF2-40B4-BE49-F238E27FC236}">
                <a16:creationId xmlns:a16="http://schemas.microsoft.com/office/drawing/2014/main" id="{17144828-AD8D-460F-8447-8CB4C46F4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3" y="1776340"/>
            <a:ext cx="4957970" cy="328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m para trichonympha sp">
            <a:extLst>
              <a:ext uri="{FF2B5EF4-FFF2-40B4-BE49-F238E27FC236}">
                <a16:creationId xmlns:a16="http://schemas.microsoft.com/office/drawing/2014/main" id="{33C63A7E-5597-4753-AE79-3284DF5C2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3" y="1776340"/>
            <a:ext cx="4957970" cy="332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entamoeba histolytica">
            <a:extLst>
              <a:ext uri="{FF2B5EF4-FFF2-40B4-BE49-F238E27FC236}">
                <a16:creationId xmlns:a16="http://schemas.microsoft.com/office/drawing/2014/main" id="{C2B8F329-1C4D-4502-B4C9-E3F6B08F4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0" y="1738561"/>
            <a:ext cx="4957970" cy="329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m para plasmodium vivax">
            <a:extLst>
              <a:ext uri="{FF2B5EF4-FFF2-40B4-BE49-F238E27FC236}">
                <a16:creationId xmlns:a16="http://schemas.microsoft.com/office/drawing/2014/main" id="{211E8238-B6AD-48EF-A52C-FEEEB69A3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1" y="1738562"/>
            <a:ext cx="4957970" cy="327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ltado de imagem para trypanosoma cruzi">
            <a:extLst>
              <a:ext uri="{FF2B5EF4-FFF2-40B4-BE49-F238E27FC236}">
                <a16:creationId xmlns:a16="http://schemas.microsoft.com/office/drawing/2014/main" id="{90E6C777-0B62-41FA-928B-3BF8265F7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51" y="1700782"/>
            <a:ext cx="4957969" cy="336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03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Gerais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7" y="1325563"/>
            <a:ext cx="6185376" cy="4351338"/>
          </a:xfrm>
        </p:spPr>
        <p:txBody>
          <a:bodyPr/>
          <a:lstStyle/>
          <a:p>
            <a:r>
              <a:rPr lang="pt-BR" dirty="0"/>
              <a:t>Célula pouco especializada mas muito complexa. Ex: ameba de água doce</a:t>
            </a:r>
          </a:p>
          <a:p>
            <a:pPr lvl="1"/>
            <a:r>
              <a:rPr lang="pt-BR" dirty="0"/>
              <a:t>Pseudópodes para alimentação e locomoção</a:t>
            </a:r>
          </a:p>
          <a:p>
            <a:pPr lvl="1"/>
            <a:r>
              <a:rPr lang="pt-BR" dirty="0"/>
              <a:t>Núcleo = metabolismo e reprodução</a:t>
            </a:r>
          </a:p>
          <a:p>
            <a:pPr lvl="1"/>
            <a:r>
              <a:rPr lang="pt-BR" dirty="0"/>
              <a:t>Troca de gases e resíduos pela membrana</a:t>
            </a:r>
          </a:p>
          <a:p>
            <a:pPr marL="457200" lvl="1" indent="0">
              <a:buNone/>
            </a:pPr>
            <a:r>
              <a:rPr lang="pt-BR" dirty="0"/>
              <a:t>por difusão</a:t>
            </a:r>
          </a:p>
          <a:p>
            <a:pPr lvl="1"/>
            <a:r>
              <a:rPr lang="pt-BR" dirty="0"/>
              <a:t>Digestão intracelular</a:t>
            </a:r>
          </a:p>
          <a:p>
            <a:pPr lvl="1"/>
            <a:r>
              <a:rPr lang="pt-BR" dirty="0"/>
              <a:t>Vacúolo pulsátil osmorregulador</a:t>
            </a:r>
          </a:p>
        </p:txBody>
      </p:sp>
      <p:pic>
        <p:nvPicPr>
          <p:cNvPr id="2050" name="Picture 2" descr="Resultado de imagem para ameba">
            <a:extLst>
              <a:ext uri="{FF2B5EF4-FFF2-40B4-BE49-F238E27FC236}">
                <a16:creationId xmlns:a16="http://schemas.microsoft.com/office/drawing/2014/main" id="{F6A0D149-6B94-4446-A35E-493BB95CF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303" y="1325563"/>
            <a:ext cx="5963697" cy="399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8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Classificação Clássica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6505135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De acordo com a Locomoção:</a:t>
            </a:r>
          </a:p>
          <a:p>
            <a:r>
              <a:rPr lang="pt-BR" dirty="0"/>
              <a:t>Rizópodes</a:t>
            </a:r>
          </a:p>
          <a:p>
            <a:r>
              <a:rPr lang="pt-BR" dirty="0"/>
              <a:t>Flagelados</a:t>
            </a:r>
          </a:p>
          <a:p>
            <a:r>
              <a:rPr lang="pt-BR" dirty="0"/>
              <a:t>Ciliados</a:t>
            </a:r>
          </a:p>
          <a:p>
            <a:r>
              <a:rPr lang="pt-BR" dirty="0"/>
              <a:t>Esporozoários</a:t>
            </a:r>
          </a:p>
        </p:txBody>
      </p:sp>
      <p:pic>
        <p:nvPicPr>
          <p:cNvPr id="3074" name="Picture 2" descr="Resultado de imagem para protozoarios classificacao">
            <a:extLst>
              <a:ext uri="{FF2B5EF4-FFF2-40B4-BE49-F238E27FC236}">
                <a16:creationId xmlns:a16="http://schemas.microsoft.com/office/drawing/2014/main" id="{E5A0AD06-873F-4F83-B96B-9640F8EDF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269" y="1325563"/>
            <a:ext cx="6930528" cy="3126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87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Rizópodes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7353637" cy="4351338"/>
          </a:xfrm>
        </p:spPr>
        <p:txBody>
          <a:bodyPr/>
          <a:lstStyle/>
          <a:p>
            <a:r>
              <a:rPr lang="pt-BR" dirty="0"/>
              <a:t>Também chamado de Sarcodíneos</a:t>
            </a:r>
          </a:p>
          <a:p>
            <a:r>
              <a:rPr lang="pt-BR" dirty="0"/>
              <a:t>Amebas</a:t>
            </a:r>
          </a:p>
          <a:p>
            <a:r>
              <a:rPr lang="pt-BR" dirty="0"/>
              <a:t>Pseudópodes = locomoção e captura de alimento</a:t>
            </a:r>
          </a:p>
          <a:p>
            <a:r>
              <a:rPr lang="pt-BR" dirty="0"/>
              <a:t>Podem ter uma carapaça (teca)</a:t>
            </a:r>
          </a:p>
          <a:p>
            <a:pPr lvl="1"/>
            <a:r>
              <a:rPr lang="pt-BR" dirty="0"/>
              <a:t>Foraminíferos, radiolários e heliozoários</a:t>
            </a:r>
          </a:p>
          <a:p>
            <a:r>
              <a:rPr lang="pt-BR" dirty="0"/>
              <a:t>Abundante registro fóssil</a:t>
            </a:r>
          </a:p>
          <a:p>
            <a:r>
              <a:rPr lang="pt-BR" dirty="0"/>
              <a:t>Reprodução por divisão binária/cissiparidade</a:t>
            </a:r>
          </a:p>
          <a:p>
            <a:r>
              <a:rPr lang="pt-BR" dirty="0"/>
              <a:t>Formação de cistos</a:t>
            </a:r>
          </a:p>
        </p:txBody>
      </p:sp>
      <p:pic>
        <p:nvPicPr>
          <p:cNvPr id="4098" name="Picture 2" descr="Resultado de imagem para ameba">
            <a:extLst>
              <a:ext uri="{FF2B5EF4-FFF2-40B4-BE49-F238E27FC236}">
                <a16:creationId xmlns:a16="http://schemas.microsoft.com/office/drawing/2014/main" id="{BE85D949-EE1A-4D80-A8FE-FD7E33627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331" y="1325563"/>
            <a:ext cx="4503669" cy="3188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950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Flagelados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86" y="1714624"/>
            <a:ext cx="10532089" cy="4351338"/>
          </a:xfrm>
        </p:spPr>
        <p:txBody>
          <a:bodyPr/>
          <a:lstStyle/>
          <a:p>
            <a:r>
              <a:rPr lang="pt-BR" dirty="0"/>
              <a:t>Também chamado de Mastigóforos</a:t>
            </a:r>
          </a:p>
          <a:p>
            <a:r>
              <a:rPr lang="pt-BR" dirty="0"/>
              <a:t>Locomoção por flagelos únicos ou múltiplos</a:t>
            </a:r>
          </a:p>
          <a:p>
            <a:r>
              <a:rPr lang="pt-BR" dirty="0"/>
              <a:t>Reprodução por cissiparidade</a:t>
            </a:r>
          </a:p>
          <a:p>
            <a:r>
              <a:rPr lang="pt-BR" dirty="0"/>
              <a:t>Ex: </a:t>
            </a:r>
            <a:r>
              <a:rPr lang="pt-BR" i="1" dirty="0"/>
              <a:t>Trypanosoma </a:t>
            </a:r>
            <a:r>
              <a:rPr lang="pt-BR" i="1" dirty="0" err="1"/>
              <a:t>cruzi</a:t>
            </a:r>
            <a:r>
              <a:rPr lang="pt-BR" dirty="0"/>
              <a:t> e</a:t>
            </a:r>
          </a:p>
          <a:p>
            <a:pPr marL="0" indent="0">
              <a:buNone/>
            </a:pPr>
            <a:r>
              <a:rPr lang="pt-BR" i="1" dirty="0" err="1"/>
              <a:t>Giardia</a:t>
            </a:r>
            <a:r>
              <a:rPr lang="pt-BR" i="1" dirty="0"/>
              <a:t> lamblia</a:t>
            </a:r>
          </a:p>
        </p:txBody>
      </p:sp>
      <p:pic>
        <p:nvPicPr>
          <p:cNvPr id="1026" name="Picture 2" descr="Resultado de imagem para trypanosoma cruzi">
            <a:extLst>
              <a:ext uri="{FF2B5EF4-FFF2-40B4-BE49-F238E27FC236}">
                <a16:creationId xmlns:a16="http://schemas.microsoft.com/office/drawing/2014/main" id="{D4CC48CE-02D5-418A-A6AE-0805A331A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4870" y="1325563"/>
            <a:ext cx="5367130" cy="341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21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Ciliados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3648"/>
            <a:ext cx="6201565" cy="5129673"/>
          </a:xfrm>
        </p:spPr>
        <p:txBody>
          <a:bodyPr/>
          <a:lstStyle/>
          <a:p>
            <a:r>
              <a:rPr lang="pt-BR" dirty="0"/>
              <a:t>Locomoção por cílios (auxiliam na captura de alimento)</a:t>
            </a:r>
          </a:p>
          <a:p>
            <a:r>
              <a:rPr lang="pt-BR" dirty="0"/>
              <a:t>Maioria vida livre (Ex: </a:t>
            </a:r>
            <a:r>
              <a:rPr lang="pt-BR" dirty="0" err="1"/>
              <a:t>paramécio</a:t>
            </a:r>
            <a:r>
              <a:rPr lang="pt-BR" dirty="0"/>
              <a:t>)</a:t>
            </a:r>
          </a:p>
          <a:p>
            <a:r>
              <a:rPr lang="pt-BR" dirty="0"/>
              <a:t>Alimentação</a:t>
            </a:r>
          </a:p>
          <a:p>
            <a:pPr lvl="1"/>
            <a:r>
              <a:rPr lang="pt-BR" dirty="0"/>
              <a:t>Sulco Oral</a:t>
            </a:r>
          </a:p>
          <a:p>
            <a:pPr lvl="1"/>
            <a:r>
              <a:rPr lang="pt-BR" dirty="0" err="1"/>
              <a:t>Citóstoma</a:t>
            </a:r>
            <a:endParaRPr lang="pt-BR" dirty="0"/>
          </a:p>
          <a:p>
            <a:pPr lvl="1"/>
            <a:r>
              <a:rPr lang="pt-BR" dirty="0" err="1"/>
              <a:t>Citofaringe</a:t>
            </a:r>
            <a:endParaRPr lang="pt-BR" dirty="0"/>
          </a:p>
          <a:p>
            <a:pPr lvl="1"/>
            <a:r>
              <a:rPr lang="pt-BR" dirty="0"/>
              <a:t>Vesículas com enzimas digestivas</a:t>
            </a:r>
          </a:p>
          <a:p>
            <a:pPr lvl="1"/>
            <a:r>
              <a:rPr lang="pt-BR" dirty="0"/>
              <a:t>Movimento pelo citoplasma e assimilação</a:t>
            </a:r>
          </a:p>
          <a:p>
            <a:pPr lvl="1"/>
            <a:r>
              <a:rPr lang="pt-BR" dirty="0"/>
              <a:t>Eliminação de resíduos pelo </a:t>
            </a:r>
            <a:r>
              <a:rPr lang="pt-BR" dirty="0" err="1"/>
              <a:t>citopígio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2B177C-05B2-4792-A119-61B11A8C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59" y="1325563"/>
            <a:ext cx="5655741" cy="438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Ciliados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r>
              <a:rPr lang="pt-BR" dirty="0"/>
              <a:t>Dois núcleos</a:t>
            </a:r>
          </a:p>
          <a:p>
            <a:pPr lvl="1"/>
            <a:r>
              <a:rPr lang="pt-BR" dirty="0"/>
              <a:t>Macronúcleo = metabolismo</a:t>
            </a:r>
          </a:p>
          <a:p>
            <a:pPr lvl="1"/>
            <a:r>
              <a:rPr lang="pt-BR" dirty="0"/>
              <a:t>Micronúcleo = reprodução</a:t>
            </a:r>
          </a:p>
          <a:p>
            <a:r>
              <a:rPr lang="pt-BR" dirty="0"/>
              <a:t>Reprodução sexuada por conjugação</a:t>
            </a:r>
          </a:p>
          <a:p>
            <a:pPr lvl="1"/>
            <a:r>
              <a:rPr lang="pt-BR" dirty="0"/>
              <a:t>Duplicação de micronúcleos</a:t>
            </a:r>
          </a:p>
          <a:p>
            <a:pPr lvl="1"/>
            <a:r>
              <a:rPr lang="pt-BR" dirty="0"/>
              <a:t>Troca de micronúcleos</a:t>
            </a:r>
          </a:p>
          <a:p>
            <a:pPr lvl="1"/>
            <a:r>
              <a:rPr lang="pt-BR" dirty="0"/>
              <a:t>Fusão de micronúcleos</a:t>
            </a:r>
          </a:p>
          <a:p>
            <a:pPr lvl="1"/>
            <a:r>
              <a:rPr lang="pt-BR" dirty="0"/>
              <a:t>Novas divisões celulares para originar</a:t>
            </a:r>
          </a:p>
          <a:p>
            <a:pPr marL="457200" lvl="1" indent="0">
              <a:buNone/>
            </a:pPr>
            <a:r>
              <a:rPr lang="pt-BR" dirty="0"/>
              <a:t>novos indivíduos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35547E-E54A-447C-9D9B-FE681C5B7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756" y="1325563"/>
            <a:ext cx="5723550" cy="320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3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Esporozoários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r>
              <a:rPr lang="pt-BR" dirty="0"/>
              <a:t>Sem estrutura de locomoção</a:t>
            </a:r>
          </a:p>
          <a:p>
            <a:r>
              <a:rPr lang="pt-BR" dirty="0"/>
              <a:t>Todos parasitos</a:t>
            </a:r>
          </a:p>
          <a:p>
            <a:pPr lvl="1"/>
            <a:r>
              <a:rPr lang="pt-BR" i="1" dirty="0"/>
              <a:t>Toxoplasma </a:t>
            </a:r>
            <a:r>
              <a:rPr lang="pt-BR" i="1" dirty="0" err="1"/>
              <a:t>gondii</a:t>
            </a:r>
            <a:r>
              <a:rPr lang="pt-BR" dirty="0"/>
              <a:t> (toxoplasmose)</a:t>
            </a:r>
          </a:p>
          <a:p>
            <a:pPr lvl="1"/>
            <a:r>
              <a:rPr lang="pt-BR" i="1" dirty="0" err="1"/>
              <a:t>Plasmodium</a:t>
            </a:r>
            <a:r>
              <a:rPr lang="pt-BR" i="1" dirty="0"/>
              <a:t> sp.</a:t>
            </a:r>
            <a:r>
              <a:rPr lang="pt-BR" dirty="0"/>
              <a:t> (malária)</a:t>
            </a:r>
          </a:p>
          <a:p>
            <a:r>
              <a:rPr lang="pt-BR" dirty="0"/>
              <a:t>Alimentação por absorção</a:t>
            </a:r>
          </a:p>
          <a:p>
            <a:r>
              <a:rPr lang="pt-BR" dirty="0"/>
              <a:t>Células arredondadas ou alongadas (</a:t>
            </a:r>
            <a:r>
              <a:rPr lang="pt-BR" dirty="0" err="1"/>
              <a:t>apicomplexos</a:t>
            </a:r>
            <a:r>
              <a:rPr lang="pt-BR" dirty="0"/>
              <a:t>)</a:t>
            </a:r>
          </a:p>
          <a:p>
            <a:r>
              <a:rPr lang="pt-BR" dirty="0"/>
              <a:t>Reprodução assexuada por </a:t>
            </a:r>
            <a:r>
              <a:rPr lang="pt-BR" dirty="0" err="1"/>
              <a:t>esquizogonia</a:t>
            </a:r>
            <a:endParaRPr lang="pt-BR" dirty="0"/>
          </a:p>
          <a:p>
            <a:r>
              <a:rPr lang="pt-BR" dirty="0"/>
              <a:t>Reprodução sexuada com recombinação</a:t>
            </a:r>
          </a:p>
        </p:txBody>
      </p:sp>
      <p:pic>
        <p:nvPicPr>
          <p:cNvPr id="2050" name="Picture 2" descr="Resultado de imagem para toxoplasma">
            <a:extLst>
              <a:ext uri="{FF2B5EF4-FFF2-40B4-BE49-F238E27FC236}">
                <a16:creationId xmlns:a16="http://schemas.microsoft.com/office/drawing/2014/main" id="{EC02B914-B431-4B10-B71F-D43C42B5E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722" y="1325563"/>
            <a:ext cx="3982278" cy="398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89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Doença de Chagas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76" y="1556301"/>
            <a:ext cx="7682871" cy="4351338"/>
          </a:xfrm>
        </p:spPr>
        <p:txBody>
          <a:bodyPr/>
          <a:lstStyle/>
          <a:p>
            <a:r>
              <a:rPr lang="pt-BR" dirty="0"/>
              <a:t>Tripanossomíase americana</a:t>
            </a:r>
          </a:p>
          <a:p>
            <a:r>
              <a:rPr lang="pt-BR" dirty="0"/>
              <a:t>Agente etiológico: </a:t>
            </a:r>
            <a:r>
              <a:rPr lang="pt-BR" i="1" dirty="0"/>
              <a:t>Trypanosoma </a:t>
            </a:r>
            <a:r>
              <a:rPr lang="pt-BR" i="1" dirty="0" err="1"/>
              <a:t>cruzi</a:t>
            </a:r>
            <a:endParaRPr lang="pt-BR" i="1" dirty="0"/>
          </a:p>
          <a:p>
            <a:r>
              <a:rPr lang="pt-BR" dirty="0"/>
              <a:t>Animais silvestres (tatu, gambá) e domésticos (cães e gatos) são reservatórios</a:t>
            </a:r>
          </a:p>
          <a:p>
            <a:r>
              <a:rPr lang="pt-BR" dirty="0"/>
              <a:t>Ciclo heteróxeno:</a:t>
            </a:r>
          </a:p>
          <a:p>
            <a:pPr lvl="1"/>
            <a:r>
              <a:rPr lang="pt-BR" dirty="0"/>
              <a:t>Humanos: sangue, músculo cardíaco e tecido nervoso</a:t>
            </a:r>
          </a:p>
          <a:p>
            <a:pPr lvl="1"/>
            <a:r>
              <a:rPr lang="pt-BR" dirty="0"/>
              <a:t>Inseto: intestino</a:t>
            </a:r>
          </a:p>
          <a:p>
            <a:r>
              <a:rPr lang="pt-BR" dirty="0"/>
              <a:t>Vetor: barbeiro (inseto)</a:t>
            </a:r>
          </a:p>
          <a:p>
            <a:pPr lvl="1"/>
            <a:r>
              <a:rPr lang="pt-BR" dirty="0"/>
              <a:t>Nordeste e centro-oeste + interior de MG</a:t>
            </a:r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62E085-822C-4346-88C0-7581FDAB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1556301"/>
            <a:ext cx="43815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3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Doença de Chagas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EE6D57-85DA-4D70-8471-E6A580371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7" y="1407789"/>
            <a:ext cx="10641495" cy="545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73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Doença de Chagas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r>
              <a:rPr lang="pt-BR" dirty="0"/>
              <a:t>Outras formas de transmissão:</a:t>
            </a:r>
          </a:p>
          <a:p>
            <a:pPr lvl="1"/>
            <a:r>
              <a:rPr lang="pt-BR" dirty="0"/>
              <a:t>Transfusão de sangue e transplantes</a:t>
            </a:r>
          </a:p>
          <a:p>
            <a:pPr lvl="1"/>
            <a:r>
              <a:rPr lang="pt-BR" dirty="0"/>
              <a:t>Gestação (congênita)</a:t>
            </a:r>
          </a:p>
          <a:p>
            <a:pPr lvl="1"/>
            <a:r>
              <a:rPr lang="pt-BR" dirty="0"/>
              <a:t>Via oral (caldo de cana, açaí)</a:t>
            </a:r>
          </a:p>
          <a:p>
            <a:r>
              <a:rPr lang="pt-BR" dirty="0"/>
              <a:t>Profilaxia</a:t>
            </a:r>
          </a:p>
          <a:p>
            <a:pPr lvl="1"/>
            <a:r>
              <a:rPr lang="pt-BR" dirty="0"/>
              <a:t>Evitar casas de pau a pique</a:t>
            </a:r>
          </a:p>
          <a:p>
            <a:pPr lvl="1"/>
            <a:r>
              <a:rPr lang="pt-BR" dirty="0"/>
              <a:t>Construir casas de alvenaria</a:t>
            </a:r>
          </a:p>
          <a:p>
            <a:pPr lvl="1"/>
            <a:r>
              <a:rPr lang="pt-BR" dirty="0"/>
              <a:t>Combate ao barbeiro</a:t>
            </a:r>
          </a:p>
          <a:p>
            <a:pPr lvl="1"/>
            <a:r>
              <a:rPr lang="pt-BR" dirty="0"/>
              <a:t>Telas e mosquiteiros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321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Malária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r>
              <a:rPr lang="pt-BR" dirty="0"/>
              <a:t>Já matou mais de 400 milhões de pessoas</a:t>
            </a:r>
          </a:p>
          <a:p>
            <a:r>
              <a:rPr lang="pt-BR" dirty="0"/>
              <a:t>Doenças tropical endêmica em vários países da África, Ásia e América</a:t>
            </a:r>
          </a:p>
          <a:p>
            <a:r>
              <a:rPr lang="pt-BR" dirty="0"/>
              <a:t>Agente etiológico: esporozoários do gênero </a:t>
            </a:r>
            <a:r>
              <a:rPr lang="pt-BR" i="1" dirty="0" err="1"/>
              <a:t>Plasmodium</a:t>
            </a:r>
            <a:endParaRPr lang="pt-BR" i="1" dirty="0"/>
          </a:p>
          <a:p>
            <a:r>
              <a:rPr lang="pt-BR" dirty="0"/>
              <a:t>Brasil: </a:t>
            </a:r>
            <a:r>
              <a:rPr lang="pt-BR" i="1" dirty="0"/>
              <a:t>P. </a:t>
            </a:r>
            <a:r>
              <a:rPr lang="pt-BR" i="1" dirty="0" err="1"/>
              <a:t>vivax</a:t>
            </a:r>
            <a:r>
              <a:rPr lang="pt-BR" dirty="0"/>
              <a:t>, </a:t>
            </a:r>
            <a:r>
              <a:rPr lang="pt-BR" i="1" dirty="0"/>
              <a:t>P. </a:t>
            </a:r>
            <a:r>
              <a:rPr lang="pt-BR" i="1" dirty="0" err="1"/>
              <a:t>malariae</a:t>
            </a:r>
            <a:r>
              <a:rPr lang="pt-BR" dirty="0"/>
              <a:t> e </a:t>
            </a:r>
            <a:r>
              <a:rPr lang="pt-BR" i="1" dirty="0"/>
              <a:t>P. falciparum</a:t>
            </a:r>
          </a:p>
          <a:p>
            <a:r>
              <a:rPr lang="pt-BR" dirty="0"/>
              <a:t>Diferentes formas no ciclo:</a:t>
            </a:r>
          </a:p>
          <a:p>
            <a:pPr lvl="1"/>
            <a:r>
              <a:rPr lang="pt-BR" dirty="0" err="1"/>
              <a:t>Esporozoíto</a:t>
            </a:r>
            <a:r>
              <a:rPr lang="pt-BR" dirty="0"/>
              <a:t>: glândula salivar do mosquito, inoculada no homem</a:t>
            </a:r>
          </a:p>
          <a:p>
            <a:pPr lvl="1"/>
            <a:r>
              <a:rPr lang="pt-BR" dirty="0" err="1"/>
              <a:t>Mezoíto</a:t>
            </a:r>
            <a:r>
              <a:rPr lang="pt-BR" dirty="0"/>
              <a:t>: células hepáticas e dentro de hemácias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1861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Malária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9" y="1575582"/>
            <a:ext cx="8239463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Vetor: mosquito do gênero </a:t>
            </a:r>
            <a:r>
              <a:rPr lang="pt-BR" i="1" dirty="0" err="1"/>
              <a:t>Anopheles</a:t>
            </a:r>
            <a:endParaRPr lang="pt-BR" i="1" dirty="0"/>
          </a:p>
          <a:p>
            <a:pPr lvl="1"/>
            <a:r>
              <a:rPr lang="pt-BR" dirty="0"/>
              <a:t>Fêmea hematófaga</a:t>
            </a:r>
          </a:p>
          <a:p>
            <a:r>
              <a:rPr lang="pt-BR" dirty="0"/>
              <a:t>Insetos contaminados sugam menos sangue</a:t>
            </a:r>
          </a:p>
          <a:p>
            <a:pPr lvl="1"/>
            <a:r>
              <a:rPr lang="pt-BR" dirty="0"/>
              <a:t>Repetição de ataque = maior chance de contaminação</a:t>
            </a:r>
          </a:p>
          <a:p>
            <a:r>
              <a:rPr lang="pt-BR" dirty="0"/>
              <a:t>Ao picar, </a:t>
            </a:r>
            <a:r>
              <a:rPr lang="pt-BR" dirty="0" err="1"/>
              <a:t>esporozoítos</a:t>
            </a:r>
            <a:r>
              <a:rPr lang="pt-BR" dirty="0"/>
              <a:t> são introduzidos na corrente sanguínea</a:t>
            </a:r>
          </a:p>
          <a:p>
            <a:r>
              <a:rPr lang="pt-BR" dirty="0"/>
              <a:t>Invadem as células hepáticas e se reproduzem (</a:t>
            </a:r>
            <a:r>
              <a:rPr lang="pt-BR" dirty="0" err="1"/>
              <a:t>esquizogonia</a:t>
            </a:r>
            <a:r>
              <a:rPr lang="pt-BR" dirty="0"/>
              <a:t>) formando </a:t>
            </a:r>
            <a:r>
              <a:rPr lang="pt-BR" dirty="0" err="1"/>
              <a:t>merozoítos</a:t>
            </a:r>
            <a:endParaRPr lang="pt-BR" dirty="0"/>
          </a:p>
          <a:p>
            <a:r>
              <a:rPr lang="pt-BR" dirty="0"/>
              <a:t>Circulam pelo sangue e invadem as hemácias, onde se reproduzem e causam a morte da célula (levando ao estado febril)</a:t>
            </a:r>
          </a:p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5122" name="Picture 2" descr="Resultado de imagem para anopheles">
            <a:extLst>
              <a:ext uri="{FF2B5EF4-FFF2-40B4-BE49-F238E27FC236}">
                <a16:creationId xmlns:a16="http://schemas.microsoft.com/office/drawing/2014/main" id="{68D185CF-CEB3-4D02-92D4-230670325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122" y="1325563"/>
            <a:ext cx="3829878" cy="231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38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Malária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r>
              <a:rPr lang="pt-BR" dirty="0"/>
              <a:t>Alguns </a:t>
            </a:r>
            <a:r>
              <a:rPr lang="pt-BR" dirty="0" err="1"/>
              <a:t>merozoítos</a:t>
            </a:r>
            <a:r>
              <a:rPr lang="pt-BR" dirty="0"/>
              <a:t> sofrem diferenciação nas hemácias formando </a:t>
            </a:r>
            <a:r>
              <a:rPr lang="pt-BR" dirty="0" err="1"/>
              <a:t>gametócitos</a:t>
            </a:r>
            <a:r>
              <a:rPr lang="pt-BR" dirty="0"/>
              <a:t> que são ingeridos por mosquitos</a:t>
            </a:r>
          </a:p>
          <a:p>
            <a:r>
              <a:rPr lang="pt-BR" dirty="0"/>
              <a:t>No estômago do inseto diferenciam-se em gametas, fundem-se e formam zigotos (oocistos) que formam cistos na parede gástrica</a:t>
            </a:r>
          </a:p>
          <a:p>
            <a:r>
              <a:rPr lang="pt-BR" dirty="0"/>
              <a:t>Quando maduros os cistos liberam </a:t>
            </a:r>
            <a:r>
              <a:rPr lang="pt-BR" dirty="0" err="1"/>
              <a:t>esporozoítos</a:t>
            </a:r>
            <a:r>
              <a:rPr lang="pt-BR" dirty="0"/>
              <a:t> que ficam nas glândulas salivares</a:t>
            </a:r>
          </a:p>
          <a:p>
            <a:r>
              <a:rPr lang="pt-BR" dirty="0"/>
              <a:t>CICLO HETEROXENO</a:t>
            </a:r>
          </a:p>
          <a:p>
            <a:pPr lvl="1"/>
            <a:r>
              <a:rPr lang="pt-BR" dirty="0"/>
              <a:t>Hospedeiro intermediário = homem</a:t>
            </a:r>
          </a:p>
          <a:p>
            <a:pPr lvl="1"/>
            <a:r>
              <a:rPr lang="pt-BR" dirty="0"/>
              <a:t>Hospedeiro definitivo = mosquito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5690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Malária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ACAA5F-DA8E-4738-817A-44A72AAB4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8446811" cy="541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8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Malária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814121"/>
            <a:ext cx="10532089" cy="4351338"/>
          </a:xfrm>
        </p:spPr>
        <p:txBody>
          <a:bodyPr/>
          <a:lstStyle/>
          <a:p>
            <a:r>
              <a:rPr lang="pt-BR" i="1" dirty="0"/>
              <a:t>P. </a:t>
            </a:r>
            <a:r>
              <a:rPr lang="pt-BR" i="1" dirty="0" err="1"/>
              <a:t>vivax</a:t>
            </a:r>
            <a:r>
              <a:rPr lang="pt-BR" i="1" dirty="0"/>
              <a:t> </a:t>
            </a:r>
            <a:r>
              <a:rPr lang="pt-BR" dirty="0"/>
              <a:t>= terçã benigna – ciclo 48 horas</a:t>
            </a:r>
          </a:p>
          <a:p>
            <a:r>
              <a:rPr lang="pt-BR" i="1" dirty="0"/>
              <a:t>P. falciparum</a:t>
            </a:r>
            <a:r>
              <a:rPr lang="pt-BR" dirty="0"/>
              <a:t> = terça maligna – ciclo 48 horas</a:t>
            </a:r>
          </a:p>
          <a:p>
            <a:r>
              <a:rPr lang="pt-BR" i="1" dirty="0"/>
              <a:t>P. </a:t>
            </a:r>
            <a:r>
              <a:rPr lang="pt-BR" i="1" dirty="0" err="1"/>
              <a:t>malariae</a:t>
            </a:r>
            <a:r>
              <a:rPr lang="pt-BR" dirty="0"/>
              <a:t> = quartã – ciclo 72 horas</a:t>
            </a:r>
          </a:p>
          <a:p>
            <a:r>
              <a:rPr lang="pt-BR" dirty="0"/>
              <a:t>Sintomas = febre, anemia e problemas hepáticos</a:t>
            </a:r>
          </a:p>
          <a:p>
            <a:r>
              <a:rPr lang="pt-BR" dirty="0"/>
              <a:t>Profilaxia:</a:t>
            </a:r>
          </a:p>
          <a:p>
            <a:pPr lvl="1"/>
            <a:r>
              <a:rPr lang="pt-BR" dirty="0"/>
              <a:t>Tratar o doente</a:t>
            </a:r>
          </a:p>
          <a:p>
            <a:pPr lvl="1"/>
            <a:r>
              <a:rPr lang="pt-BR" dirty="0"/>
              <a:t>Combater mosquito</a:t>
            </a:r>
          </a:p>
          <a:p>
            <a:pPr lvl="1"/>
            <a:r>
              <a:rPr lang="pt-BR" dirty="0"/>
              <a:t>Telas e mosquiteiro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5732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Amebíase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94" y="1643270"/>
            <a:ext cx="10532089" cy="4929807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Disenteria amebiana</a:t>
            </a:r>
          </a:p>
          <a:p>
            <a:r>
              <a:rPr lang="pt-BR" dirty="0"/>
              <a:t>Agente etiológico: rizópode </a:t>
            </a:r>
            <a:r>
              <a:rPr lang="pt-BR" i="1" dirty="0" err="1"/>
              <a:t>Entamoeba</a:t>
            </a:r>
            <a:r>
              <a:rPr lang="pt-BR" i="1" dirty="0"/>
              <a:t> </a:t>
            </a:r>
            <a:r>
              <a:rPr lang="pt-BR" i="1" dirty="0" err="1"/>
              <a:t>histolytica</a:t>
            </a:r>
            <a:endParaRPr lang="pt-BR" i="1" dirty="0"/>
          </a:p>
          <a:p>
            <a:r>
              <a:rPr lang="pt-BR" dirty="0"/>
              <a:t>Transmissão: </a:t>
            </a:r>
          </a:p>
          <a:p>
            <a:pPr lvl="1"/>
            <a:r>
              <a:rPr lang="pt-BR" dirty="0"/>
              <a:t>Água ou alimentos contaminados com cistos, eliminados nas fezes humanas</a:t>
            </a:r>
          </a:p>
          <a:p>
            <a:r>
              <a:rPr lang="pt-BR" dirty="0"/>
              <a:t>Instalam-se no intestino mas podem ir a outros órgãos e levar à morte</a:t>
            </a:r>
          </a:p>
          <a:p>
            <a:r>
              <a:rPr lang="pt-BR" dirty="0"/>
              <a:t>Sintomas: diarreia, cólicas, náuseas, emagrecimento</a:t>
            </a:r>
          </a:p>
          <a:p>
            <a:r>
              <a:rPr lang="pt-BR" dirty="0"/>
              <a:t>Profilaxia:</a:t>
            </a:r>
          </a:p>
          <a:p>
            <a:pPr lvl="1"/>
            <a:r>
              <a:rPr lang="pt-BR" dirty="0"/>
              <a:t>Saneamento básico</a:t>
            </a:r>
          </a:p>
          <a:p>
            <a:pPr lvl="1"/>
            <a:r>
              <a:rPr lang="pt-BR" dirty="0"/>
              <a:t>Ferver água antes de consumir</a:t>
            </a:r>
          </a:p>
          <a:p>
            <a:pPr lvl="1"/>
            <a:r>
              <a:rPr lang="pt-BR" dirty="0"/>
              <a:t>Higiene Pessoal</a:t>
            </a:r>
          </a:p>
          <a:p>
            <a:pPr lvl="1"/>
            <a:r>
              <a:rPr lang="pt-BR" dirty="0"/>
              <a:t>Lavar frutas e verduras</a:t>
            </a:r>
          </a:p>
          <a:p>
            <a:pPr lvl="1"/>
            <a:r>
              <a:rPr lang="pt-BR" dirty="0"/>
              <a:t>Tratar os doentes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0221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Giardíase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65" y="1443059"/>
            <a:ext cx="6882888" cy="5183027"/>
          </a:xfrm>
        </p:spPr>
        <p:txBody>
          <a:bodyPr>
            <a:normAutofit lnSpcReduction="10000"/>
          </a:bodyPr>
          <a:lstStyle/>
          <a:p>
            <a:r>
              <a:rPr lang="pt-BR" dirty="0"/>
              <a:t>Mais frequente em crianças</a:t>
            </a:r>
          </a:p>
          <a:p>
            <a:r>
              <a:rPr lang="pt-BR" dirty="0"/>
              <a:t>Agente etiológico: flagelado </a:t>
            </a:r>
            <a:r>
              <a:rPr lang="pt-BR" i="1" dirty="0" err="1"/>
              <a:t>Giardia</a:t>
            </a:r>
            <a:r>
              <a:rPr lang="pt-BR" i="1" dirty="0"/>
              <a:t> lamblia</a:t>
            </a:r>
          </a:p>
          <a:p>
            <a:r>
              <a:rPr lang="pt-BR" dirty="0"/>
              <a:t>Transmissão:</a:t>
            </a:r>
          </a:p>
          <a:p>
            <a:pPr lvl="1"/>
            <a:r>
              <a:rPr lang="pt-BR" dirty="0"/>
              <a:t>Ingestão de água e alimentos contaminados com cistos liberados nas fezes</a:t>
            </a:r>
          </a:p>
          <a:p>
            <a:r>
              <a:rPr lang="pt-BR" dirty="0"/>
              <a:t>Pode ser assintomática e crônica</a:t>
            </a:r>
          </a:p>
          <a:p>
            <a:r>
              <a:rPr lang="pt-BR" dirty="0"/>
              <a:t>Sintomas comuns:</a:t>
            </a:r>
          </a:p>
          <a:p>
            <a:pPr lvl="1"/>
            <a:r>
              <a:rPr lang="pt-BR" dirty="0"/>
              <a:t>Dor abdominal, náuseas, vômitos, diarreia</a:t>
            </a:r>
          </a:p>
          <a:p>
            <a:r>
              <a:rPr lang="pt-BR" dirty="0"/>
              <a:t>Profilaxia:</a:t>
            </a:r>
          </a:p>
          <a:p>
            <a:pPr lvl="1"/>
            <a:r>
              <a:rPr lang="pt-BR" dirty="0"/>
              <a:t>Saneamento básico</a:t>
            </a:r>
          </a:p>
          <a:p>
            <a:pPr lvl="1"/>
            <a:r>
              <a:rPr lang="pt-BR" dirty="0"/>
              <a:t>Higiene pessoal</a:t>
            </a:r>
          </a:p>
          <a:p>
            <a:pPr lvl="1"/>
            <a:r>
              <a:rPr lang="pt-BR" dirty="0"/>
              <a:t>Ferver água antes de consumo</a:t>
            </a:r>
          </a:p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052DC3-E51B-47C6-AA42-75820770F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052" y="1325563"/>
            <a:ext cx="5159948" cy="287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38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Leishmaniose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65" y="1443059"/>
            <a:ext cx="8344738" cy="5183027"/>
          </a:xfrm>
        </p:spPr>
        <p:txBody>
          <a:bodyPr>
            <a:normAutofit/>
          </a:bodyPr>
          <a:lstStyle/>
          <a:p>
            <a:r>
              <a:rPr lang="pt-BR" dirty="0"/>
              <a:t>Vetor: mosquito </a:t>
            </a:r>
            <a:r>
              <a:rPr lang="pt-BR" dirty="0" err="1"/>
              <a:t>Lutzomyia</a:t>
            </a:r>
            <a:r>
              <a:rPr lang="pt-BR" dirty="0"/>
              <a:t> (mosquito-palha, birigui) fêmea</a:t>
            </a:r>
          </a:p>
          <a:p>
            <a:r>
              <a:rPr lang="pt-BR" dirty="0"/>
              <a:t>Leishmaniose cutânea (Úlcera de Bauru)</a:t>
            </a:r>
          </a:p>
          <a:p>
            <a:pPr lvl="1"/>
            <a:r>
              <a:rPr lang="pt-BR" dirty="0"/>
              <a:t>Agente etiológico: flagelado </a:t>
            </a:r>
            <a:r>
              <a:rPr lang="pt-BR" i="1" dirty="0" err="1"/>
              <a:t>Leishmania</a:t>
            </a:r>
            <a:r>
              <a:rPr lang="pt-BR" i="1" dirty="0"/>
              <a:t> brasiliensis</a:t>
            </a:r>
          </a:p>
          <a:p>
            <a:pPr lvl="1"/>
            <a:r>
              <a:rPr lang="pt-BR" dirty="0"/>
              <a:t>Feridas na pele e nas mucosas</a:t>
            </a:r>
          </a:p>
          <a:p>
            <a:pPr lvl="1"/>
            <a:r>
              <a:rPr lang="pt-BR" dirty="0"/>
              <a:t>Rato, cão, gambá atuam como reservatórios</a:t>
            </a:r>
          </a:p>
          <a:p>
            <a:r>
              <a:rPr lang="pt-BR" dirty="0"/>
              <a:t>Leishmaniose visceral (</a:t>
            </a:r>
            <a:r>
              <a:rPr lang="pt-BR" dirty="0" err="1"/>
              <a:t>calazar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Agente etiológico: flagelado</a:t>
            </a:r>
            <a:r>
              <a:rPr lang="pt-BR" i="1" dirty="0"/>
              <a:t> </a:t>
            </a:r>
            <a:r>
              <a:rPr lang="pt-BR" i="1" dirty="0" err="1"/>
              <a:t>Leishmania</a:t>
            </a:r>
            <a:r>
              <a:rPr lang="pt-BR" i="1" dirty="0"/>
              <a:t> </a:t>
            </a:r>
            <a:r>
              <a:rPr lang="pt-BR" i="1" dirty="0" err="1"/>
              <a:t>chagasi</a:t>
            </a:r>
            <a:endParaRPr lang="pt-BR" i="1" dirty="0"/>
          </a:p>
          <a:p>
            <a:pPr lvl="1"/>
            <a:r>
              <a:rPr lang="pt-BR" dirty="0"/>
              <a:t>Febre contínua, lesão nas vísceras, aumento do fígado, baço</a:t>
            </a:r>
          </a:p>
          <a:p>
            <a:pPr marL="457200" lvl="1" indent="0">
              <a:buNone/>
            </a:pPr>
            <a:r>
              <a:rPr lang="pt-BR" dirty="0"/>
              <a:t> e anemia</a:t>
            </a:r>
          </a:p>
          <a:p>
            <a:r>
              <a:rPr lang="pt-BR" dirty="0"/>
              <a:t>Profilaxia: combate ao mosquito-palha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444801-F58D-46DA-9383-D412ADAE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066" y="1212759"/>
            <a:ext cx="3399770" cy="463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44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Tricomoníase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3059"/>
            <a:ext cx="10532089" cy="5183027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Agente etiológico: flagelado </a:t>
            </a:r>
            <a:r>
              <a:rPr lang="pt-BR" i="1" dirty="0" err="1"/>
              <a:t>Trichomonas</a:t>
            </a:r>
            <a:r>
              <a:rPr lang="pt-BR" i="1" dirty="0"/>
              <a:t> </a:t>
            </a:r>
            <a:r>
              <a:rPr lang="pt-BR" i="1" dirty="0" err="1"/>
              <a:t>vaginalis</a:t>
            </a:r>
            <a:endParaRPr lang="pt-BR" i="1" dirty="0"/>
          </a:p>
          <a:p>
            <a:r>
              <a:rPr lang="pt-BR" dirty="0"/>
              <a:t>Instala no sistema urogenital</a:t>
            </a:r>
          </a:p>
          <a:p>
            <a:r>
              <a:rPr lang="pt-BR" dirty="0"/>
              <a:t>DST (Doença Sexualmente Transmissível)</a:t>
            </a:r>
          </a:p>
          <a:p>
            <a:r>
              <a:rPr lang="pt-BR" dirty="0"/>
              <a:t>Transmissão:</a:t>
            </a:r>
          </a:p>
          <a:p>
            <a:pPr lvl="1"/>
            <a:r>
              <a:rPr lang="pt-BR" dirty="0"/>
              <a:t>Sexo sem camisinha</a:t>
            </a:r>
          </a:p>
          <a:p>
            <a:pPr lvl="1"/>
            <a:r>
              <a:rPr lang="pt-BR" dirty="0"/>
              <a:t>Vasos sanitários</a:t>
            </a:r>
          </a:p>
          <a:p>
            <a:pPr lvl="1"/>
            <a:r>
              <a:rPr lang="pt-BR" dirty="0"/>
              <a:t>Compartilhamento de roupas íntimas e toalhas</a:t>
            </a:r>
          </a:p>
          <a:p>
            <a:r>
              <a:rPr lang="pt-BR" dirty="0"/>
              <a:t>Sintomas:</a:t>
            </a:r>
          </a:p>
          <a:p>
            <a:pPr lvl="1"/>
            <a:r>
              <a:rPr lang="pt-BR" dirty="0"/>
              <a:t>Corrimento</a:t>
            </a:r>
          </a:p>
          <a:p>
            <a:pPr lvl="1"/>
            <a:r>
              <a:rPr lang="pt-BR" dirty="0"/>
              <a:t>Dor</a:t>
            </a:r>
          </a:p>
          <a:p>
            <a:pPr lvl="1"/>
            <a:r>
              <a:rPr lang="pt-BR" dirty="0"/>
              <a:t>Prurido</a:t>
            </a:r>
          </a:p>
          <a:p>
            <a:pPr lvl="1"/>
            <a:r>
              <a:rPr lang="pt-BR" dirty="0"/>
              <a:t>Infecção na vagina e na uretra</a:t>
            </a:r>
          </a:p>
          <a:p>
            <a:pPr lvl="1"/>
            <a:r>
              <a:rPr lang="pt-BR" dirty="0"/>
              <a:t>Nos homens costuma ser assintomático</a:t>
            </a:r>
          </a:p>
          <a:p>
            <a:pPr lvl="1"/>
            <a:endParaRPr lang="pt-BR" dirty="0"/>
          </a:p>
        </p:txBody>
      </p:sp>
      <p:pic>
        <p:nvPicPr>
          <p:cNvPr id="10242" name="Picture 2" descr="Resultado de imagem para t vaginalis">
            <a:extLst>
              <a:ext uri="{FF2B5EF4-FFF2-40B4-BE49-F238E27FC236}">
                <a16:creationId xmlns:a16="http://schemas.microsoft.com/office/drawing/2014/main" id="{DD21B500-7932-48EB-AB4B-C35A4F3EB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956" y="1244005"/>
            <a:ext cx="4468044" cy="417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437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A76D7-0624-4536-BC17-64C29072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6"/>
          </a:solidFill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Protozooses</a:t>
            </a:r>
            <a:r>
              <a:rPr 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Toxoplasmose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0376FD-0C8B-41DB-A4B4-8F5E7BEBB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11830801" cy="5183027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Agente etiológico: esporozoário </a:t>
            </a:r>
            <a:r>
              <a:rPr lang="pt-BR" i="1" dirty="0"/>
              <a:t>Toxoplasma </a:t>
            </a:r>
            <a:r>
              <a:rPr lang="pt-BR" i="1" dirty="0" err="1"/>
              <a:t>gondii</a:t>
            </a:r>
            <a:endParaRPr lang="pt-BR" i="1" dirty="0"/>
          </a:p>
          <a:p>
            <a:r>
              <a:rPr lang="pt-BR" dirty="0"/>
              <a:t>Fezes de animais domésticos (gato) e silvestres</a:t>
            </a:r>
          </a:p>
          <a:p>
            <a:r>
              <a:rPr lang="pt-BR" dirty="0"/>
              <a:t>Transmissão: ingestão dos cistos na água ou alimentos contaminados</a:t>
            </a:r>
          </a:p>
          <a:p>
            <a:r>
              <a:rPr lang="pt-BR" dirty="0"/>
              <a:t>Sintomas:</a:t>
            </a:r>
          </a:p>
          <a:p>
            <a:pPr lvl="1"/>
            <a:r>
              <a:rPr lang="pt-BR" dirty="0"/>
              <a:t>Pode ser assintomática</a:t>
            </a:r>
          </a:p>
          <a:p>
            <a:pPr lvl="1"/>
            <a:r>
              <a:rPr lang="pt-BR" dirty="0"/>
              <a:t>Cegueira</a:t>
            </a:r>
          </a:p>
          <a:p>
            <a:pPr lvl="1"/>
            <a:r>
              <a:rPr lang="pt-BR" dirty="0"/>
              <a:t>Lesões no sistema nervoso e pulmões</a:t>
            </a:r>
          </a:p>
          <a:p>
            <a:r>
              <a:rPr lang="pt-BR" dirty="0"/>
              <a:t>Pode passar da mãe para o filho pela placenta podendo provocar aborto ou problemas de formação</a:t>
            </a:r>
          </a:p>
          <a:p>
            <a:r>
              <a:rPr lang="pt-BR" dirty="0"/>
              <a:t>Profilaxia:</a:t>
            </a:r>
          </a:p>
          <a:p>
            <a:pPr lvl="1"/>
            <a:r>
              <a:rPr lang="pt-BR" dirty="0"/>
              <a:t>Cozinhar bem alimentos</a:t>
            </a:r>
          </a:p>
          <a:p>
            <a:pPr lvl="1"/>
            <a:r>
              <a:rPr lang="pt-BR" dirty="0"/>
              <a:t>Higiene pessoal</a:t>
            </a:r>
          </a:p>
          <a:p>
            <a:pPr lvl="1"/>
            <a:r>
              <a:rPr lang="pt-BR" dirty="0"/>
              <a:t>Evitar contato com fezes de animais contaminados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6414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934</Words>
  <Application>Microsoft Office PowerPoint</Application>
  <PresentationFormat>Widescreen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Classificação Biológica</vt:lpstr>
      <vt:lpstr>Introdução</vt:lpstr>
      <vt:lpstr>Modo de Vida Variável</vt:lpstr>
      <vt:lpstr>Características Gerais</vt:lpstr>
      <vt:lpstr>Classificação Clássica</vt:lpstr>
      <vt:lpstr>Rizópodes</vt:lpstr>
      <vt:lpstr>Flagelados</vt:lpstr>
      <vt:lpstr>Ciliados</vt:lpstr>
      <vt:lpstr>Ciliados</vt:lpstr>
      <vt:lpstr>Esporozoários</vt:lpstr>
      <vt:lpstr>Protozooses – Doença de Chagas</vt:lpstr>
      <vt:lpstr>Protozooses – Doença de Chagas</vt:lpstr>
      <vt:lpstr>Protozooses – Doença de Chagas</vt:lpstr>
      <vt:lpstr>Protozooses – Malária</vt:lpstr>
      <vt:lpstr>Protozooses – Malária</vt:lpstr>
      <vt:lpstr>Protozooses – Malária</vt:lpstr>
      <vt:lpstr>Protozooses – Malária</vt:lpstr>
      <vt:lpstr>Protozooses – Malária</vt:lpstr>
      <vt:lpstr>Protozooses – Amebíase</vt:lpstr>
      <vt:lpstr>Protozooses – Giardíase</vt:lpstr>
      <vt:lpstr>Protozooses – Leishmaniose</vt:lpstr>
      <vt:lpstr>Protozooses – Tricomoníase</vt:lpstr>
      <vt:lpstr>Protozooses – Toxoplasmose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Protozoários</dc:title>
  <dc:creator>Bruno Barbosa</dc:creator>
  <cp:lastModifiedBy>Bruno Barbosa</cp:lastModifiedBy>
  <cp:revision>20</cp:revision>
  <dcterms:created xsi:type="dcterms:W3CDTF">2018-03-12T17:04:14Z</dcterms:created>
  <dcterms:modified xsi:type="dcterms:W3CDTF">2021-05-14T02:09:28Z</dcterms:modified>
</cp:coreProperties>
</file>