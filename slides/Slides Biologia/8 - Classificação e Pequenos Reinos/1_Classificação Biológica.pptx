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6006F6-3097-4091-A1C2-618699A68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A39F04-2111-473F-9E9B-6A3070ED9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F9CE1C-07AC-40F8-B9F1-8A023212A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C89EE-3915-4378-A68B-C013AAADD396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9E9ACE-EAA8-40B8-A275-5A4B59D60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49D77D-B067-4EE9-879D-2EE1CD97A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F15C-654B-4BFF-95F2-30976C38AE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04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EDB293-03DC-4132-B821-28646944B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CBF495-5A6B-4956-8696-8322DC259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09334F-28DF-47E2-B383-25218CC40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C89EE-3915-4378-A68B-C013AAADD396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41D63B-072C-4ADD-B9AA-FCEE7BD79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5327FB-65FA-4895-B961-6C2FD310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F15C-654B-4BFF-95F2-30976C38AE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4860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1D0070-D764-445C-B4F2-087550625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9BDC77-872B-4E9A-8E76-CB4248A42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3E4244-7139-489A-9715-FE1FFC3F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C89EE-3915-4378-A68B-C013AAADD396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B4D01B-60E0-48D8-895D-2F49CF995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77FE9A-7737-44F4-88C9-50828037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F15C-654B-4BFF-95F2-30976C38AE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3971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9CDDEC-C2BC-4757-B23D-A6CC78B15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18EF8B-BF9D-4FDD-9587-7288F19BCD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1ACF722-1CAE-489A-B34F-9B6188AB99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F3D075-24BA-4638-8F24-7618EBC1E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C89EE-3915-4378-A68B-C013AAADD396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D57178B-6B1D-4538-8578-F310C372F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E53A02-E5A0-4936-A73C-8A9668071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F15C-654B-4BFF-95F2-30976C38AE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6426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1AE6E6-98CE-4DFA-95E7-75722B555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D59FB30-7430-4E2D-85C4-AD2F22E05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AE1CC3-3CB8-4C42-9FD3-1883B120FE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1809295-4692-4884-9B41-CEEDE6435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07597B0-7686-4965-98F4-A63C31F089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70FF6C1-D97C-4C3F-9918-739056D3C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C89EE-3915-4378-A68B-C013AAADD396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A7F8773-8DA9-4AEA-88F3-14C54211F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7256DA6-9035-4D08-8290-855AA815F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F15C-654B-4BFF-95F2-30976C38AE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6379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2310A-A506-4E68-A0D6-8056619A6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817800C-7B02-4AED-A03C-6C3E4BD53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C89EE-3915-4378-A68B-C013AAADD396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0753FF7-899F-4CA9-B009-9A80DE9FA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1FCE4A6-5653-4727-AF8D-3B4FB5EB1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F15C-654B-4BFF-95F2-30976C38AE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5916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9FED65E-3D5B-4F0A-857E-823E7092E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C89EE-3915-4378-A68B-C013AAADD396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C25C50A-7B33-47E0-9940-1795539E1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F42075A-E5DB-4C1E-ABC8-30819BDB9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F15C-654B-4BFF-95F2-30976C38AE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011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44DF7A-4A79-40EC-9281-5900A5F73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ED3813-0372-4841-BB62-46C768C74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8EC57D5-CDE7-4B0B-96CA-10BCC1D982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A064D7-73FB-46F6-A87A-0AAE37C38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C89EE-3915-4378-A68B-C013AAADD396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252A47-A0A7-46D3-8338-F1B59CCE1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530EC1C-D7DD-49B4-88E7-18DE88856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F15C-654B-4BFF-95F2-30976C38AE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1743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B82F1-B403-4E51-8D4D-9ACE76853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3179F15-F5FA-4BAF-983D-E16DE67D73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37B1DBF-1D53-4BF4-969F-8596DFC8F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7FCC3C1-A22E-49D1-91A6-31FF9D9F1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C89EE-3915-4378-A68B-C013AAADD396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8F44D2-44A6-4E64-9A91-584DD8976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13E485-87DD-4051-8FCB-61F55851E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F15C-654B-4BFF-95F2-30976C38AE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3795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319265-EB09-460C-85E5-F5840E33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BF748B9-F62E-4722-B5BC-0EA2DCA24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D1BE6B-C156-4A2B-9363-735C09F2E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C89EE-3915-4378-A68B-C013AAADD396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D24DD1-0699-44B3-83C6-EB0BB70A2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4944A7-A48A-485A-A805-9713F7842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F15C-654B-4BFF-95F2-30976C38AE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8922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36A6AFA-E214-4203-B2BF-7597A5F28F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AE1D762-BEDE-4A41-8C8C-B140B4ECB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7A2D48-C223-44D8-B342-7D584E5A4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C89EE-3915-4378-A68B-C013AAADD396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84B79A-F695-4CB0-B731-7E8770302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207581-11F4-4C06-BF92-BB37063B9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4F15C-654B-4BFF-95F2-30976C38AE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0477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357B641-C537-461E-A0A8-9CDFE99CC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4A3083-FFDD-4E03-89FC-22A7CB0BB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E9F9C3-1CA7-4E00-963A-ED3C056D5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EC89EE-3915-4378-A68B-C013AAADD396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A3A472-C958-4C47-A518-DD72AA23D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B1FD1C-83CD-4AEF-B254-3A2963457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4F15C-654B-4BFF-95F2-30976C38AE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5143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8D0C843-C807-4191-88CA-CAB64AAEE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227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90D6047-0A43-4494-8AE8-810C6A028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1316038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Classificação Biológica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6E5B1FB6-E629-471A-AE41-B9F4E5DEF29D}"/>
              </a:ext>
            </a:extLst>
          </p:cNvPr>
          <p:cNvSpPr txBox="1">
            <a:spLocks/>
          </p:cNvSpPr>
          <p:nvPr/>
        </p:nvSpPr>
        <p:spPr>
          <a:xfrm>
            <a:off x="0" y="2425413"/>
            <a:ext cx="12192000" cy="1316038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0" dirty="0"/>
          </a:p>
          <a:p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92430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Introdução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376FD-0C8B-41DB-A4B4-8F5E7BEBB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694" y="1814121"/>
            <a:ext cx="6505135" cy="4351338"/>
          </a:xfrm>
        </p:spPr>
        <p:txBody>
          <a:bodyPr/>
          <a:lstStyle/>
          <a:p>
            <a:r>
              <a:rPr lang="pt-BR" dirty="0"/>
              <a:t>Taxonomia = descreve, nomeia e classifica</a:t>
            </a:r>
          </a:p>
          <a:p>
            <a:pPr lvl="1"/>
            <a:r>
              <a:rPr lang="pt-BR" dirty="0"/>
              <a:t>Padronização</a:t>
            </a:r>
          </a:p>
          <a:p>
            <a:r>
              <a:rPr lang="pt-BR" dirty="0"/>
              <a:t>Sistemática = estudo da biodiversidade e grau de parentesco</a:t>
            </a:r>
          </a:p>
          <a:p>
            <a:pPr lvl="1"/>
            <a:r>
              <a:rPr lang="pt-BR" dirty="0"/>
              <a:t>Taxonomia + relações evolutivas</a:t>
            </a:r>
          </a:p>
          <a:p>
            <a:r>
              <a:rPr lang="pt-BR" dirty="0"/>
              <a:t>Táxon = grupo de organismos formando uma unidade taxonômica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C9F2DFF-A7F8-4991-8CB5-3FD9D3CB3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0455" y="1529545"/>
            <a:ext cx="4843069" cy="532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032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Sistemas de Classificação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376FD-0C8B-41DB-A4B4-8F5E7BEBB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694" y="1814121"/>
            <a:ext cx="11425897" cy="4351338"/>
          </a:xfrm>
        </p:spPr>
        <p:txBody>
          <a:bodyPr/>
          <a:lstStyle/>
          <a:p>
            <a:r>
              <a:rPr lang="pt-BR" dirty="0"/>
              <a:t>Facilitam o estudo</a:t>
            </a:r>
          </a:p>
          <a:p>
            <a:r>
              <a:rPr lang="pt-BR" dirty="0"/>
              <a:t>Baseada em características compartilhadas</a:t>
            </a:r>
          </a:p>
          <a:p>
            <a:pPr lvl="1"/>
            <a:r>
              <a:rPr lang="pt-BR" dirty="0"/>
              <a:t>Morfológicos</a:t>
            </a:r>
          </a:p>
          <a:p>
            <a:pPr lvl="1"/>
            <a:r>
              <a:rPr lang="pt-BR" dirty="0"/>
              <a:t>Fisiológicos</a:t>
            </a:r>
          </a:p>
          <a:p>
            <a:pPr lvl="1"/>
            <a:r>
              <a:rPr lang="pt-BR" dirty="0"/>
              <a:t>Embrionários</a:t>
            </a:r>
          </a:p>
          <a:p>
            <a:pPr lvl="1"/>
            <a:r>
              <a:rPr lang="pt-BR" dirty="0"/>
              <a:t>Moleculares</a:t>
            </a:r>
          </a:p>
          <a:p>
            <a:r>
              <a:rPr lang="pt-BR" dirty="0"/>
              <a:t>Estudo complexo e dinâmico</a:t>
            </a:r>
          </a:p>
          <a:p>
            <a:r>
              <a:rPr lang="pt-BR" dirty="0"/>
              <a:t>Primeiro: Aristóteles (384 - 322 a.C.)</a:t>
            </a:r>
          </a:p>
          <a:p>
            <a:pPr lvl="1"/>
            <a:r>
              <a:rPr lang="pt-BR" dirty="0"/>
              <a:t>Plantas e Animais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BF92589-DC28-46FE-B2C1-304FD6ED4A6A}"/>
              </a:ext>
            </a:extLst>
          </p:cNvPr>
          <p:cNvSpPr/>
          <p:nvPr/>
        </p:nvSpPr>
        <p:spPr>
          <a:xfrm>
            <a:off x="8468139" y="2034324"/>
            <a:ext cx="2358887" cy="7686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000" b="1" dirty="0"/>
              <a:t>VIDA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5F494138-AEA5-464E-8151-122BC30A9170}"/>
              </a:ext>
            </a:extLst>
          </p:cNvPr>
          <p:cNvCxnSpPr/>
          <p:nvPr/>
        </p:nvCxnSpPr>
        <p:spPr>
          <a:xfrm flipH="1">
            <a:off x="8468139" y="3142421"/>
            <a:ext cx="583096" cy="1341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98A6DA8E-712A-4B17-AD42-F202D3768209}"/>
              </a:ext>
            </a:extLst>
          </p:cNvPr>
          <p:cNvCxnSpPr>
            <a:cxnSpLocks/>
          </p:cNvCxnSpPr>
          <p:nvPr/>
        </p:nvCxnSpPr>
        <p:spPr>
          <a:xfrm>
            <a:off x="10157791" y="3142421"/>
            <a:ext cx="669235" cy="1341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tângulo 11">
            <a:extLst>
              <a:ext uri="{FF2B5EF4-FFF2-40B4-BE49-F238E27FC236}">
                <a16:creationId xmlns:a16="http://schemas.microsoft.com/office/drawing/2014/main" id="{9A28F01D-8C23-490B-9A9C-8A82E89D366F}"/>
              </a:ext>
            </a:extLst>
          </p:cNvPr>
          <p:cNvSpPr/>
          <p:nvPr/>
        </p:nvSpPr>
        <p:spPr>
          <a:xfrm>
            <a:off x="7042817" y="4556205"/>
            <a:ext cx="2358887" cy="7686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000" b="1" dirty="0" err="1"/>
              <a:t>Animalia</a:t>
            </a:r>
            <a:endParaRPr lang="pt-BR" sz="3000" b="1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E0B6D68-1BB1-4228-A842-D79D18DE4B8C}"/>
              </a:ext>
            </a:extLst>
          </p:cNvPr>
          <p:cNvSpPr/>
          <p:nvPr/>
        </p:nvSpPr>
        <p:spPr>
          <a:xfrm>
            <a:off x="9680712" y="4556205"/>
            <a:ext cx="2358887" cy="7686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000" b="1" dirty="0" err="1"/>
              <a:t>Plantae</a:t>
            </a:r>
            <a:endParaRPr lang="pt-BR" sz="3000" b="1" dirty="0"/>
          </a:p>
        </p:txBody>
      </p:sp>
    </p:spTree>
    <p:extLst>
      <p:ext uri="{BB962C8B-B14F-4D97-AF65-F5344CB8AC3E}">
        <p14:creationId xmlns:p14="http://schemas.microsoft.com/office/powerpoint/2010/main" val="27901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Sistemas de Classificação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376FD-0C8B-41DB-A4B4-8F5E7BEBB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694" y="1814120"/>
            <a:ext cx="7770937" cy="4791207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Sistemas Artificiais = poucos critérios</a:t>
            </a:r>
          </a:p>
          <a:p>
            <a:pPr lvl="1"/>
            <a:r>
              <a:rPr lang="pt-BR" dirty="0"/>
              <a:t>Ex: Nadadores, Saltadores, Voadores</a:t>
            </a:r>
          </a:p>
          <a:p>
            <a:endParaRPr lang="pt-BR" dirty="0"/>
          </a:p>
          <a:p>
            <a:r>
              <a:rPr lang="pt-BR" dirty="0"/>
              <a:t>Mais conhecimento = maior complexidade da classificação</a:t>
            </a:r>
          </a:p>
          <a:p>
            <a:r>
              <a:rPr lang="pt-BR" dirty="0" err="1"/>
              <a:t>Séc</a:t>
            </a:r>
            <a:r>
              <a:rPr lang="pt-BR" dirty="0"/>
              <a:t> XVIII </a:t>
            </a:r>
            <a:r>
              <a:rPr lang="pt-BR" dirty="0">
                <a:sym typeface="Wingdings" panose="05000000000000000000" pitchFamily="2" charset="2"/>
              </a:rPr>
              <a:t> Evolução Biológica</a:t>
            </a:r>
          </a:p>
          <a:p>
            <a:r>
              <a:rPr lang="pt-BR" dirty="0">
                <a:sym typeface="Wingdings" panose="05000000000000000000" pitchFamily="2" charset="2"/>
              </a:rPr>
              <a:t>Sistemas Naturais = mais objetivos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Morfologia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Fisiologia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Ecologia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Embriologia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Filogenia = História Evolutiva</a:t>
            </a:r>
            <a:endParaRPr lang="pt-BR" dirty="0"/>
          </a:p>
        </p:txBody>
      </p:sp>
      <p:pic>
        <p:nvPicPr>
          <p:cNvPr id="2050" name="Picture 2" descr="Resultado de imagem para borboleta">
            <a:extLst>
              <a:ext uri="{FF2B5EF4-FFF2-40B4-BE49-F238E27FC236}">
                <a16:creationId xmlns:a16="http://schemas.microsoft.com/office/drawing/2014/main" id="{BE10AB1E-805C-4AC6-9BCD-30B481E92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4093" y="1424591"/>
            <a:ext cx="3825281" cy="2677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Resultado de imagem para quero quero">
            <a:extLst>
              <a:ext uri="{FF2B5EF4-FFF2-40B4-BE49-F238E27FC236}">
                <a16:creationId xmlns:a16="http://schemas.microsoft.com/office/drawing/2014/main" id="{7A45A54E-B543-4254-BB25-91222C75F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4092" y="4201316"/>
            <a:ext cx="3825281" cy="2404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9E191DC8-E835-4F65-8ADE-D11C3D3FA8B4}"/>
              </a:ext>
            </a:extLst>
          </p:cNvPr>
          <p:cNvCxnSpPr/>
          <p:nvPr/>
        </p:nvCxnSpPr>
        <p:spPr>
          <a:xfrm>
            <a:off x="4158736" y="2571994"/>
            <a:ext cx="109728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984877A1-33AF-4B14-9F83-502A1B57AA08}"/>
              </a:ext>
            </a:extLst>
          </p:cNvPr>
          <p:cNvCxnSpPr>
            <a:cxnSpLocks/>
          </p:cNvCxnSpPr>
          <p:nvPr/>
        </p:nvCxnSpPr>
        <p:spPr>
          <a:xfrm>
            <a:off x="5499652" y="2414743"/>
            <a:ext cx="233238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F4E3ECF7-2DDF-4B54-A4DE-7CAF79C84D06}"/>
              </a:ext>
            </a:extLst>
          </p:cNvPr>
          <p:cNvCxnSpPr>
            <a:cxnSpLocks/>
          </p:cNvCxnSpPr>
          <p:nvPr/>
        </p:nvCxnSpPr>
        <p:spPr>
          <a:xfrm>
            <a:off x="6970643" y="2414743"/>
            <a:ext cx="1097280" cy="21307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4249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Classificação de “Lineu”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376FD-0C8B-41DB-A4B4-8F5E7BEBB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977" y="1708298"/>
            <a:ext cx="7735880" cy="4791207"/>
          </a:xfrm>
        </p:spPr>
        <p:txBody>
          <a:bodyPr>
            <a:normAutofit/>
          </a:bodyPr>
          <a:lstStyle/>
          <a:p>
            <a:r>
              <a:rPr lang="pt-BR" dirty="0"/>
              <a:t>Carl Von </a:t>
            </a:r>
            <a:r>
              <a:rPr lang="pt-BR" dirty="0" err="1"/>
              <a:t>Linné</a:t>
            </a:r>
            <a:r>
              <a:rPr lang="pt-BR" dirty="0"/>
              <a:t> (1707 – 1778)</a:t>
            </a:r>
          </a:p>
          <a:p>
            <a:r>
              <a:rPr lang="pt-BR" i="1" dirty="0" err="1"/>
              <a:t>Systema</a:t>
            </a:r>
            <a:r>
              <a:rPr lang="pt-BR" i="1" dirty="0"/>
              <a:t> </a:t>
            </a:r>
            <a:r>
              <a:rPr lang="pt-BR" i="1" dirty="0" err="1"/>
              <a:t>Naturae</a:t>
            </a:r>
            <a:r>
              <a:rPr lang="pt-BR" dirty="0"/>
              <a:t> = Sistema de classificação e nomenclatura</a:t>
            </a:r>
          </a:p>
          <a:p>
            <a:pPr lvl="1"/>
            <a:r>
              <a:rPr lang="pt-BR" dirty="0"/>
              <a:t>Artificial e fixista, mas ainda utilizado (com modificações)</a:t>
            </a:r>
          </a:p>
          <a:p>
            <a:pPr lvl="1"/>
            <a:r>
              <a:rPr lang="pt-BR" dirty="0"/>
              <a:t>Base para o sistema atual</a:t>
            </a:r>
          </a:p>
          <a:p>
            <a:pPr lvl="1"/>
            <a:r>
              <a:rPr lang="pt-BR" dirty="0"/>
              <a:t>Categorias Taxonômicas = hierarquia</a:t>
            </a:r>
          </a:p>
          <a:p>
            <a:pPr lvl="2"/>
            <a:r>
              <a:rPr lang="pt-BR" sz="2200" dirty="0"/>
              <a:t>Tamanho variável</a:t>
            </a:r>
          </a:p>
          <a:p>
            <a:pPr lvl="2"/>
            <a:r>
              <a:rPr lang="pt-BR" sz="2200" dirty="0"/>
              <a:t>Características compartilhadas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DDFAA79-FBCD-4655-85D5-F8391C9B2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5456" y="1704026"/>
            <a:ext cx="4506289" cy="500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598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Exemplo - Cães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997C99-32EE-44D2-9313-C1CD17E42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6" name="Picture 2" descr="Imagem relacionada">
            <a:extLst>
              <a:ext uri="{FF2B5EF4-FFF2-40B4-BE49-F238E27FC236}">
                <a16:creationId xmlns:a16="http://schemas.microsoft.com/office/drawing/2014/main" id="{22263967-85CD-4A98-B918-B076BF431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0523" y="1485106"/>
            <a:ext cx="6112288" cy="5181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9251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6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Conceito Biológico de Espécie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997C99-32EE-44D2-9313-C1CD17E42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1825625"/>
            <a:ext cx="11516138" cy="4351338"/>
          </a:xfrm>
        </p:spPr>
        <p:txBody>
          <a:bodyPr/>
          <a:lstStyle/>
          <a:p>
            <a:r>
              <a:rPr lang="pt-BR" dirty="0"/>
              <a:t>Conjunto de organismos que compartilham um conjunto de características e que se cruzam, originando descendentes férteis</a:t>
            </a:r>
          </a:p>
          <a:p>
            <a:pPr lvl="1"/>
            <a:r>
              <a:rPr lang="pt-BR" dirty="0"/>
              <a:t>Células com mesmo número de cromossomos</a:t>
            </a:r>
          </a:p>
          <a:p>
            <a:pPr lvl="1"/>
            <a:r>
              <a:rPr lang="pt-BR" dirty="0"/>
              <a:t>Semelhanças bioquímicas e fisiológicas</a:t>
            </a:r>
          </a:p>
          <a:p>
            <a:pPr lvl="1"/>
            <a:r>
              <a:rPr lang="pt-BR" dirty="0"/>
              <a:t>Mesmo desenvolvimento embrionário</a:t>
            </a:r>
          </a:p>
          <a:p>
            <a:pPr lvl="1"/>
            <a:r>
              <a:rPr lang="pt-BR" dirty="0"/>
              <a:t>TROCA de genes = FLUXO gênico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4BB2C1D2-7394-4B19-AA0D-11D5798F920E}"/>
              </a:ext>
            </a:extLst>
          </p:cNvPr>
          <p:cNvCxnSpPr/>
          <p:nvPr/>
        </p:nvCxnSpPr>
        <p:spPr>
          <a:xfrm>
            <a:off x="4532243" y="2610678"/>
            <a:ext cx="296848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Resultado de imagem para jumento e égua">
            <a:extLst>
              <a:ext uri="{FF2B5EF4-FFF2-40B4-BE49-F238E27FC236}">
                <a16:creationId xmlns:a16="http://schemas.microsoft.com/office/drawing/2014/main" id="{B17EDA0F-F4A9-4851-9F24-EBD2418CF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731" y="2306638"/>
            <a:ext cx="4566616" cy="435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2624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6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Regras de Nomenclatura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997C99-32EE-44D2-9313-C1CD17E42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1825625"/>
            <a:ext cx="11516138" cy="4351338"/>
          </a:xfrm>
        </p:spPr>
        <p:txBody>
          <a:bodyPr/>
          <a:lstStyle/>
          <a:p>
            <a:r>
              <a:rPr lang="pt-BR" dirty="0"/>
              <a:t>Conjunto de regras evita confusões</a:t>
            </a:r>
          </a:p>
          <a:p>
            <a:pPr lvl="1"/>
            <a:r>
              <a:rPr lang="pt-BR" dirty="0"/>
              <a:t>Peixe-boi, cavalo-marinho</a:t>
            </a:r>
          </a:p>
          <a:p>
            <a:r>
              <a:rPr lang="pt-BR" dirty="0"/>
              <a:t>Devem ser escritos em latim e com destaque (itálico, negrito ou sublinhado)</a:t>
            </a:r>
          </a:p>
          <a:p>
            <a:pPr lvl="1"/>
            <a:r>
              <a:rPr lang="pt-BR" dirty="0"/>
              <a:t>Estava desatento e fui predado por um </a:t>
            </a:r>
            <a:r>
              <a:rPr lang="pt-BR" i="1" dirty="0"/>
              <a:t>Canis </a:t>
            </a:r>
            <a:r>
              <a:rPr lang="pt-BR" i="1" dirty="0" err="1"/>
              <a:t>lupus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Quando vou a praia como um </a:t>
            </a:r>
            <a:r>
              <a:rPr lang="pt-BR" b="1" dirty="0" err="1"/>
              <a:t>Zea</a:t>
            </a:r>
            <a:r>
              <a:rPr lang="pt-BR" b="1" dirty="0"/>
              <a:t> </a:t>
            </a:r>
            <a:r>
              <a:rPr lang="pt-BR" b="1" dirty="0" err="1"/>
              <a:t>mays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Eu tenho quatro </a:t>
            </a:r>
            <a:r>
              <a:rPr lang="pt-BR" u="sng" dirty="0" err="1"/>
              <a:t>Felis</a:t>
            </a:r>
            <a:r>
              <a:rPr lang="pt-BR" u="sng" dirty="0"/>
              <a:t> </a:t>
            </a:r>
            <a:r>
              <a:rPr lang="pt-BR" u="sng" dirty="0" err="1"/>
              <a:t>catus</a:t>
            </a:r>
            <a:r>
              <a:rPr lang="pt-BR" dirty="0"/>
              <a:t>.</a:t>
            </a:r>
          </a:p>
          <a:p>
            <a:r>
              <a:rPr lang="pt-BR" dirty="0"/>
              <a:t>Nomenclatura binominal = pelo menos 2 palavras</a:t>
            </a:r>
          </a:p>
          <a:p>
            <a:pPr lvl="1"/>
            <a:r>
              <a:rPr lang="pt-BR" dirty="0"/>
              <a:t>Gênero (substantivo) com primeira letra maiúscula</a:t>
            </a:r>
          </a:p>
          <a:p>
            <a:pPr lvl="1"/>
            <a:r>
              <a:rPr lang="pt-BR" dirty="0"/>
              <a:t>Epíteto específico (adjetivo) com letra minúscula</a:t>
            </a:r>
          </a:p>
          <a:p>
            <a:pPr lvl="1"/>
            <a:r>
              <a:rPr lang="pt-BR" dirty="0"/>
              <a:t>Ex: Gosto de comer sementes de </a:t>
            </a:r>
            <a:r>
              <a:rPr lang="pt-BR" i="1" dirty="0" err="1"/>
              <a:t>Araucaria</a:t>
            </a:r>
            <a:r>
              <a:rPr lang="pt-BR" i="1" dirty="0"/>
              <a:t> </a:t>
            </a:r>
            <a:r>
              <a:rPr lang="pt-BR" i="1" dirty="0" err="1"/>
              <a:t>angustifolia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9944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6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Regras de Nomenclatura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997C99-32EE-44D2-9313-C1CD17E42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1825625"/>
            <a:ext cx="11516138" cy="4351338"/>
          </a:xfrm>
        </p:spPr>
        <p:txBody>
          <a:bodyPr/>
          <a:lstStyle/>
          <a:p>
            <a:r>
              <a:rPr lang="pt-BR" dirty="0"/>
              <a:t>Quando há subespécie, esta é indicada após o epíteto específico, com inicial minúscula</a:t>
            </a:r>
          </a:p>
          <a:p>
            <a:r>
              <a:rPr lang="pt-BR" dirty="0"/>
              <a:t>Em animais, família termina com sufixo –</a:t>
            </a:r>
            <a:r>
              <a:rPr lang="pt-BR" dirty="0" err="1"/>
              <a:t>idae</a:t>
            </a:r>
            <a:endParaRPr lang="pt-BR" dirty="0"/>
          </a:p>
          <a:p>
            <a:pPr lvl="1"/>
            <a:r>
              <a:rPr lang="pt-BR" dirty="0" err="1"/>
              <a:t>Canidae</a:t>
            </a:r>
            <a:endParaRPr lang="pt-BR" dirty="0"/>
          </a:p>
          <a:p>
            <a:r>
              <a:rPr lang="pt-BR" dirty="0"/>
              <a:t>Em vegetais, família termina com –</a:t>
            </a:r>
            <a:r>
              <a:rPr lang="pt-BR" dirty="0" err="1"/>
              <a:t>aceae</a:t>
            </a:r>
            <a:r>
              <a:rPr lang="pt-BR" dirty="0"/>
              <a:t> e ordem termina com –ales</a:t>
            </a:r>
          </a:p>
          <a:p>
            <a:pPr lvl="1"/>
            <a:r>
              <a:rPr lang="pt-BR" dirty="0" err="1"/>
              <a:t>Rosaceae</a:t>
            </a:r>
            <a:endParaRPr lang="pt-BR" dirty="0"/>
          </a:p>
          <a:p>
            <a:pPr lvl="1"/>
            <a:r>
              <a:rPr lang="pt-BR" dirty="0"/>
              <a:t>Rosales</a:t>
            </a:r>
          </a:p>
          <a:p>
            <a:r>
              <a:rPr lang="pt-BR" dirty="0"/>
              <a:t>Quando nos referimos a um organismo do gênero sem saber a espécie, usa-se sp.</a:t>
            </a:r>
          </a:p>
          <a:p>
            <a:pPr lvl="1"/>
            <a:r>
              <a:rPr lang="pt-BR" i="1" dirty="0"/>
              <a:t>Canis </a:t>
            </a:r>
            <a:r>
              <a:rPr lang="pt-BR" dirty="0"/>
              <a:t>sp.</a:t>
            </a:r>
          </a:p>
        </p:txBody>
      </p:sp>
    </p:spTree>
    <p:extLst>
      <p:ext uri="{BB962C8B-B14F-4D97-AF65-F5344CB8AC3E}">
        <p14:creationId xmlns:p14="http://schemas.microsoft.com/office/powerpoint/2010/main" val="256605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6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Classificação de </a:t>
            </a:r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Whittaker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(1988)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997C99-32EE-44D2-9313-C1CD17E42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1825625"/>
            <a:ext cx="11516138" cy="4351338"/>
          </a:xfrm>
        </p:spPr>
        <p:txBody>
          <a:bodyPr/>
          <a:lstStyle/>
          <a:p>
            <a:r>
              <a:rPr lang="pt-BR" dirty="0"/>
              <a:t>5 Reinos</a:t>
            </a:r>
          </a:p>
          <a:p>
            <a:pPr lvl="1"/>
            <a:r>
              <a:rPr lang="pt-BR" dirty="0"/>
              <a:t>Monera</a:t>
            </a:r>
          </a:p>
          <a:p>
            <a:pPr lvl="1"/>
            <a:r>
              <a:rPr lang="pt-BR" dirty="0"/>
              <a:t>Protista</a:t>
            </a:r>
          </a:p>
          <a:p>
            <a:pPr lvl="1"/>
            <a:r>
              <a:rPr lang="pt-BR" dirty="0" err="1"/>
              <a:t>Fungi</a:t>
            </a:r>
            <a:endParaRPr lang="pt-BR" dirty="0"/>
          </a:p>
          <a:p>
            <a:pPr lvl="1"/>
            <a:r>
              <a:rPr lang="pt-BR" dirty="0" err="1"/>
              <a:t>Plantae</a:t>
            </a:r>
            <a:endParaRPr lang="pt-BR" dirty="0"/>
          </a:p>
          <a:p>
            <a:pPr lvl="1"/>
            <a:r>
              <a:rPr lang="pt-BR" dirty="0" err="1"/>
              <a:t>Animalia</a:t>
            </a: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86A160D-4ECC-4CA7-AE8F-1EAD45115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316" y="1376362"/>
            <a:ext cx="7933083" cy="550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126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6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Os Cinco Grandes Reinos</a:t>
            </a:r>
            <a:endParaRPr lang="pt-BR" sz="6000" b="1" dirty="0">
              <a:solidFill>
                <a:schemeClr val="bg1"/>
              </a:solidFill>
            </a:endParaRPr>
          </a:p>
        </p:txBody>
      </p:sp>
      <p:pic>
        <p:nvPicPr>
          <p:cNvPr id="7" name="Imagem 6" descr="lemures.jpg">
            <a:extLst>
              <a:ext uri="{FF2B5EF4-FFF2-40B4-BE49-F238E27FC236}">
                <a16:creationId xmlns:a16="http://schemas.microsoft.com/office/drawing/2014/main" id="{F49C4AA9-BDBD-4CD8-9F4B-9308408E8CF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04014" y="3124389"/>
            <a:ext cx="1512168" cy="1080120"/>
          </a:xfrm>
          <a:prstGeom prst="rect">
            <a:avLst/>
          </a:prstGeom>
        </p:spPr>
      </p:pic>
      <p:pic>
        <p:nvPicPr>
          <p:cNvPr id="8" name="Imagem 7" descr="cogumelo.jpg">
            <a:extLst>
              <a:ext uri="{FF2B5EF4-FFF2-40B4-BE49-F238E27FC236}">
                <a16:creationId xmlns:a16="http://schemas.microsoft.com/office/drawing/2014/main" id="{62C33747-F156-4C4D-B6A1-310805F4553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175622" y="3112388"/>
            <a:ext cx="1584176" cy="1095693"/>
          </a:xfrm>
          <a:prstGeom prst="rect">
            <a:avLst/>
          </a:prstGeom>
        </p:spPr>
      </p:pic>
      <p:pic>
        <p:nvPicPr>
          <p:cNvPr id="9" name="Picture 14" descr="http://t1.gstatic.com/images?q=tbn:ANd9GcQXLglHUPNG_KjMUof13i_q4_byNnAohocqdww0N5scztagYnpDGg">
            <a:extLst>
              <a:ext uri="{FF2B5EF4-FFF2-40B4-BE49-F238E27FC236}">
                <a16:creationId xmlns:a16="http://schemas.microsoft.com/office/drawing/2014/main" id="{160BBE81-2557-49CC-B101-8A941CA69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03414" y="3112388"/>
            <a:ext cx="1584176" cy="1080120"/>
          </a:xfrm>
          <a:prstGeom prst="rect">
            <a:avLst/>
          </a:prstGeom>
          <a:noFill/>
        </p:spPr>
      </p:pic>
      <p:pic>
        <p:nvPicPr>
          <p:cNvPr id="10" name="Picture 18" descr="http://t3.gstatic.com/images?q=tbn:ANd9GcRGd8Q9cQBYG0LcLmHAUbc2vGqKoFm7vCPU6gYXAS-AERtsIXA5uQ">
            <a:extLst>
              <a:ext uri="{FF2B5EF4-FFF2-40B4-BE49-F238E27FC236}">
                <a16:creationId xmlns:a16="http://schemas.microsoft.com/office/drawing/2014/main" id="{5CFBF096-FB24-490F-8926-12872FDC88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75222" y="3112388"/>
            <a:ext cx="1512168" cy="1078698"/>
          </a:xfrm>
          <a:prstGeom prst="rect">
            <a:avLst/>
          </a:prstGeom>
          <a:noFill/>
        </p:spPr>
      </p:pic>
      <p:pic>
        <p:nvPicPr>
          <p:cNvPr id="11" name="Picture 2" descr="C:\Casa de Todos\Planeta - Biologia\Flor Parnassia grandifolia.jpg">
            <a:extLst>
              <a:ext uri="{FF2B5EF4-FFF2-40B4-BE49-F238E27FC236}">
                <a16:creationId xmlns:a16="http://schemas.microsoft.com/office/drawing/2014/main" id="{2D14126F-30AD-4E98-B7CF-6949F2E51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047830" y="3112388"/>
            <a:ext cx="1368152" cy="1080120"/>
          </a:xfrm>
          <a:prstGeom prst="rect">
            <a:avLst/>
          </a:prstGeom>
          <a:noFill/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BE6CD990-FCF9-4571-B8EA-A0A9C56306C2}"/>
              </a:ext>
            </a:extLst>
          </p:cNvPr>
          <p:cNvSpPr txBox="1"/>
          <p:nvPr/>
        </p:nvSpPr>
        <p:spPr>
          <a:xfrm>
            <a:off x="1791246" y="4348525"/>
            <a:ext cx="953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Monera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3C2E6AC-5DA8-46B8-98CA-F5CFE7432997}"/>
              </a:ext>
            </a:extLst>
          </p:cNvPr>
          <p:cNvSpPr txBox="1"/>
          <p:nvPr/>
        </p:nvSpPr>
        <p:spPr>
          <a:xfrm>
            <a:off x="3663454" y="4348525"/>
            <a:ext cx="961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Protista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EE4F701-E550-4151-A93B-7A0299DB0558}"/>
              </a:ext>
            </a:extLst>
          </p:cNvPr>
          <p:cNvSpPr txBox="1"/>
          <p:nvPr/>
        </p:nvSpPr>
        <p:spPr>
          <a:xfrm>
            <a:off x="5463654" y="4348525"/>
            <a:ext cx="755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Fungi</a:t>
            </a:r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E922E81-A9F1-4F61-9CDC-3DDFC365F079}"/>
              </a:ext>
            </a:extLst>
          </p:cNvPr>
          <p:cNvSpPr txBox="1"/>
          <p:nvPr/>
        </p:nvSpPr>
        <p:spPr>
          <a:xfrm>
            <a:off x="7335862" y="4348525"/>
            <a:ext cx="914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Plantas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35CA367-71D9-429A-9DB7-41E8377380EB}"/>
              </a:ext>
            </a:extLst>
          </p:cNvPr>
          <p:cNvSpPr txBox="1"/>
          <p:nvPr/>
        </p:nvSpPr>
        <p:spPr>
          <a:xfrm>
            <a:off x="8920038" y="4276517"/>
            <a:ext cx="1010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Animais</a:t>
            </a:r>
          </a:p>
        </p:txBody>
      </p:sp>
      <p:sp>
        <p:nvSpPr>
          <p:cNvPr id="17" name="Chave esquerda 22">
            <a:extLst>
              <a:ext uri="{FF2B5EF4-FFF2-40B4-BE49-F238E27FC236}">
                <a16:creationId xmlns:a16="http://schemas.microsoft.com/office/drawing/2014/main" id="{7B2C23F9-EF41-4480-9180-ED615B479225}"/>
              </a:ext>
            </a:extLst>
          </p:cNvPr>
          <p:cNvSpPr/>
          <p:nvPr/>
        </p:nvSpPr>
        <p:spPr>
          <a:xfrm rot="5400000">
            <a:off x="2025272" y="1762238"/>
            <a:ext cx="576064" cy="183620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have esquerda 23">
            <a:extLst>
              <a:ext uri="{FF2B5EF4-FFF2-40B4-BE49-F238E27FC236}">
                <a16:creationId xmlns:a16="http://schemas.microsoft.com/office/drawing/2014/main" id="{64230762-702F-45AD-99F9-6BE4585497E0}"/>
              </a:ext>
            </a:extLst>
          </p:cNvPr>
          <p:cNvSpPr/>
          <p:nvPr/>
        </p:nvSpPr>
        <p:spPr>
          <a:xfrm rot="16200000">
            <a:off x="6507770" y="1492209"/>
            <a:ext cx="576064" cy="698477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EBDA600-0645-4B2C-9A7B-23888106FF45}"/>
              </a:ext>
            </a:extLst>
          </p:cNvPr>
          <p:cNvSpPr txBox="1"/>
          <p:nvPr/>
        </p:nvSpPr>
        <p:spPr>
          <a:xfrm>
            <a:off x="1575222" y="1950969"/>
            <a:ext cx="1940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i="1" dirty="0"/>
              <a:t>Procariontes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A68BF05-3749-4B89-8414-5F2DDEFF3C40}"/>
              </a:ext>
            </a:extLst>
          </p:cNvPr>
          <p:cNvSpPr txBox="1"/>
          <p:nvPr/>
        </p:nvSpPr>
        <p:spPr>
          <a:xfrm>
            <a:off x="6039718" y="5344636"/>
            <a:ext cx="1480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i="1" dirty="0"/>
              <a:t>Eucariontes</a:t>
            </a:r>
          </a:p>
        </p:txBody>
      </p:sp>
    </p:spTree>
    <p:extLst>
      <p:ext uri="{BB962C8B-B14F-4D97-AF65-F5344CB8AC3E}">
        <p14:creationId xmlns:p14="http://schemas.microsoft.com/office/powerpoint/2010/main" val="3657616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 animBg="1"/>
      <p:bldP spid="18" grpId="0" animBg="1"/>
      <p:bldP spid="19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6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Classificação em Domínios (</a:t>
            </a:r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Woese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997C99-32EE-44D2-9313-C1CD17E42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1825625"/>
            <a:ext cx="11516138" cy="4351338"/>
          </a:xfrm>
        </p:spPr>
        <p:txBody>
          <a:bodyPr/>
          <a:lstStyle/>
          <a:p>
            <a:r>
              <a:rPr lang="pt-BR" sz="2400" dirty="0"/>
              <a:t>3 Domínios</a:t>
            </a:r>
          </a:p>
          <a:p>
            <a:pPr lvl="1"/>
            <a:r>
              <a:rPr lang="pt-BR" dirty="0" err="1"/>
              <a:t>Bacteria</a:t>
            </a:r>
            <a:endParaRPr lang="pt-BR" dirty="0"/>
          </a:p>
          <a:p>
            <a:pPr lvl="1"/>
            <a:r>
              <a:rPr lang="pt-BR" dirty="0" err="1"/>
              <a:t>Archaea</a:t>
            </a:r>
            <a:endParaRPr lang="pt-BR" dirty="0"/>
          </a:p>
          <a:p>
            <a:pPr lvl="1"/>
            <a:r>
              <a:rPr lang="pt-BR" dirty="0" err="1"/>
              <a:t>Eukarya</a:t>
            </a:r>
            <a:endParaRPr lang="pt-BR" dirty="0"/>
          </a:p>
          <a:p>
            <a:r>
              <a:rPr lang="pt-BR" sz="2400" dirty="0"/>
              <a:t>OBS: </a:t>
            </a:r>
            <a:r>
              <a:rPr lang="pt-BR" sz="2400" dirty="0" err="1"/>
              <a:t>Arqueas</a:t>
            </a:r>
            <a:r>
              <a:rPr lang="pt-BR" sz="2400" dirty="0"/>
              <a:t> mais relacionadas</a:t>
            </a:r>
          </a:p>
          <a:p>
            <a:pPr marL="0" indent="0">
              <a:buNone/>
            </a:pPr>
            <a:r>
              <a:rPr lang="pt-BR" sz="2400" dirty="0"/>
              <a:t>aos eucariontes</a:t>
            </a:r>
          </a:p>
          <a:p>
            <a:pPr lvl="1"/>
            <a:r>
              <a:rPr lang="pt-BR" sz="2000" dirty="0" err="1"/>
              <a:t>Metanogênicas</a:t>
            </a:r>
            <a:endParaRPr lang="pt-BR" sz="2000" dirty="0"/>
          </a:p>
          <a:p>
            <a:pPr lvl="1"/>
            <a:r>
              <a:rPr lang="pt-BR" sz="2000" dirty="0" err="1"/>
              <a:t>Halófilas</a:t>
            </a:r>
            <a:r>
              <a:rPr lang="pt-BR" sz="2000" dirty="0"/>
              <a:t> extremas</a:t>
            </a:r>
          </a:p>
          <a:p>
            <a:pPr lvl="1"/>
            <a:r>
              <a:rPr lang="pt-BR" sz="2000" dirty="0" err="1"/>
              <a:t>Termófilas</a:t>
            </a:r>
            <a:r>
              <a:rPr lang="pt-BR" sz="2000" dirty="0"/>
              <a:t> extremas</a:t>
            </a:r>
          </a:p>
          <a:p>
            <a:pPr marL="0" indent="0">
              <a:buNone/>
            </a:pPr>
            <a:r>
              <a:rPr lang="pt-BR" dirty="0"/>
              <a:t>	</a:t>
            </a:r>
          </a:p>
        </p:txBody>
      </p:sp>
      <p:pic>
        <p:nvPicPr>
          <p:cNvPr id="3074" name="Picture 2" descr="Resultado de imagem para classificação woese">
            <a:extLst>
              <a:ext uri="{FF2B5EF4-FFF2-40B4-BE49-F238E27FC236}">
                <a16:creationId xmlns:a16="http://schemas.microsoft.com/office/drawing/2014/main" id="{EBF47753-E010-467B-802D-CA9305E15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0295" y="1449716"/>
            <a:ext cx="7280721" cy="5394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3730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6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Sistemática Filogenética (</a:t>
            </a:r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Cladística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997C99-32EE-44D2-9313-C1CD17E42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1825625"/>
            <a:ext cx="11516138" cy="4351338"/>
          </a:xfrm>
        </p:spPr>
        <p:txBody>
          <a:bodyPr/>
          <a:lstStyle/>
          <a:p>
            <a:r>
              <a:rPr lang="pt-BR" sz="2400" dirty="0"/>
              <a:t>Reconstrução de relações de parentesco</a:t>
            </a:r>
          </a:p>
          <a:p>
            <a:r>
              <a:rPr lang="pt-BR" sz="2400" dirty="0"/>
              <a:t>História Evolutiva</a:t>
            </a:r>
          </a:p>
          <a:p>
            <a:r>
              <a:rPr lang="pt-BR" sz="2400" dirty="0"/>
              <a:t>Características:</a:t>
            </a:r>
          </a:p>
          <a:p>
            <a:pPr lvl="1"/>
            <a:r>
              <a:rPr lang="pt-BR" dirty="0" err="1"/>
              <a:t>Plesiomorfias</a:t>
            </a:r>
            <a:r>
              <a:rPr lang="pt-BR" dirty="0"/>
              <a:t> = primitiva e que continua. Ex: 5 dedos nos humanos e lagartos</a:t>
            </a:r>
          </a:p>
          <a:p>
            <a:pPr lvl="1"/>
            <a:r>
              <a:rPr lang="pt-BR" dirty="0" err="1"/>
              <a:t>Apomorfias</a:t>
            </a:r>
            <a:r>
              <a:rPr lang="pt-BR" dirty="0"/>
              <a:t> = derivada. Ex: Coluna Vertebral nos vertebrados</a:t>
            </a:r>
          </a:p>
          <a:p>
            <a:pPr marL="0" indent="0">
              <a:buNone/>
            </a:pPr>
            <a:r>
              <a:rPr lang="pt-BR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79322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6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Cladística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 Evolução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997C99-32EE-44D2-9313-C1CD17E42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931" y="2090668"/>
            <a:ext cx="11516138" cy="4351338"/>
          </a:xfrm>
        </p:spPr>
        <p:txBody>
          <a:bodyPr/>
          <a:lstStyle/>
          <a:p>
            <a:r>
              <a:rPr lang="pt-BR" sz="2400" dirty="0"/>
              <a:t>ANAGÊNESE = LINEAR</a:t>
            </a:r>
          </a:p>
          <a:p>
            <a:pPr lvl="1"/>
            <a:r>
              <a:rPr lang="pt-BR" dirty="0"/>
              <a:t>Modificação de características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CLADOGÊNESE = RAMIFICADA</a:t>
            </a:r>
          </a:p>
          <a:p>
            <a:pPr lvl="1"/>
            <a:r>
              <a:rPr lang="pt-BR" dirty="0"/>
              <a:t>Formação de duas ou mais populações</a:t>
            </a:r>
          </a:p>
          <a:p>
            <a:pPr marL="457200" lvl="1" indent="0">
              <a:buNone/>
            </a:pPr>
            <a:r>
              <a:rPr lang="pt-BR" dirty="0"/>
              <a:t>a partir de uma</a:t>
            </a:r>
          </a:p>
          <a:p>
            <a:pPr marL="0" indent="0">
              <a:buNone/>
            </a:pPr>
            <a:r>
              <a:rPr lang="pt-BR" dirty="0"/>
              <a:t>	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750CC8D-1F7B-46FD-BF3D-0C899DC6B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209" y="1325909"/>
            <a:ext cx="5161929" cy="540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212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6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Cladogramas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997C99-32EE-44D2-9313-C1CD17E42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96" y="1666599"/>
            <a:ext cx="11516138" cy="4351338"/>
          </a:xfrm>
        </p:spPr>
        <p:txBody>
          <a:bodyPr/>
          <a:lstStyle/>
          <a:p>
            <a:r>
              <a:rPr lang="pt-BR" sz="2400" dirty="0"/>
              <a:t>Representações gráficas das relações filogenéticas entre os seres vivos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	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D1B42FF-62F4-43AB-9DEF-17EA16B04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480" y="2093911"/>
            <a:ext cx="7642569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214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6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Grupos </a:t>
            </a:r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Monofiléticos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997C99-32EE-44D2-9313-C1CD17E42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96" y="1666599"/>
            <a:ext cx="11516138" cy="4351338"/>
          </a:xfrm>
        </p:spPr>
        <p:txBody>
          <a:bodyPr/>
          <a:lstStyle/>
          <a:p>
            <a:r>
              <a:rPr lang="pt-BR" sz="2400" dirty="0"/>
              <a:t>Apresentam um ancestral comum exclusivo</a:t>
            </a:r>
          </a:p>
          <a:p>
            <a:pPr lvl="1"/>
            <a:r>
              <a:rPr lang="pt-BR" dirty="0"/>
              <a:t>Ex: Répteis e Aves</a:t>
            </a:r>
          </a:p>
          <a:p>
            <a:pPr marL="0" indent="0">
              <a:buNone/>
            </a:pPr>
            <a:r>
              <a:rPr lang="pt-BR" dirty="0"/>
              <a:t>	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05207F7-ADFE-47E9-BF95-5B2C21A88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779" y="2419142"/>
            <a:ext cx="5874441" cy="414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50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6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Grupos </a:t>
            </a:r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Parafiléticos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997C99-32EE-44D2-9313-C1CD17E42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96" y="1666599"/>
            <a:ext cx="11516138" cy="4351338"/>
          </a:xfrm>
        </p:spPr>
        <p:txBody>
          <a:bodyPr/>
          <a:lstStyle/>
          <a:p>
            <a:r>
              <a:rPr lang="pt-BR" sz="2400" dirty="0"/>
              <a:t>Apresenta vários descendentes de um ancestral comum, mas não todos</a:t>
            </a:r>
          </a:p>
          <a:p>
            <a:pPr lvl="1"/>
            <a:r>
              <a:rPr lang="pt-BR" dirty="0"/>
              <a:t>Ex: Répteis</a:t>
            </a:r>
          </a:p>
          <a:p>
            <a:pPr marL="0" indent="0">
              <a:buNone/>
            </a:pPr>
            <a:r>
              <a:rPr lang="pt-BR" dirty="0"/>
              <a:t>	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637DEBB-6183-4C11-8F75-E404CB431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612" y="2322047"/>
            <a:ext cx="6281945" cy="425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633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6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Grupos Polifiléticos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997C99-32EE-44D2-9313-C1CD17E42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96" y="1666599"/>
            <a:ext cx="11516138" cy="4351338"/>
          </a:xfrm>
        </p:spPr>
        <p:txBody>
          <a:bodyPr/>
          <a:lstStyle/>
          <a:p>
            <a:r>
              <a:rPr lang="pt-BR" sz="2400" dirty="0"/>
              <a:t>Grupos que compartilham certas características, mas não pela ancestralidade comum, mas sim por convergência adaptativa</a:t>
            </a:r>
          </a:p>
          <a:p>
            <a:r>
              <a:rPr lang="pt-BR" sz="2400" dirty="0"/>
              <a:t>Não compartilham um ancestral comum direto</a:t>
            </a:r>
          </a:p>
          <a:p>
            <a:pPr lvl="1"/>
            <a:r>
              <a:rPr lang="pt-BR" dirty="0"/>
              <a:t>Ex: animais homeotérmicos</a:t>
            </a:r>
          </a:p>
          <a:p>
            <a:pPr marL="0" indent="0">
              <a:buNone/>
            </a:pPr>
            <a:r>
              <a:rPr lang="pt-BR" dirty="0"/>
              <a:t>	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AD1FC95-B6EB-4F35-8AF4-6B8B0F256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904" y="2757486"/>
            <a:ext cx="6604400" cy="38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937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6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Monofilético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ou </a:t>
            </a:r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Parafilético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997C99-32EE-44D2-9313-C1CD17E42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96" y="1666599"/>
            <a:ext cx="11516138" cy="435133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	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6A272A52-DBDC-4EF4-A836-E1A3236B194D}"/>
              </a:ext>
            </a:extLst>
          </p:cNvPr>
          <p:cNvCxnSpPr>
            <a:cxnSpLocks/>
          </p:cNvCxnSpPr>
          <p:nvPr/>
        </p:nvCxnSpPr>
        <p:spPr>
          <a:xfrm flipV="1">
            <a:off x="4518991" y="3154017"/>
            <a:ext cx="3485322" cy="286392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CFCAD2E3-6986-439F-BE4C-77D232642235}"/>
              </a:ext>
            </a:extLst>
          </p:cNvPr>
          <p:cNvCxnSpPr>
            <a:cxnSpLocks/>
          </p:cNvCxnSpPr>
          <p:nvPr/>
        </p:nvCxnSpPr>
        <p:spPr>
          <a:xfrm flipH="1" flipV="1">
            <a:off x="1895061" y="3008243"/>
            <a:ext cx="2623930" cy="30096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802C48C6-C7E2-4399-8E2B-BC778F8DC3F1}"/>
              </a:ext>
            </a:extLst>
          </p:cNvPr>
          <p:cNvCxnSpPr>
            <a:cxnSpLocks/>
          </p:cNvCxnSpPr>
          <p:nvPr/>
        </p:nvCxnSpPr>
        <p:spPr>
          <a:xfrm flipV="1">
            <a:off x="2787928" y="3008243"/>
            <a:ext cx="1147968" cy="99309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340DD1A9-572B-4E14-9F4F-CFBA302A622D}"/>
              </a:ext>
            </a:extLst>
          </p:cNvPr>
          <p:cNvCxnSpPr>
            <a:cxnSpLocks/>
          </p:cNvCxnSpPr>
          <p:nvPr/>
        </p:nvCxnSpPr>
        <p:spPr>
          <a:xfrm flipV="1">
            <a:off x="3675823" y="3154017"/>
            <a:ext cx="2307533" cy="19135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7F8BFBA-BD88-4C32-8BDC-E076A4F429B9}"/>
              </a:ext>
            </a:extLst>
          </p:cNvPr>
          <p:cNvSpPr txBox="1"/>
          <p:nvPr/>
        </p:nvSpPr>
        <p:spPr>
          <a:xfrm>
            <a:off x="1709754" y="2546578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A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FE0A429-58BF-480F-AE2E-C09B0D241046}"/>
              </a:ext>
            </a:extLst>
          </p:cNvPr>
          <p:cNvSpPr txBox="1"/>
          <p:nvPr/>
        </p:nvSpPr>
        <p:spPr>
          <a:xfrm>
            <a:off x="3750589" y="2522007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B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3889A8C-A80D-4B72-890C-A123EE794D3E}"/>
              </a:ext>
            </a:extLst>
          </p:cNvPr>
          <p:cNvSpPr txBox="1"/>
          <p:nvPr/>
        </p:nvSpPr>
        <p:spPr>
          <a:xfrm>
            <a:off x="5818151" y="2582494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C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85596D3-DFE2-4CB3-9B62-1EE64B75BF76}"/>
              </a:ext>
            </a:extLst>
          </p:cNvPr>
          <p:cNvSpPr txBox="1"/>
          <p:nvPr/>
        </p:nvSpPr>
        <p:spPr>
          <a:xfrm>
            <a:off x="7886160" y="2637423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D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B8C7D2CE-BD77-4B21-A10A-7CF871B53D18}"/>
              </a:ext>
            </a:extLst>
          </p:cNvPr>
          <p:cNvSpPr/>
          <p:nvPr/>
        </p:nvSpPr>
        <p:spPr>
          <a:xfrm>
            <a:off x="1188555" y="2057887"/>
            <a:ext cx="5817705" cy="141467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198379B-FF4F-419D-9299-1233B5D56FDB}"/>
              </a:ext>
            </a:extLst>
          </p:cNvPr>
          <p:cNvSpPr txBox="1"/>
          <p:nvPr/>
        </p:nvSpPr>
        <p:spPr>
          <a:xfrm>
            <a:off x="9149289" y="3504788"/>
            <a:ext cx="1676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MONOFILÉTICO</a:t>
            </a:r>
          </a:p>
        </p:txBody>
      </p:sp>
    </p:spTree>
    <p:extLst>
      <p:ext uri="{BB962C8B-B14F-4D97-AF65-F5344CB8AC3E}">
        <p14:creationId xmlns:p14="http://schemas.microsoft.com/office/powerpoint/2010/main" val="3479407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 animBg="1"/>
      <p:bldP spid="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6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Monofilético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ou </a:t>
            </a:r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Parafilético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997C99-32EE-44D2-9313-C1CD17E42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96" y="1666599"/>
            <a:ext cx="11516138" cy="435133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	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6A272A52-DBDC-4EF4-A836-E1A3236B194D}"/>
              </a:ext>
            </a:extLst>
          </p:cNvPr>
          <p:cNvCxnSpPr>
            <a:cxnSpLocks/>
          </p:cNvCxnSpPr>
          <p:nvPr/>
        </p:nvCxnSpPr>
        <p:spPr>
          <a:xfrm flipV="1">
            <a:off x="4518991" y="3154017"/>
            <a:ext cx="3485322" cy="286392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CFCAD2E3-6986-439F-BE4C-77D232642235}"/>
              </a:ext>
            </a:extLst>
          </p:cNvPr>
          <p:cNvCxnSpPr>
            <a:cxnSpLocks/>
          </p:cNvCxnSpPr>
          <p:nvPr/>
        </p:nvCxnSpPr>
        <p:spPr>
          <a:xfrm flipH="1" flipV="1">
            <a:off x="1895061" y="3008243"/>
            <a:ext cx="2623930" cy="30096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802C48C6-C7E2-4399-8E2B-BC778F8DC3F1}"/>
              </a:ext>
            </a:extLst>
          </p:cNvPr>
          <p:cNvCxnSpPr>
            <a:cxnSpLocks/>
          </p:cNvCxnSpPr>
          <p:nvPr/>
        </p:nvCxnSpPr>
        <p:spPr>
          <a:xfrm flipV="1">
            <a:off x="2787928" y="3008243"/>
            <a:ext cx="1147968" cy="99309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340DD1A9-572B-4E14-9F4F-CFBA302A622D}"/>
              </a:ext>
            </a:extLst>
          </p:cNvPr>
          <p:cNvCxnSpPr>
            <a:cxnSpLocks/>
          </p:cNvCxnSpPr>
          <p:nvPr/>
        </p:nvCxnSpPr>
        <p:spPr>
          <a:xfrm flipV="1">
            <a:off x="3675823" y="3154017"/>
            <a:ext cx="2307533" cy="19135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7F8BFBA-BD88-4C32-8BDC-E076A4F429B9}"/>
              </a:ext>
            </a:extLst>
          </p:cNvPr>
          <p:cNvSpPr txBox="1"/>
          <p:nvPr/>
        </p:nvSpPr>
        <p:spPr>
          <a:xfrm>
            <a:off x="1709754" y="2546578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A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FE0A429-58BF-480F-AE2E-C09B0D241046}"/>
              </a:ext>
            </a:extLst>
          </p:cNvPr>
          <p:cNvSpPr txBox="1"/>
          <p:nvPr/>
        </p:nvSpPr>
        <p:spPr>
          <a:xfrm>
            <a:off x="3750589" y="2522007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B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3889A8C-A80D-4B72-890C-A123EE794D3E}"/>
              </a:ext>
            </a:extLst>
          </p:cNvPr>
          <p:cNvSpPr txBox="1"/>
          <p:nvPr/>
        </p:nvSpPr>
        <p:spPr>
          <a:xfrm>
            <a:off x="5818151" y="2582494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C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85596D3-DFE2-4CB3-9B62-1EE64B75BF76}"/>
              </a:ext>
            </a:extLst>
          </p:cNvPr>
          <p:cNvSpPr txBox="1"/>
          <p:nvPr/>
        </p:nvSpPr>
        <p:spPr>
          <a:xfrm>
            <a:off x="7886160" y="2637423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D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B8C7D2CE-BD77-4B21-A10A-7CF871B53D18}"/>
              </a:ext>
            </a:extLst>
          </p:cNvPr>
          <p:cNvSpPr/>
          <p:nvPr/>
        </p:nvSpPr>
        <p:spPr>
          <a:xfrm>
            <a:off x="3159434" y="2130563"/>
            <a:ext cx="5817705" cy="141467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198379B-FF4F-419D-9299-1233B5D56FDB}"/>
              </a:ext>
            </a:extLst>
          </p:cNvPr>
          <p:cNvSpPr txBox="1"/>
          <p:nvPr/>
        </p:nvSpPr>
        <p:spPr>
          <a:xfrm>
            <a:off x="9149289" y="3504788"/>
            <a:ext cx="152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PARAFILÉTICO</a:t>
            </a:r>
          </a:p>
        </p:txBody>
      </p:sp>
    </p:spTree>
    <p:extLst>
      <p:ext uri="{BB962C8B-B14F-4D97-AF65-F5344CB8AC3E}">
        <p14:creationId xmlns:p14="http://schemas.microsoft.com/office/powerpoint/2010/main" val="3703147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 animBg="1"/>
      <p:bldP spid="3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6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Monofilético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ou </a:t>
            </a:r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Parafilético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997C99-32EE-44D2-9313-C1CD17E42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96" y="1666599"/>
            <a:ext cx="11516138" cy="435133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	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6A272A52-DBDC-4EF4-A836-E1A3236B194D}"/>
              </a:ext>
            </a:extLst>
          </p:cNvPr>
          <p:cNvCxnSpPr>
            <a:cxnSpLocks/>
          </p:cNvCxnSpPr>
          <p:nvPr/>
        </p:nvCxnSpPr>
        <p:spPr>
          <a:xfrm flipV="1">
            <a:off x="4518991" y="3154017"/>
            <a:ext cx="3485322" cy="286392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CFCAD2E3-6986-439F-BE4C-77D232642235}"/>
              </a:ext>
            </a:extLst>
          </p:cNvPr>
          <p:cNvCxnSpPr>
            <a:cxnSpLocks/>
          </p:cNvCxnSpPr>
          <p:nvPr/>
        </p:nvCxnSpPr>
        <p:spPr>
          <a:xfrm flipH="1" flipV="1">
            <a:off x="1895061" y="3008243"/>
            <a:ext cx="2623930" cy="30096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802C48C6-C7E2-4399-8E2B-BC778F8DC3F1}"/>
              </a:ext>
            </a:extLst>
          </p:cNvPr>
          <p:cNvCxnSpPr>
            <a:cxnSpLocks/>
          </p:cNvCxnSpPr>
          <p:nvPr/>
        </p:nvCxnSpPr>
        <p:spPr>
          <a:xfrm flipV="1">
            <a:off x="2787928" y="3008243"/>
            <a:ext cx="1147968" cy="99309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340DD1A9-572B-4E14-9F4F-CFBA302A622D}"/>
              </a:ext>
            </a:extLst>
          </p:cNvPr>
          <p:cNvCxnSpPr>
            <a:cxnSpLocks/>
          </p:cNvCxnSpPr>
          <p:nvPr/>
        </p:nvCxnSpPr>
        <p:spPr>
          <a:xfrm flipV="1">
            <a:off x="3675823" y="3154017"/>
            <a:ext cx="2307533" cy="19135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7F8BFBA-BD88-4C32-8BDC-E076A4F429B9}"/>
              </a:ext>
            </a:extLst>
          </p:cNvPr>
          <p:cNvSpPr txBox="1"/>
          <p:nvPr/>
        </p:nvSpPr>
        <p:spPr>
          <a:xfrm>
            <a:off x="1709754" y="2546578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A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FE0A429-58BF-480F-AE2E-C09B0D241046}"/>
              </a:ext>
            </a:extLst>
          </p:cNvPr>
          <p:cNvSpPr txBox="1"/>
          <p:nvPr/>
        </p:nvSpPr>
        <p:spPr>
          <a:xfrm>
            <a:off x="3750589" y="2522007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B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3889A8C-A80D-4B72-890C-A123EE794D3E}"/>
              </a:ext>
            </a:extLst>
          </p:cNvPr>
          <p:cNvSpPr txBox="1"/>
          <p:nvPr/>
        </p:nvSpPr>
        <p:spPr>
          <a:xfrm>
            <a:off x="5818151" y="2582494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C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85596D3-DFE2-4CB3-9B62-1EE64B75BF76}"/>
              </a:ext>
            </a:extLst>
          </p:cNvPr>
          <p:cNvSpPr txBox="1"/>
          <p:nvPr/>
        </p:nvSpPr>
        <p:spPr>
          <a:xfrm>
            <a:off x="7886160" y="2637423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D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B8C7D2CE-BD77-4B21-A10A-7CF871B53D18}"/>
              </a:ext>
            </a:extLst>
          </p:cNvPr>
          <p:cNvSpPr/>
          <p:nvPr/>
        </p:nvSpPr>
        <p:spPr>
          <a:xfrm>
            <a:off x="3159434" y="2130563"/>
            <a:ext cx="3281123" cy="141467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198379B-FF4F-419D-9299-1233B5D56FDB}"/>
              </a:ext>
            </a:extLst>
          </p:cNvPr>
          <p:cNvSpPr txBox="1"/>
          <p:nvPr/>
        </p:nvSpPr>
        <p:spPr>
          <a:xfrm>
            <a:off x="9149289" y="3504788"/>
            <a:ext cx="152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PARAFILÉTICO</a:t>
            </a:r>
          </a:p>
        </p:txBody>
      </p:sp>
    </p:spTree>
    <p:extLst>
      <p:ext uri="{BB962C8B-B14F-4D97-AF65-F5344CB8AC3E}">
        <p14:creationId xmlns:p14="http://schemas.microsoft.com/office/powerpoint/2010/main" val="304034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 animBg="1"/>
      <p:bldP spid="3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6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Monofilético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ou </a:t>
            </a:r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Parafilético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997C99-32EE-44D2-9313-C1CD17E42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96" y="1666599"/>
            <a:ext cx="11516138" cy="435133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	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6A272A52-DBDC-4EF4-A836-E1A3236B194D}"/>
              </a:ext>
            </a:extLst>
          </p:cNvPr>
          <p:cNvCxnSpPr>
            <a:cxnSpLocks/>
          </p:cNvCxnSpPr>
          <p:nvPr/>
        </p:nvCxnSpPr>
        <p:spPr>
          <a:xfrm flipV="1">
            <a:off x="4518991" y="3154017"/>
            <a:ext cx="3485322" cy="286392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CFCAD2E3-6986-439F-BE4C-77D232642235}"/>
              </a:ext>
            </a:extLst>
          </p:cNvPr>
          <p:cNvCxnSpPr>
            <a:cxnSpLocks/>
          </p:cNvCxnSpPr>
          <p:nvPr/>
        </p:nvCxnSpPr>
        <p:spPr>
          <a:xfrm flipH="1" flipV="1">
            <a:off x="1895061" y="3008243"/>
            <a:ext cx="2623930" cy="30096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802C48C6-C7E2-4399-8E2B-BC778F8DC3F1}"/>
              </a:ext>
            </a:extLst>
          </p:cNvPr>
          <p:cNvCxnSpPr>
            <a:cxnSpLocks/>
          </p:cNvCxnSpPr>
          <p:nvPr/>
        </p:nvCxnSpPr>
        <p:spPr>
          <a:xfrm flipV="1">
            <a:off x="2787928" y="3008243"/>
            <a:ext cx="1147968" cy="99309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340DD1A9-572B-4E14-9F4F-CFBA302A622D}"/>
              </a:ext>
            </a:extLst>
          </p:cNvPr>
          <p:cNvCxnSpPr>
            <a:cxnSpLocks/>
          </p:cNvCxnSpPr>
          <p:nvPr/>
        </p:nvCxnSpPr>
        <p:spPr>
          <a:xfrm flipV="1">
            <a:off x="3675823" y="3154017"/>
            <a:ext cx="2307533" cy="19135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7F8BFBA-BD88-4C32-8BDC-E076A4F429B9}"/>
              </a:ext>
            </a:extLst>
          </p:cNvPr>
          <p:cNvSpPr txBox="1"/>
          <p:nvPr/>
        </p:nvSpPr>
        <p:spPr>
          <a:xfrm>
            <a:off x="1709754" y="2546578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A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FE0A429-58BF-480F-AE2E-C09B0D241046}"/>
              </a:ext>
            </a:extLst>
          </p:cNvPr>
          <p:cNvSpPr txBox="1"/>
          <p:nvPr/>
        </p:nvSpPr>
        <p:spPr>
          <a:xfrm>
            <a:off x="3750589" y="2522007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B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3889A8C-A80D-4B72-890C-A123EE794D3E}"/>
              </a:ext>
            </a:extLst>
          </p:cNvPr>
          <p:cNvSpPr txBox="1"/>
          <p:nvPr/>
        </p:nvSpPr>
        <p:spPr>
          <a:xfrm>
            <a:off x="5818151" y="2582494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C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85596D3-DFE2-4CB3-9B62-1EE64B75BF76}"/>
              </a:ext>
            </a:extLst>
          </p:cNvPr>
          <p:cNvSpPr txBox="1"/>
          <p:nvPr/>
        </p:nvSpPr>
        <p:spPr>
          <a:xfrm>
            <a:off x="7886160" y="2637423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D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B8C7D2CE-BD77-4B21-A10A-7CF871B53D18}"/>
              </a:ext>
            </a:extLst>
          </p:cNvPr>
          <p:cNvSpPr/>
          <p:nvPr/>
        </p:nvSpPr>
        <p:spPr>
          <a:xfrm>
            <a:off x="1280891" y="2070076"/>
            <a:ext cx="3281123" cy="141467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198379B-FF4F-419D-9299-1233B5D56FDB}"/>
              </a:ext>
            </a:extLst>
          </p:cNvPr>
          <p:cNvSpPr txBox="1"/>
          <p:nvPr/>
        </p:nvSpPr>
        <p:spPr>
          <a:xfrm>
            <a:off x="9149289" y="3504788"/>
            <a:ext cx="1676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MONOFILÉTICO</a:t>
            </a:r>
          </a:p>
        </p:txBody>
      </p:sp>
    </p:spTree>
    <p:extLst>
      <p:ext uri="{BB962C8B-B14F-4D97-AF65-F5344CB8AC3E}">
        <p14:creationId xmlns:p14="http://schemas.microsoft.com/office/powerpoint/2010/main" val="3265677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 animBg="1"/>
      <p:bldP spid="3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6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Monofilético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ou </a:t>
            </a:r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Parafilético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997C99-32EE-44D2-9313-C1CD17E42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96" y="1666599"/>
            <a:ext cx="11516138" cy="435133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	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6A272A52-DBDC-4EF4-A836-E1A3236B194D}"/>
              </a:ext>
            </a:extLst>
          </p:cNvPr>
          <p:cNvCxnSpPr>
            <a:cxnSpLocks/>
          </p:cNvCxnSpPr>
          <p:nvPr/>
        </p:nvCxnSpPr>
        <p:spPr>
          <a:xfrm flipV="1">
            <a:off x="4518991" y="3154017"/>
            <a:ext cx="3485322" cy="286392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CFCAD2E3-6986-439F-BE4C-77D232642235}"/>
              </a:ext>
            </a:extLst>
          </p:cNvPr>
          <p:cNvCxnSpPr>
            <a:cxnSpLocks/>
          </p:cNvCxnSpPr>
          <p:nvPr/>
        </p:nvCxnSpPr>
        <p:spPr>
          <a:xfrm flipH="1" flipV="1">
            <a:off x="1895061" y="3008243"/>
            <a:ext cx="2623930" cy="30096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802C48C6-C7E2-4399-8E2B-BC778F8DC3F1}"/>
              </a:ext>
            </a:extLst>
          </p:cNvPr>
          <p:cNvCxnSpPr>
            <a:cxnSpLocks/>
          </p:cNvCxnSpPr>
          <p:nvPr/>
        </p:nvCxnSpPr>
        <p:spPr>
          <a:xfrm flipV="1">
            <a:off x="2787928" y="3008243"/>
            <a:ext cx="1147968" cy="99309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340DD1A9-572B-4E14-9F4F-CFBA302A622D}"/>
              </a:ext>
            </a:extLst>
          </p:cNvPr>
          <p:cNvCxnSpPr>
            <a:cxnSpLocks/>
          </p:cNvCxnSpPr>
          <p:nvPr/>
        </p:nvCxnSpPr>
        <p:spPr>
          <a:xfrm flipV="1">
            <a:off x="3675823" y="3154017"/>
            <a:ext cx="2307533" cy="19135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7F8BFBA-BD88-4C32-8BDC-E076A4F429B9}"/>
              </a:ext>
            </a:extLst>
          </p:cNvPr>
          <p:cNvSpPr txBox="1"/>
          <p:nvPr/>
        </p:nvSpPr>
        <p:spPr>
          <a:xfrm>
            <a:off x="1709754" y="2546578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A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FE0A429-58BF-480F-AE2E-C09B0D241046}"/>
              </a:ext>
            </a:extLst>
          </p:cNvPr>
          <p:cNvSpPr txBox="1"/>
          <p:nvPr/>
        </p:nvSpPr>
        <p:spPr>
          <a:xfrm>
            <a:off x="3750589" y="2522007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B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3889A8C-A80D-4B72-890C-A123EE794D3E}"/>
              </a:ext>
            </a:extLst>
          </p:cNvPr>
          <p:cNvSpPr txBox="1"/>
          <p:nvPr/>
        </p:nvSpPr>
        <p:spPr>
          <a:xfrm>
            <a:off x="5818151" y="2582494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C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85596D3-DFE2-4CB3-9B62-1EE64B75BF76}"/>
              </a:ext>
            </a:extLst>
          </p:cNvPr>
          <p:cNvSpPr txBox="1"/>
          <p:nvPr/>
        </p:nvSpPr>
        <p:spPr>
          <a:xfrm>
            <a:off x="7886160" y="2637423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D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B8C7D2CE-BD77-4B21-A10A-7CF871B53D18}"/>
              </a:ext>
            </a:extLst>
          </p:cNvPr>
          <p:cNvSpPr/>
          <p:nvPr/>
        </p:nvSpPr>
        <p:spPr>
          <a:xfrm>
            <a:off x="1280891" y="2070076"/>
            <a:ext cx="7439039" cy="141467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198379B-FF4F-419D-9299-1233B5D56FDB}"/>
              </a:ext>
            </a:extLst>
          </p:cNvPr>
          <p:cNvSpPr txBox="1"/>
          <p:nvPr/>
        </p:nvSpPr>
        <p:spPr>
          <a:xfrm>
            <a:off x="9149289" y="3504788"/>
            <a:ext cx="1676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MONOFILÉTICO</a:t>
            </a:r>
          </a:p>
        </p:txBody>
      </p:sp>
    </p:spTree>
    <p:extLst>
      <p:ext uri="{BB962C8B-B14F-4D97-AF65-F5344CB8AC3E}">
        <p14:creationId xmlns:p14="http://schemas.microsoft.com/office/powerpoint/2010/main" val="3768488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 animBg="1"/>
      <p:bldP spid="3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6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Monofilético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ou </a:t>
            </a:r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Parafilético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997C99-32EE-44D2-9313-C1CD17E42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96" y="1666599"/>
            <a:ext cx="11516138" cy="435133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	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6A272A52-DBDC-4EF4-A836-E1A3236B194D}"/>
              </a:ext>
            </a:extLst>
          </p:cNvPr>
          <p:cNvCxnSpPr>
            <a:cxnSpLocks/>
          </p:cNvCxnSpPr>
          <p:nvPr/>
        </p:nvCxnSpPr>
        <p:spPr>
          <a:xfrm flipV="1">
            <a:off x="4518991" y="3154017"/>
            <a:ext cx="3485322" cy="286392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CFCAD2E3-6986-439F-BE4C-77D232642235}"/>
              </a:ext>
            </a:extLst>
          </p:cNvPr>
          <p:cNvCxnSpPr>
            <a:cxnSpLocks/>
          </p:cNvCxnSpPr>
          <p:nvPr/>
        </p:nvCxnSpPr>
        <p:spPr>
          <a:xfrm flipH="1" flipV="1">
            <a:off x="1895061" y="3008243"/>
            <a:ext cx="2623930" cy="30096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802C48C6-C7E2-4399-8E2B-BC778F8DC3F1}"/>
              </a:ext>
            </a:extLst>
          </p:cNvPr>
          <p:cNvCxnSpPr>
            <a:cxnSpLocks/>
          </p:cNvCxnSpPr>
          <p:nvPr/>
        </p:nvCxnSpPr>
        <p:spPr>
          <a:xfrm flipV="1">
            <a:off x="2787928" y="3008243"/>
            <a:ext cx="1147968" cy="99309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340DD1A9-572B-4E14-9F4F-CFBA302A622D}"/>
              </a:ext>
            </a:extLst>
          </p:cNvPr>
          <p:cNvCxnSpPr>
            <a:cxnSpLocks/>
          </p:cNvCxnSpPr>
          <p:nvPr/>
        </p:nvCxnSpPr>
        <p:spPr>
          <a:xfrm flipV="1">
            <a:off x="3675823" y="3154017"/>
            <a:ext cx="2307533" cy="19135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7F8BFBA-BD88-4C32-8BDC-E076A4F429B9}"/>
              </a:ext>
            </a:extLst>
          </p:cNvPr>
          <p:cNvSpPr txBox="1"/>
          <p:nvPr/>
        </p:nvSpPr>
        <p:spPr>
          <a:xfrm>
            <a:off x="1709754" y="2546578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A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FE0A429-58BF-480F-AE2E-C09B0D241046}"/>
              </a:ext>
            </a:extLst>
          </p:cNvPr>
          <p:cNvSpPr txBox="1"/>
          <p:nvPr/>
        </p:nvSpPr>
        <p:spPr>
          <a:xfrm>
            <a:off x="3750589" y="2522007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B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3889A8C-A80D-4B72-890C-A123EE794D3E}"/>
              </a:ext>
            </a:extLst>
          </p:cNvPr>
          <p:cNvSpPr txBox="1"/>
          <p:nvPr/>
        </p:nvSpPr>
        <p:spPr>
          <a:xfrm>
            <a:off x="5818151" y="2582494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C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85596D3-DFE2-4CB3-9B62-1EE64B75BF76}"/>
              </a:ext>
            </a:extLst>
          </p:cNvPr>
          <p:cNvSpPr txBox="1"/>
          <p:nvPr/>
        </p:nvSpPr>
        <p:spPr>
          <a:xfrm>
            <a:off x="7886160" y="2637423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D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B8C7D2CE-BD77-4B21-A10A-7CF871B53D18}"/>
              </a:ext>
            </a:extLst>
          </p:cNvPr>
          <p:cNvSpPr/>
          <p:nvPr/>
        </p:nvSpPr>
        <p:spPr>
          <a:xfrm>
            <a:off x="5406886" y="2070076"/>
            <a:ext cx="3313044" cy="141467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198379B-FF4F-419D-9299-1233B5D56FDB}"/>
              </a:ext>
            </a:extLst>
          </p:cNvPr>
          <p:cNvSpPr txBox="1"/>
          <p:nvPr/>
        </p:nvSpPr>
        <p:spPr>
          <a:xfrm>
            <a:off x="9149289" y="3504788"/>
            <a:ext cx="152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PARAFILÉTICO</a:t>
            </a:r>
          </a:p>
        </p:txBody>
      </p:sp>
    </p:spTree>
    <p:extLst>
      <p:ext uri="{BB962C8B-B14F-4D97-AF65-F5344CB8AC3E}">
        <p14:creationId xmlns:p14="http://schemas.microsoft.com/office/powerpoint/2010/main" val="118700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 animBg="1"/>
      <p:bldP spid="3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6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Monofilético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ou </a:t>
            </a:r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Parafilético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997C99-32EE-44D2-9313-C1CD17E42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96" y="1666599"/>
            <a:ext cx="11516138" cy="435133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	</a:t>
            </a:r>
          </a:p>
        </p:txBody>
      </p:sp>
      <p:pic>
        <p:nvPicPr>
          <p:cNvPr id="7170" name="Picture 2" descr="Resultado de imagem para grupo monofilético">
            <a:extLst>
              <a:ext uri="{FF2B5EF4-FFF2-40B4-BE49-F238E27FC236}">
                <a16:creationId xmlns:a16="http://schemas.microsoft.com/office/drawing/2014/main" id="{C8FF207C-8E09-4B4F-968A-D11E40369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193" y="1666599"/>
            <a:ext cx="4923389" cy="4908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44482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6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Transformações na Sistemática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997C99-32EE-44D2-9313-C1CD17E42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1575582"/>
            <a:ext cx="11516138" cy="4909624"/>
          </a:xfrm>
        </p:spPr>
        <p:txBody>
          <a:bodyPr>
            <a:normAutofit/>
          </a:bodyPr>
          <a:lstStyle/>
          <a:p>
            <a:r>
              <a:rPr lang="pt-BR" dirty="0"/>
              <a:t>Características utilizadas mudaram de acordo com novos conhecimentos, tecnologias e como os cientistas pensavam</a:t>
            </a:r>
          </a:p>
          <a:p>
            <a:r>
              <a:rPr lang="pt-BR" dirty="0"/>
              <a:t>Escola Evolutiva Clássica (</a:t>
            </a:r>
            <a:r>
              <a:rPr lang="pt-BR" dirty="0" err="1"/>
              <a:t>Gradista</a:t>
            </a:r>
            <a:r>
              <a:rPr lang="pt-BR" dirty="0"/>
              <a:t>) = agrupava organismos de acordo com critério morfológico</a:t>
            </a:r>
          </a:p>
          <a:p>
            <a:pPr lvl="1"/>
            <a:r>
              <a:rPr lang="pt-BR" dirty="0"/>
              <a:t>Espécies relacionadas entre si</a:t>
            </a:r>
          </a:p>
          <a:p>
            <a:pPr lvl="1"/>
            <a:r>
              <a:rPr lang="pt-BR" dirty="0"/>
              <a:t>Falta de método para teste de hipóteses (intuição e subjetividade)</a:t>
            </a:r>
          </a:p>
          <a:p>
            <a:pPr lvl="1"/>
            <a:r>
              <a:rPr lang="pt-BR" dirty="0"/>
              <a:t>Diziam que aves e mamíferos teriam parentesco evolutivo próximo por serem homeotérmicos</a:t>
            </a:r>
          </a:p>
          <a:p>
            <a:r>
              <a:rPr lang="pt-BR" dirty="0"/>
              <a:t>Escola </a:t>
            </a:r>
            <a:r>
              <a:rPr lang="pt-BR" dirty="0" err="1"/>
              <a:t>Fenética</a:t>
            </a:r>
            <a:r>
              <a:rPr lang="pt-BR" dirty="0"/>
              <a:t> / Taxonomia Numérica (Década de 50)</a:t>
            </a:r>
          </a:p>
          <a:p>
            <a:pPr lvl="1"/>
            <a:r>
              <a:rPr lang="pt-BR" dirty="0"/>
              <a:t>Método matemáticos</a:t>
            </a:r>
          </a:p>
          <a:p>
            <a:pPr lvl="1"/>
            <a:r>
              <a:rPr lang="pt-BR" dirty="0"/>
              <a:t>Não consideram a evolução pois nunca saberíamos com certeza o que aconteceu</a:t>
            </a:r>
          </a:p>
        </p:txBody>
      </p:sp>
    </p:spTree>
    <p:extLst>
      <p:ext uri="{BB962C8B-B14F-4D97-AF65-F5344CB8AC3E}">
        <p14:creationId xmlns:p14="http://schemas.microsoft.com/office/powerpoint/2010/main" val="41903832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6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Transformações na Sistemática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997C99-32EE-44D2-9313-C1CD17E42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1575582"/>
            <a:ext cx="11516138" cy="4909624"/>
          </a:xfrm>
        </p:spPr>
        <p:txBody>
          <a:bodyPr>
            <a:normAutofit/>
          </a:bodyPr>
          <a:lstStyle/>
          <a:p>
            <a:r>
              <a:rPr lang="pt-BR" dirty="0"/>
              <a:t>Escola Filogenética / </a:t>
            </a:r>
            <a:r>
              <a:rPr lang="pt-BR" dirty="0" err="1"/>
              <a:t>Cladística</a:t>
            </a:r>
            <a:endParaRPr lang="pt-BR" dirty="0"/>
          </a:p>
          <a:p>
            <a:pPr lvl="1"/>
            <a:r>
              <a:rPr lang="pt-BR" dirty="0"/>
              <a:t>Estabelece relações evolutivas</a:t>
            </a:r>
          </a:p>
          <a:p>
            <a:pPr lvl="1"/>
            <a:r>
              <a:rPr lang="pt-BR" dirty="0"/>
              <a:t>Utiliza método de análise de dados por computadores</a:t>
            </a:r>
          </a:p>
          <a:p>
            <a:pPr lvl="1"/>
            <a:endParaRPr lang="pt-BR" dirty="0"/>
          </a:p>
          <a:p>
            <a:r>
              <a:rPr lang="pt-BR" dirty="0"/>
              <a:t>Dependendo da escola, há mudanças na classificação</a:t>
            </a:r>
          </a:p>
          <a:p>
            <a:pPr lvl="1"/>
            <a:r>
              <a:rPr lang="pt-BR" dirty="0"/>
              <a:t>Peixes (escola evolutiva clássica): reunidos em uma classe</a:t>
            </a:r>
          </a:p>
          <a:p>
            <a:pPr lvl="1"/>
            <a:r>
              <a:rPr lang="pt-BR" dirty="0"/>
              <a:t>Peixes (escola filogenética): nem todos os peixes derivam de um ancestral em comum (grupo não </a:t>
            </a:r>
            <a:r>
              <a:rPr lang="pt-BR" dirty="0" err="1"/>
              <a:t>monofilético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Aves (escola evolutiva clássica): reunidas em uma classe</a:t>
            </a:r>
          </a:p>
          <a:p>
            <a:pPr lvl="1"/>
            <a:r>
              <a:rPr lang="pt-BR" dirty="0"/>
              <a:t>Aves (escola filogenética): fazem parte do grupo dos répteis, pois há ancestralidade comum</a:t>
            </a:r>
          </a:p>
        </p:txBody>
      </p:sp>
    </p:spTree>
    <p:extLst>
      <p:ext uri="{BB962C8B-B14F-4D97-AF65-F5344CB8AC3E}">
        <p14:creationId xmlns:p14="http://schemas.microsoft.com/office/powerpoint/2010/main" val="14389765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9701A-92FC-41B9-99E2-AD7FA8520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FABA956-464B-4A9A-8300-CBBBE65214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378" y="-28156"/>
            <a:ext cx="7512148" cy="6847654"/>
          </a:xfrm>
        </p:spPr>
      </p:pic>
    </p:spTree>
    <p:extLst>
      <p:ext uri="{BB962C8B-B14F-4D97-AF65-F5344CB8AC3E}">
        <p14:creationId xmlns:p14="http://schemas.microsoft.com/office/powerpoint/2010/main" val="24401213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6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Filogenia Molecular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997C99-32EE-44D2-9313-C1CD17E42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1575582"/>
            <a:ext cx="11516138" cy="4909624"/>
          </a:xfrm>
        </p:spPr>
        <p:txBody>
          <a:bodyPr>
            <a:normAutofit/>
          </a:bodyPr>
          <a:lstStyle/>
          <a:p>
            <a:r>
              <a:rPr lang="pt-BR" dirty="0"/>
              <a:t>Seres vivos possuem Proteínas, DNA e RNA na sua composição</a:t>
            </a:r>
          </a:p>
          <a:p>
            <a:r>
              <a:rPr lang="pt-BR" dirty="0"/>
              <a:t>Semelhanças entre as moléculas sugerem ancestralidade comum</a:t>
            </a:r>
          </a:p>
          <a:p>
            <a:r>
              <a:rPr lang="pt-BR" dirty="0"/>
              <a:t>Emparelhamento entre DNA de espécies diferentes, quanto mais unidas ficam as cadeias, mais próximo o parentesco evolutivo</a:t>
            </a:r>
          </a:p>
          <a:p>
            <a:pPr lvl="1"/>
            <a:r>
              <a:rPr lang="pt-BR" dirty="0"/>
              <a:t>Genoma humano x Genoma </a:t>
            </a:r>
            <a:r>
              <a:rPr lang="pt-BR" dirty="0" err="1"/>
              <a:t>Chimpanzes</a:t>
            </a:r>
            <a:r>
              <a:rPr lang="pt-BR" dirty="0"/>
              <a:t> = 98% idêntico</a:t>
            </a:r>
          </a:p>
          <a:p>
            <a:pPr lvl="1"/>
            <a:r>
              <a:rPr lang="pt-BR" dirty="0"/>
              <a:t>Genoma humano x Genoma Camundongos = 85% idêntico</a:t>
            </a:r>
          </a:p>
          <a:p>
            <a:r>
              <a:rPr lang="pt-BR" dirty="0"/>
              <a:t>Comparação entre aminoácidos que compõem suas proteínas. Maior semelhança = maior grau de parentesco</a:t>
            </a:r>
          </a:p>
          <a:p>
            <a:r>
              <a:rPr lang="pt-BR" dirty="0" err="1"/>
              <a:t>Ex</a:t>
            </a:r>
            <a:r>
              <a:rPr lang="pt-BR" dirty="0"/>
              <a:t>: proteína hemoglobina.</a:t>
            </a:r>
          </a:p>
          <a:p>
            <a:pPr lvl="1"/>
            <a:r>
              <a:rPr lang="pt-BR" dirty="0"/>
              <a:t>Homem – Gorila: diferem em apenas 1 aminoácido</a:t>
            </a:r>
          </a:p>
          <a:p>
            <a:pPr lvl="1"/>
            <a:r>
              <a:rPr lang="pt-BR" dirty="0"/>
              <a:t>Homem – Sapo: diferem em 67 aminoácidos</a:t>
            </a:r>
          </a:p>
        </p:txBody>
      </p:sp>
    </p:spTree>
    <p:extLst>
      <p:ext uri="{BB962C8B-B14F-4D97-AF65-F5344CB8AC3E}">
        <p14:creationId xmlns:p14="http://schemas.microsoft.com/office/powerpoint/2010/main" val="27316814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6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 fontScale="90000"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Classificação como Forma de Validação de Discursos de Exclusão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997C99-32EE-44D2-9313-C1CD17E42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1575582"/>
            <a:ext cx="11516138" cy="4909624"/>
          </a:xfrm>
        </p:spPr>
        <p:txBody>
          <a:bodyPr>
            <a:normAutofit/>
          </a:bodyPr>
          <a:lstStyle/>
          <a:p>
            <a:r>
              <a:rPr lang="pt-BR" dirty="0"/>
              <a:t>Darwinismo social = aplicação dos conceitos de seleção natural aos estudos da sociedade (alguns grupos sociais seriam superiores a outros)</a:t>
            </a:r>
          </a:p>
          <a:p>
            <a:r>
              <a:rPr lang="pt-BR" dirty="0"/>
              <a:t>Ciência já contribuiu para afirmação de discursos de exclusão, como racismo e xenofobia</a:t>
            </a:r>
          </a:p>
          <a:p>
            <a:pPr lvl="1"/>
            <a:r>
              <a:rPr lang="pt-BR" dirty="0"/>
              <a:t>Séc. XVIII-XIX: criminologia positivista – formulação de tabelas utilizando análise fisionômica dos criminosos, estabeleceu padrões de fisionomia de criminosos (cor da pele, tipo de cabelo, largura do nariz, tipo de cabelo). Justificariam a ideia (atrasada) de que negros são potencialmente mais perigosos e violentos do que os caucasianos.</a:t>
            </a:r>
          </a:p>
          <a:p>
            <a:pPr lvl="1"/>
            <a:r>
              <a:rPr lang="pt-BR" dirty="0"/>
              <a:t>Discurso fascista do séc. XIX: nazismo pregava superioridade da raça ariana, justificando que pessoas de raças consideradas inferiores, como os judeus, fossem exterminados ou usados em experimentos.</a:t>
            </a:r>
          </a:p>
        </p:txBody>
      </p:sp>
    </p:spTree>
    <p:extLst>
      <p:ext uri="{BB962C8B-B14F-4D97-AF65-F5344CB8AC3E}">
        <p14:creationId xmlns:p14="http://schemas.microsoft.com/office/powerpoint/2010/main" val="23998941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923</TotalTime>
  <Words>987</Words>
  <Application>Microsoft Office PowerPoint</Application>
  <PresentationFormat>Widescreen</PresentationFormat>
  <Paragraphs>204</Paragraphs>
  <Slides>30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Tema do Office</vt:lpstr>
      <vt:lpstr>Classificação Biológica</vt:lpstr>
      <vt:lpstr>Introdução</vt:lpstr>
      <vt:lpstr>Sistemas de Classificação</vt:lpstr>
      <vt:lpstr>Sistemas de Classificação</vt:lpstr>
      <vt:lpstr>Classificação de “Lineu”</vt:lpstr>
      <vt:lpstr>Exemplo - Cães</vt:lpstr>
      <vt:lpstr>Conceito Biológico de Espécie</vt:lpstr>
      <vt:lpstr>Regras de Nomenclatura</vt:lpstr>
      <vt:lpstr>Regras de Nomenclatura</vt:lpstr>
      <vt:lpstr>Classificação de Whittaker (1988)</vt:lpstr>
      <vt:lpstr>Os Cinco Grandes Reinos</vt:lpstr>
      <vt:lpstr>Classificação em Domínios (Woese)</vt:lpstr>
      <vt:lpstr>Sistemática Filogenética (Cladística)</vt:lpstr>
      <vt:lpstr>Cladística e Evolução</vt:lpstr>
      <vt:lpstr>Cladogramas</vt:lpstr>
      <vt:lpstr>Grupos Monofiléticos</vt:lpstr>
      <vt:lpstr>Grupos Parafiléticos</vt:lpstr>
      <vt:lpstr>Grupos Polifiléticos</vt:lpstr>
      <vt:lpstr>Monofilético ou Parafilético?</vt:lpstr>
      <vt:lpstr>Monofilético ou Parafilético?</vt:lpstr>
      <vt:lpstr>Monofilético ou Parafilético?</vt:lpstr>
      <vt:lpstr>Monofilético ou Parafilético?</vt:lpstr>
      <vt:lpstr>Monofilético ou Parafilético?</vt:lpstr>
      <vt:lpstr>Monofilético ou Parafilético?</vt:lpstr>
      <vt:lpstr>Monofilético ou Parafilético?</vt:lpstr>
      <vt:lpstr>Transformações na Sistemática</vt:lpstr>
      <vt:lpstr>Transformações na Sistemática</vt:lpstr>
      <vt:lpstr>Apresentação do PowerPoint</vt:lpstr>
      <vt:lpstr>Filogenia Molecular</vt:lpstr>
      <vt:lpstr>Classificação como Forma de Validação de Discursos de Exclusão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Classificação Biológica</dc:title>
  <dc:creator>Bruno Barbosa</dc:creator>
  <cp:lastModifiedBy>Bruno Barbosa</cp:lastModifiedBy>
  <cp:revision>29</cp:revision>
  <dcterms:created xsi:type="dcterms:W3CDTF">2018-02-26T17:42:03Z</dcterms:created>
  <dcterms:modified xsi:type="dcterms:W3CDTF">2021-05-14T12:03:32Z</dcterms:modified>
</cp:coreProperties>
</file>