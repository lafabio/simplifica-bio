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3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79248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12192000" y="0"/>
                </a:moveTo>
                <a:lnTo>
                  <a:pt x="0" y="0"/>
                </a:lnTo>
                <a:lnTo>
                  <a:pt x="0" y="3048000"/>
                </a:lnTo>
                <a:lnTo>
                  <a:pt x="12192000" y="304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79248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3048000"/>
                </a:moveTo>
                <a:lnTo>
                  <a:pt x="12192000" y="3048000"/>
                </a:lnTo>
                <a:lnTo>
                  <a:pt x="12192000" y="0"/>
                </a:lnTo>
                <a:lnTo>
                  <a:pt x="0" y="0"/>
                </a:lnTo>
                <a:lnTo>
                  <a:pt x="0" y="3048000"/>
                </a:lnTo>
                <a:close/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82895" y="1881886"/>
            <a:ext cx="1426209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4563" y="365758"/>
            <a:ext cx="9262872" cy="6377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942340"/>
          </a:xfrm>
          <a:custGeom>
            <a:avLst/>
            <a:gdLst/>
            <a:ahLst/>
            <a:cxnLst/>
            <a:rect l="l" t="t" r="r" b="b"/>
            <a:pathLst>
              <a:path w="12192000" h="942340">
                <a:moveTo>
                  <a:pt x="12192000" y="0"/>
                </a:moveTo>
                <a:lnTo>
                  <a:pt x="0" y="0"/>
                </a:lnTo>
                <a:lnTo>
                  <a:pt x="0" y="941832"/>
                </a:lnTo>
                <a:lnTo>
                  <a:pt x="12192000" y="9418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942340"/>
          </a:xfrm>
          <a:custGeom>
            <a:avLst/>
            <a:gdLst/>
            <a:ahLst/>
            <a:cxnLst/>
            <a:rect l="l" t="t" r="r" b="b"/>
            <a:pathLst>
              <a:path w="12192000" h="942340">
                <a:moveTo>
                  <a:pt x="0" y="941832"/>
                </a:moveTo>
                <a:lnTo>
                  <a:pt x="12192000" y="941832"/>
                </a:lnTo>
                <a:lnTo>
                  <a:pt x="12192000" y="0"/>
                </a:lnTo>
                <a:lnTo>
                  <a:pt x="0" y="0"/>
                </a:lnTo>
                <a:lnTo>
                  <a:pt x="0" y="941832"/>
                </a:lnTo>
                <a:close/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7516" y="36702"/>
            <a:ext cx="5696966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498" y="1098956"/>
            <a:ext cx="11481003" cy="309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6B86689-C089-4D9A-BA80-6D8FB3BEA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2275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4DADAF3-0171-4705-9B88-3FF6BFEF1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76400"/>
            <a:ext cx="12192000" cy="987029"/>
          </a:xfrm>
          <a:solidFill>
            <a:srgbClr val="92D05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Biológica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83F5F8F-25AD-4ED3-96B0-7A788C14CF84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3700" b="1" dirty="0"/>
              <a:t>Algas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Fungos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0285" y="36702"/>
            <a:ext cx="7633334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spc="-290" dirty="0">
                <a:latin typeface="Arial"/>
                <a:cs typeface="Arial"/>
              </a:rPr>
              <a:t>– </a:t>
            </a:r>
            <a:r>
              <a:rPr spc="-20" dirty="0"/>
              <a:t>Características</a:t>
            </a:r>
            <a:r>
              <a:rPr spc="-50" dirty="0"/>
              <a:t> </a:t>
            </a:r>
            <a:r>
              <a:rPr spc="-20" dirty="0"/>
              <a:t>Gerais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366" y="1014120"/>
            <a:ext cx="6351270" cy="45085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Eucariontes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Autótrofos fotossintetizantes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(maioria)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Diversidade </a:t>
            </a:r>
            <a:r>
              <a:rPr sz="2800" spc="-5" dirty="0">
                <a:latin typeface="Carlito"/>
                <a:cs typeface="Carlito"/>
              </a:rPr>
              <a:t>de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pigmentos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Embriões não dependem </a:t>
            </a:r>
            <a:r>
              <a:rPr sz="2800" spc="-5" dirty="0">
                <a:latin typeface="Carlito"/>
                <a:cs typeface="Carlito"/>
              </a:rPr>
              <a:t>da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mãe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Corpo </a:t>
            </a:r>
            <a:r>
              <a:rPr sz="2800" spc="-5" dirty="0">
                <a:latin typeface="Carlito"/>
                <a:cs typeface="Carlito"/>
              </a:rPr>
              <a:t>=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talo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Parede </a:t>
            </a:r>
            <a:r>
              <a:rPr sz="2800" spc="-10" dirty="0">
                <a:latin typeface="Carlito"/>
                <a:cs typeface="Carlito"/>
              </a:rPr>
              <a:t>Celular </a:t>
            </a:r>
            <a:r>
              <a:rPr sz="2800" spc="-5" dirty="0">
                <a:latin typeface="Carlito"/>
                <a:cs typeface="Carlito"/>
              </a:rPr>
              <a:t>de </a:t>
            </a:r>
            <a:r>
              <a:rPr sz="2800" spc="-10" dirty="0">
                <a:latin typeface="Carlito"/>
                <a:cs typeface="Carlito"/>
              </a:rPr>
              <a:t>composição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variada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Unicelulares </a:t>
            </a:r>
            <a:r>
              <a:rPr sz="2800" spc="-5" dirty="0">
                <a:latin typeface="Carlito"/>
                <a:cs typeface="Carlito"/>
              </a:rPr>
              <a:t>ou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Multicelulares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Isoladas ou</a:t>
            </a:r>
            <a:r>
              <a:rPr sz="2400" spc="-10" dirty="0">
                <a:latin typeface="Carlito"/>
                <a:cs typeface="Carlito"/>
              </a:rPr>
              <a:t> coloniais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Ambientes </a:t>
            </a:r>
            <a:r>
              <a:rPr sz="2800" spc="-10" dirty="0">
                <a:latin typeface="Carlito"/>
                <a:cs typeface="Carlito"/>
              </a:rPr>
              <a:t>aquáticos </a:t>
            </a:r>
            <a:r>
              <a:rPr sz="2800" spc="-5" dirty="0">
                <a:latin typeface="Carlito"/>
                <a:cs typeface="Carlito"/>
              </a:rPr>
              <a:t>ou </a:t>
            </a:r>
            <a:r>
              <a:rPr sz="2800" spc="-20" dirty="0">
                <a:latin typeface="Carlito"/>
                <a:cs typeface="Carlito"/>
              </a:rPr>
              <a:t>terrestres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úmidos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0"/>
            <a:ext cx="12204700" cy="954405"/>
            <a:chOff x="-6095" y="0"/>
            <a:chExt cx="12204700" cy="95440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942340"/>
            </a:xfrm>
            <a:custGeom>
              <a:avLst/>
              <a:gdLst/>
              <a:ahLst/>
              <a:cxnLst/>
              <a:rect l="l" t="t" r="r" b="b"/>
              <a:pathLst>
                <a:path w="12192000" h="942340">
                  <a:moveTo>
                    <a:pt x="12192000" y="0"/>
                  </a:moveTo>
                  <a:lnTo>
                    <a:pt x="0" y="0"/>
                  </a:lnTo>
                  <a:lnTo>
                    <a:pt x="0" y="941832"/>
                  </a:lnTo>
                  <a:lnTo>
                    <a:pt x="12192000" y="9418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942340"/>
            </a:xfrm>
            <a:custGeom>
              <a:avLst/>
              <a:gdLst/>
              <a:ahLst/>
              <a:cxnLst/>
              <a:rect l="l" t="t" r="r" b="b"/>
              <a:pathLst>
                <a:path w="12192000" h="942340">
                  <a:moveTo>
                    <a:pt x="0" y="941832"/>
                  </a:moveTo>
                  <a:lnTo>
                    <a:pt x="12192000" y="9418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94183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92476" y="36702"/>
            <a:ext cx="760603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spc="-290" dirty="0">
                <a:latin typeface="Arial"/>
                <a:cs typeface="Arial"/>
              </a:rPr>
              <a:t>– </a:t>
            </a:r>
            <a:r>
              <a:rPr spc="-10" dirty="0"/>
              <a:t>Classificação</a:t>
            </a:r>
            <a:r>
              <a:rPr spc="-40" dirty="0"/>
              <a:t> </a:t>
            </a:r>
            <a:r>
              <a:rPr dirty="0"/>
              <a:t>(GERAL)</a:t>
            </a:r>
          </a:p>
        </p:txBody>
      </p:sp>
      <p:sp>
        <p:nvSpPr>
          <p:cNvPr id="6" name="object 6"/>
          <p:cNvSpPr/>
          <p:nvPr/>
        </p:nvSpPr>
        <p:spPr>
          <a:xfrm>
            <a:off x="1297503" y="1110264"/>
            <a:ext cx="9914808" cy="56649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046" y="36702"/>
            <a:ext cx="536321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spc="-290" dirty="0">
                <a:latin typeface="Arial"/>
                <a:cs typeface="Arial"/>
              </a:rPr>
              <a:t>– </a:t>
            </a:r>
            <a:r>
              <a:rPr spc="-15" dirty="0"/>
              <a:t>Algas</a:t>
            </a:r>
            <a:r>
              <a:rPr spc="-55" dirty="0"/>
              <a:t> Verdes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366" y="1014120"/>
            <a:ext cx="5939790" cy="43916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Clorofíceas </a:t>
            </a:r>
            <a:r>
              <a:rPr sz="2800" spc="-5" dirty="0">
                <a:latin typeface="Carlito"/>
                <a:cs typeface="Carlito"/>
              </a:rPr>
              <a:t>/</a:t>
            </a:r>
            <a:r>
              <a:rPr sz="2800" spc="4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Chlorophyta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Unicelulares coloniais </a:t>
            </a:r>
            <a:r>
              <a:rPr sz="2800" spc="-5" dirty="0">
                <a:latin typeface="Carlito"/>
                <a:cs typeface="Carlito"/>
              </a:rPr>
              <a:t>ou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multicelulares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40" dirty="0">
                <a:latin typeface="Carlito"/>
                <a:cs typeface="Carlito"/>
              </a:rPr>
              <a:t>Terrestres, </a:t>
            </a:r>
            <a:r>
              <a:rPr sz="2800" spc="-5" dirty="0">
                <a:latin typeface="Carlito"/>
                <a:cs typeface="Carlito"/>
              </a:rPr>
              <a:t>água </a:t>
            </a:r>
            <a:r>
              <a:rPr sz="2800" spc="-10" dirty="0">
                <a:latin typeface="Carlito"/>
                <a:cs typeface="Carlito"/>
              </a:rPr>
              <a:t>doce </a:t>
            </a:r>
            <a:r>
              <a:rPr sz="2800" spc="-5" dirty="0">
                <a:latin typeface="Carlito"/>
                <a:cs typeface="Carlito"/>
              </a:rPr>
              <a:t>ou</a:t>
            </a:r>
            <a:r>
              <a:rPr sz="2800" spc="8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marinhas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Ancestrais </a:t>
            </a:r>
            <a:r>
              <a:rPr sz="2800" spc="-10" dirty="0">
                <a:latin typeface="Carlito"/>
                <a:cs typeface="Carlito"/>
              </a:rPr>
              <a:t>das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plantas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Pigmentos: </a:t>
            </a:r>
            <a:r>
              <a:rPr sz="2800" spc="-15" dirty="0">
                <a:latin typeface="Carlito"/>
                <a:cs typeface="Carlito"/>
              </a:rPr>
              <a:t>Clorofila </a:t>
            </a:r>
            <a:r>
              <a:rPr sz="2800" spc="-5" dirty="0">
                <a:latin typeface="Carlito"/>
                <a:cs typeface="Carlito"/>
              </a:rPr>
              <a:t>A e</a:t>
            </a:r>
            <a:r>
              <a:rPr sz="2800" spc="4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B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Carotenos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Xantofilas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Amido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Parede </a:t>
            </a:r>
            <a:r>
              <a:rPr sz="2800" spc="-10" dirty="0">
                <a:latin typeface="Carlito"/>
                <a:cs typeface="Carlito"/>
              </a:rPr>
              <a:t>Celular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celulósica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20284" y="1132332"/>
            <a:ext cx="6402705" cy="5564505"/>
            <a:chOff x="5320284" y="1132332"/>
            <a:chExt cx="6402705" cy="5564505"/>
          </a:xfrm>
        </p:grpSpPr>
        <p:sp>
          <p:nvSpPr>
            <p:cNvPr id="5" name="object 5"/>
            <p:cNvSpPr/>
            <p:nvPr/>
          </p:nvSpPr>
          <p:spPr>
            <a:xfrm>
              <a:off x="6871716" y="1132332"/>
              <a:ext cx="4850891" cy="36377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20284" y="4536947"/>
              <a:ext cx="3413760" cy="21595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1285" y="36702"/>
            <a:ext cx="533336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spc="-290" dirty="0">
                <a:latin typeface="Arial"/>
                <a:cs typeface="Arial"/>
              </a:rPr>
              <a:t>– </a:t>
            </a:r>
            <a:r>
              <a:rPr spc="-15" dirty="0"/>
              <a:t>Algas</a:t>
            </a:r>
            <a:r>
              <a:rPr spc="-75" dirty="0"/>
              <a:t> </a:t>
            </a:r>
            <a:r>
              <a:rPr spc="-25" dirty="0"/>
              <a:t>Pardas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366" y="1014120"/>
            <a:ext cx="5372735" cy="51669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Feofíceas </a:t>
            </a:r>
            <a:r>
              <a:rPr sz="2800" spc="-5" dirty="0">
                <a:latin typeface="Carlito"/>
                <a:cs typeface="Carlito"/>
              </a:rPr>
              <a:t>/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Phaeophyta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Multicelulares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Grande porte </a:t>
            </a:r>
            <a:r>
              <a:rPr sz="2800" spc="-165" dirty="0">
                <a:latin typeface="Arial"/>
                <a:cs typeface="Arial"/>
              </a:rPr>
              <a:t>– </a:t>
            </a:r>
            <a:r>
              <a:rPr sz="2800" spc="-20" dirty="0">
                <a:latin typeface="Carlito"/>
                <a:cs typeface="Carlito"/>
              </a:rPr>
              <a:t>ex:</a:t>
            </a:r>
            <a:r>
              <a:rPr sz="2800" spc="7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Sargassum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Estruturas </a:t>
            </a:r>
            <a:r>
              <a:rPr sz="2400" dirty="0">
                <a:latin typeface="Carlito"/>
                <a:cs typeface="Carlito"/>
              </a:rPr>
              <a:t>cheias </a:t>
            </a:r>
            <a:r>
              <a:rPr sz="2400" spc="-5" dirty="0">
                <a:latin typeface="Carlito"/>
                <a:cs typeface="Carlito"/>
              </a:rPr>
              <a:t>de </a:t>
            </a:r>
            <a:r>
              <a:rPr sz="2400" dirty="0">
                <a:latin typeface="Carlito"/>
                <a:cs typeface="Carlito"/>
              </a:rPr>
              <a:t>ar </a:t>
            </a:r>
            <a:r>
              <a:rPr sz="2400" spc="-15" dirty="0">
                <a:latin typeface="Carlito"/>
                <a:cs typeface="Carlito"/>
              </a:rPr>
              <a:t>para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flutuação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Maioria </a:t>
            </a:r>
            <a:r>
              <a:rPr sz="2800" spc="-5" dirty="0">
                <a:latin typeface="Carlito"/>
                <a:cs typeface="Carlito"/>
              </a:rPr>
              <a:t>marinha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Clorofila </a:t>
            </a:r>
            <a:r>
              <a:rPr sz="2800" spc="-5" dirty="0">
                <a:latin typeface="Carlito"/>
                <a:cs typeface="Carlito"/>
              </a:rPr>
              <a:t>A e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4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Carotenoides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Fucoxantina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  <a:tab pos="1629410" algn="l"/>
              </a:tabLst>
            </a:pPr>
            <a:r>
              <a:rPr sz="2800" spc="-15" dirty="0">
                <a:latin typeface="Carlito"/>
                <a:cs typeface="Carlito"/>
              </a:rPr>
              <a:t>Reserva:	</a:t>
            </a:r>
            <a:r>
              <a:rPr sz="2800" spc="-10" dirty="0">
                <a:latin typeface="Carlito"/>
                <a:cs typeface="Carlito"/>
              </a:rPr>
              <a:t>Laminarina</a:t>
            </a:r>
            <a:endParaRPr sz="2800">
              <a:latin typeface="Carlito"/>
              <a:cs typeface="Carlito"/>
            </a:endParaRPr>
          </a:p>
          <a:p>
            <a:pPr marL="241300" marR="9017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Parede </a:t>
            </a:r>
            <a:r>
              <a:rPr sz="2800" spc="-5" dirty="0">
                <a:latin typeface="Carlito"/>
                <a:cs typeface="Carlito"/>
              </a:rPr>
              <a:t>celular </a:t>
            </a:r>
            <a:r>
              <a:rPr sz="2800" spc="-10" dirty="0">
                <a:latin typeface="Carlito"/>
                <a:cs typeface="Carlito"/>
              </a:rPr>
              <a:t>celulósica </a:t>
            </a:r>
            <a:r>
              <a:rPr sz="2800" spc="-5" dirty="0">
                <a:latin typeface="Carlito"/>
                <a:cs typeface="Carlito"/>
              </a:rPr>
              <a:t>e </a:t>
            </a:r>
            <a:r>
              <a:rPr sz="2800" spc="-10" dirty="0">
                <a:latin typeface="Carlito"/>
                <a:cs typeface="Carlito"/>
              </a:rPr>
              <a:t>alginato  </a:t>
            </a:r>
            <a:r>
              <a:rPr sz="2800" spc="-20" dirty="0">
                <a:latin typeface="Carlito"/>
                <a:cs typeface="Carlito"/>
              </a:rPr>
              <a:t>(estabilizante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industrial)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06283" y="1132332"/>
            <a:ext cx="4221480" cy="5725795"/>
            <a:chOff x="7606283" y="1132332"/>
            <a:chExt cx="4221480" cy="5725795"/>
          </a:xfrm>
        </p:grpSpPr>
        <p:sp>
          <p:nvSpPr>
            <p:cNvPr id="5" name="object 5"/>
            <p:cNvSpPr/>
            <p:nvPr/>
          </p:nvSpPr>
          <p:spPr>
            <a:xfrm>
              <a:off x="7606283" y="1132332"/>
              <a:ext cx="4221480" cy="30159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06283" y="3947159"/>
              <a:ext cx="4221480" cy="291083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8841" y="36702"/>
            <a:ext cx="635444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spc="-290" dirty="0">
                <a:latin typeface="Arial"/>
                <a:cs typeface="Arial"/>
              </a:rPr>
              <a:t>– </a:t>
            </a:r>
            <a:r>
              <a:rPr spc="-20" dirty="0"/>
              <a:t>Algas</a:t>
            </a:r>
            <a:r>
              <a:rPr spc="-15" dirty="0"/>
              <a:t> </a:t>
            </a:r>
            <a:r>
              <a:rPr spc="-35" dirty="0"/>
              <a:t>Vermelhas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366" y="1024788"/>
            <a:ext cx="4537075" cy="55238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Rodofíceas </a:t>
            </a:r>
            <a:r>
              <a:rPr sz="2800" spc="-5" dirty="0">
                <a:latin typeface="Carlito"/>
                <a:cs typeface="Carlito"/>
              </a:rPr>
              <a:t>/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Rhodophyta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Maioria </a:t>
            </a:r>
            <a:r>
              <a:rPr sz="2800" spc="-10" dirty="0">
                <a:latin typeface="Carlito"/>
                <a:cs typeface="Carlito"/>
              </a:rPr>
              <a:t>marinha</a:t>
            </a:r>
            <a:endParaRPr sz="2800">
              <a:latin typeface="Carlito"/>
              <a:cs typeface="Carlito"/>
            </a:endParaRPr>
          </a:p>
          <a:p>
            <a:pPr marL="241300" marR="5080" indent="-228600">
              <a:lnSpc>
                <a:spcPts val="269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Maioria </a:t>
            </a:r>
            <a:r>
              <a:rPr sz="2800" spc="-20" dirty="0">
                <a:latin typeface="Carlito"/>
                <a:cs typeface="Carlito"/>
              </a:rPr>
              <a:t>autótrofa </a:t>
            </a:r>
            <a:r>
              <a:rPr sz="2800" spc="-10" dirty="0">
                <a:latin typeface="Carlito"/>
                <a:cs typeface="Carlito"/>
              </a:rPr>
              <a:t>(podem ser  </a:t>
            </a:r>
            <a:r>
              <a:rPr sz="2800" spc="-15" dirty="0">
                <a:latin typeface="Carlito"/>
                <a:cs typeface="Carlito"/>
              </a:rPr>
              <a:t>simbiontes </a:t>
            </a:r>
            <a:r>
              <a:rPr sz="2800" spc="-5" dirty="0">
                <a:latin typeface="Carlito"/>
                <a:cs typeface="Carlito"/>
              </a:rPr>
              <a:t>ou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parasitas)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rlito"/>
                <a:cs typeface="Carlito"/>
              </a:rPr>
              <a:t>Fonte </a:t>
            </a:r>
            <a:r>
              <a:rPr sz="2800" spc="-5" dirty="0">
                <a:latin typeface="Carlito"/>
                <a:cs typeface="Carlito"/>
              </a:rPr>
              <a:t>de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ágar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ts val="3329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Clorofila</a:t>
            </a:r>
            <a:r>
              <a:rPr sz="2800" spc="-5" dirty="0">
                <a:latin typeface="Carlito"/>
                <a:cs typeface="Carlito"/>
              </a:rPr>
              <a:t> A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ts val="281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Carotenoides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ts val="280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Ficocianinca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ts val="284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Ficoeritrina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Reserva: </a:t>
            </a:r>
            <a:r>
              <a:rPr sz="2800" spc="-5" dirty="0">
                <a:latin typeface="Carlito"/>
                <a:cs typeface="Carlito"/>
              </a:rPr>
              <a:t>amido </a:t>
            </a:r>
            <a:r>
              <a:rPr sz="2800" spc="-10" dirty="0">
                <a:latin typeface="Carlito"/>
                <a:cs typeface="Carlito"/>
              </a:rPr>
              <a:t>das</a:t>
            </a:r>
            <a:r>
              <a:rPr sz="2800" spc="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florídeas</a:t>
            </a:r>
            <a:endParaRPr sz="2800">
              <a:latin typeface="Carlito"/>
              <a:cs typeface="Carlito"/>
            </a:endParaRPr>
          </a:p>
          <a:p>
            <a:pPr marL="241300" marR="451484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Parede </a:t>
            </a:r>
            <a:r>
              <a:rPr sz="2800" spc="-5" dirty="0">
                <a:latin typeface="Carlito"/>
                <a:cs typeface="Carlito"/>
              </a:rPr>
              <a:t>celular </a:t>
            </a:r>
            <a:r>
              <a:rPr sz="2800" spc="-10" dirty="0">
                <a:latin typeface="Carlito"/>
                <a:cs typeface="Carlito"/>
              </a:rPr>
              <a:t>de  </a:t>
            </a:r>
            <a:r>
              <a:rPr sz="2800" spc="-5" dirty="0">
                <a:latin typeface="Carlito"/>
                <a:cs typeface="Carlito"/>
              </a:rPr>
              <a:t>cel</a:t>
            </a:r>
            <a:r>
              <a:rPr sz="2800" spc="-20" dirty="0">
                <a:latin typeface="Carlito"/>
                <a:cs typeface="Carlito"/>
              </a:rPr>
              <a:t>u</a:t>
            </a:r>
            <a:r>
              <a:rPr sz="2800" spc="-5" dirty="0">
                <a:latin typeface="Carlito"/>
                <a:cs typeface="Carlito"/>
              </a:rPr>
              <a:t>lo</a:t>
            </a:r>
            <a:r>
              <a:rPr sz="2800" spc="-15" dirty="0">
                <a:latin typeface="Carlito"/>
                <a:cs typeface="Carlito"/>
              </a:rPr>
              <a:t>s</a:t>
            </a:r>
            <a:r>
              <a:rPr sz="2800" spc="-5" dirty="0">
                <a:latin typeface="Carlito"/>
                <a:cs typeface="Carlito"/>
              </a:rPr>
              <a:t>e</a:t>
            </a:r>
            <a:r>
              <a:rPr sz="2800" spc="-105" dirty="0">
                <a:latin typeface="Carlito"/>
                <a:cs typeface="Carlito"/>
              </a:rPr>
              <a:t>/</a:t>
            </a:r>
            <a:r>
              <a:rPr sz="2800" spc="-5" dirty="0">
                <a:latin typeface="Carlito"/>
                <a:cs typeface="Carlito"/>
              </a:rPr>
              <a:t>Á</a:t>
            </a:r>
            <a:r>
              <a:rPr sz="2800" spc="-55" dirty="0">
                <a:latin typeface="Carlito"/>
                <a:cs typeface="Carlito"/>
              </a:rPr>
              <a:t>g</a:t>
            </a:r>
            <a:r>
              <a:rPr sz="2800" spc="-5" dirty="0">
                <a:latin typeface="Carlito"/>
                <a:cs typeface="Carlito"/>
              </a:rPr>
              <a:t>ar</a:t>
            </a:r>
            <a:r>
              <a:rPr sz="2800" spc="-10" dirty="0">
                <a:latin typeface="Carlito"/>
                <a:cs typeface="Carlito"/>
              </a:rPr>
              <a:t>/Car</a:t>
            </a:r>
            <a:r>
              <a:rPr sz="2800" spc="-80" dirty="0">
                <a:latin typeface="Carlito"/>
                <a:cs typeface="Carlito"/>
              </a:rPr>
              <a:t>r</a:t>
            </a:r>
            <a:r>
              <a:rPr sz="2800" spc="-5" dirty="0">
                <a:latin typeface="Carlito"/>
                <a:cs typeface="Carlito"/>
              </a:rPr>
              <a:t>a</a:t>
            </a:r>
            <a:r>
              <a:rPr sz="2800" spc="-25" dirty="0">
                <a:latin typeface="Carlito"/>
                <a:cs typeface="Carlito"/>
              </a:rPr>
              <a:t>g</a:t>
            </a:r>
            <a:r>
              <a:rPr sz="2800" spc="-5" dirty="0">
                <a:latin typeface="Carlito"/>
                <a:cs typeface="Carlito"/>
              </a:rPr>
              <a:t>en</a:t>
            </a:r>
            <a:r>
              <a:rPr sz="2800" spc="-20" dirty="0">
                <a:latin typeface="Carlito"/>
                <a:cs typeface="Carlito"/>
              </a:rPr>
              <a:t>i</a:t>
            </a:r>
            <a:r>
              <a:rPr sz="2800" spc="-10" dirty="0">
                <a:latin typeface="Carlito"/>
                <a:cs typeface="Carlito"/>
              </a:rPr>
              <a:t>na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Alimentação: alga </a:t>
            </a:r>
            <a:r>
              <a:rPr sz="2800" spc="-5" dirty="0">
                <a:latin typeface="Carlito"/>
                <a:cs typeface="Carlito"/>
              </a:rPr>
              <a:t>do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sushi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43371" y="1132332"/>
            <a:ext cx="6093460" cy="5699760"/>
            <a:chOff x="5643371" y="1132332"/>
            <a:chExt cx="6093460" cy="5699760"/>
          </a:xfrm>
        </p:grpSpPr>
        <p:sp>
          <p:nvSpPr>
            <p:cNvPr id="5" name="object 5"/>
            <p:cNvSpPr/>
            <p:nvPr/>
          </p:nvSpPr>
          <p:spPr>
            <a:xfrm>
              <a:off x="5643371" y="1132332"/>
              <a:ext cx="6092952" cy="33985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2279" y="4524754"/>
              <a:ext cx="3073907" cy="23073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2517" y="36702"/>
            <a:ext cx="543115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spc="-290" dirty="0">
                <a:latin typeface="Arial"/>
                <a:cs typeface="Arial"/>
              </a:rPr>
              <a:t>–</a:t>
            </a:r>
            <a:r>
              <a:rPr spc="-320" dirty="0">
                <a:latin typeface="Arial"/>
                <a:cs typeface="Arial"/>
              </a:rPr>
              <a:t> </a:t>
            </a:r>
            <a:r>
              <a:rPr spc="-10" dirty="0"/>
              <a:t>Diatomáceas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366" y="1014120"/>
            <a:ext cx="7842884" cy="56870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Douradas </a:t>
            </a:r>
            <a:r>
              <a:rPr sz="2800" spc="-5" dirty="0">
                <a:latin typeface="Carlito"/>
                <a:cs typeface="Carlito"/>
              </a:rPr>
              <a:t>/ </a:t>
            </a:r>
            <a:r>
              <a:rPr sz="2800" spc="-20" dirty="0">
                <a:latin typeface="Carlito"/>
                <a:cs typeface="Carlito"/>
              </a:rPr>
              <a:t>Chrysophyta </a:t>
            </a:r>
            <a:r>
              <a:rPr sz="2800" spc="-5" dirty="0">
                <a:latin typeface="Carlito"/>
                <a:cs typeface="Carlito"/>
              </a:rPr>
              <a:t>/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Bacillariophyta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Unicelulares </a:t>
            </a:r>
            <a:r>
              <a:rPr sz="2800" spc="-5" dirty="0">
                <a:latin typeface="Carlito"/>
                <a:cs typeface="Carlito"/>
              </a:rPr>
              <a:t>ou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coloniais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Componente </a:t>
            </a:r>
            <a:r>
              <a:rPr sz="2800" spc="-5" dirty="0">
                <a:latin typeface="Carlito"/>
                <a:cs typeface="Carlito"/>
              </a:rPr>
              <a:t>do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fitoplâncton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Responsáveis </a:t>
            </a:r>
            <a:r>
              <a:rPr sz="2400" spc="-5" dirty="0">
                <a:latin typeface="Carlito"/>
                <a:cs typeface="Carlito"/>
              </a:rPr>
              <a:t>por 25% da </a:t>
            </a:r>
            <a:r>
              <a:rPr sz="2400" spc="-10" dirty="0">
                <a:latin typeface="Carlito"/>
                <a:cs typeface="Carlito"/>
              </a:rPr>
              <a:t>Produtividade </a:t>
            </a:r>
            <a:r>
              <a:rPr sz="2400" dirty="0">
                <a:latin typeface="Carlito"/>
                <a:cs typeface="Carlito"/>
              </a:rPr>
              <a:t>Primária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Mundial</a:t>
            </a:r>
            <a:endParaRPr sz="2400">
              <a:latin typeface="Carlito"/>
              <a:cs typeface="Carlito"/>
            </a:endParaRPr>
          </a:p>
          <a:p>
            <a:pPr marL="241300" marR="5577840" indent="-241300" algn="r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Clorofila </a:t>
            </a:r>
            <a:r>
              <a:rPr sz="2800" spc="-5" dirty="0">
                <a:latin typeface="Carlito"/>
                <a:cs typeface="Carlito"/>
              </a:rPr>
              <a:t>A e</a:t>
            </a:r>
            <a:r>
              <a:rPr sz="2800" spc="-5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</a:t>
            </a:r>
            <a:endParaRPr sz="2800">
              <a:latin typeface="Carlito"/>
              <a:cs typeface="Carlito"/>
            </a:endParaRPr>
          </a:p>
          <a:p>
            <a:pPr marL="228600" marR="5646420" lvl="1" indent="-228600" algn="r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5" dirty="0">
                <a:latin typeface="Carlito"/>
                <a:cs typeface="Carlito"/>
              </a:rPr>
              <a:t>Fu</a:t>
            </a:r>
            <a:r>
              <a:rPr sz="2400" spc="-20" dirty="0">
                <a:latin typeface="Carlito"/>
                <a:cs typeface="Carlito"/>
              </a:rPr>
              <a:t>c</a:t>
            </a:r>
            <a:r>
              <a:rPr sz="2400" spc="-55" dirty="0">
                <a:latin typeface="Carlito"/>
                <a:cs typeface="Carlito"/>
              </a:rPr>
              <a:t>o</a:t>
            </a:r>
            <a:r>
              <a:rPr sz="2400" spc="-45" dirty="0">
                <a:latin typeface="Carlito"/>
                <a:cs typeface="Carlito"/>
              </a:rPr>
              <a:t>x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0" dirty="0">
                <a:latin typeface="Carlito"/>
                <a:cs typeface="Carlito"/>
              </a:rPr>
              <a:t>n</a:t>
            </a:r>
            <a:r>
              <a:rPr sz="2400" dirty="0">
                <a:latin typeface="Carlito"/>
                <a:cs typeface="Carlito"/>
              </a:rPr>
              <a:t>tina</a:t>
            </a:r>
            <a:endParaRPr sz="2400">
              <a:latin typeface="Carlito"/>
              <a:cs typeface="Carlito"/>
            </a:endParaRPr>
          </a:p>
          <a:p>
            <a:pPr marL="228600" marR="5491480" lvl="1" indent="-228600" algn="r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28600" algn="l"/>
              </a:tabLst>
            </a:pPr>
            <a:r>
              <a:rPr sz="2400" dirty="0">
                <a:latin typeface="Carlito"/>
                <a:cs typeface="Carlito"/>
              </a:rPr>
              <a:t>Ca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</a:t>
            </a:r>
            <a:r>
              <a:rPr sz="2400" spc="-30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5" dirty="0">
                <a:latin typeface="Carlito"/>
                <a:cs typeface="Carlito"/>
              </a:rPr>
              <a:t>n</a:t>
            </a:r>
            <a:r>
              <a:rPr sz="2400" spc="-5" dirty="0">
                <a:latin typeface="Carlito"/>
                <a:cs typeface="Carlito"/>
              </a:rPr>
              <a:t>oides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Xantofilas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Parede </a:t>
            </a:r>
            <a:r>
              <a:rPr sz="2800" spc="-5" dirty="0">
                <a:latin typeface="Carlito"/>
                <a:cs typeface="Carlito"/>
              </a:rPr>
              <a:t>celular Celulose e </a:t>
            </a:r>
            <a:r>
              <a:rPr sz="2800" spc="-10" dirty="0">
                <a:latin typeface="Carlito"/>
                <a:cs typeface="Carlito"/>
              </a:rPr>
              <a:t>Sílica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(frústula/tecas)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Reserva: </a:t>
            </a:r>
            <a:r>
              <a:rPr sz="2800" spc="-10" dirty="0">
                <a:latin typeface="Carlito"/>
                <a:cs typeface="Carlito"/>
              </a:rPr>
              <a:t>óleos </a:t>
            </a:r>
            <a:r>
              <a:rPr sz="2800" spc="-5" dirty="0">
                <a:latin typeface="Carlito"/>
                <a:cs typeface="Carlito"/>
              </a:rPr>
              <a:t>e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crisolaminarina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Maré</a:t>
            </a:r>
            <a:r>
              <a:rPr sz="2800" spc="-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marrom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Diatomitos: abrasivos, filtros,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isolantes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31707" y="1257300"/>
            <a:ext cx="3860292" cy="2171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31707" y="3837432"/>
            <a:ext cx="3860291" cy="25648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9826" y="36702"/>
            <a:ext cx="582866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dirty="0"/>
              <a:t>-</a:t>
            </a:r>
            <a:r>
              <a:rPr spc="-60" dirty="0"/>
              <a:t> </a:t>
            </a:r>
            <a:r>
              <a:rPr spc="-10" dirty="0"/>
              <a:t>Dinoflagelados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0705" y="1008110"/>
            <a:ext cx="5207635" cy="531050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Pyrrophyta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Unicelulares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ts val="3325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Bioluminescência</a:t>
            </a:r>
            <a:endParaRPr sz="2800">
              <a:latin typeface="Carlito"/>
              <a:cs typeface="Carlito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i="1" spc="-5" dirty="0">
                <a:latin typeface="Carlito"/>
                <a:cs typeface="Carlito"/>
              </a:rPr>
              <a:t>Noctiluca</a:t>
            </a:r>
            <a:r>
              <a:rPr sz="2400" i="1" spc="-65" dirty="0">
                <a:latin typeface="Carlito"/>
                <a:cs typeface="Carlito"/>
              </a:rPr>
              <a:t> </a:t>
            </a:r>
            <a:r>
              <a:rPr sz="2400" i="1" spc="-5" dirty="0">
                <a:latin typeface="Carlito"/>
                <a:cs typeface="Carlito"/>
              </a:rPr>
              <a:t>sp.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rlito"/>
                <a:cs typeface="Carlito"/>
              </a:rPr>
              <a:t>Toxinas </a:t>
            </a:r>
            <a:r>
              <a:rPr sz="2800" spc="4700" dirty="0">
                <a:latin typeface="Wingdings"/>
                <a:cs typeface="Wingdings"/>
              </a:rPr>
              <a:t>→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Carlito"/>
                <a:cs typeface="Carlito"/>
              </a:rPr>
              <a:t>Maré </a:t>
            </a:r>
            <a:r>
              <a:rPr sz="2800" spc="-10" dirty="0">
                <a:latin typeface="Carlito"/>
                <a:cs typeface="Carlito"/>
              </a:rPr>
              <a:t>vermelha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Possuem </a:t>
            </a:r>
            <a:r>
              <a:rPr sz="2800" spc="-5" dirty="0">
                <a:latin typeface="Carlito"/>
                <a:cs typeface="Carlito"/>
              </a:rPr>
              <a:t>2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flagelos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ts val="3329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Clorofila </a:t>
            </a:r>
            <a:r>
              <a:rPr sz="2800" spc="-5" dirty="0">
                <a:latin typeface="Carlito"/>
                <a:cs typeface="Carlito"/>
              </a:rPr>
              <a:t>A e</a:t>
            </a:r>
            <a:r>
              <a:rPr sz="2800" spc="-4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</a:t>
            </a:r>
            <a:endParaRPr sz="2800">
              <a:latin typeface="Carlito"/>
              <a:cs typeface="Carlito"/>
            </a:endParaRPr>
          </a:p>
          <a:p>
            <a:pPr marL="698500" lvl="1" indent="-228600">
              <a:lnSpc>
                <a:spcPts val="281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Xantofila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Carotenoides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Reserva </a:t>
            </a:r>
            <a:r>
              <a:rPr sz="2800" spc="-10" dirty="0">
                <a:latin typeface="Carlito"/>
                <a:cs typeface="Carlito"/>
              </a:rPr>
              <a:t>Amido </a:t>
            </a:r>
            <a:r>
              <a:rPr sz="2800" spc="-5" dirty="0">
                <a:latin typeface="Carlito"/>
                <a:cs typeface="Carlito"/>
              </a:rPr>
              <a:t>e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óleos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Parede </a:t>
            </a:r>
            <a:r>
              <a:rPr sz="2800" spc="-5" dirty="0">
                <a:latin typeface="Carlito"/>
                <a:cs typeface="Carlito"/>
              </a:rPr>
              <a:t>de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Celulose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rlito"/>
                <a:cs typeface="Carlito"/>
              </a:rPr>
              <a:t>Zooxantelas </a:t>
            </a:r>
            <a:r>
              <a:rPr sz="2800" spc="-5" dirty="0">
                <a:latin typeface="Carlito"/>
                <a:cs typeface="Carlito"/>
              </a:rPr>
              <a:t>= simbiose </a:t>
            </a:r>
            <a:r>
              <a:rPr sz="2800" spc="-15" dirty="0">
                <a:latin typeface="Carlito"/>
                <a:cs typeface="Carlito"/>
              </a:rPr>
              <a:t>com</a:t>
            </a:r>
            <a:r>
              <a:rPr sz="2800" spc="6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corais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11040" y="964691"/>
            <a:ext cx="7680959" cy="2967355"/>
            <a:chOff x="4511040" y="964691"/>
            <a:chExt cx="7680959" cy="2967355"/>
          </a:xfrm>
        </p:grpSpPr>
        <p:sp>
          <p:nvSpPr>
            <p:cNvPr id="5" name="object 5"/>
            <p:cNvSpPr/>
            <p:nvPr/>
          </p:nvSpPr>
          <p:spPr>
            <a:xfrm>
              <a:off x="8351520" y="1132331"/>
              <a:ext cx="3840479" cy="26730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11040" y="964691"/>
              <a:ext cx="3840479" cy="29672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105144" y="3994403"/>
            <a:ext cx="5905500" cy="2801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6878" y="36702"/>
            <a:ext cx="423989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dirty="0"/>
              <a:t>-</a:t>
            </a:r>
            <a:r>
              <a:rPr spc="-85" dirty="0"/>
              <a:t> </a:t>
            </a:r>
            <a:r>
              <a:rPr dirty="0"/>
              <a:t>Euglenas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366" y="1014120"/>
            <a:ext cx="5031105" cy="56870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Euglenophyta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Mixotróficos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Autótrofos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rlito"/>
                <a:cs typeface="Carlito"/>
              </a:rPr>
              <a:t>Heterótrofos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Água </a:t>
            </a:r>
            <a:r>
              <a:rPr sz="2800" spc="-10" dirty="0">
                <a:latin typeface="Carlito"/>
                <a:cs typeface="Carlito"/>
              </a:rPr>
              <a:t>doce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Unicelulares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2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Flagelos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Reserva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Paramilo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Clorofila </a:t>
            </a:r>
            <a:r>
              <a:rPr sz="2800" spc="-5" dirty="0">
                <a:latin typeface="Carlito"/>
                <a:cs typeface="Carlito"/>
              </a:rPr>
              <a:t>A e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B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Carotenoides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Xantofila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Com película; sem </a:t>
            </a:r>
            <a:r>
              <a:rPr sz="2800" spc="-15" dirty="0">
                <a:latin typeface="Carlito"/>
                <a:cs typeface="Carlito"/>
              </a:rPr>
              <a:t>parede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celular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6452" y="1132332"/>
            <a:ext cx="4191000" cy="3115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84032" y="1607311"/>
            <a:ext cx="3708196" cy="35440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0826" y="36702"/>
            <a:ext cx="507492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Algas </a:t>
            </a:r>
            <a:r>
              <a:rPr dirty="0"/>
              <a:t>-</a:t>
            </a:r>
            <a:r>
              <a:rPr spc="-80" dirty="0"/>
              <a:t> </a:t>
            </a:r>
            <a:r>
              <a:rPr spc="-15" dirty="0"/>
              <a:t>Reprodução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366" y="1100073"/>
            <a:ext cx="78651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Algas verdes </a:t>
            </a:r>
            <a:r>
              <a:rPr sz="2800" spc="-5" dirty="0">
                <a:latin typeface="Carlito"/>
                <a:cs typeface="Carlito"/>
              </a:rPr>
              <a:t>= </a:t>
            </a:r>
            <a:r>
              <a:rPr sz="2800" spc="-10" dirty="0">
                <a:latin typeface="Carlito"/>
                <a:cs typeface="Carlito"/>
              </a:rPr>
              <a:t>metagênese </a:t>
            </a:r>
            <a:r>
              <a:rPr sz="2800" spc="-5" dirty="0">
                <a:latin typeface="Carlito"/>
                <a:cs typeface="Carlito"/>
              </a:rPr>
              <a:t>/ </a:t>
            </a:r>
            <a:r>
              <a:rPr sz="2800" spc="-10" dirty="0">
                <a:latin typeface="Carlito"/>
                <a:cs typeface="Carlito"/>
              </a:rPr>
              <a:t>alternância </a:t>
            </a:r>
            <a:r>
              <a:rPr sz="2800" spc="-5" dirty="0">
                <a:latin typeface="Carlito"/>
                <a:cs typeface="Carlito"/>
              </a:rPr>
              <a:t>de</a:t>
            </a:r>
            <a:r>
              <a:rPr sz="2800" spc="8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gerações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9219" y="1571242"/>
            <a:ext cx="8692896" cy="5170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0"/>
            <a:ext cx="12204700" cy="6852284"/>
            <a:chOff x="-6095" y="0"/>
            <a:chExt cx="12204700" cy="6852284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68519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792480"/>
              <a:ext cx="12192000" cy="3048000"/>
            </a:xfrm>
            <a:custGeom>
              <a:avLst/>
              <a:gdLst/>
              <a:ahLst/>
              <a:cxnLst/>
              <a:rect l="l" t="t" r="r" b="b"/>
              <a:pathLst>
                <a:path w="12192000" h="3048000">
                  <a:moveTo>
                    <a:pt x="12192000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12192000" y="304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792480"/>
              <a:ext cx="12192000" cy="3048000"/>
            </a:xfrm>
            <a:custGeom>
              <a:avLst/>
              <a:gdLst/>
              <a:ahLst/>
              <a:cxnLst/>
              <a:rect l="l" t="t" r="r" b="b"/>
              <a:pathLst>
                <a:path w="12192000" h="3048000">
                  <a:moveTo>
                    <a:pt x="0" y="3048000"/>
                  </a:moveTo>
                  <a:lnTo>
                    <a:pt x="12192000" y="304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8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51882" y="1881886"/>
            <a:ext cx="1891664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</a:t>
            </a:r>
            <a:r>
              <a:rPr spc="-40" dirty="0"/>
              <a:t>g</a:t>
            </a:r>
            <a:r>
              <a:rPr dirty="0"/>
              <a:t>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091" y="1938045"/>
            <a:ext cx="7857490" cy="38823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rlito"/>
                <a:cs typeface="Carlito"/>
              </a:rPr>
              <a:t>Ampla</a:t>
            </a:r>
            <a:r>
              <a:rPr sz="2800" spc="-2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distribuição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Carlito"/>
                <a:cs typeface="Carlito"/>
              </a:rPr>
              <a:t>Ambientes</a:t>
            </a:r>
            <a:r>
              <a:rPr sz="2800" spc="-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úmidos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rlito"/>
                <a:cs typeface="Carlito"/>
              </a:rPr>
              <a:t>Podem </a:t>
            </a:r>
            <a:r>
              <a:rPr sz="2800" spc="-5" dirty="0">
                <a:latin typeface="Carlito"/>
                <a:cs typeface="Carlito"/>
              </a:rPr>
              <a:t>ser </a:t>
            </a:r>
            <a:r>
              <a:rPr sz="2800" spc="-10" dirty="0">
                <a:latin typeface="Carlito"/>
                <a:cs typeface="Carlito"/>
              </a:rPr>
              <a:t>unicelulares </a:t>
            </a:r>
            <a:r>
              <a:rPr sz="2800" spc="-15" dirty="0">
                <a:latin typeface="Carlito"/>
                <a:cs typeface="Carlito"/>
              </a:rPr>
              <a:t>(leveduras) </a:t>
            </a:r>
            <a:r>
              <a:rPr sz="2800" spc="-5" dirty="0">
                <a:latin typeface="Carlito"/>
                <a:cs typeface="Carlito"/>
              </a:rPr>
              <a:t>ou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multicelulares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rlito"/>
                <a:cs typeface="Carlito"/>
              </a:rPr>
              <a:t>Vida </a:t>
            </a:r>
            <a:r>
              <a:rPr sz="2800" spc="-15" dirty="0">
                <a:latin typeface="Carlito"/>
                <a:cs typeface="Carlito"/>
              </a:rPr>
              <a:t>livre </a:t>
            </a:r>
            <a:r>
              <a:rPr sz="2800" spc="-5" dirty="0">
                <a:latin typeface="Carlito"/>
                <a:cs typeface="Carlito"/>
              </a:rPr>
              <a:t>ou </a:t>
            </a:r>
            <a:r>
              <a:rPr sz="2800" spc="-15" dirty="0">
                <a:latin typeface="Carlito"/>
                <a:cs typeface="Carlito"/>
              </a:rPr>
              <a:t>parasitas </a:t>
            </a:r>
            <a:r>
              <a:rPr sz="2800" spc="-10" dirty="0">
                <a:latin typeface="Carlito"/>
                <a:cs typeface="Carlito"/>
              </a:rPr>
              <a:t>(micoses </a:t>
            </a:r>
            <a:r>
              <a:rPr sz="2800" spc="-5" dirty="0">
                <a:latin typeface="Carlito"/>
                <a:cs typeface="Carlito"/>
              </a:rPr>
              <a:t>e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frieiras)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Carlito"/>
                <a:cs typeface="Carlito"/>
              </a:rPr>
              <a:t>Importantes decompositores </a:t>
            </a:r>
            <a:r>
              <a:rPr sz="2800" spc="-5" dirty="0">
                <a:latin typeface="Carlito"/>
                <a:cs typeface="Carlito"/>
              </a:rPr>
              <a:t>da </a:t>
            </a:r>
            <a:r>
              <a:rPr sz="2800" spc="-15" dirty="0">
                <a:latin typeface="Carlito"/>
                <a:cs typeface="Carlito"/>
              </a:rPr>
              <a:t>matéria</a:t>
            </a:r>
            <a:r>
              <a:rPr sz="2800" spc="9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orgânica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rlito"/>
                <a:cs typeface="Carlito"/>
              </a:rPr>
              <a:t>Reciclagem </a:t>
            </a:r>
            <a:r>
              <a:rPr sz="2400" spc="-5" dirty="0">
                <a:latin typeface="Carlito"/>
                <a:cs typeface="Carlito"/>
              </a:rPr>
              <a:t>de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nutrientes</a:t>
            </a:r>
            <a:endParaRPr sz="24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Carlito"/>
                <a:cs typeface="Carlito"/>
              </a:rPr>
              <a:t>Alimentação </a:t>
            </a:r>
            <a:r>
              <a:rPr sz="2800" spc="-10" dirty="0">
                <a:latin typeface="Carlito"/>
                <a:cs typeface="Carlito"/>
              </a:rPr>
              <a:t>por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absorção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rlito"/>
                <a:cs typeface="Carlito"/>
              </a:rPr>
              <a:t>Secretam </a:t>
            </a:r>
            <a:r>
              <a:rPr sz="2400" dirty="0">
                <a:latin typeface="Carlito"/>
                <a:cs typeface="Carlito"/>
              </a:rPr>
              <a:t>enzimas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digestivas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0"/>
            <a:ext cx="12204700" cy="1838960"/>
            <a:chOff x="-6350" y="0"/>
            <a:chExt cx="12204700" cy="183896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826260"/>
            </a:xfrm>
            <a:custGeom>
              <a:avLst/>
              <a:gdLst/>
              <a:ahLst/>
              <a:cxnLst/>
              <a:rect l="l" t="t" r="r" b="b"/>
              <a:pathLst>
                <a:path w="12192000" h="1826260">
                  <a:moveTo>
                    <a:pt x="12192000" y="0"/>
                  </a:moveTo>
                  <a:lnTo>
                    <a:pt x="0" y="0"/>
                  </a:lnTo>
                  <a:lnTo>
                    <a:pt x="0" y="1825752"/>
                  </a:lnTo>
                  <a:lnTo>
                    <a:pt x="12192000" y="1825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1826260"/>
            </a:xfrm>
            <a:custGeom>
              <a:avLst/>
              <a:gdLst/>
              <a:ahLst/>
              <a:cxnLst/>
              <a:rect l="l" t="t" r="r" b="b"/>
              <a:pathLst>
                <a:path w="12192000" h="1826260">
                  <a:moveTo>
                    <a:pt x="0" y="1825752"/>
                  </a:moveTo>
                  <a:lnTo>
                    <a:pt x="12192000" y="182575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82575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47113" y="478282"/>
            <a:ext cx="810133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Fungos </a:t>
            </a:r>
            <a:r>
              <a:rPr spc="-290" dirty="0">
                <a:latin typeface="Arial"/>
                <a:cs typeface="Arial"/>
              </a:rPr>
              <a:t>– </a:t>
            </a:r>
            <a:r>
              <a:rPr spc="-20" dirty="0"/>
              <a:t>Características</a:t>
            </a:r>
            <a:r>
              <a:rPr spc="-40" dirty="0"/>
              <a:t> </a:t>
            </a:r>
            <a:r>
              <a:rPr spc="-20" dirty="0"/>
              <a:t>Gerais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439911" y="1825751"/>
            <a:ext cx="3625850" cy="5032375"/>
            <a:chOff x="8439911" y="1825751"/>
            <a:chExt cx="3625850" cy="5032375"/>
          </a:xfrm>
        </p:grpSpPr>
        <p:sp>
          <p:nvSpPr>
            <p:cNvPr id="8" name="object 8"/>
            <p:cNvSpPr/>
            <p:nvPr/>
          </p:nvSpPr>
          <p:spPr>
            <a:xfrm>
              <a:off x="8439911" y="1825751"/>
              <a:ext cx="3625596" cy="26258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39911" y="4232147"/>
              <a:ext cx="3605784" cy="26258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091" y="1938045"/>
            <a:ext cx="7321550" cy="38715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Carlito"/>
                <a:cs typeface="Carlito"/>
              </a:rPr>
              <a:t>Eucariontes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rlito"/>
                <a:cs typeface="Carlito"/>
              </a:rPr>
              <a:t>Células </a:t>
            </a:r>
            <a:r>
              <a:rPr sz="2800" spc="-15" dirty="0">
                <a:latin typeface="Carlito"/>
                <a:cs typeface="Carlito"/>
              </a:rPr>
              <a:t>com parede </a:t>
            </a:r>
            <a:r>
              <a:rPr sz="2800" spc="-5" dirty="0">
                <a:latin typeface="Carlito"/>
                <a:cs typeface="Carlito"/>
              </a:rPr>
              <a:t>celular</a:t>
            </a:r>
            <a:r>
              <a:rPr sz="2800" spc="7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(quitina)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5" dirty="0">
                <a:latin typeface="Carlito"/>
                <a:cs typeface="Carlito"/>
              </a:rPr>
              <a:t>Reserva:</a:t>
            </a:r>
            <a:r>
              <a:rPr sz="2800" spc="-10" dirty="0">
                <a:latin typeface="Carlito"/>
                <a:cs typeface="Carlito"/>
              </a:rPr>
              <a:t> glicogênio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5" dirty="0">
                <a:latin typeface="Carlito"/>
                <a:cs typeface="Carlito"/>
              </a:rPr>
              <a:t>Heterótrofos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rlito"/>
                <a:cs typeface="Carlito"/>
              </a:rPr>
              <a:t>NÃO TEM CLOROFILA, NÃO </a:t>
            </a:r>
            <a:r>
              <a:rPr sz="2400" spc="-50" dirty="0">
                <a:latin typeface="Carlito"/>
                <a:cs typeface="Carlito"/>
              </a:rPr>
              <a:t>FAZ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FOTOSSÍNTESE</a:t>
            </a:r>
            <a:endParaRPr sz="24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rlito"/>
                <a:cs typeface="Carlito"/>
              </a:rPr>
              <a:t>Sem tecidos</a:t>
            </a:r>
            <a:endParaRPr sz="2800">
              <a:latin typeface="Carlito"/>
              <a:cs typeface="Carlito"/>
            </a:endParaRPr>
          </a:p>
          <a:p>
            <a:pPr marL="241300" marR="5080" indent="-229235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rlito"/>
                <a:cs typeface="Carlito"/>
              </a:rPr>
              <a:t>Reprodução </a:t>
            </a:r>
            <a:r>
              <a:rPr sz="2800" spc="-10" dirty="0">
                <a:latin typeface="Carlito"/>
                <a:cs typeface="Carlito"/>
              </a:rPr>
              <a:t>por </a:t>
            </a:r>
            <a:r>
              <a:rPr sz="2800" spc="-15" dirty="0">
                <a:latin typeface="Carlito"/>
                <a:cs typeface="Carlito"/>
              </a:rPr>
              <a:t>esporos </a:t>
            </a:r>
            <a:r>
              <a:rPr sz="2800" spc="-5" dirty="0">
                <a:latin typeface="Carlito"/>
                <a:cs typeface="Carlito"/>
              </a:rPr>
              <a:t>em alguma </a:t>
            </a:r>
            <a:r>
              <a:rPr sz="2800" spc="-20" dirty="0">
                <a:latin typeface="Carlito"/>
                <a:cs typeface="Carlito"/>
              </a:rPr>
              <a:t>fase </a:t>
            </a:r>
            <a:r>
              <a:rPr sz="2800" spc="-5" dirty="0">
                <a:latin typeface="Carlito"/>
                <a:cs typeface="Carlito"/>
              </a:rPr>
              <a:t>do ciclo  de </a:t>
            </a:r>
            <a:r>
              <a:rPr sz="2800" spc="-10" dirty="0">
                <a:latin typeface="Carlito"/>
                <a:cs typeface="Carlito"/>
              </a:rPr>
              <a:t>vida </a:t>
            </a:r>
            <a:r>
              <a:rPr sz="2800" spc="-5" dirty="0">
                <a:latin typeface="Carlito"/>
                <a:cs typeface="Carlito"/>
              </a:rPr>
              <a:t>(podem ser</a:t>
            </a:r>
            <a:r>
              <a:rPr sz="2800" spc="2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flagelados)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204700" cy="1838325"/>
            <a:chOff x="-6095" y="0"/>
            <a:chExt cx="12204700" cy="18383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826260"/>
            </a:xfrm>
            <a:custGeom>
              <a:avLst/>
              <a:gdLst/>
              <a:ahLst/>
              <a:cxnLst/>
              <a:rect l="l" t="t" r="r" b="b"/>
              <a:pathLst>
                <a:path w="12192000" h="1826260">
                  <a:moveTo>
                    <a:pt x="12192000" y="0"/>
                  </a:moveTo>
                  <a:lnTo>
                    <a:pt x="0" y="0"/>
                  </a:lnTo>
                  <a:lnTo>
                    <a:pt x="0" y="1825752"/>
                  </a:lnTo>
                  <a:lnTo>
                    <a:pt x="12192000" y="1825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1826260"/>
            </a:xfrm>
            <a:custGeom>
              <a:avLst/>
              <a:gdLst/>
              <a:ahLst/>
              <a:cxnLst/>
              <a:rect l="l" t="t" r="r" b="b"/>
              <a:pathLst>
                <a:path w="12192000" h="1826260">
                  <a:moveTo>
                    <a:pt x="0" y="1825752"/>
                  </a:moveTo>
                  <a:lnTo>
                    <a:pt x="12192000" y="182575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82575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47113" y="478282"/>
            <a:ext cx="810133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Fungos </a:t>
            </a:r>
            <a:r>
              <a:rPr spc="-290" dirty="0">
                <a:latin typeface="Arial"/>
                <a:cs typeface="Arial"/>
              </a:rPr>
              <a:t>– </a:t>
            </a:r>
            <a:r>
              <a:rPr spc="-20" dirty="0"/>
              <a:t>Características</a:t>
            </a:r>
            <a:r>
              <a:rPr spc="-40" dirty="0"/>
              <a:t> </a:t>
            </a:r>
            <a:r>
              <a:rPr spc="-20" dirty="0"/>
              <a:t>Gerais</a:t>
            </a:r>
          </a:p>
        </p:txBody>
      </p:sp>
      <p:sp>
        <p:nvSpPr>
          <p:cNvPr id="7" name="object 7"/>
          <p:cNvSpPr/>
          <p:nvPr/>
        </p:nvSpPr>
        <p:spPr>
          <a:xfrm>
            <a:off x="8965692" y="2348483"/>
            <a:ext cx="2752298" cy="34427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091" y="1944141"/>
            <a:ext cx="9461500" cy="27362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rlito"/>
                <a:cs typeface="Carlito"/>
              </a:rPr>
              <a:t>Hifas </a:t>
            </a:r>
            <a:r>
              <a:rPr sz="2800" spc="4695" dirty="0">
                <a:latin typeface="Wingdings"/>
                <a:cs typeface="Wingdings"/>
              </a:rPr>
              <a:t>→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rlito"/>
                <a:cs typeface="Carlito"/>
              </a:rPr>
              <a:t>Micélio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5" dirty="0">
                <a:latin typeface="Carlito"/>
                <a:cs typeface="Carlito"/>
              </a:rPr>
              <a:t>Na </a:t>
            </a:r>
            <a:r>
              <a:rPr sz="2800" spc="-20" dirty="0">
                <a:latin typeface="Carlito"/>
                <a:cs typeface="Carlito"/>
              </a:rPr>
              <a:t>reprodução </a:t>
            </a:r>
            <a:r>
              <a:rPr sz="2800" spc="-15" dirty="0">
                <a:latin typeface="Carlito"/>
                <a:cs typeface="Carlito"/>
              </a:rPr>
              <a:t>sexuada,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20" dirty="0">
                <a:latin typeface="Carlito"/>
                <a:cs typeface="Carlito"/>
              </a:rPr>
              <a:t>hifas formam </a:t>
            </a:r>
            <a:r>
              <a:rPr sz="2800" spc="-5" dirty="0">
                <a:latin typeface="Carlito"/>
                <a:cs typeface="Carlito"/>
              </a:rPr>
              <a:t>o </a:t>
            </a:r>
            <a:r>
              <a:rPr sz="2800" spc="-10" dirty="0">
                <a:latin typeface="Carlito"/>
                <a:cs typeface="Carlito"/>
              </a:rPr>
              <a:t>corpo </a:t>
            </a:r>
            <a:r>
              <a:rPr sz="2800" spc="-5" dirty="0">
                <a:latin typeface="Carlito"/>
                <a:cs typeface="Carlito"/>
              </a:rPr>
              <a:t>de</a:t>
            </a:r>
            <a:r>
              <a:rPr sz="2800" spc="2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frutificação</a:t>
            </a:r>
            <a:endParaRPr sz="2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rlito"/>
                <a:cs typeface="Carlito"/>
              </a:rPr>
              <a:t>Hifas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rlito"/>
                <a:cs typeface="Carlito"/>
              </a:rPr>
              <a:t>Monocarióticas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rlito"/>
                <a:cs typeface="Carlito"/>
              </a:rPr>
              <a:t>Dicarióticas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rlito"/>
                <a:cs typeface="Carlito"/>
              </a:rPr>
              <a:t>Cenocíticas </a:t>
            </a:r>
            <a:r>
              <a:rPr sz="2400" spc="-10" dirty="0">
                <a:latin typeface="Carlito"/>
                <a:cs typeface="Carlito"/>
              </a:rPr>
              <a:t>(vários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núcleos)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204700" cy="1838325"/>
            <a:chOff x="-6095" y="0"/>
            <a:chExt cx="12204700" cy="18383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826260"/>
            </a:xfrm>
            <a:custGeom>
              <a:avLst/>
              <a:gdLst/>
              <a:ahLst/>
              <a:cxnLst/>
              <a:rect l="l" t="t" r="r" b="b"/>
              <a:pathLst>
                <a:path w="12192000" h="1826260">
                  <a:moveTo>
                    <a:pt x="12192000" y="0"/>
                  </a:moveTo>
                  <a:lnTo>
                    <a:pt x="0" y="0"/>
                  </a:lnTo>
                  <a:lnTo>
                    <a:pt x="0" y="1825752"/>
                  </a:lnTo>
                  <a:lnTo>
                    <a:pt x="12192000" y="1825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1826260"/>
            </a:xfrm>
            <a:custGeom>
              <a:avLst/>
              <a:gdLst/>
              <a:ahLst/>
              <a:cxnLst/>
              <a:rect l="l" t="t" r="r" b="b"/>
              <a:pathLst>
                <a:path w="12192000" h="1826260">
                  <a:moveTo>
                    <a:pt x="0" y="1825752"/>
                  </a:moveTo>
                  <a:lnTo>
                    <a:pt x="12192000" y="182575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825752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4938" y="478282"/>
            <a:ext cx="480314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Fungos </a:t>
            </a:r>
            <a:r>
              <a:rPr dirty="0"/>
              <a:t>-</a:t>
            </a:r>
            <a:r>
              <a:rPr spc="-50" dirty="0"/>
              <a:t> </a:t>
            </a:r>
            <a:r>
              <a:rPr spc="-20" dirty="0"/>
              <a:t>Estrutura</a:t>
            </a:r>
          </a:p>
        </p:txBody>
      </p:sp>
      <p:sp>
        <p:nvSpPr>
          <p:cNvPr id="7" name="object 7"/>
          <p:cNvSpPr/>
          <p:nvPr/>
        </p:nvSpPr>
        <p:spPr>
          <a:xfrm>
            <a:off x="7929371" y="3165310"/>
            <a:ext cx="4113276" cy="33246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3578" y="1521104"/>
            <a:ext cx="5949315" cy="136969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Cogumelos </a:t>
            </a:r>
            <a:r>
              <a:rPr sz="2800" spc="-165" dirty="0">
                <a:latin typeface="Arial"/>
                <a:cs typeface="Arial"/>
              </a:rPr>
              <a:t>– </a:t>
            </a:r>
            <a:r>
              <a:rPr sz="2800" spc="-10" dirty="0">
                <a:latin typeface="Carlito"/>
                <a:cs typeface="Carlito"/>
              </a:rPr>
              <a:t>típicos </a:t>
            </a:r>
            <a:r>
              <a:rPr sz="2800" spc="-5" dirty="0">
                <a:latin typeface="Carlito"/>
                <a:cs typeface="Carlito"/>
              </a:rPr>
              <a:t>de</a:t>
            </a:r>
            <a:r>
              <a:rPr sz="2800" spc="8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basidiomicetes</a:t>
            </a:r>
            <a:endParaRPr sz="28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15" dirty="0">
                <a:latin typeface="Carlito"/>
                <a:cs typeface="Carlito"/>
              </a:rPr>
              <a:t>Possuem </a:t>
            </a:r>
            <a:r>
              <a:rPr sz="2800" spc="-5" dirty="0">
                <a:latin typeface="Carlito"/>
                <a:cs typeface="Carlito"/>
              </a:rPr>
              <a:t>lamelas </a:t>
            </a:r>
            <a:r>
              <a:rPr sz="2800" spc="-10" dirty="0">
                <a:latin typeface="Carlito"/>
                <a:cs typeface="Carlito"/>
              </a:rPr>
              <a:t>com</a:t>
            </a:r>
            <a:r>
              <a:rPr sz="2800" spc="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basidiósporos</a:t>
            </a:r>
            <a:endParaRPr sz="2800">
              <a:latin typeface="Carlito"/>
              <a:cs typeface="Carlito"/>
            </a:endParaRPr>
          </a:p>
          <a:p>
            <a:pPr marL="1155065" lvl="2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1155700" algn="l"/>
              </a:tabLst>
            </a:pPr>
            <a:r>
              <a:rPr sz="2800" spc="-15" dirty="0">
                <a:latin typeface="Carlito"/>
                <a:cs typeface="Carlito"/>
              </a:rPr>
              <a:t>Produção </a:t>
            </a:r>
            <a:r>
              <a:rPr sz="2800" spc="-5" dirty="0">
                <a:latin typeface="Carlito"/>
                <a:cs typeface="Carlito"/>
              </a:rPr>
              <a:t>de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esporos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204700" cy="1338580"/>
            <a:chOff x="-6095" y="0"/>
            <a:chExt cx="12204700" cy="133858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325880"/>
            </a:xfrm>
            <a:custGeom>
              <a:avLst/>
              <a:gdLst/>
              <a:ahLst/>
              <a:cxnLst/>
              <a:rect l="l" t="t" r="r" b="b"/>
              <a:pathLst>
                <a:path w="12192000" h="1325880">
                  <a:moveTo>
                    <a:pt x="12192000" y="0"/>
                  </a:moveTo>
                  <a:lnTo>
                    <a:pt x="0" y="0"/>
                  </a:lnTo>
                  <a:lnTo>
                    <a:pt x="0" y="1325879"/>
                  </a:lnTo>
                  <a:lnTo>
                    <a:pt x="12192000" y="13258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1325880"/>
            </a:xfrm>
            <a:custGeom>
              <a:avLst/>
              <a:gdLst/>
              <a:ahLst/>
              <a:cxnLst/>
              <a:rect l="l" t="t" r="r" b="b"/>
              <a:pathLst>
                <a:path w="12192000" h="1325880">
                  <a:moveTo>
                    <a:pt x="0" y="1325879"/>
                  </a:moveTo>
                  <a:lnTo>
                    <a:pt x="12192000" y="132587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325879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51882" y="227787"/>
            <a:ext cx="1891664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</a:t>
            </a:r>
            <a:r>
              <a:rPr spc="-45" dirty="0"/>
              <a:t>g</a:t>
            </a:r>
            <a:r>
              <a:rPr dirty="0"/>
              <a:t>os</a:t>
            </a:r>
          </a:p>
        </p:txBody>
      </p:sp>
      <p:sp>
        <p:nvSpPr>
          <p:cNvPr id="7" name="object 7"/>
          <p:cNvSpPr/>
          <p:nvPr/>
        </p:nvSpPr>
        <p:spPr>
          <a:xfrm>
            <a:off x="4802123" y="2604516"/>
            <a:ext cx="7389875" cy="3907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0"/>
            <a:ext cx="12204700" cy="814705"/>
            <a:chOff x="-6350" y="0"/>
            <a:chExt cx="12204700" cy="81470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802005"/>
            </a:xfrm>
            <a:custGeom>
              <a:avLst/>
              <a:gdLst/>
              <a:ahLst/>
              <a:cxnLst/>
              <a:rect l="l" t="t" r="r" b="b"/>
              <a:pathLst>
                <a:path w="12192000" h="802005">
                  <a:moveTo>
                    <a:pt x="12192000" y="0"/>
                  </a:moveTo>
                  <a:lnTo>
                    <a:pt x="0" y="0"/>
                  </a:lnTo>
                  <a:lnTo>
                    <a:pt x="0" y="801624"/>
                  </a:lnTo>
                  <a:lnTo>
                    <a:pt x="12192000" y="80162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802005"/>
            </a:xfrm>
            <a:custGeom>
              <a:avLst/>
              <a:gdLst/>
              <a:ahLst/>
              <a:cxnLst/>
              <a:rect l="l" t="t" r="r" b="b"/>
              <a:pathLst>
                <a:path w="12192000" h="802005">
                  <a:moveTo>
                    <a:pt x="0" y="801624"/>
                  </a:moveTo>
                  <a:lnTo>
                    <a:pt x="12192000" y="80162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801624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82846" y="0"/>
            <a:ext cx="322770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Importância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39" y="713358"/>
            <a:ext cx="7572375" cy="6022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97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Decomposição </a:t>
            </a:r>
            <a:r>
              <a:rPr sz="2600" spc="-5" dirty="0">
                <a:latin typeface="Carlito"/>
                <a:cs typeface="Carlito"/>
              </a:rPr>
              <a:t>da</a:t>
            </a:r>
            <a:r>
              <a:rPr sz="2600" spc="-15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matéria</a:t>
            </a:r>
            <a:endParaRPr sz="2600">
              <a:latin typeface="Carlito"/>
              <a:cs typeface="Carlito"/>
            </a:endParaRPr>
          </a:p>
          <a:p>
            <a:pPr marL="227965" marR="5438140" lvl="1" indent="-227965" algn="r">
              <a:lnSpc>
                <a:spcPts val="2490"/>
              </a:lnSpc>
              <a:buFont typeface="Arial"/>
              <a:buChar char="•"/>
              <a:tabLst>
                <a:tab pos="227965" algn="l"/>
                <a:tab pos="228600" algn="l"/>
              </a:tabLst>
            </a:pPr>
            <a:r>
              <a:rPr sz="2200" spc="-10" dirty="0">
                <a:latin typeface="Carlito"/>
                <a:cs typeface="Carlito"/>
              </a:rPr>
              <a:t>Sap</a:t>
            </a:r>
            <a:r>
              <a:rPr sz="2200" spc="-40" dirty="0">
                <a:latin typeface="Carlito"/>
                <a:cs typeface="Carlito"/>
              </a:rPr>
              <a:t>r</a:t>
            </a:r>
            <a:r>
              <a:rPr sz="2200" spc="-5" dirty="0">
                <a:latin typeface="Carlito"/>
                <a:cs typeface="Carlito"/>
              </a:rPr>
              <a:t>o</a:t>
            </a:r>
            <a:r>
              <a:rPr sz="2200" spc="-55" dirty="0">
                <a:latin typeface="Carlito"/>
                <a:cs typeface="Carlito"/>
              </a:rPr>
              <a:t>f</a:t>
            </a:r>
            <a:r>
              <a:rPr sz="2200" spc="-5" dirty="0">
                <a:latin typeface="Carlito"/>
                <a:cs typeface="Carlito"/>
              </a:rPr>
              <a:t>ági</a:t>
            </a:r>
            <a:r>
              <a:rPr sz="2200" spc="-35" dirty="0">
                <a:latin typeface="Carlito"/>
                <a:cs typeface="Carlito"/>
              </a:rPr>
              <a:t>c</a:t>
            </a:r>
            <a:r>
              <a:rPr sz="2200" spc="-5" dirty="0">
                <a:latin typeface="Carlito"/>
                <a:cs typeface="Carlito"/>
              </a:rPr>
              <a:t>os</a:t>
            </a:r>
            <a:endParaRPr sz="2200">
              <a:latin typeface="Carlito"/>
              <a:cs typeface="Carlito"/>
            </a:endParaRPr>
          </a:p>
          <a:p>
            <a:pPr marL="241300" marR="5516245" indent="-241300" algn="r">
              <a:lnSpc>
                <a:spcPts val="297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rlito"/>
                <a:cs typeface="Carlito"/>
              </a:rPr>
              <a:t>Mu</a:t>
            </a:r>
            <a:r>
              <a:rPr sz="2600" spc="5" dirty="0">
                <a:latin typeface="Carlito"/>
                <a:cs typeface="Carlito"/>
              </a:rPr>
              <a:t>t</a:t>
            </a:r>
            <a:r>
              <a:rPr sz="2600" spc="-5" dirty="0">
                <a:latin typeface="Carlito"/>
                <a:cs typeface="Carlito"/>
              </a:rPr>
              <a:t>ualí</a:t>
            </a:r>
            <a:r>
              <a:rPr sz="2600" spc="-20" dirty="0">
                <a:latin typeface="Carlito"/>
                <a:cs typeface="Carlito"/>
              </a:rPr>
              <a:t>s</a:t>
            </a:r>
            <a:r>
              <a:rPr sz="2600" dirty="0">
                <a:latin typeface="Carlito"/>
                <a:cs typeface="Carlito"/>
              </a:rPr>
              <a:t>ti</a:t>
            </a:r>
            <a:r>
              <a:rPr sz="2600" spc="-20" dirty="0">
                <a:latin typeface="Carlito"/>
                <a:cs typeface="Carlito"/>
              </a:rPr>
              <a:t>c</a:t>
            </a:r>
            <a:r>
              <a:rPr sz="2600" spc="-5" dirty="0">
                <a:latin typeface="Carlito"/>
                <a:cs typeface="Carlito"/>
              </a:rPr>
              <a:t>os</a:t>
            </a:r>
            <a:endParaRPr sz="2600">
              <a:latin typeface="Carlito"/>
              <a:cs typeface="Carlito"/>
            </a:endParaRPr>
          </a:p>
          <a:p>
            <a:pPr marL="698500" lvl="1" indent="-228600">
              <a:lnSpc>
                <a:spcPts val="235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5" dirty="0">
                <a:latin typeface="Carlito"/>
                <a:cs typeface="Carlito"/>
              </a:rPr>
              <a:t>Micorrizas</a:t>
            </a:r>
            <a:endParaRPr sz="2200">
              <a:latin typeface="Carlito"/>
              <a:cs typeface="Carlito"/>
            </a:endParaRPr>
          </a:p>
          <a:p>
            <a:pPr marL="698500" lvl="1" indent="-228600">
              <a:lnSpc>
                <a:spcPts val="249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rlito"/>
                <a:cs typeface="Carlito"/>
              </a:rPr>
              <a:t>Líquens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rlito"/>
                <a:cs typeface="Carlito"/>
              </a:rPr>
              <a:t>Parasitas</a:t>
            </a:r>
            <a:endParaRPr sz="2600">
              <a:latin typeface="Carlito"/>
              <a:cs typeface="Carlito"/>
            </a:endParaRPr>
          </a:p>
          <a:p>
            <a:pPr marL="698500" lvl="1" indent="-228600">
              <a:lnSpc>
                <a:spcPts val="235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5" dirty="0">
                <a:latin typeface="Carlito"/>
                <a:cs typeface="Carlito"/>
              </a:rPr>
              <a:t>Ferrugem </a:t>
            </a:r>
            <a:r>
              <a:rPr sz="2200" spc="-5" dirty="0">
                <a:latin typeface="Carlito"/>
                <a:cs typeface="Carlito"/>
              </a:rPr>
              <a:t>do </a:t>
            </a:r>
            <a:r>
              <a:rPr sz="2200" spc="-25" dirty="0">
                <a:latin typeface="Carlito"/>
                <a:cs typeface="Carlito"/>
              </a:rPr>
              <a:t>café, </a:t>
            </a:r>
            <a:r>
              <a:rPr sz="2200" spc="-10" dirty="0">
                <a:latin typeface="Carlito"/>
                <a:cs typeface="Carlito"/>
              </a:rPr>
              <a:t>micose, </a:t>
            </a:r>
            <a:r>
              <a:rPr sz="2200" spc="-15" dirty="0">
                <a:latin typeface="Carlito"/>
                <a:cs typeface="Carlito"/>
              </a:rPr>
              <a:t>frieira, </a:t>
            </a:r>
            <a:r>
              <a:rPr sz="2200" spc="-5" dirty="0">
                <a:latin typeface="Carlito"/>
                <a:cs typeface="Carlito"/>
              </a:rPr>
              <a:t>pé de</a:t>
            </a:r>
            <a:r>
              <a:rPr sz="2200" spc="14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atleta</a:t>
            </a:r>
            <a:endParaRPr sz="2200">
              <a:latin typeface="Carlito"/>
              <a:cs typeface="Carlito"/>
            </a:endParaRPr>
          </a:p>
          <a:p>
            <a:pPr marL="469900">
              <a:lnSpc>
                <a:spcPts val="2495"/>
              </a:lnSpc>
            </a:pPr>
            <a:r>
              <a:rPr sz="2200" spc="-5" dirty="0">
                <a:latin typeface="Carlito"/>
                <a:cs typeface="Carlito"/>
              </a:rPr>
              <a:t>Candidíase,</a:t>
            </a:r>
            <a:r>
              <a:rPr sz="2200" spc="-1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sapinho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rlito"/>
                <a:cs typeface="Carlito"/>
              </a:rPr>
              <a:t>Farmacêutica</a:t>
            </a:r>
            <a:endParaRPr sz="2600">
              <a:latin typeface="Carlito"/>
              <a:cs typeface="Carlito"/>
            </a:endParaRPr>
          </a:p>
          <a:p>
            <a:pPr marL="698500" lvl="1" indent="-228600">
              <a:lnSpc>
                <a:spcPts val="250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rlito"/>
                <a:cs typeface="Carlito"/>
              </a:rPr>
              <a:t>Penicilina </a:t>
            </a:r>
            <a:r>
              <a:rPr sz="2200" spc="3685" dirty="0">
                <a:latin typeface="Wingdings"/>
                <a:cs typeface="Wingdings"/>
              </a:rPr>
              <a:t>→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arlito"/>
                <a:cs typeface="Carlito"/>
              </a:rPr>
              <a:t>Fungo </a:t>
            </a:r>
            <a:r>
              <a:rPr sz="2200" i="1" spc="-10" dirty="0">
                <a:latin typeface="Carlito"/>
                <a:cs typeface="Carlito"/>
              </a:rPr>
              <a:t>Penicillium sp.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rlito"/>
                <a:cs typeface="Carlito"/>
              </a:rPr>
              <a:t>Gastronomia</a:t>
            </a:r>
            <a:endParaRPr sz="2600">
              <a:latin typeface="Carlito"/>
              <a:cs typeface="Carlito"/>
            </a:endParaRPr>
          </a:p>
          <a:p>
            <a:pPr marL="698500" lvl="1" indent="-228600">
              <a:lnSpc>
                <a:spcPts val="235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rlito"/>
                <a:cs typeface="Carlito"/>
              </a:rPr>
              <a:t>Queijo </a:t>
            </a:r>
            <a:r>
              <a:rPr sz="2200" spc="-15" dirty="0">
                <a:latin typeface="Carlito"/>
                <a:cs typeface="Carlito"/>
              </a:rPr>
              <a:t>gorgonzola </a:t>
            </a:r>
            <a:r>
              <a:rPr sz="2200" spc="3685" dirty="0">
                <a:latin typeface="Wingdings"/>
                <a:cs typeface="Wingdings"/>
              </a:rPr>
              <a:t>→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Carlito"/>
                <a:cs typeface="Carlito"/>
              </a:rPr>
              <a:t>Penicillium roquefortii</a:t>
            </a:r>
            <a:endParaRPr sz="2200">
              <a:latin typeface="Carlito"/>
              <a:cs typeface="Carlito"/>
            </a:endParaRPr>
          </a:p>
          <a:p>
            <a:pPr marL="698500" lvl="1" indent="-228600">
              <a:lnSpc>
                <a:spcPts val="234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5" dirty="0">
                <a:latin typeface="Carlito"/>
                <a:cs typeface="Carlito"/>
              </a:rPr>
              <a:t>Fermento </a:t>
            </a:r>
            <a:r>
              <a:rPr sz="2200" spc="-5" dirty="0">
                <a:latin typeface="Carlito"/>
                <a:cs typeface="Carlito"/>
              </a:rPr>
              <a:t>Biológico </a:t>
            </a:r>
            <a:r>
              <a:rPr sz="2200" spc="3685" dirty="0">
                <a:latin typeface="Wingdings"/>
                <a:cs typeface="Wingdings"/>
              </a:rPr>
              <a:t>→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Carlito"/>
                <a:cs typeface="Carlito"/>
              </a:rPr>
              <a:t>Saccharomyces sp.</a:t>
            </a:r>
            <a:endParaRPr sz="2200">
              <a:latin typeface="Carlito"/>
              <a:cs typeface="Carlito"/>
            </a:endParaRPr>
          </a:p>
          <a:p>
            <a:pPr marL="698500" lvl="1" indent="-228600">
              <a:lnSpc>
                <a:spcPts val="235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rlito"/>
                <a:cs typeface="Carlito"/>
              </a:rPr>
              <a:t>Bebidas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alcoólicas</a:t>
            </a:r>
            <a:endParaRPr sz="2200">
              <a:latin typeface="Carlito"/>
              <a:cs typeface="Carlito"/>
            </a:endParaRPr>
          </a:p>
          <a:p>
            <a:pPr marL="698500" lvl="1" indent="-228600">
              <a:lnSpc>
                <a:spcPts val="2345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rlito"/>
                <a:cs typeface="Carlito"/>
              </a:rPr>
              <a:t>Biocombustível</a:t>
            </a:r>
            <a:endParaRPr sz="2200">
              <a:latin typeface="Carlito"/>
              <a:cs typeface="Carlito"/>
            </a:endParaRPr>
          </a:p>
          <a:p>
            <a:pPr marL="698500" lvl="1" indent="-228600">
              <a:lnSpc>
                <a:spcPts val="249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Carlito"/>
                <a:cs typeface="Carlito"/>
              </a:rPr>
              <a:t>Cogumelos </a:t>
            </a:r>
            <a:r>
              <a:rPr sz="2200" spc="-10" dirty="0">
                <a:latin typeface="Carlito"/>
                <a:cs typeface="Carlito"/>
              </a:rPr>
              <a:t>comestíveis: </a:t>
            </a:r>
            <a:r>
              <a:rPr sz="2200" spc="-5" dirty="0">
                <a:latin typeface="Carlito"/>
                <a:cs typeface="Carlito"/>
              </a:rPr>
              <a:t>champignon, shimeji, </a:t>
            </a:r>
            <a:r>
              <a:rPr sz="2200" spc="-20" dirty="0">
                <a:latin typeface="Carlito"/>
                <a:cs typeface="Carlito"/>
              </a:rPr>
              <a:t>shitake,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trufas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ts val="2970"/>
              </a:lnSpc>
              <a:spcBef>
                <a:spcPts val="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rlito"/>
                <a:cs typeface="Carlito"/>
              </a:rPr>
              <a:t>Venenosos </a:t>
            </a:r>
            <a:r>
              <a:rPr sz="2600" dirty="0">
                <a:latin typeface="Carlito"/>
                <a:cs typeface="Carlito"/>
              </a:rPr>
              <a:t>e</a:t>
            </a:r>
            <a:r>
              <a:rPr sz="2600" spc="-3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alucinógenos</a:t>
            </a:r>
            <a:endParaRPr sz="2600">
              <a:latin typeface="Carlito"/>
              <a:cs typeface="Carlito"/>
            </a:endParaRPr>
          </a:p>
          <a:p>
            <a:pPr marL="698500" lvl="1" indent="-228600">
              <a:lnSpc>
                <a:spcPts val="2490"/>
              </a:lnSpc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rlito"/>
                <a:cs typeface="Carlito"/>
              </a:rPr>
              <a:t>LSD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96000" y="801623"/>
            <a:ext cx="6096000" cy="6056630"/>
            <a:chOff x="6096000" y="801623"/>
            <a:chExt cx="6096000" cy="6056630"/>
          </a:xfrm>
        </p:grpSpPr>
        <p:sp>
          <p:nvSpPr>
            <p:cNvPr id="8" name="object 8"/>
            <p:cNvSpPr/>
            <p:nvPr/>
          </p:nvSpPr>
          <p:spPr>
            <a:xfrm>
              <a:off x="6096000" y="801623"/>
              <a:ext cx="3179063" cy="33482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33004" y="3970019"/>
              <a:ext cx="4158995" cy="288797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01100" y="801623"/>
              <a:ext cx="3348228" cy="33482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Fungos </a:t>
            </a:r>
            <a:r>
              <a:rPr dirty="0"/>
              <a:t>-</a:t>
            </a:r>
            <a:r>
              <a:rPr spc="-105" dirty="0"/>
              <a:t> </a:t>
            </a:r>
            <a:r>
              <a:rPr spc="-5" dirty="0"/>
              <a:t>Classificação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940054"/>
            <a:ext cx="6741795" cy="5601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Quitridiomicetos</a:t>
            </a:r>
            <a:r>
              <a:rPr sz="2800" spc="4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(Chytridiomycota)</a:t>
            </a:r>
            <a:endParaRPr sz="2800">
              <a:latin typeface="Carlito"/>
              <a:cs typeface="Carlito"/>
            </a:endParaRPr>
          </a:p>
          <a:p>
            <a:pPr marL="698500" lvl="1" indent="-228600">
              <a:lnSpc>
                <a:spcPts val="281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Uni </a:t>
            </a:r>
            <a:r>
              <a:rPr sz="2400" spc="-10" dirty="0">
                <a:latin typeface="Carlito"/>
                <a:cs typeface="Carlito"/>
              </a:rPr>
              <a:t>ou</a:t>
            </a:r>
            <a:r>
              <a:rPr sz="2400" spc="-5" dirty="0">
                <a:latin typeface="Carlito"/>
                <a:cs typeface="Carlito"/>
              </a:rPr>
              <a:t> pluricelulares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80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Esporos </a:t>
            </a:r>
            <a:r>
              <a:rPr sz="2400" spc="-5" dirty="0">
                <a:latin typeface="Carlito"/>
                <a:cs typeface="Carlito"/>
              </a:rPr>
              <a:t>flagelados</a:t>
            </a:r>
            <a:r>
              <a:rPr sz="2400" spc="-15" dirty="0">
                <a:latin typeface="Carlito"/>
                <a:cs typeface="Carlito"/>
              </a:rPr>
              <a:t> (zoósporos)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latin typeface="Carlito"/>
                <a:cs typeface="Carlito"/>
              </a:rPr>
              <a:t>Terrestres </a:t>
            </a:r>
            <a:r>
              <a:rPr sz="2400" spc="-5" dirty="0">
                <a:latin typeface="Carlito"/>
                <a:cs typeface="Carlito"/>
              </a:rPr>
              <a:t>ou</a:t>
            </a:r>
            <a:r>
              <a:rPr sz="2400" spc="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aquáticos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ts val="3335"/>
              </a:lnSpc>
              <a:spcBef>
                <a:spcPts val="30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Zigomicetos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(Zygomycota)</a:t>
            </a:r>
            <a:endParaRPr sz="2800">
              <a:latin typeface="Carlito"/>
              <a:cs typeface="Carlito"/>
            </a:endParaRPr>
          </a:p>
          <a:p>
            <a:pPr marL="698500" lvl="1" indent="-228600">
              <a:lnSpc>
                <a:spcPts val="281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Sem </a:t>
            </a:r>
            <a:r>
              <a:rPr sz="2400" spc="-10" dirty="0">
                <a:latin typeface="Carlito"/>
                <a:cs typeface="Carlito"/>
              </a:rPr>
              <a:t>corpo </a:t>
            </a:r>
            <a:r>
              <a:rPr sz="2400" spc="-5" dirty="0">
                <a:latin typeface="Carlito"/>
                <a:cs typeface="Carlito"/>
              </a:rPr>
              <a:t>de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frutificação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80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35" dirty="0">
                <a:latin typeface="Carlito"/>
                <a:cs typeface="Carlito"/>
              </a:rPr>
              <a:t>Terrestres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80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Bolores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55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Importância: molho de soja,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esteroides,</a:t>
            </a:r>
            <a:endParaRPr sz="2400">
              <a:latin typeface="Carlito"/>
              <a:cs typeface="Carlito"/>
            </a:endParaRPr>
          </a:p>
          <a:p>
            <a:pPr marL="698500">
              <a:lnSpc>
                <a:spcPts val="2595"/>
              </a:lnSpc>
            </a:pPr>
            <a:r>
              <a:rPr sz="2400" spc="-5" dirty="0">
                <a:latin typeface="Carlito"/>
                <a:cs typeface="Carlito"/>
              </a:rPr>
              <a:t>anticoncepcionais 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anti-inflamatórios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ts val="3329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Basidiomicetos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(Basidiomycota)</a:t>
            </a:r>
            <a:endParaRPr sz="2800">
              <a:latin typeface="Carlito"/>
              <a:cs typeface="Carlito"/>
            </a:endParaRPr>
          </a:p>
          <a:p>
            <a:pPr marL="698500" lvl="1" indent="-228600">
              <a:lnSpc>
                <a:spcPts val="281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Esporângios </a:t>
            </a:r>
            <a:r>
              <a:rPr sz="2400" dirty="0">
                <a:latin typeface="Carlito"/>
                <a:cs typeface="Carlito"/>
              </a:rPr>
              <a:t>=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basídios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80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Esporos </a:t>
            </a:r>
            <a:r>
              <a:rPr sz="2400" dirty="0">
                <a:latin typeface="Carlito"/>
                <a:cs typeface="Carlito"/>
              </a:rPr>
              <a:t>=</a:t>
            </a:r>
            <a:r>
              <a:rPr sz="2400" spc="-10" dirty="0">
                <a:latin typeface="Carlito"/>
                <a:cs typeface="Carlito"/>
              </a:rPr>
              <a:t> basidiósporos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800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Corpo de </a:t>
            </a:r>
            <a:r>
              <a:rPr sz="2400" spc="-10" dirty="0">
                <a:latin typeface="Carlito"/>
                <a:cs typeface="Carlito"/>
              </a:rPr>
              <a:t>Frutificação= </a:t>
            </a:r>
            <a:r>
              <a:rPr sz="2400" spc="-5" dirty="0">
                <a:latin typeface="Carlito"/>
                <a:cs typeface="Carlito"/>
              </a:rPr>
              <a:t>basidiocarpo/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basidiomas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Cogumelos </a:t>
            </a:r>
            <a:r>
              <a:rPr sz="2400" dirty="0">
                <a:latin typeface="Carlito"/>
                <a:cs typeface="Carlito"/>
              </a:rPr>
              <a:t>e </a:t>
            </a:r>
            <a:r>
              <a:rPr sz="2400" spc="-10" dirty="0">
                <a:latin typeface="Carlito"/>
                <a:cs typeface="Carlito"/>
              </a:rPr>
              <a:t>Orelhas </a:t>
            </a:r>
            <a:r>
              <a:rPr sz="2400" spc="-5" dirty="0">
                <a:latin typeface="Carlito"/>
                <a:cs typeface="Carlito"/>
              </a:rPr>
              <a:t>de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pau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99859" y="1394460"/>
            <a:ext cx="4762499" cy="2189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62631" y="4015849"/>
            <a:ext cx="2897087" cy="2643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Fungos </a:t>
            </a:r>
            <a:r>
              <a:rPr dirty="0"/>
              <a:t>-</a:t>
            </a:r>
            <a:r>
              <a:rPr spc="-105" dirty="0"/>
              <a:t> </a:t>
            </a:r>
            <a:r>
              <a:rPr spc="-5" dirty="0"/>
              <a:t>Classificação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498" y="1148691"/>
            <a:ext cx="9002395" cy="38620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Ascomicetos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(Ascomycota)</a:t>
            </a:r>
            <a:endParaRPr sz="28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Reprodução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assexuada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spc="-10" dirty="0">
                <a:latin typeface="Carlito"/>
                <a:cs typeface="Carlito"/>
              </a:rPr>
              <a:t>Hifas </a:t>
            </a:r>
            <a:r>
              <a:rPr sz="2000" dirty="0">
                <a:latin typeface="Carlito"/>
                <a:cs typeface="Carlito"/>
              </a:rPr>
              <a:t>multinucleadas = </a:t>
            </a:r>
            <a:r>
              <a:rPr sz="2000" spc="-10" dirty="0">
                <a:latin typeface="Carlito"/>
                <a:cs typeface="Carlito"/>
              </a:rPr>
              <a:t>conidióforos </a:t>
            </a:r>
            <a:r>
              <a:rPr sz="2000" spc="3370" dirty="0">
                <a:latin typeface="Wingdings"/>
                <a:cs typeface="Wingdings"/>
              </a:rPr>
              <a:t>→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rlito"/>
                <a:cs typeface="Carlito"/>
              </a:rPr>
              <a:t>conidiósporos</a:t>
            </a:r>
            <a:endParaRPr sz="20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Reprodução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sexuada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309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spc="-10" dirty="0">
                <a:latin typeface="Carlito"/>
                <a:cs typeface="Carlito"/>
              </a:rPr>
              <a:t>Hifas</a:t>
            </a:r>
            <a:r>
              <a:rPr sz="2000" spc="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dicarióticas</a:t>
            </a:r>
            <a:r>
              <a:rPr sz="2000" spc="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(ascógenas)</a:t>
            </a:r>
            <a:r>
              <a:rPr sz="2000" spc="5" dirty="0">
                <a:latin typeface="Carlito"/>
                <a:cs typeface="Carlito"/>
              </a:rPr>
              <a:t> </a:t>
            </a:r>
            <a:r>
              <a:rPr sz="2000" spc="3370" dirty="0">
                <a:latin typeface="Wingdings"/>
                <a:cs typeface="Wingdings"/>
              </a:rPr>
              <a:t>→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rlito"/>
                <a:cs typeface="Carlito"/>
              </a:rPr>
              <a:t>esporângio</a:t>
            </a:r>
            <a:r>
              <a:rPr sz="200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(ascos)</a:t>
            </a:r>
            <a:r>
              <a:rPr sz="2000" spc="10" dirty="0">
                <a:latin typeface="Carlito"/>
                <a:cs typeface="Carlito"/>
              </a:rPr>
              <a:t> </a:t>
            </a:r>
            <a:r>
              <a:rPr sz="2000" spc="3370" dirty="0">
                <a:latin typeface="Wingdings"/>
                <a:cs typeface="Wingdings"/>
              </a:rPr>
              <a:t>→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rlito"/>
                <a:cs typeface="Carlito"/>
              </a:rPr>
              <a:t>esporos</a:t>
            </a:r>
            <a:r>
              <a:rPr sz="2000" spc="10" dirty="0">
                <a:latin typeface="Carlito"/>
                <a:cs typeface="Carlito"/>
              </a:rPr>
              <a:t> </a:t>
            </a:r>
            <a:r>
              <a:rPr sz="2000" spc="-560" dirty="0">
                <a:latin typeface="Carlito"/>
                <a:cs typeface="Carlito"/>
              </a:rPr>
              <a:t>(ascósporos)</a:t>
            </a:r>
            <a:endParaRPr sz="20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Carlito"/>
                <a:cs typeface="Carlito"/>
              </a:rPr>
              <a:t>Ascos </a:t>
            </a:r>
            <a:r>
              <a:rPr sz="2000" dirty="0">
                <a:latin typeface="Carlito"/>
                <a:cs typeface="Carlito"/>
              </a:rPr>
              <a:t>em </a:t>
            </a:r>
            <a:r>
              <a:rPr sz="2000" spc="-5" dirty="0">
                <a:latin typeface="Carlito"/>
                <a:cs typeface="Carlito"/>
              </a:rPr>
              <a:t>corpo de frutificação </a:t>
            </a:r>
            <a:r>
              <a:rPr sz="2000" dirty="0">
                <a:latin typeface="Carlito"/>
                <a:cs typeface="Carlito"/>
              </a:rPr>
              <a:t>= </a:t>
            </a:r>
            <a:r>
              <a:rPr sz="2000" spc="-5" dirty="0">
                <a:latin typeface="Carlito"/>
                <a:cs typeface="Carlito"/>
              </a:rPr>
              <a:t>Ascocarpo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(ascomas)</a:t>
            </a:r>
            <a:endParaRPr sz="20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18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Unicelulares </a:t>
            </a:r>
            <a:r>
              <a:rPr sz="2400" spc="-10" dirty="0">
                <a:latin typeface="Carlito"/>
                <a:cs typeface="Carlito"/>
              </a:rPr>
              <a:t>(leveduras) </a:t>
            </a:r>
            <a:r>
              <a:rPr sz="2400" spc="-5" dirty="0">
                <a:latin typeface="Carlito"/>
                <a:cs typeface="Carlito"/>
              </a:rPr>
              <a:t>ou multicelulares </a:t>
            </a:r>
            <a:r>
              <a:rPr sz="2400" spc="-10" dirty="0">
                <a:latin typeface="Carlito"/>
                <a:cs typeface="Carlito"/>
              </a:rPr>
              <a:t>(hifas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septadas)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rlito"/>
                <a:cs typeface="Carlito"/>
              </a:rPr>
              <a:t>LSD, </a:t>
            </a:r>
            <a:r>
              <a:rPr sz="2400" spc="-5" dirty="0">
                <a:latin typeface="Carlito"/>
                <a:cs typeface="Carlito"/>
              </a:rPr>
              <a:t>Penicilina, queijo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roquefort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Alimentação </a:t>
            </a:r>
            <a:r>
              <a:rPr sz="2400" dirty="0">
                <a:latin typeface="Carlito"/>
                <a:cs typeface="Carlito"/>
              </a:rPr>
              <a:t>=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trufas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Levedura </a:t>
            </a:r>
            <a:r>
              <a:rPr sz="2400" i="1" spc="-10" dirty="0">
                <a:latin typeface="Carlito"/>
                <a:cs typeface="Carlito"/>
              </a:rPr>
              <a:t>Saccharomyces</a:t>
            </a:r>
            <a:r>
              <a:rPr sz="2400" i="1" spc="60" dirty="0">
                <a:latin typeface="Carlito"/>
                <a:cs typeface="Carlito"/>
              </a:rPr>
              <a:t> </a:t>
            </a:r>
            <a:r>
              <a:rPr sz="2400" i="1" spc="-5" dirty="0">
                <a:latin typeface="Carlito"/>
                <a:cs typeface="Carlito"/>
              </a:rPr>
              <a:t>cerevisiae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8095" y="3790186"/>
            <a:ext cx="3526536" cy="2944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6129" y="36702"/>
            <a:ext cx="554228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Fungos </a:t>
            </a:r>
            <a:r>
              <a:rPr dirty="0"/>
              <a:t>-</a:t>
            </a:r>
            <a:r>
              <a:rPr spc="-70" dirty="0"/>
              <a:t> </a:t>
            </a:r>
            <a:r>
              <a:rPr spc="-15" dirty="0"/>
              <a:t>Reprodução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950" y="1098956"/>
            <a:ext cx="7475855" cy="47059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Esporo </a:t>
            </a:r>
            <a:r>
              <a:rPr sz="2800" spc="-10" dirty="0">
                <a:latin typeface="Carlito"/>
                <a:cs typeface="Carlito"/>
              </a:rPr>
              <a:t>pode </a:t>
            </a:r>
            <a:r>
              <a:rPr sz="2800" spc="-5" dirty="0">
                <a:latin typeface="Carlito"/>
                <a:cs typeface="Carlito"/>
              </a:rPr>
              <a:t>ser </a:t>
            </a:r>
            <a:r>
              <a:rPr sz="2800" spc="-15" dirty="0">
                <a:latin typeface="Carlito"/>
                <a:cs typeface="Carlito"/>
              </a:rPr>
              <a:t>sexuado </a:t>
            </a:r>
            <a:r>
              <a:rPr sz="2800" spc="-5" dirty="0">
                <a:latin typeface="Carlito"/>
                <a:cs typeface="Carlito"/>
              </a:rPr>
              <a:t>ou</a:t>
            </a:r>
            <a:r>
              <a:rPr sz="2800" spc="11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assexuado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SEXUADA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rlito"/>
                <a:cs typeface="Carlito"/>
              </a:rPr>
              <a:t>Fusão de </a:t>
            </a:r>
            <a:r>
              <a:rPr sz="2400" spc="-15" dirty="0">
                <a:latin typeface="Carlito"/>
                <a:cs typeface="Carlito"/>
              </a:rPr>
              <a:t>hifas </a:t>
            </a:r>
            <a:r>
              <a:rPr sz="2400" dirty="0">
                <a:latin typeface="Carlito"/>
                <a:cs typeface="Carlito"/>
              </a:rPr>
              <a:t>=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plasmogamia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rlito"/>
                <a:cs typeface="Carlito"/>
              </a:rPr>
              <a:t>Hifa </a:t>
            </a:r>
            <a:r>
              <a:rPr sz="2400" spc="-5" dirty="0">
                <a:latin typeface="Carlito"/>
                <a:cs typeface="Carlito"/>
              </a:rPr>
              <a:t>dicariótica (2 núcleos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haploides)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rlito"/>
                <a:cs typeface="Carlito"/>
              </a:rPr>
              <a:t>Formação </a:t>
            </a:r>
            <a:r>
              <a:rPr sz="2400" spc="-5" dirty="0">
                <a:latin typeface="Carlito"/>
                <a:cs typeface="Carlito"/>
              </a:rPr>
              <a:t>do </a:t>
            </a:r>
            <a:r>
              <a:rPr sz="2400" spc="-10" dirty="0">
                <a:latin typeface="Carlito"/>
                <a:cs typeface="Carlito"/>
              </a:rPr>
              <a:t>corpo </a:t>
            </a:r>
            <a:r>
              <a:rPr sz="2400" spc="-5" dirty="0">
                <a:latin typeface="Carlito"/>
                <a:cs typeface="Carlito"/>
              </a:rPr>
              <a:t>de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frutificação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rlito"/>
                <a:cs typeface="Carlito"/>
              </a:rPr>
              <a:t>Cariogamia </a:t>
            </a:r>
            <a:r>
              <a:rPr sz="2400" spc="-5" dirty="0">
                <a:latin typeface="Carlito"/>
                <a:cs typeface="Carlito"/>
              </a:rPr>
              <a:t>(fusão dos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núcleos)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rlito"/>
                <a:cs typeface="Carlito"/>
              </a:rPr>
              <a:t>Zigoto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diploide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rlito"/>
                <a:cs typeface="Carlito"/>
              </a:rPr>
              <a:t>Meiose </a:t>
            </a:r>
            <a:r>
              <a:rPr sz="2400" spc="-5" dirty="0">
                <a:latin typeface="Carlito"/>
                <a:cs typeface="Carlito"/>
              </a:rPr>
              <a:t>do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zigoto</a:t>
            </a:r>
            <a:endParaRPr sz="24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rlito"/>
                <a:cs typeface="Carlito"/>
              </a:rPr>
              <a:t>Esporos </a:t>
            </a:r>
            <a:r>
              <a:rPr sz="2400" spc="-5" dirty="0">
                <a:latin typeface="Carlito"/>
                <a:cs typeface="Carlito"/>
              </a:rPr>
              <a:t>haploides </a:t>
            </a:r>
            <a:r>
              <a:rPr sz="2400" spc="4035" dirty="0">
                <a:latin typeface="Wingdings"/>
                <a:cs typeface="Wingdings"/>
              </a:rPr>
              <a:t>→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rlito"/>
                <a:cs typeface="Carlito"/>
              </a:rPr>
              <a:t>novas hifas </a:t>
            </a:r>
            <a:r>
              <a:rPr sz="2400" spc="-5" dirty="0">
                <a:latin typeface="Carlito"/>
                <a:cs typeface="Carlito"/>
              </a:rPr>
              <a:t>haploides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ASSEXUADA</a:t>
            </a:r>
            <a:endParaRPr sz="28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20" dirty="0">
                <a:latin typeface="Carlito"/>
                <a:cs typeface="Carlito"/>
              </a:rPr>
              <a:t>Pode </a:t>
            </a:r>
            <a:r>
              <a:rPr sz="2400" spc="-5" dirty="0">
                <a:latin typeface="Carlito"/>
                <a:cs typeface="Carlito"/>
              </a:rPr>
              <a:t>ser por </a:t>
            </a:r>
            <a:r>
              <a:rPr sz="2400" spc="-20" dirty="0">
                <a:latin typeface="Carlito"/>
                <a:cs typeface="Carlito"/>
              </a:rPr>
              <a:t>brotamento, </a:t>
            </a:r>
            <a:r>
              <a:rPr sz="2400" spc="-5" dirty="0">
                <a:latin typeface="Carlito"/>
                <a:cs typeface="Carlito"/>
              </a:rPr>
              <a:t>gemulação ou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fragmentação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7673" y="36702"/>
            <a:ext cx="675830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Maior </a:t>
            </a:r>
            <a:r>
              <a:rPr dirty="0"/>
              <a:t>ser </a:t>
            </a:r>
            <a:r>
              <a:rPr spc="-20" dirty="0"/>
              <a:t>vivo </a:t>
            </a:r>
            <a:r>
              <a:rPr dirty="0"/>
              <a:t>do</a:t>
            </a:r>
            <a:r>
              <a:rPr spc="-50" dirty="0"/>
              <a:t> </a:t>
            </a:r>
            <a:r>
              <a:rPr spc="-15" dirty="0"/>
              <a:t>planeta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498" y="1098956"/>
            <a:ext cx="6383655" cy="30937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Fungo </a:t>
            </a:r>
            <a:r>
              <a:rPr sz="2800" i="1" spc="-5" dirty="0">
                <a:latin typeface="Carlito"/>
                <a:cs typeface="Carlito"/>
              </a:rPr>
              <a:t>Amarilla</a:t>
            </a:r>
            <a:r>
              <a:rPr sz="2800" i="1" spc="50" dirty="0">
                <a:latin typeface="Carlito"/>
                <a:cs typeface="Carlito"/>
              </a:rPr>
              <a:t> </a:t>
            </a:r>
            <a:r>
              <a:rPr sz="2800" i="1" spc="-20" dirty="0">
                <a:latin typeface="Carlito"/>
                <a:cs typeface="Carlito"/>
              </a:rPr>
              <a:t>ostoyae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Oregon,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EUA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3,8 km de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comprimento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8,9 km² de </a:t>
            </a:r>
            <a:r>
              <a:rPr sz="2800" spc="-15" dirty="0">
                <a:latin typeface="Carlito"/>
                <a:cs typeface="Carlito"/>
              </a:rPr>
              <a:t>área </a:t>
            </a:r>
            <a:r>
              <a:rPr sz="2800" spc="-10" dirty="0">
                <a:latin typeface="Carlito"/>
                <a:cs typeface="Carlito"/>
              </a:rPr>
              <a:t>(1.220 campos </a:t>
            </a:r>
            <a:r>
              <a:rPr sz="2800" spc="-5" dirty="0">
                <a:latin typeface="Carlito"/>
                <a:cs typeface="Carlito"/>
              </a:rPr>
              <a:t>de</a:t>
            </a:r>
            <a:r>
              <a:rPr sz="2800" spc="114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futebol)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605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toneladas</a:t>
            </a:r>
            <a:endParaRPr sz="28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Entre </a:t>
            </a:r>
            <a:r>
              <a:rPr sz="2800" spc="-5" dirty="0">
                <a:latin typeface="Carlito"/>
                <a:cs typeface="Carlito"/>
              </a:rPr>
              <a:t>2.400 e 8.000 anos de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idade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6476" y="1216152"/>
            <a:ext cx="4599432" cy="5164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677</Words>
  <Application>Microsoft Office PowerPoint</Application>
  <PresentationFormat>Widescreen</PresentationFormat>
  <Paragraphs>183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Carlito</vt:lpstr>
      <vt:lpstr>Times New Roman</vt:lpstr>
      <vt:lpstr>Wingdings</vt:lpstr>
      <vt:lpstr>Office Theme</vt:lpstr>
      <vt:lpstr>Classificação Biológica</vt:lpstr>
      <vt:lpstr>Algas – Características Gerais</vt:lpstr>
      <vt:lpstr>Algas – Classificação (GERAL)</vt:lpstr>
      <vt:lpstr>Algas – Algas Verdes</vt:lpstr>
      <vt:lpstr>Algas – Algas Pardas</vt:lpstr>
      <vt:lpstr>Algas – Algas Vermelhas</vt:lpstr>
      <vt:lpstr>Algas – Diatomáceas</vt:lpstr>
      <vt:lpstr>Algas - Dinoflagelados</vt:lpstr>
      <vt:lpstr>Algas - Euglenas</vt:lpstr>
      <vt:lpstr>Algas - Reprodução</vt:lpstr>
      <vt:lpstr>Fungos</vt:lpstr>
      <vt:lpstr>Fungos – Características Gerais</vt:lpstr>
      <vt:lpstr>Fungos – Características Gerais</vt:lpstr>
      <vt:lpstr>Fungos - Estrutura</vt:lpstr>
      <vt:lpstr>Fungos</vt:lpstr>
      <vt:lpstr>Importância</vt:lpstr>
      <vt:lpstr>Fungos - Classificação</vt:lpstr>
      <vt:lpstr>Fungos - Classificação</vt:lpstr>
      <vt:lpstr>Fungos - Reprodução</vt:lpstr>
      <vt:lpstr>Apresentação do PowerPoint</vt:lpstr>
      <vt:lpstr>Maior ser vivo do planeta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1</cp:revision>
  <dcterms:created xsi:type="dcterms:W3CDTF">2021-05-14T02:11:32Z</dcterms:created>
  <dcterms:modified xsi:type="dcterms:W3CDTF">2021-05-14T02:13:34Z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2018-08-25T00:00:00Z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2021-05-14T00:00:00Z</vt:filetime>
  </property>
</Properties>
</file>