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87" r:id="rId3"/>
    <p:sldId id="317" r:id="rId4"/>
    <p:sldId id="318" r:id="rId5"/>
    <p:sldId id="319" r:id="rId6"/>
    <p:sldId id="320" r:id="rId7"/>
    <p:sldId id="322" r:id="rId8"/>
    <p:sldId id="323" r:id="rId9"/>
    <p:sldId id="325" r:id="rId10"/>
    <p:sldId id="324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64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48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67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89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4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37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41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47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06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80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87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3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3248535-7416-4C4C-83CE-CC5F95C77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227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82583"/>
            <a:ext cx="12191999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Biológica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3700" b="1" dirty="0"/>
              <a:t>Vírus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Viroses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Vírus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Latim = Veneno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Não estão em nenhuma classificação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Não há consenso sobre ser um ser vivo ou não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Não possuem metabolismo próprio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10242">
            <a:extLst>
              <a:ext uri="{FF2B5EF4-FFF2-40B4-BE49-F238E27FC236}">
                <a16:creationId xmlns:a16="http://schemas.microsoft.com/office/drawing/2014/main" id="{8B27A3DC-9605-4CBF-90FE-44A8F4EFB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7534" y="4252141"/>
            <a:ext cx="2814638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243">
            <a:extLst>
              <a:ext uri="{FF2B5EF4-FFF2-40B4-BE49-F238E27FC236}">
                <a16:creationId xmlns:a16="http://schemas.microsoft.com/office/drawing/2014/main" id="{E715A62E-9686-4058-A676-8EAFBE1A1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606" y="4191816"/>
            <a:ext cx="2217737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244">
            <a:extLst>
              <a:ext uri="{FF2B5EF4-FFF2-40B4-BE49-F238E27FC236}">
                <a16:creationId xmlns:a16="http://schemas.microsoft.com/office/drawing/2014/main" id="{2300199D-99FB-4B43-8C6D-9B7F9C82D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25" y="4040572"/>
            <a:ext cx="3813175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26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Vírus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Não há organização 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Ausência de metabolismo próprio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Alta capacidade de mutação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Incapazes de se reproduzir fora de uma célula hospedeira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Parasitas Intracelulares Obrigatórios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10242">
            <a:extLst>
              <a:ext uri="{FF2B5EF4-FFF2-40B4-BE49-F238E27FC236}">
                <a16:creationId xmlns:a16="http://schemas.microsoft.com/office/drawing/2014/main" id="{8B27A3DC-9605-4CBF-90FE-44A8F4EFB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620" y="4419077"/>
            <a:ext cx="2814638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243">
            <a:extLst>
              <a:ext uri="{FF2B5EF4-FFF2-40B4-BE49-F238E27FC236}">
                <a16:creationId xmlns:a16="http://schemas.microsoft.com/office/drawing/2014/main" id="{E715A62E-9686-4058-A676-8EAFBE1A1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565" y="4451621"/>
            <a:ext cx="2217737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244">
            <a:extLst>
              <a:ext uri="{FF2B5EF4-FFF2-40B4-BE49-F238E27FC236}">
                <a16:creationId xmlns:a16="http://schemas.microsoft.com/office/drawing/2014/main" id="{2300199D-99FB-4B43-8C6D-9B7F9C82D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72" y="4388915"/>
            <a:ext cx="3813175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918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Vírus - Estrutura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Os menores “seres”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Material Genético: DNA ou RNA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Podem ser fita simples ou dupla!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Capsídeo envolve o ácido nucleico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Composição proteica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Diferente para cada tipo de vírus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 ser envelopado ou não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11" name="Picture 15360">
            <a:extLst>
              <a:ext uri="{FF2B5EF4-FFF2-40B4-BE49-F238E27FC236}">
                <a16:creationId xmlns:a16="http://schemas.microsoft.com/office/drawing/2014/main" id="{21FA5DE4-0805-48E5-B763-B4B573965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416" y="1372722"/>
            <a:ext cx="6239584" cy="411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4338">
            <a:extLst>
              <a:ext uri="{FF2B5EF4-FFF2-40B4-BE49-F238E27FC236}">
                <a16:creationId xmlns:a16="http://schemas.microsoft.com/office/drawing/2014/main" id="{5FE32561-CA86-4AA1-A0DF-ECD9876A2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4360066"/>
            <a:ext cx="2246312" cy="234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864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Vírus - Bacteriófago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Podem ser de DNA ou RNA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Atacam bactérias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Apresentam ciclo lítico e lisogênico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16386">
            <a:extLst>
              <a:ext uri="{FF2B5EF4-FFF2-40B4-BE49-F238E27FC236}">
                <a16:creationId xmlns:a16="http://schemas.microsoft.com/office/drawing/2014/main" id="{282550A7-49F3-43BE-834C-9CD7213D2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966" y="3844540"/>
            <a:ext cx="3960812" cy="274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6387">
            <a:extLst>
              <a:ext uri="{FF2B5EF4-FFF2-40B4-BE49-F238E27FC236}">
                <a16:creationId xmlns:a16="http://schemas.microsoft.com/office/drawing/2014/main" id="{28D6D912-7158-4851-A468-D00B3C03A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953" y="1689440"/>
            <a:ext cx="3906838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9457">
            <a:extLst>
              <a:ext uri="{FF2B5EF4-FFF2-40B4-BE49-F238E27FC236}">
                <a16:creationId xmlns:a16="http://schemas.microsoft.com/office/drawing/2014/main" id="{DEDFE605-4ABC-46E1-8AB7-3CDD0220F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209" y="3198354"/>
            <a:ext cx="5155928" cy="3467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2580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Vírus de animais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562356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DNA ou RNA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Envelopados ou não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Ex. de envelopados: herpes, varíola, rubéola, gripe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Penetração na célula varia entre os vírus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Capsídeo e envelope sempre são degradados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10" name="Picture 22530">
            <a:extLst>
              <a:ext uri="{FF2B5EF4-FFF2-40B4-BE49-F238E27FC236}">
                <a16:creationId xmlns:a16="http://schemas.microsoft.com/office/drawing/2014/main" id="{1C820962-21D3-4CB7-812C-DFA4A977F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465" y="2185851"/>
            <a:ext cx="5118141" cy="3443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075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 que acontece após a infecção?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474234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3 Resultados Possíveis: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A)</a:t>
            </a:r>
            <a:r>
              <a:rPr lang="pt-BR" b="1" dirty="0" err="1"/>
              <a:t>Acído</a:t>
            </a:r>
            <a:r>
              <a:rPr lang="pt-BR" b="1" dirty="0"/>
              <a:t> Nucleico DNA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Transcrição e Tradução Normais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Adenovírus e Varíola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DNA --&gt; RNA --&gt; Síntese Proteica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B) Ácido Nucleico RNA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RNA --&gt; RNA --&gt; Síntese Proteica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gripe, raiva e </a:t>
            </a:r>
            <a:r>
              <a:rPr lang="pt-BR" dirty="0" err="1"/>
              <a:t>poliomelite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72552583-9832-4F55-8131-23DD4066A676}"/>
              </a:ext>
            </a:extLst>
          </p:cNvPr>
          <p:cNvSpPr txBox="1">
            <a:spLocks/>
          </p:cNvSpPr>
          <p:nvPr/>
        </p:nvSpPr>
        <p:spPr>
          <a:xfrm>
            <a:off x="5631180" y="1689440"/>
            <a:ext cx="61667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C) Ácido Nucleico RNA (se Retrovírus)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RNA --&gt; DNA (enzima transcriptase reversa)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Fusão DNA viral com DNA celular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DNA --&gt; RNA --&gt; Síntese proteica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b="1" dirty="0"/>
              <a:t>Retrovírus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AIDS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RNA --&gt; DNA --&gt; RNA --&gt; Proteínas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085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 que acontece após a infecção?</a:t>
            </a:r>
          </a:p>
        </p:txBody>
      </p:sp>
      <p:pic>
        <p:nvPicPr>
          <p:cNvPr id="9" name="Picture 27650">
            <a:extLst>
              <a:ext uri="{FF2B5EF4-FFF2-40B4-BE49-F238E27FC236}">
                <a16:creationId xmlns:a16="http://schemas.microsoft.com/office/drawing/2014/main" id="{F7EE8940-C47D-460A-8FA8-417027F50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556114"/>
            <a:ext cx="6244227" cy="4688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7651">
            <a:extLst>
              <a:ext uri="{FF2B5EF4-FFF2-40B4-BE49-F238E27FC236}">
                <a16:creationId xmlns:a16="http://schemas.microsoft.com/office/drawing/2014/main" id="{6DB84245-BB86-44BE-A45B-4E0DA7550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69" y="2004967"/>
            <a:ext cx="4551362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5702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0"/>
            <a:ext cx="8758646" cy="491480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Causadores de várias doenças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Gripe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Resfriado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Gripe 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Gripe Aviária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Herpes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AIDS (SIDA)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Raiva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Poliomelite</a:t>
            </a: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Sarampo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Caxumba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Rubéola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076556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Agente x Vetor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Agentes etiológicos = causadores de doenças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Vetor = agente transportador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i="1" dirty="0"/>
              <a:t>Aedes aegypti </a:t>
            </a:r>
            <a:r>
              <a:rPr lang="pt-BR" dirty="0"/>
              <a:t>é o mosquito vetor da Dengue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Principais viroses com vetor: Dengue, Zika, Febre amarela, Raiva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4713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HIV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Síndrome da </a:t>
            </a:r>
            <a:r>
              <a:rPr lang="pt-BR" dirty="0" err="1"/>
              <a:t>Imuno</a:t>
            </a:r>
            <a:r>
              <a:rPr lang="pt-BR" dirty="0"/>
              <a:t> Deficiência Adquirida (SIDA)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Atacam os glóbulos brancos (células de defesa)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Linfócito T CD4 de reconhecimento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Compromete sistema imunológico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É um Retrovírus envelopado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Transmissão: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Transfusões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Troca de fluidos contaminados com sangue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Compartilhamento de seringas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Pode ser passado de mãe para filho durante gravidez e parto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1781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Dengue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18" y="1642745"/>
            <a:ext cx="741752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Transmissão: mosquito </a:t>
            </a:r>
            <a:r>
              <a:rPr lang="pt-BR" sz="2400" i="1" dirty="0"/>
              <a:t>Aedes aegypti</a:t>
            </a:r>
            <a:r>
              <a:rPr lang="pt-BR" sz="2400" dirty="0"/>
              <a:t> (vetor)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 err="1"/>
              <a:t>Flavivirus</a:t>
            </a:r>
            <a:r>
              <a:rPr lang="pt-BR" sz="2400" dirty="0"/>
              <a:t> da família arbovírus - RNA simples envelopado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Características: febre, dor de cabeça e nas juntas, fraqueza, falta de apetite, manchas na pele e sangramentos (na hemorrágica, além disso, tem sangramentos mais intensos e queda da pressão arterial)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Profilaxia: combate ao mosquito, não deixar caixas d'água ou reservatórios sem tampa e água parada em vasos (onde as fêmeas colocam os ovos)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OBS: Chikungunya e Zika: sintomas simulares à da dengue e transmissão pelo mesmo vetor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9" name="Picture 32771">
            <a:extLst>
              <a:ext uri="{FF2B5EF4-FFF2-40B4-BE49-F238E27FC236}">
                <a16:creationId xmlns:a16="http://schemas.microsoft.com/office/drawing/2014/main" id="{B374DE5A-280F-4965-8890-7576B3879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589" y="2621279"/>
            <a:ext cx="4117344" cy="273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427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Ebola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Filovírus</a:t>
            </a:r>
            <a:r>
              <a:rPr lang="pt-BR" dirty="0"/>
              <a:t> = </a:t>
            </a:r>
            <a:r>
              <a:rPr lang="pt-BR" dirty="0" err="1"/>
              <a:t>RNAvírus</a:t>
            </a:r>
            <a:r>
              <a:rPr lang="pt-BR" dirty="0"/>
              <a:t> envelopado (não é retrovírus)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Até 90% de mortalidade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NÃO é transmitida pelo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 por contato com fluidos/sangues/ secreções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Vírus é mais contagioso pouco antes da morte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Funerais africanos permitiram alto contágio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36866">
            <a:extLst>
              <a:ext uri="{FF2B5EF4-FFF2-40B4-BE49-F238E27FC236}">
                <a16:creationId xmlns:a16="http://schemas.microsoft.com/office/drawing/2014/main" id="{F49A2B80-749E-4B7A-BD4C-F2870DF38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204" y="4468314"/>
            <a:ext cx="421640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3176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HPV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Papilomavirus Humano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DNA vírus dupla fita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Provoca verrugas nos órgãos genitais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 causar câncer (Colo do útero)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Doença emergente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Há vacina masculina e feminina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290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Febre Amarela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Grave e pode ser fatal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Típica de regiões tropicais e subtropicais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Flavivirus</a:t>
            </a:r>
            <a:r>
              <a:rPr lang="pt-BR" dirty="0"/>
              <a:t> - RNA fita simples envelopado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Vetores: Aedes e </a:t>
            </a:r>
            <a:r>
              <a:rPr lang="pt-BR" dirty="0" err="1"/>
              <a:t>Haemagogus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Urbana: Aedes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Silvestre: </a:t>
            </a:r>
            <a:r>
              <a:rPr lang="pt-BR" dirty="0" err="1"/>
              <a:t>Haemagogus</a:t>
            </a:r>
            <a:r>
              <a:rPr lang="pt-BR" dirty="0"/>
              <a:t> (pica macaco depois homem)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Órgãos atingidos: fígado, baço, rins, medula óssea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Vacinação com validade de 10 anos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7518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Febre Amarela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09F01C-0C09-4B8B-8C4D-6DC144D27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Picture 44032">
            <a:extLst>
              <a:ext uri="{FF2B5EF4-FFF2-40B4-BE49-F238E27FC236}">
                <a16:creationId xmlns:a16="http://schemas.microsoft.com/office/drawing/2014/main" id="{6BFFA30D-DDE9-41BD-9773-BCF0F70D1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252" y="1449868"/>
            <a:ext cx="5709603" cy="513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725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Gripe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Alta frequência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É um </a:t>
            </a:r>
            <a:r>
              <a:rPr lang="pt-BR" dirty="0" err="1"/>
              <a:t>ortomixovírus</a:t>
            </a:r>
            <a:r>
              <a:rPr lang="pt-BR" dirty="0"/>
              <a:t> (RNA fita simples envelopado)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Influenzavirus</a:t>
            </a:r>
            <a:r>
              <a:rPr lang="pt-BR" dirty="0"/>
              <a:t> = </a:t>
            </a:r>
            <a:r>
              <a:rPr lang="pt-BR" dirty="0" err="1"/>
              <a:t>RNAvírus</a:t>
            </a:r>
            <a:r>
              <a:rPr lang="pt-BR" dirty="0"/>
              <a:t> que sofre contínuas modificações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pessoa – pessoa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Penetração: boca ou cavidades nasais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Sintomas: febre, dor de cabeça, dores musculares, tosse, espirros e obstrução nasal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5210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Resfriado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Rinovírus (</a:t>
            </a:r>
            <a:r>
              <a:rPr lang="pt-BR" dirty="0" err="1"/>
              <a:t>RNAvírus</a:t>
            </a:r>
            <a:r>
              <a:rPr lang="pt-BR" dirty="0"/>
              <a:t> não envelopado)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Mais de duzentos tipos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Sintomas semelhantes ao da gripe, porém menos intensos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0307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Caxumba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6921137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Paramixovirus</a:t>
            </a:r>
            <a:r>
              <a:rPr lang="pt-BR" dirty="0"/>
              <a:t> RNA envelopado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Contagiosa e aguda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Mais perigosa em adultos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Mais comum em crianças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gotículas de saliva, objetos contaminados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Causa inflamação das glândulas parótidas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Há vacina preventiva (tríplice)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51202">
            <a:extLst>
              <a:ext uri="{FF2B5EF4-FFF2-40B4-BE49-F238E27FC236}">
                <a16:creationId xmlns:a16="http://schemas.microsoft.com/office/drawing/2014/main" id="{AF226DC2-F2E0-4F3D-81DF-B91914516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245" y="2379009"/>
            <a:ext cx="4749755" cy="32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5761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Hepatites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Causa inflamação no fígado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Causas: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Abuso de bebidas alcoólicas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Parasitas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Substâncias químicas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400" dirty="0"/>
              <a:t>HAV (hepatite A) - </a:t>
            </a:r>
            <a:r>
              <a:rPr lang="pt-BR" sz="2400" dirty="0" err="1"/>
              <a:t>Picornavirus</a:t>
            </a:r>
            <a:r>
              <a:rPr lang="pt-BR" sz="2400" dirty="0"/>
              <a:t> (RNA simples)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400" dirty="0"/>
              <a:t>HBV (hepatite B) - </a:t>
            </a:r>
            <a:r>
              <a:rPr lang="pt-BR" sz="2400" dirty="0" err="1"/>
              <a:t>Hepadnaviridae</a:t>
            </a:r>
            <a:r>
              <a:rPr lang="pt-BR" sz="2400" dirty="0"/>
              <a:t> (DNA dupla)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400" dirty="0"/>
              <a:t>HCV (hepatite C) - </a:t>
            </a:r>
            <a:r>
              <a:rPr lang="pt-BR" sz="2400" dirty="0" err="1"/>
              <a:t>Flavivirus</a:t>
            </a:r>
            <a:r>
              <a:rPr lang="pt-BR" sz="2400" dirty="0"/>
              <a:t> (RNA simples envelopado)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7011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Hepatite 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Ingestão de água e alimentos contaminados por fezes de doentes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Falta de saneamento básico eleva os casos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Sintomas: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Febre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Mal estar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Perda de apetite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Vômitos e enxaqueca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Há vacinação</a:t>
            </a:r>
          </a:p>
        </p:txBody>
      </p:sp>
    </p:spTree>
    <p:extLst>
      <p:ext uri="{BB962C8B-B14F-4D97-AF65-F5344CB8AC3E}">
        <p14:creationId xmlns:p14="http://schemas.microsoft.com/office/powerpoint/2010/main" val="287086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Hepatite B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Via parenteral (subcutânea)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Utilização de seringas, agulhas e materiais cirúrgicos contaminados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Tatuagem com aparelhos não esterilizados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Há vacinação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0748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Hepatite C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Forma crônica pode causar cirrose hepática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 causar câncer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Não há vacinação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1218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Herpes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Forma vesículas e feridas na mucosa e na pele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Lábio e órgãos genitais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Herpesvirus</a:t>
            </a:r>
            <a:r>
              <a:rPr lang="pt-BR" dirty="0"/>
              <a:t> (</a:t>
            </a:r>
            <a:r>
              <a:rPr lang="pt-BR" dirty="0" err="1"/>
              <a:t>DNAvírus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Dois tipos: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Tipo1: oral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Tipo2: IST</a:t>
            </a:r>
          </a:p>
        </p:txBody>
      </p:sp>
    </p:spTree>
    <p:extLst>
      <p:ext uri="{BB962C8B-B14F-4D97-AF65-F5344CB8AC3E}">
        <p14:creationId xmlns:p14="http://schemas.microsoft.com/office/powerpoint/2010/main" val="3080773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Raiva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Também chamada de hidrofobia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Grave e Fatal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Rabdovirus</a:t>
            </a:r>
            <a:r>
              <a:rPr lang="pt-BR" dirty="0"/>
              <a:t> (</a:t>
            </a:r>
            <a:r>
              <a:rPr lang="pt-BR" dirty="0" err="1"/>
              <a:t>RNAvírus</a:t>
            </a:r>
            <a:r>
              <a:rPr lang="pt-BR" dirty="0"/>
              <a:t> envelopado)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saliva de animal contaminado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Atinge o sistema nervoso central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 levar a morte por paralisia da musculatura respiratória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vacinação dos animais de rua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1946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Poliomielite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Ataca o SNC e medula óssea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Apenas 1% dos casos causa paralisia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Picornavirus</a:t>
            </a:r>
            <a:r>
              <a:rPr lang="pt-BR" dirty="0"/>
              <a:t> (</a:t>
            </a:r>
            <a:r>
              <a:rPr lang="pt-BR" dirty="0" err="1"/>
              <a:t>RNAVírus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Penetração via digestiva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Água e alimentos contaminados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Prevenção: saneamento básico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 ser transmitido pessoa-pessoa por saliva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Vacinação: SALK e SABIN(gotinha)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3181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Rubéola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Togavirus</a:t>
            </a:r>
            <a:r>
              <a:rPr lang="pt-BR" dirty="0"/>
              <a:t> (</a:t>
            </a:r>
            <a:r>
              <a:rPr lang="pt-BR" dirty="0" err="1"/>
              <a:t>RNAvírus</a:t>
            </a:r>
            <a:r>
              <a:rPr lang="pt-BR" dirty="0"/>
              <a:t> envelopado)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Gotículas de saliva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Contato direto com doente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Sintomas: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Mal-estar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Febre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Erupções cutâneas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Perigosa em mulheres grávidas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Surdez, microcefalia e defeitos cardíacos no feto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Há vacinação (tríplice)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4570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Sarampo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Aguda e contagiosa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Mais comum em crianças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RNAvírus</a:t>
            </a:r>
            <a:r>
              <a:rPr lang="pt-BR" dirty="0"/>
              <a:t> envelopado (</a:t>
            </a:r>
            <a:r>
              <a:rPr lang="pt-BR" dirty="0" err="1"/>
              <a:t>Paramixovirus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pelo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Sintomas: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Febre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Olhos vermelhos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Manchas pelo corpo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Há vacina (tríplice)</a:t>
            </a:r>
          </a:p>
        </p:txBody>
      </p:sp>
    </p:spTree>
    <p:extLst>
      <p:ext uri="{BB962C8B-B14F-4D97-AF65-F5344CB8AC3E}">
        <p14:creationId xmlns:p14="http://schemas.microsoft.com/office/powerpoint/2010/main" val="2406948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Catapora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Varicela (</a:t>
            </a:r>
            <a:r>
              <a:rPr lang="pt-BR" dirty="0" err="1"/>
              <a:t>Herpesvirus</a:t>
            </a:r>
            <a:r>
              <a:rPr lang="pt-BR" dirty="0"/>
              <a:t> = vírus Varicela-zoster/</a:t>
            </a:r>
            <a:r>
              <a:rPr lang="pt-BR" dirty="0" err="1"/>
              <a:t>Herpesvirus</a:t>
            </a:r>
            <a:r>
              <a:rPr lang="pt-BR" dirty="0"/>
              <a:t> </a:t>
            </a:r>
            <a:r>
              <a:rPr lang="pt-BR" dirty="0" err="1"/>
              <a:t>varicellae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DNA envelopado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Uma das doenças mais comuns da infância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Contagiosa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Bolhas vermelhas na pele (coceira)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Contágio: contato com o líquido da bolha ou pelo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Dificilmente há reinfecção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Vacina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64514">
            <a:extLst>
              <a:ext uri="{FF2B5EF4-FFF2-40B4-BE49-F238E27FC236}">
                <a16:creationId xmlns:a16="http://schemas.microsoft.com/office/drawing/2014/main" id="{4E7DB36D-9FA1-4A42-8A11-24E0083EB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380" y="3524340"/>
            <a:ext cx="2754088" cy="258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8387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Viroses – Varíola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0273936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Poxvirus</a:t>
            </a:r>
            <a:r>
              <a:rPr lang="pt-BR" dirty="0"/>
              <a:t> - </a:t>
            </a:r>
            <a:r>
              <a:rPr lang="pt-BR" dirty="0" err="1"/>
              <a:t>DNAvírus</a:t>
            </a:r>
            <a:r>
              <a:rPr lang="pt-BR" dirty="0"/>
              <a:t> envelopado (</a:t>
            </a:r>
            <a:r>
              <a:rPr lang="pt-BR" i="1" dirty="0" err="1"/>
              <a:t>Orthopoxvirus</a:t>
            </a:r>
            <a:r>
              <a:rPr lang="pt-BR" i="1" dirty="0"/>
              <a:t> </a:t>
            </a:r>
            <a:r>
              <a:rPr lang="pt-BR" i="1" dirty="0" err="1"/>
              <a:t>variolae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Erradicada na década de 70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Possui vacinação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Sintomas: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Feridas na pele que deixam cicatrizes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ar e uso de objetos que tiveram contato com pessoa doente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Se instala preferencialmente na pele</a:t>
            </a:r>
          </a:p>
        </p:txBody>
      </p:sp>
    </p:spTree>
    <p:extLst>
      <p:ext uri="{BB962C8B-B14F-4D97-AF65-F5344CB8AC3E}">
        <p14:creationId xmlns:p14="http://schemas.microsoft.com/office/powerpoint/2010/main" val="505294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Vacina x Soro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5" y="1477282"/>
            <a:ext cx="5797731" cy="48451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Vacina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Imunização ativa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Injeção do antígeno na forma inativa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Estimula produção de anticorpos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Prevenção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Viroses e Bacterioses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BE18661B-2571-4B2E-95FB-1F5AEC4AEC51}"/>
              </a:ext>
            </a:extLst>
          </p:cNvPr>
          <p:cNvSpPr txBox="1">
            <a:spLocks/>
          </p:cNvSpPr>
          <p:nvPr/>
        </p:nvSpPr>
        <p:spPr>
          <a:xfrm>
            <a:off x="6191794" y="1366702"/>
            <a:ext cx="5797731" cy="4845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Soro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Imunização passiva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Anticorpos prontos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Muito utilizado em casos de serpentes peçonhentas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Tratamento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antiofídico e antitetânica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68608">
            <a:extLst>
              <a:ext uri="{FF2B5EF4-FFF2-40B4-BE49-F238E27FC236}">
                <a16:creationId xmlns:a16="http://schemas.microsoft.com/office/drawing/2014/main" id="{C2A5A559-3AEE-422B-97C2-315285AD4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736" y="4151826"/>
            <a:ext cx="4945744" cy="2549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126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Surto x Epidemia x Pandemia x Endemia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" y="1477282"/>
            <a:ext cx="11467011" cy="522831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Surto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Aumento repentino de casos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Área específica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Aumento real &gt; esperado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Em alguns lugares dengue pode ser surto e não epidemia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Epidemia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Surto em diversas regiões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fevereiro de 2015 vinte cidades decretaram epidemia de dengue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Pandemia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Pior cenário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Epidemia se espalhando por diversas regiões do planeta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Exs</a:t>
            </a:r>
            <a:r>
              <a:rPr lang="pt-BR" dirty="0"/>
              <a:t>: Gripe A (Suína) em 2009, AIDS, COVID-19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Endemia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Doença típica de uma região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Muita frequência em determinado local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Tendem a ser sazonais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febre amarela no norte do Brasil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4429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</TotalTime>
  <Words>1225</Words>
  <Application>Microsoft Office PowerPoint</Application>
  <PresentationFormat>Widescreen</PresentationFormat>
  <Paragraphs>258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Wingdings</vt:lpstr>
      <vt:lpstr>Tema do Office</vt:lpstr>
      <vt:lpstr>Classificação Biológica</vt:lpstr>
      <vt:lpstr>Vírus</vt:lpstr>
      <vt:lpstr>Vírus</vt:lpstr>
      <vt:lpstr>Vírus - Estrutura</vt:lpstr>
      <vt:lpstr>Vírus - Bacteriófago</vt:lpstr>
      <vt:lpstr>Vírus de animais</vt:lpstr>
      <vt:lpstr>O que acontece após a infecção?</vt:lpstr>
      <vt:lpstr>O que acontece após a infecção?</vt:lpstr>
      <vt:lpstr>Viroses</vt:lpstr>
      <vt:lpstr>Viroses – Agente x Vetor</vt:lpstr>
      <vt:lpstr>Viroses – HIV</vt:lpstr>
      <vt:lpstr>Viroses – Dengue</vt:lpstr>
      <vt:lpstr>Viroses – Ebola</vt:lpstr>
      <vt:lpstr>Viroses – HPV</vt:lpstr>
      <vt:lpstr>Viroses – Febre Amarela</vt:lpstr>
      <vt:lpstr>Viroses – Febre Amarela</vt:lpstr>
      <vt:lpstr>Viroses – Gripe</vt:lpstr>
      <vt:lpstr>Viroses – Resfriado</vt:lpstr>
      <vt:lpstr>Viroses – Caxumba</vt:lpstr>
      <vt:lpstr>Viroses – Hepatites</vt:lpstr>
      <vt:lpstr>Viroses – Hepatite A</vt:lpstr>
      <vt:lpstr>Viroses – Hepatite B</vt:lpstr>
      <vt:lpstr>Viroses – Hepatite C</vt:lpstr>
      <vt:lpstr>Viroses – Herpes</vt:lpstr>
      <vt:lpstr>Viroses – Raiva</vt:lpstr>
      <vt:lpstr>Viroses – Poliomielite</vt:lpstr>
      <vt:lpstr>Viroses – Rubéola</vt:lpstr>
      <vt:lpstr>Viroses – Sarampo</vt:lpstr>
      <vt:lpstr>Viroses – Catapora</vt:lpstr>
      <vt:lpstr>Viroses – Varíola</vt:lpstr>
      <vt:lpstr>Vacina x Soro</vt:lpstr>
      <vt:lpstr>Surto x Epidemia x Pandemia x Endemia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22</cp:revision>
  <dcterms:created xsi:type="dcterms:W3CDTF">2020-06-05T12:13:59Z</dcterms:created>
  <dcterms:modified xsi:type="dcterms:W3CDTF">2021-05-14T01:55:09Z</dcterms:modified>
</cp:coreProperties>
</file>