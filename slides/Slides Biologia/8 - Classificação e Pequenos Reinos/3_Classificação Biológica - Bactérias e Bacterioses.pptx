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87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64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48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67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89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4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37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41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47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06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80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87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3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CE8A9FE-5093-4F72-B3A0-BF3878AD9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227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82583"/>
            <a:ext cx="12191999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Biológica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3700" b="1" dirty="0"/>
              <a:t>Bactérias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Bacterioses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Unicelulares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Uma única célula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Procariontes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Células simples, sem organelas membranosas, sem carioteca (delimitação do núcleo)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Apenas ribossomos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Exemplos: bactérias, cianobactérias (algas azuis) e </a:t>
            </a:r>
            <a:r>
              <a:rPr lang="pt-BR" dirty="0" err="1"/>
              <a:t>arqueobactérias</a:t>
            </a: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10" name="Picture 74753">
            <a:extLst>
              <a:ext uri="{FF2B5EF4-FFF2-40B4-BE49-F238E27FC236}">
                <a16:creationId xmlns:a16="http://schemas.microsoft.com/office/drawing/2014/main" id="{831001C1-E802-464A-AA46-5D53325E0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29621"/>
            <a:ext cx="3030991" cy="2424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4754">
            <a:extLst>
              <a:ext uri="{FF2B5EF4-FFF2-40B4-BE49-F238E27FC236}">
                <a16:creationId xmlns:a16="http://schemas.microsoft.com/office/drawing/2014/main" id="{A3A35CF8-11BA-4AA7-8B4C-B8E494851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523" y="4336869"/>
            <a:ext cx="3227978" cy="2420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26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 - Domínios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516200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 err="1"/>
              <a:t>Arqueobactérias</a:t>
            </a:r>
            <a:r>
              <a:rPr lang="pt-BR" b="1" dirty="0"/>
              <a:t> (</a:t>
            </a:r>
            <a:r>
              <a:rPr lang="pt-BR" b="1" dirty="0" err="1"/>
              <a:t>Archaea</a:t>
            </a:r>
            <a:r>
              <a:rPr lang="pt-BR" b="1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Vivem em ambientes extremos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Podem ser metanogênicas (produzem metano)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Eubactérias (</a:t>
            </a:r>
            <a:r>
              <a:rPr lang="pt-BR" b="1" dirty="0" err="1"/>
              <a:t>Bacteria</a:t>
            </a:r>
            <a:r>
              <a:rPr lang="pt-BR" b="1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Maior grupo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Diferentes metabolismos e formas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Podem formar colônias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76800">
            <a:extLst>
              <a:ext uri="{FF2B5EF4-FFF2-40B4-BE49-F238E27FC236}">
                <a16:creationId xmlns:a16="http://schemas.microsoft.com/office/drawing/2014/main" id="{A889CDB7-8C5E-4487-BC12-A7F6EFA32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72" y="1003347"/>
            <a:ext cx="5353595" cy="2971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7826">
            <a:extLst>
              <a:ext uri="{FF2B5EF4-FFF2-40B4-BE49-F238E27FC236}">
                <a16:creationId xmlns:a16="http://schemas.microsoft.com/office/drawing/2014/main" id="{B8AEF6EF-F28B-42D9-8479-1907AB1A8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442" y="3974452"/>
            <a:ext cx="3932557" cy="2784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665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</a:t>
            </a:r>
          </a:p>
        </p:txBody>
      </p:sp>
      <p:pic>
        <p:nvPicPr>
          <p:cNvPr id="9" name="Picture 78850">
            <a:extLst>
              <a:ext uri="{FF2B5EF4-FFF2-40B4-BE49-F238E27FC236}">
                <a16:creationId xmlns:a16="http://schemas.microsoft.com/office/drawing/2014/main" id="{3E59C4C2-987F-48F4-8881-E878DE0D3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723" y="2934789"/>
            <a:ext cx="5815883" cy="3269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9874">
            <a:extLst>
              <a:ext uri="{FF2B5EF4-FFF2-40B4-BE49-F238E27FC236}">
                <a16:creationId xmlns:a16="http://schemas.microsoft.com/office/drawing/2014/main" id="{2A86DD6A-B720-43AD-8C61-5199BC642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94" y="1430495"/>
            <a:ext cx="5997498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562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Podem possuir cápsula para maior proteção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Locomoção por flagelos (</a:t>
            </a:r>
            <a:r>
              <a:rPr lang="pt-BR" dirty="0" err="1"/>
              <a:t>proteina</a:t>
            </a:r>
            <a:r>
              <a:rPr lang="pt-BR" dirty="0"/>
              <a:t> </a:t>
            </a:r>
            <a:r>
              <a:rPr lang="pt-BR" dirty="0" err="1"/>
              <a:t>flagelina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Fímbrias facilitam infecção a hospedeiro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Plasmídeo = Geralmente traz genes de resistência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Antibióticos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Metais Pesados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Normalmente aparecem em número variado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81922">
            <a:extLst>
              <a:ext uri="{FF2B5EF4-FFF2-40B4-BE49-F238E27FC236}">
                <a16:creationId xmlns:a16="http://schemas.microsoft.com/office/drawing/2014/main" id="{50D5D36D-F45E-4B26-9F0F-E941E0A44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746" y="1611084"/>
            <a:ext cx="3411236" cy="4803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0268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 - Cianobactérias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Domínio </a:t>
            </a:r>
            <a:r>
              <a:rPr lang="pt-BR" dirty="0" err="1"/>
              <a:t>Bacteria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Algas azuis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Pigmentos: clorofila A, ficoeritrina e ficocianina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Pode ter clorofila 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São fotossintetizantes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São perigosas se ingeridas, podendo causar morte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74753">
            <a:extLst>
              <a:ext uri="{FF2B5EF4-FFF2-40B4-BE49-F238E27FC236}">
                <a16:creationId xmlns:a16="http://schemas.microsoft.com/office/drawing/2014/main" id="{EF562CDD-CA17-4C39-8DF1-579BE5722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646" y="1734467"/>
            <a:ext cx="3030991" cy="2424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139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 - Nutrição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Podem ser autótrofas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Quimiossíntese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Fotossíntese (</a:t>
            </a:r>
            <a:r>
              <a:rPr lang="pt-BR" dirty="0" err="1"/>
              <a:t>bacteriofila</a:t>
            </a:r>
            <a:r>
              <a:rPr lang="pt-BR" dirty="0"/>
              <a:t> e/ou clorofila A) – cianobactérias, </a:t>
            </a:r>
            <a:r>
              <a:rPr lang="pt-BR" dirty="0" err="1"/>
              <a:t>sulfobactérias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Podem ser heterótrofas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Se alimentam de componentes produzidos por outros seres vivos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Respiração aeróbica, anaeróbica ou fermentação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185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 - Importância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Ecológica = Bactérias saprófagas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Degradam matéria orgânica morta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São os decompositores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Geram matéria inorgânica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Algumas podem degradar lixos e petróleo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Econômica = produção de derivados de leite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Farmacêutico = produção de antibióticos e outros medicamentos (insulina)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Fixadora de N2 em plantas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Engenharia Genética e Biotecnologia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Produção de Vitamina K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621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 - Reprodução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Assexuada (bipartição)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Divisão binária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Cissiparidade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Formação de organismos clones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88066">
            <a:extLst>
              <a:ext uri="{FF2B5EF4-FFF2-40B4-BE49-F238E27FC236}">
                <a16:creationId xmlns:a16="http://schemas.microsoft.com/office/drawing/2014/main" id="{1DC999A7-C205-44BB-A099-6BD73AB06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319" y="1602287"/>
            <a:ext cx="5427663" cy="295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1834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 - Reprodução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Transformação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Absorção e incorporação de material genético do meio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90114">
            <a:extLst>
              <a:ext uri="{FF2B5EF4-FFF2-40B4-BE49-F238E27FC236}">
                <a16:creationId xmlns:a16="http://schemas.microsoft.com/office/drawing/2014/main" id="{20D05DE3-95CB-4ED6-BA3E-D6AA2E09A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391" y="2918778"/>
            <a:ext cx="6335713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647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Reino Monera - Reprodução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Transdução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Vírus carregando DNA de uma bactéria à outra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91138">
            <a:extLst>
              <a:ext uri="{FF2B5EF4-FFF2-40B4-BE49-F238E27FC236}">
                <a16:creationId xmlns:a16="http://schemas.microsoft.com/office/drawing/2014/main" id="{9E1E1101-BD09-404E-ADEE-8DEA877F3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005" y="2779938"/>
            <a:ext cx="67579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6712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- Botulismo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/>
              <a:t>Clostridium </a:t>
            </a:r>
            <a:r>
              <a:rPr lang="pt-BR" i="1" dirty="0" err="1"/>
              <a:t>botulinum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ingestão da toxina liberada pela bactéria em alimentos enlatados e conservas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bloqueia transferência de sinais nervosos para os músculos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higiene e não ingerir alimentos de latas estufadas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397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- Cólera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 err="1"/>
              <a:t>Vibrio</a:t>
            </a:r>
            <a:r>
              <a:rPr lang="pt-BR" i="1" dirty="0"/>
              <a:t> </a:t>
            </a:r>
            <a:r>
              <a:rPr lang="pt-BR" i="1" dirty="0" err="1"/>
              <a:t>Cholerae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ingestão da água e alimentos contaminados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diarreia, vômitos e cãibras, pode levar a morte por desidratação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saneamento básico, água filtrada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274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- Coqueluche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 err="1"/>
              <a:t>Bordetella</a:t>
            </a:r>
            <a:r>
              <a:rPr lang="pt-BR" i="1" dirty="0"/>
              <a:t> </a:t>
            </a:r>
            <a:r>
              <a:rPr lang="pt-BR" i="1" dirty="0" err="1"/>
              <a:t>pertussis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inalação de gotículas no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febre, tosse seca, vômitos. Pode levar a pneumonia, convulsões e hemorragias cerebrais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Vacinação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3638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- Difteria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 err="1"/>
              <a:t>Corynebacterium</a:t>
            </a:r>
            <a:r>
              <a:rPr lang="pt-BR" i="1" dirty="0"/>
              <a:t> </a:t>
            </a:r>
            <a:r>
              <a:rPr lang="pt-BR" i="1" dirty="0" err="1"/>
              <a:t>diphteriae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inalação de gotículas no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infecção das tonsilas, faringe e laringe. Pode levar a morte por asfixia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Vacinação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4910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- Gonorreia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/>
              <a:t>Neisseria </a:t>
            </a:r>
            <a:r>
              <a:rPr lang="pt-BR" i="1" dirty="0" err="1"/>
              <a:t>gonorrheae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Dor e ardência ao urinar, secreção de pus, sangramento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4248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– Lepra / Hanseníase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/>
              <a:t>Mycobacterium </a:t>
            </a:r>
            <a:r>
              <a:rPr lang="pt-BR" i="1" dirty="0" err="1"/>
              <a:t>leprae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bacilos liberados em secreções respiratórias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afeta sistema nervoso, lesões na pele, diminuição da força muscular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vacinação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908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– Leptospirose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gênero Leptospira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animais (ratos) eliminam as bactérias vivas pela urina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febre, dor de cabeça, dores musculares, náusea, vômitos, aumento do fígado, hemorragias, pode levar à morte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3872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– Meningite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/>
              <a:t>Neisseria </a:t>
            </a:r>
            <a:r>
              <a:rPr lang="pt-BR" i="1" dirty="0" err="1"/>
              <a:t>meningitidis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pelo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afeta as meninges, dor de cabeça intensa, febre, rigidez da nuca, vômitos em jato e pode matar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vacinação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4246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– Pneumonia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/>
              <a:t>Streptococcus </a:t>
            </a:r>
            <a:r>
              <a:rPr lang="pt-BR" i="1" dirty="0" err="1"/>
              <a:t>pneumoniae</a:t>
            </a:r>
            <a:r>
              <a:rPr lang="pt-BR" dirty="0"/>
              <a:t> ou </a:t>
            </a:r>
            <a:r>
              <a:rPr lang="pt-BR" i="1" dirty="0" err="1"/>
              <a:t>Diplococcus</a:t>
            </a:r>
            <a:r>
              <a:rPr lang="pt-BR" i="1" dirty="0"/>
              <a:t> </a:t>
            </a:r>
            <a:r>
              <a:rPr lang="pt-BR" i="1" dirty="0" err="1"/>
              <a:t>pneumoniae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pelo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infecção pulmonar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4322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– Sífilis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/>
              <a:t>Treponema pallidum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sexo (IST)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inflamação da pele, doenças respiratórias, esterilidade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9515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– Tétano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/>
              <a:t>Clostridium </a:t>
            </a:r>
            <a:r>
              <a:rPr lang="pt-BR" i="1" dirty="0" err="1"/>
              <a:t>tetani</a:t>
            </a:r>
            <a:endParaRPr lang="pt-BR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esporos no solo, entram no corpo ao ocorrer lesões causadas por objetos contaminados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liberam neurotoxinas que desencadeiam contrações musculares; pode levar a paradas respiratórias/cardíacas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vacinação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7445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Bacterioses – Tuberculose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477282"/>
            <a:ext cx="114234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Agente etiológico: </a:t>
            </a:r>
            <a:r>
              <a:rPr lang="pt-BR" i="1" dirty="0"/>
              <a:t>Mycobacterium </a:t>
            </a:r>
            <a:r>
              <a:rPr lang="pt-BR" i="1" dirty="0" err="1"/>
              <a:t>tuberculosis</a:t>
            </a:r>
            <a:r>
              <a:rPr lang="pt-BR" i="1" dirty="0"/>
              <a:t> </a:t>
            </a:r>
            <a:r>
              <a:rPr lang="pt-BR" dirty="0"/>
              <a:t>(Bacilo de Koch)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Transmissão: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Características: atinge os pulmões, mas pode atingir outros órgãos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Profilaxia: vacinação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6345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742</TotalTime>
  <Words>677</Words>
  <Application>Microsoft Office PowerPoint</Application>
  <PresentationFormat>Widescreen</PresentationFormat>
  <Paragraphs>122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Tema do Office</vt:lpstr>
      <vt:lpstr>Classificação Biológica</vt:lpstr>
      <vt:lpstr>Reino Monera</vt:lpstr>
      <vt:lpstr>Reino Monera - Domínios</vt:lpstr>
      <vt:lpstr>Reino Monera</vt:lpstr>
      <vt:lpstr>Reino Monera</vt:lpstr>
      <vt:lpstr>Reino Monera - Cianobactérias</vt:lpstr>
      <vt:lpstr>Reino Monera - Nutrição</vt:lpstr>
      <vt:lpstr>Reino Monera - Importância</vt:lpstr>
      <vt:lpstr>Reino Monera - Reprodução</vt:lpstr>
      <vt:lpstr>Reino Monera - Reprodução</vt:lpstr>
      <vt:lpstr>Reino Monera - Reprodução</vt:lpstr>
      <vt:lpstr>Bacterioses - Botulismo</vt:lpstr>
      <vt:lpstr>Bacterioses - Cólera</vt:lpstr>
      <vt:lpstr>Bacterioses - Coqueluche</vt:lpstr>
      <vt:lpstr>Bacterioses - Difteria</vt:lpstr>
      <vt:lpstr>Bacterioses - Gonorreia</vt:lpstr>
      <vt:lpstr>Bacterioses – Lepra / Hanseníase</vt:lpstr>
      <vt:lpstr>Bacterioses – Leptospirose</vt:lpstr>
      <vt:lpstr>Bacterioses – Meningite</vt:lpstr>
      <vt:lpstr>Bacterioses – Pneumonia</vt:lpstr>
      <vt:lpstr>Bacterioses – Sífilis</vt:lpstr>
      <vt:lpstr>Bacterioses – Tétano</vt:lpstr>
      <vt:lpstr>Bacterioses – Tuberculose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27</cp:revision>
  <dcterms:created xsi:type="dcterms:W3CDTF">2020-06-05T12:13:59Z</dcterms:created>
  <dcterms:modified xsi:type="dcterms:W3CDTF">2021-05-14T01:54:40Z</dcterms:modified>
</cp:coreProperties>
</file>