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60" r:id="rId3"/>
    <p:sldId id="261" r:id="rId4"/>
    <p:sldId id="266" r:id="rId5"/>
    <p:sldId id="268" r:id="rId6"/>
    <p:sldId id="267" r:id="rId7"/>
    <p:sldId id="262" r:id="rId8"/>
    <p:sldId id="277" r:id="rId9"/>
    <p:sldId id="269" r:id="rId10"/>
    <p:sldId id="270" r:id="rId11"/>
    <p:sldId id="271" r:id="rId12"/>
    <p:sldId id="278" r:id="rId13"/>
    <p:sldId id="272" r:id="rId14"/>
    <p:sldId id="273" r:id="rId15"/>
    <p:sldId id="274" r:id="rId16"/>
    <p:sldId id="275" r:id="rId17"/>
    <p:sldId id="276" r:id="rId18"/>
    <p:sldId id="279" r:id="rId19"/>
    <p:sldId id="280" r:id="rId20"/>
    <p:sldId id="281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23DA-F2D6-453A-82DD-4D426D509CA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9CAD5-998C-486E-B2E2-6B4B93B12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2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07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2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4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60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49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89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55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84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21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53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78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 d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536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97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94D87-2D78-4151-AAC5-48203739990A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7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iologia da conservação - Ecologia - InfoEscola">
            <a:extLst>
              <a:ext uri="{FF2B5EF4-FFF2-40B4-BE49-F238E27FC236}">
                <a16:creationId xmlns:a16="http://schemas.microsoft.com/office/drawing/2014/main" id="{983AC26C-4270-410B-A38A-624B917E7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Fundamentos da Biologia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2600" b="1" dirty="0"/>
              <a:t>Reprodução</a:t>
            </a:r>
          </a:p>
          <a:p>
            <a:pPr>
              <a:lnSpc>
                <a:spcPct val="120000"/>
              </a:lnSpc>
            </a:pPr>
            <a:r>
              <a:rPr lang="pt-BR" sz="2600" b="1" dirty="0"/>
              <a:t>Ciclos de Vida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1">
            <a:hlinkClick r:id="rId2" action="ppaction://hlinksldjump"/>
          </p:cNvPr>
          <p:cNvSpPr txBox="1">
            <a:spLocks/>
          </p:cNvSpPr>
          <p:nvPr/>
        </p:nvSpPr>
        <p:spPr>
          <a:xfrm>
            <a:off x="2832710" y="1343749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Reprodução e diversidade</a:t>
            </a:r>
          </a:p>
        </p:txBody>
      </p:sp>
      <p:sp>
        <p:nvSpPr>
          <p:cNvPr id="4" name="Espaço Reservado para Conteúdo 1">
            <a:hlinkClick r:id="rId3" action="ppaction://hlinksldjump"/>
          </p:cNvPr>
          <p:cNvSpPr txBox="1">
            <a:spLocks/>
          </p:cNvSpPr>
          <p:nvPr/>
        </p:nvSpPr>
        <p:spPr>
          <a:xfrm>
            <a:off x="2832710" y="1927948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Fundamentos da reprodução animal</a:t>
            </a:r>
          </a:p>
        </p:txBody>
      </p:sp>
      <p:sp>
        <p:nvSpPr>
          <p:cNvPr id="5" name="Espaço Reservado para Conteúdo 1">
            <a:hlinkClick r:id="" action="ppaction://noaction"/>
          </p:cNvPr>
          <p:cNvSpPr txBox="1">
            <a:spLocks/>
          </p:cNvSpPr>
          <p:nvPr/>
        </p:nvSpPr>
        <p:spPr>
          <a:xfrm>
            <a:off x="2861285" y="4149517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Espermatogênese humana</a:t>
            </a:r>
          </a:p>
        </p:txBody>
      </p:sp>
      <p:sp>
        <p:nvSpPr>
          <p:cNvPr id="6" name="Espaço Reservado para Conteúdo 1">
            <a:hlinkClick r:id="" action="ppaction://noaction"/>
          </p:cNvPr>
          <p:cNvSpPr txBox="1">
            <a:spLocks/>
          </p:cNvSpPr>
          <p:nvPr/>
        </p:nvSpPr>
        <p:spPr>
          <a:xfrm>
            <a:off x="2861285" y="4733716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Ovogênese</a:t>
            </a:r>
            <a:r>
              <a:rPr lang="pt-BR" dirty="0"/>
              <a:t> humana</a:t>
            </a:r>
          </a:p>
        </p:txBody>
      </p:sp>
      <p:sp>
        <p:nvSpPr>
          <p:cNvPr id="7" name="Espaço Reservado para Conteúdo 1">
            <a:hlinkClick r:id="rId4" action="ppaction://hlinksldjump"/>
          </p:cNvPr>
          <p:cNvSpPr txBox="1">
            <a:spLocks/>
          </p:cNvSpPr>
          <p:nvPr/>
        </p:nvSpPr>
        <p:spPr>
          <a:xfrm>
            <a:off x="2861284" y="5354491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Fecundação humana</a:t>
            </a:r>
          </a:p>
        </p:txBody>
      </p:sp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D22FB832-06D3-4099-B907-FBC8A2055586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pt-BR" sz="3600" b="1" dirty="0">
                <a:solidFill>
                  <a:schemeClr val="bg1"/>
                </a:solidFill>
              </a:rPr>
              <a:t>Índice</a:t>
            </a:r>
          </a:p>
        </p:txBody>
      </p:sp>
      <p:sp>
        <p:nvSpPr>
          <p:cNvPr id="10" name="Espaço Reservado para Conteúdo 1">
            <a:hlinkClick r:id="rId5" action="ppaction://hlinksldjump"/>
            <a:extLst>
              <a:ext uri="{FF2B5EF4-FFF2-40B4-BE49-F238E27FC236}">
                <a16:creationId xmlns:a16="http://schemas.microsoft.com/office/drawing/2014/main" id="{0BB06911-652B-49DC-A339-92B1D9C8B554}"/>
              </a:ext>
            </a:extLst>
          </p:cNvPr>
          <p:cNvSpPr txBox="1">
            <a:spLocks/>
          </p:cNvSpPr>
          <p:nvPr/>
        </p:nvSpPr>
        <p:spPr>
          <a:xfrm>
            <a:off x="2842230" y="2466109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Ciclo haplobionte </a:t>
            </a:r>
            <a:r>
              <a:rPr lang="pt-BR" dirty="0" err="1"/>
              <a:t>haplonte</a:t>
            </a:r>
            <a:endParaRPr lang="pt-BR" dirty="0"/>
          </a:p>
        </p:txBody>
      </p:sp>
      <p:sp>
        <p:nvSpPr>
          <p:cNvPr id="11" name="Espaço Reservado para Conteúdo 1">
            <a:hlinkClick r:id="rId6" action="ppaction://hlinksldjump"/>
            <a:extLst>
              <a:ext uri="{FF2B5EF4-FFF2-40B4-BE49-F238E27FC236}">
                <a16:creationId xmlns:a16="http://schemas.microsoft.com/office/drawing/2014/main" id="{96384101-76E2-4F1E-802A-B4145AB7531E}"/>
              </a:ext>
            </a:extLst>
          </p:cNvPr>
          <p:cNvSpPr txBox="1">
            <a:spLocks/>
          </p:cNvSpPr>
          <p:nvPr/>
        </p:nvSpPr>
        <p:spPr>
          <a:xfrm>
            <a:off x="2870806" y="3023321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Ciclo haplobionte </a:t>
            </a:r>
            <a:r>
              <a:rPr lang="pt-BR" dirty="0" err="1"/>
              <a:t>diplonte</a:t>
            </a:r>
            <a:endParaRPr lang="pt-BR" dirty="0"/>
          </a:p>
        </p:txBody>
      </p:sp>
      <p:sp>
        <p:nvSpPr>
          <p:cNvPr id="13" name="Espaço Reservado para Conteúdo 1">
            <a:hlinkClick r:id="rId7" action="ppaction://hlinksldjump"/>
            <a:extLst>
              <a:ext uri="{FF2B5EF4-FFF2-40B4-BE49-F238E27FC236}">
                <a16:creationId xmlns:a16="http://schemas.microsoft.com/office/drawing/2014/main" id="{A32B6E0B-CEFD-4F57-AE54-7FF50301B1C3}"/>
              </a:ext>
            </a:extLst>
          </p:cNvPr>
          <p:cNvSpPr txBox="1">
            <a:spLocks/>
          </p:cNvSpPr>
          <p:nvPr/>
        </p:nvSpPr>
        <p:spPr>
          <a:xfrm>
            <a:off x="2851750" y="3575775"/>
            <a:ext cx="7584339" cy="43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DC9A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Ciclo </a:t>
            </a:r>
            <a:r>
              <a:rPr lang="pt-BR" dirty="0" err="1"/>
              <a:t>diplobionte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452429C-E6E4-4CB8-A556-C59E3439C30C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B29DF56-0608-4ED0-9F96-EB617A821BF5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Índice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Espaço Reservado para Conteúdo 3"/>
          <p:cNvSpPr txBox="1">
            <a:spLocks/>
          </p:cNvSpPr>
          <p:nvPr/>
        </p:nvSpPr>
        <p:spPr bwMode="auto">
          <a:xfrm>
            <a:off x="1658941" y="1122363"/>
            <a:ext cx="8874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endParaRPr lang="pt-BR" altLang="pt-BR" sz="2400" b="1" dirty="0">
              <a:solidFill>
                <a:srgbClr val="595959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17"/>
          <p:cNvSpPr txBox="1">
            <a:spLocks noChangeArrowheads="1"/>
          </p:cNvSpPr>
          <p:nvPr/>
        </p:nvSpPr>
        <p:spPr bwMode="auto">
          <a:xfrm>
            <a:off x="4814764" y="3202435"/>
            <a:ext cx="23764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b="1" dirty="0">
                <a:solidFill>
                  <a:srgbClr val="F9A971"/>
                </a:solidFill>
                <a:latin typeface="Trebuchet MS" panose="020B0603020202020204" pitchFamily="34" charset="0"/>
              </a:rPr>
              <a:t>Reprodução assexuada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240601" y="1932432"/>
            <a:ext cx="23764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Sem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troca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de material genético.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240601" y="3140523"/>
            <a:ext cx="237648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Em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condições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ambientais próximas das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ideais.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40601" y="4596260"/>
            <a:ext cx="237648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Menor gasto metabólico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comportamental.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425376" y="4718495"/>
            <a:ext cx="2447925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Geralmente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rápida,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com produção de muitos indivíduos</a:t>
            </a:r>
            <a:r>
              <a:rPr lang="pt-BR" sz="1600" b="1" dirty="0">
                <a:solidFill>
                  <a:srgbClr val="009456"/>
                </a:solidFill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425376" y="1932432"/>
            <a:ext cx="2447925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Produção de organismos</a:t>
            </a:r>
            <a:r>
              <a:rPr lang="pt-BR" sz="1600" b="1" dirty="0">
                <a:solidFill>
                  <a:srgbClr val="009456"/>
                </a:solidFill>
                <a:latin typeface="Trebuchet MS" panose="020B0603020202020204" pitchFamily="34" charset="0"/>
              </a:rPr>
              <a:t>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geneticamente idênticos.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425376" y="3202435"/>
            <a:ext cx="2466975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Sem necessidade de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encontro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de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organismos.</a:t>
            </a:r>
          </a:p>
        </p:txBody>
      </p:sp>
      <p:cxnSp>
        <p:nvCxnSpPr>
          <p:cNvPr id="13" name="Conector de seta reta 12"/>
          <p:cNvCxnSpPr>
            <a:stCxn id="6" idx="1"/>
          </p:cNvCxnSpPr>
          <p:nvPr/>
        </p:nvCxnSpPr>
        <p:spPr>
          <a:xfrm flipH="1" flipV="1">
            <a:off x="4549649" y="2448370"/>
            <a:ext cx="265112" cy="1077228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1"/>
          </p:cNvCxnSpPr>
          <p:nvPr/>
        </p:nvCxnSpPr>
        <p:spPr>
          <a:xfrm flipH="1">
            <a:off x="4560761" y="3525598"/>
            <a:ext cx="254000" cy="72122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1"/>
            <a:endCxn id="9" idx="3"/>
          </p:cNvCxnSpPr>
          <p:nvPr/>
        </p:nvCxnSpPr>
        <p:spPr>
          <a:xfrm flipH="1">
            <a:off x="4617085" y="3525598"/>
            <a:ext cx="197676" cy="1486158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6" idx="3"/>
          </p:cNvCxnSpPr>
          <p:nvPr/>
        </p:nvCxnSpPr>
        <p:spPr>
          <a:xfrm flipV="1">
            <a:off x="7191251" y="2448370"/>
            <a:ext cx="296863" cy="1077228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3"/>
            <a:endCxn id="12" idx="1"/>
          </p:cNvCxnSpPr>
          <p:nvPr/>
        </p:nvCxnSpPr>
        <p:spPr>
          <a:xfrm>
            <a:off x="7191251" y="3525601"/>
            <a:ext cx="234125" cy="92333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6" idx="3"/>
          </p:cNvCxnSpPr>
          <p:nvPr/>
        </p:nvCxnSpPr>
        <p:spPr>
          <a:xfrm>
            <a:off x="7191251" y="3525601"/>
            <a:ext cx="269875" cy="1508809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ECCF9D-2FFC-4D0B-808E-03D2835E9B9E}"/>
              </a:ext>
            </a:extLst>
          </p:cNvPr>
          <p:cNvSpPr txBox="1"/>
          <p:nvPr/>
        </p:nvSpPr>
        <p:spPr>
          <a:xfrm>
            <a:off x="1383342" y="257164"/>
            <a:ext cx="5783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Reprodução e diversidade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71F2CE7-BA3C-4304-A3ED-35E5B2C38F55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1B9FA5EE-F23D-4768-B64E-9820C548820E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G:\Midias_Digitais\Recursos_Didaticos\EMBIO03003\_vinculos\_PNG\EMBIO03003_0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3" b="13319"/>
          <a:stretch>
            <a:fillRect/>
          </a:stretch>
        </p:blipFill>
        <p:spPr bwMode="auto">
          <a:xfrm>
            <a:off x="320040" y="1143000"/>
            <a:ext cx="1151071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D81A6DA8-8A1A-4FD9-B392-B1EA981BEA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Reprodução e diversidade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9A4F23-7D5D-42EA-933F-53907AB741AA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1297E65-5548-462D-BA5E-A738A9D91603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15559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:\Midias_Digitais\Recursos_Didaticos\EMBIO03003\_vinculos\_PNG\EMBIO03003_0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5" b="6282"/>
          <a:stretch>
            <a:fillRect/>
          </a:stretch>
        </p:blipFill>
        <p:spPr bwMode="auto">
          <a:xfrm>
            <a:off x="438881" y="1203961"/>
            <a:ext cx="11433079" cy="5318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01BB9DDE-0C71-4486-920E-356527DA5F81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>
                <a:solidFill>
                  <a:schemeClr val="bg1"/>
                </a:solidFill>
              </a:rPr>
              <a:t>Fundamentos da reprodução animal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73791E-94B7-4937-A6E8-5EAA81DC98D9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6F622DC-12AB-4695-804B-E8E5C1FC6099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207667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Espaço Reservado para Conteúdo 3"/>
          <p:cNvSpPr txBox="1">
            <a:spLocks/>
          </p:cNvSpPr>
          <p:nvPr/>
        </p:nvSpPr>
        <p:spPr bwMode="auto">
          <a:xfrm>
            <a:off x="1658941" y="1122363"/>
            <a:ext cx="8874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endParaRPr lang="pt-BR" altLang="pt-BR" sz="2400" b="1" dirty="0">
              <a:solidFill>
                <a:srgbClr val="595959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33"/>
          <p:cNvSpPr txBox="1">
            <a:spLocks noChangeArrowheads="1"/>
          </p:cNvSpPr>
          <p:nvPr/>
        </p:nvSpPr>
        <p:spPr bwMode="auto">
          <a:xfrm>
            <a:off x="4796476" y="3037840"/>
            <a:ext cx="2376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2000" b="1">
                <a:solidFill>
                  <a:srgbClr val="F9A971"/>
                </a:solidFill>
                <a:latin typeface="Trebuchet MS" panose="020B0603020202020204" pitchFamily="34" charset="0"/>
              </a:rPr>
              <a:t>Reprodução sexuada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240601" y="1767840"/>
            <a:ext cx="23764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Com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troca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de material genético.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240601" y="2975928"/>
            <a:ext cx="2376487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Em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condições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ambientais próximas das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ideais e em condições adversas.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40601" y="4431668"/>
            <a:ext cx="2376487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Maior gasto metabólico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comportamental.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425376" y="4553906"/>
            <a:ext cx="2447925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Em relação à reprodução assexuada, é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mais lenta 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produz menor número</a:t>
            </a:r>
            <a:r>
              <a:rPr lang="pt-BR" sz="1600" b="1" dirty="0">
                <a:solidFill>
                  <a:srgbClr val="009456"/>
                </a:solidFill>
                <a:latin typeface="Trebuchet MS" panose="020B0603020202020204" pitchFamily="34" charset="0"/>
              </a:rPr>
              <a:t>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de indivíduos.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425376" y="1623378"/>
            <a:ext cx="2447925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Produção de organismos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genética e fenotipicamente diferentes.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425376" y="3037843"/>
            <a:ext cx="2466975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Necessidade de </a:t>
            </a:r>
            <a:r>
              <a:rPr lang="pt-BR" sz="1600" b="1" dirty="0">
                <a:solidFill>
                  <a:srgbClr val="F9A971"/>
                </a:solidFill>
                <a:latin typeface="Trebuchet MS" panose="020B0603020202020204" pitchFamily="34" charset="0"/>
              </a:rPr>
              <a:t>encontro de organismos ou  de gametas. </a:t>
            </a:r>
          </a:p>
        </p:txBody>
      </p:sp>
      <p:cxnSp>
        <p:nvCxnSpPr>
          <p:cNvPr id="13" name="Conector de seta reta 12"/>
          <p:cNvCxnSpPr>
            <a:stCxn id="6" idx="1"/>
            <a:endCxn id="7" idx="3"/>
          </p:cNvCxnSpPr>
          <p:nvPr/>
        </p:nvCxnSpPr>
        <p:spPr>
          <a:xfrm flipH="1" flipV="1">
            <a:off x="4617085" y="2059943"/>
            <a:ext cx="179388" cy="1331843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1"/>
          </p:cNvCxnSpPr>
          <p:nvPr/>
        </p:nvCxnSpPr>
        <p:spPr>
          <a:xfrm flipH="1">
            <a:off x="4521835" y="3391786"/>
            <a:ext cx="274638" cy="66745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1"/>
            <a:endCxn id="9" idx="3"/>
          </p:cNvCxnSpPr>
          <p:nvPr/>
        </p:nvCxnSpPr>
        <p:spPr>
          <a:xfrm flipH="1">
            <a:off x="4617085" y="3391783"/>
            <a:ext cx="179388" cy="133227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6" idx="3"/>
          </p:cNvCxnSpPr>
          <p:nvPr/>
        </p:nvCxnSpPr>
        <p:spPr>
          <a:xfrm flipV="1">
            <a:off x="7172960" y="2088517"/>
            <a:ext cx="279400" cy="1303266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3"/>
          </p:cNvCxnSpPr>
          <p:nvPr/>
        </p:nvCxnSpPr>
        <p:spPr>
          <a:xfrm>
            <a:off x="7172963" y="3391786"/>
            <a:ext cx="269875" cy="74683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6" idx="3"/>
          </p:cNvCxnSpPr>
          <p:nvPr/>
        </p:nvCxnSpPr>
        <p:spPr>
          <a:xfrm>
            <a:off x="7172963" y="3391783"/>
            <a:ext cx="252413" cy="145422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Conteúdo 3">
            <a:extLst>
              <a:ext uri="{FF2B5EF4-FFF2-40B4-BE49-F238E27FC236}">
                <a16:creationId xmlns:a16="http://schemas.microsoft.com/office/drawing/2014/main" id="{94088333-4A0B-4ED0-98C1-10E3386BB09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Reprodução e diversidade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63B0795-11EE-470E-A8F5-21E73BE18C03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00659C49-1EA6-4594-B5BA-828AD6E7961D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267789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968519" y="1948934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Gametogênese</a:t>
            </a:r>
          </a:p>
        </p:txBody>
      </p:sp>
      <p:sp>
        <p:nvSpPr>
          <p:cNvPr id="6" name="Retângulo 5"/>
          <p:cNvSpPr/>
          <p:nvPr/>
        </p:nvSpPr>
        <p:spPr>
          <a:xfrm>
            <a:off x="4583602" y="1554718"/>
            <a:ext cx="4705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C9A2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Óvulos (gametas femininos dos animais);</a:t>
            </a:r>
          </a:p>
        </p:txBody>
      </p:sp>
      <p:sp>
        <p:nvSpPr>
          <p:cNvPr id="7" name="Retângulo 6"/>
          <p:cNvSpPr/>
          <p:nvPr/>
        </p:nvSpPr>
        <p:spPr>
          <a:xfrm>
            <a:off x="4558352" y="2356366"/>
            <a:ext cx="5804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C9A2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Espermatozoides (gametas masculinos dos animais).</a:t>
            </a:r>
          </a:p>
        </p:txBody>
      </p:sp>
      <p:sp>
        <p:nvSpPr>
          <p:cNvPr id="8" name="Chave esquerda 7"/>
          <p:cNvSpPr/>
          <p:nvPr/>
        </p:nvSpPr>
        <p:spPr>
          <a:xfrm>
            <a:off x="3981450" y="1365766"/>
            <a:ext cx="576902" cy="1524000"/>
          </a:xfrm>
          <a:prstGeom prst="leftBrace">
            <a:avLst/>
          </a:prstGeom>
          <a:ln>
            <a:solidFill>
              <a:srgbClr val="FAA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E8A94CF8-D62E-4730-BF74-D8F178932349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>
                <a:solidFill>
                  <a:schemeClr val="bg1"/>
                </a:solidFill>
              </a:rPr>
              <a:t>Fundamentos da reprodução animal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944349-579A-4414-B531-FB51B08E55F3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F352BCF-DA99-4189-9F8B-AF241C497181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59195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659467" y="3162300"/>
            <a:ext cx="8873066" cy="291306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pt-BR" sz="1800" dirty="0"/>
              <a:t>Gametas: células com metade do número de cromossomos de uma espécie e destinadas à reprodução;</a:t>
            </a:r>
          </a:p>
          <a:p>
            <a:pPr lvl="0"/>
            <a:r>
              <a:rPr lang="pt-BR" sz="1800" dirty="0"/>
              <a:t>Fecundação: encontro de gametas, com restabelecimento do número de cromossomos da espécie;</a:t>
            </a:r>
          </a:p>
          <a:p>
            <a:pPr lvl="0"/>
            <a:r>
              <a:rPr lang="pt-BR" sz="1800" dirty="0"/>
              <a:t>Quanto à produção de gametas, há dois tipos de animais:</a:t>
            </a:r>
          </a:p>
          <a:p>
            <a:pPr lvl="1"/>
            <a:r>
              <a:rPr lang="pt-BR" sz="1800" dirty="0"/>
              <a:t>dioicos ou unissexuados, que apresentam um único sexo e produzem apenas um tipo de gameta;</a:t>
            </a:r>
          </a:p>
          <a:p>
            <a:pPr lvl="1"/>
            <a:r>
              <a:rPr lang="pt-BR" sz="1800" dirty="0"/>
              <a:t>monoicos, bissexuados ou hermafroditas, que apresentam testículos e ovários, nos quais se formam, respectivamente, espermatozoides e óvulos.</a:t>
            </a:r>
          </a:p>
          <a:p>
            <a:endParaRPr lang="pt-BR" sz="18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Fundamentos da reprodução animal</a:t>
            </a:r>
          </a:p>
        </p:txBody>
      </p:sp>
      <p:sp>
        <p:nvSpPr>
          <p:cNvPr id="2" name="Retângulo 1"/>
          <p:cNvSpPr/>
          <p:nvPr/>
        </p:nvSpPr>
        <p:spPr>
          <a:xfrm>
            <a:off x="1968519" y="1948934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Gametogênese</a:t>
            </a:r>
          </a:p>
        </p:txBody>
      </p:sp>
      <p:sp>
        <p:nvSpPr>
          <p:cNvPr id="6" name="Retângulo 5"/>
          <p:cNvSpPr/>
          <p:nvPr/>
        </p:nvSpPr>
        <p:spPr>
          <a:xfrm>
            <a:off x="4583602" y="1554718"/>
            <a:ext cx="4705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C9A2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Óvulos (gametas femininos dos animais);</a:t>
            </a:r>
          </a:p>
        </p:txBody>
      </p:sp>
      <p:sp>
        <p:nvSpPr>
          <p:cNvPr id="7" name="Retângulo 6"/>
          <p:cNvSpPr/>
          <p:nvPr/>
        </p:nvSpPr>
        <p:spPr>
          <a:xfrm>
            <a:off x="4558352" y="2356366"/>
            <a:ext cx="5804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C9A2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Espermatozoides (gametas masculinos dos animais).</a:t>
            </a:r>
          </a:p>
        </p:txBody>
      </p:sp>
      <p:sp>
        <p:nvSpPr>
          <p:cNvPr id="8" name="Chave esquerda 7"/>
          <p:cNvSpPr/>
          <p:nvPr/>
        </p:nvSpPr>
        <p:spPr>
          <a:xfrm>
            <a:off x="3981450" y="1365766"/>
            <a:ext cx="576902" cy="1524000"/>
          </a:xfrm>
          <a:prstGeom prst="leftBrace">
            <a:avLst/>
          </a:prstGeom>
          <a:ln>
            <a:solidFill>
              <a:srgbClr val="FAA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76516E6-B427-4720-8B79-FE5B92699807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AAF5FE6-1CC9-489F-9A7C-B0C0B50EAD7B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335149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Espaço Reservado para Conteúdo 3"/>
          <p:cNvSpPr txBox="1">
            <a:spLocks/>
          </p:cNvSpPr>
          <p:nvPr/>
        </p:nvSpPr>
        <p:spPr bwMode="auto">
          <a:xfrm>
            <a:off x="1658941" y="1122363"/>
            <a:ext cx="8874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endParaRPr lang="pt-BR" altLang="pt-BR" sz="2400" b="1" dirty="0">
              <a:solidFill>
                <a:srgbClr val="595959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2097091" y="2530475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9456"/>
                </a:solidFill>
                <a:latin typeface="Trebuchet MS" panose="020B0603020202020204" pitchFamily="34" charset="0"/>
              </a:rPr>
              <a:t>Indivíduo A</a:t>
            </a:r>
          </a:p>
        </p:txBody>
      </p:sp>
      <p:sp>
        <p:nvSpPr>
          <p:cNvPr id="7" name="TextBox 20"/>
          <p:cNvSpPr txBox="1">
            <a:spLocks noChangeArrowheads="1"/>
          </p:cNvSpPr>
          <p:nvPr/>
        </p:nvSpPr>
        <p:spPr bwMode="auto">
          <a:xfrm>
            <a:off x="2097091" y="4124325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F58220"/>
                </a:solidFill>
                <a:latin typeface="Trebuchet MS" panose="020B0603020202020204" pitchFamily="34" charset="0"/>
              </a:rPr>
              <a:t>Indivíduo B</a:t>
            </a:r>
          </a:p>
        </p:txBody>
      </p:sp>
      <p:sp>
        <p:nvSpPr>
          <p:cNvPr id="8" name="Right Arrow 21"/>
          <p:cNvSpPr/>
          <p:nvPr/>
        </p:nvSpPr>
        <p:spPr>
          <a:xfrm>
            <a:off x="3609978" y="2608263"/>
            <a:ext cx="792163" cy="215900"/>
          </a:xfrm>
          <a:prstGeom prst="rightArrow">
            <a:avLst/>
          </a:prstGeom>
          <a:solidFill>
            <a:srgbClr val="009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rebuchet MS" panose="020B0603020202020204" pitchFamily="34" charset="0"/>
            </a:endParaRPr>
          </a:p>
        </p:txBody>
      </p:sp>
      <p:sp>
        <p:nvSpPr>
          <p:cNvPr id="9" name="Right Arrow 22"/>
          <p:cNvSpPr/>
          <p:nvPr/>
        </p:nvSpPr>
        <p:spPr>
          <a:xfrm>
            <a:off x="3609978" y="4200525"/>
            <a:ext cx="792163" cy="215900"/>
          </a:xfrm>
          <a:prstGeom prst="rightArrow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rebuchet MS" panose="020B0603020202020204" pitchFamily="34" charset="0"/>
            </a:endParaRPr>
          </a:p>
        </p:txBody>
      </p:sp>
      <p:sp>
        <p:nvSpPr>
          <p:cNvPr id="10" name="TextBox 23"/>
          <p:cNvSpPr txBox="1"/>
          <p:nvPr/>
        </p:nvSpPr>
        <p:spPr>
          <a:xfrm>
            <a:off x="4618038" y="2546350"/>
            <a:ext cx="122396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Gametas</a:t>
            </a:r>
          </a:p>
        </p:txBody>
      </p:sp>
      <p:sp>
        <p:nvSpPr>
          <p:cNvPr id="11" name="TextBox 24"/>
          <p:cNvSpPr txBox="1"/>
          <p:nvPr/>
        </p:nvSpPr>
        <p:spPr>
          <a:xfrm>
            <a:off x="4618038" y="4140200"/>
            <a:ext cx="122396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Gametas</a:t>
            </a:r>
          </a:p>
        </p:txBody>
      </p:sp>
      <p:sp>
        <p:nvSpPr>
          <p:cNvPr id="12" name="TextBox 28"/>
          <p:cNvSpPr txBox="1"/>
          <p:nvPr/>
        </p:nvSpPr>
        <p:spPr>
          <a:xfrm>
            <a:off x="6705603" y="3365500"/>
            <a:ext cx="16557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Fecundação</a:t>
            </a:r>
          </a:p>
        </p:txBody>
      </p:sp>
      <p:sp>
        <p:nvSpPr>
          <p:cNvPr id="13" name="Right Arrow 29"/>
          <p:cNvSpPr/>
          <p:nvPr/>
        </p:nvSpPr>
        <p:spPr>
          <a:xfrm rot="2604847">
            <a:off x="5926138" y="2792413"/>
            <a:ext cx="576262" cy="215900"/>
          </a:xfrm>
          <a:prstGeom prst="rightArrow">
            <a:avLst/>
          </a:prstGeom>
          <a:solidFill>
            <a:srgbClr val="009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rebuchet MS" panose="020B0603020202020204" pitchFamily="34" charset="0"/>
            </a:endParaRPr>
          </a:p>
        </p:txBody>
      </p:sp>
      <p:sp>
        <p:nvSpPr>
          <p:cNvPr id="14" name="Right Arrow 30"/>
          <p:cNvSpPr/>
          <p:nvPr/>
        </p:nvSpPr>
        <p:spPr>
          <a:xfrm rot="19390962">
            <a:off x="5913438" y="4044950"/>
            <a:ext cx="576262" cy="215900"/>
          </a:xfrm>
          <a:prstGeom prst="rightArrow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rebuchet MS" panose="020B0603020202020204" pitchFamily="34" charset="0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8945566" y="3176588"/>
            <a:ext cx="922337" cy="71596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600" b="1" dirty="0">
                <a:solidFill>
                  <a:schemeClr val="bg1"/>
                </a:solidFill>
                <a:latin typeface="Trebuchet MS" panose="020B0603020202020204" pitchFamily="34" charset="0"/>
              </a:rPr>
              <a:t>Zigoto</a:t>
            </a:r>
          </a:p>
        </p:txBody>
      </p:sp>
      <p:sp>
        <p:nvSpPr>
          <p:cNvPr id="16" name="Right Arrow 22"/>
          <p:cNvSpPr/>
          <p:nvPr/>
        </p:nvSpPr>
        <p:spPr>
          <a:xfrm>
            <a:off x="8242300" y="3497265"/>
            <a:ext cx="482600" cy="198437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rebuchet MS" panose="020B0603020202020204" pitchFamily="34" charset="0"/>
            </a:endParaRPr>
          </a:p>
        </p:txBody>
      </p:sp>
      <p:sp>
        <p:nvSpPr>
          <p:cNvPr id="17" name="TextBox 19"/>
          <p:cNvSpPr txBox="1">
            <a:spLocks noChangeArrowheads="1"/>
          </p:cNvSpPr>
          <p:nvPr/>
        </p:nvSpPr>
        <p:spPr bwMode="auto">
          <a:xfrm>
            <a:off x="2097091" y="3009900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009456"/>
                </a:solidFill>
                <a:latin typeface="Trebuchet MS" panose="020B0603020202020204" pitchFamily="34" charset="0"/>
              </a:rPr>
              <a:t>(2</a:t>
            </a:r>
            <a:r>
              <a:rPr lang="pt-BR" altLang="pt-BR" b="1" i="1">
                <a:solidFill>
                  <a:srgbClr val="009456"/>
                </a:solidFill>
                <a:latin typeface="Trebuchet MS" panose="020B0603020202020204" pitchFamily="34" charset="0"/>
              </a:rPr>
              <a:t>n</a:t>
            </a:r>
            <a:r>
              <a:rPr lang="pt-BR" altLang="pt-BR" b="1">
                <a:solidFill>
                  <a:srgbClr val="009456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18" name="TextBox 19"/>
          <p:cNvSpPr txBox="1">
            <a:spLocks noChangeArrowheads="1"/>
          </p:cNvSpPr>
          <p:nvPr/>
        </p:nvSpPr>
        <p:spPr bwMode="auto">
          <a:xfrm>
            <a:off x="2097091" y="4494216"/>
            <a:ext cx="158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F58220"/>
                </a:solidFill>
                <a:latin typeface="Trebuchet MS" panose="020B0603020202020204" pitchFamily="34" charset="0"/>
              </a:rPr>
              <a:t>(2</a:t>
            </a:r>
            <a:r>
              <a:rPr lang="pt-BR" altLang="pt-BR" b="1" i="1">
                <a:solidFill>
                  <a:srgbClr val="F58220"/>
                </a:solidFill>
                <a:latin typeface="Trebuchet MS" panose="020B0603020202020204" pitchFamily="34" charset="0"/>
              </a:rPr>
              <a:t>n</a:t>
            </a:r>
            <a:r>
              <a:rPr lang="pt-BR" altLang="pt-BR" b="1">
                <a:solidFill>
                  <a:srgbClr val="F58220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19" name="TextBox 19"/>
          <p:cNvSpPr txBox="1">
            <a:spLocks noChangeArrowheads="1"/>
          </p:cNvSpPr>
          <p:nvPr/>
        </p:nvSpPr>
        <p:spPr bwMode="auto">
          <a:xfrm>
            <a:off x="4257678" y="3009900"/>
            <a:ext cx="15843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</a:t>
            </a:r>
            <a:r>
              <a:rPr lang="pt-BR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257678" y="4494216"/>
            <a:ext cx="15843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</a:t>
            </a:r>
            <a:r>
              <a:rPr lang="pt-BR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21" name="TextBox 19"/>
          <p:cNvSpPr txBox="1">
            <a:spLocks noChangeArrowheads="1"/>
          </p:cNvSpPr>
          <p:nvPr/>
        </p:nvSpPr>
        <p:spPr bwMode="auto">
          <a:xfrm>
            <a:off x="8613778" y="3925891"/>
            <a:ext cx="15843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(2</a:t>
            </a:r>
            <a:r>
              <a:rPr lang="pt-BR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D0C172C-7157-4153-B2F7-546B2D664B22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>
                <a:solidFill>
                  <a:schemeClr val="bg1"/>
                </a:solidFill>
              </a:rPr>
              <a:t>Fundamentos da reprodução animal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088E8EF-36F0-4213-82C4-6D37E5F8844B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1B41E6A-5B56-467D-A442-611109984D86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91704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659467" y="1238250"/>
            <a:ext cx="8873066" cy="4837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b="1" dirty="0"/>
              <a:t>Tipos de Fecundação:</a:t>
            </a:r>
          </a:p>
          <a:p>
            <a:r>
              <a:rPr lang="pt-BR" sz="1800" dirty="0"/>
              <a:t>Fecundação cruzada – em animais dioicos;</a:t>
            </a:r>
          </a:p>
          <a:p>
            <a:r>
              <a:rPr lang="pt-BR" sz="1800" dirty="0"/>
              <a:t>Autofecundação – em animais monoicos;</a:t>
            </a:r>
          </a:p>
          <a:p>
            <a:r>
              <a:rPr lang="pt-BR" sz="1800" dirty="0"/>
              <a:t>Fecundação Interna – ocorre no interior do sistema genital feminino;</a:t>
            </a:r>
          </a:p>
          <a:p>
            <a:r>
              <a:rPr lang="pt-BR" sz="1800" dirty="0"/>
              <a:t>Fecundação Externa – ocorre em meio líquido, fora do organismo feminino.</a:t>
            </a:r>
          </a:p>
          <a:p>
            <a:endParaRPr lang="pt-BR" sz="1800" dirty="0"/>
          </a:p>
          <a:p>
            <a:pPr marL="0" indent="0">
              <a:buNone/>
            </a:pPr>
            <a:r>
              <a:rPr lang="pt-BR" sz="1800" b="1" dirty="0"/>
              <a:t>Tipos de desenvolvimento:</a:t>
            </a:r>
          </a:p>
          <a:p>
            <a:r>
              <a:rPr lang="pt-BR" sz="1800" dirty="0"/>
              <a:t>Desenvolvimento direto: o animal nasce em uma forma pequena de sua versão adulta e não há grandes mudanças da fase jovem à maturidade. Répteis, aves e mamíferos;</a:t>
            </a:r>
          </a:p>
          <a:p>
            <a:r>
              <a:rPr lang="pt-BR" sz="1800" dirty="0"/>
              <a:t>Desenvolvimento indireto: o animal nasce bem diferente de sua forma adulta. Nesse caso, o embrião sai do ovo em forma de larva e passa por transformação, ou metamorfose, para atingir a fase adulta. Anfíbios.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C3051231-D53F-426B-A848-C79BD894CA3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Fundamentos da reprodução animal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15E4564-E2B3-45D4-A518-8DF0BD36B400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27F0AD1-6C7C-4451-83DC-44829A20FB77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36205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80624" y="1578792"/>
            <a:ext cx="11830755" cy="4496572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F9A971"/>
                </a:solidFill>
              </a:rPr>
              <a:t>Partenogênese:</a:t>
            </a:r>
            <a:r>
              <a:rPr lang="pt-BR" b="1" dirty="0"/>
              <a:t> </a:t>
            </a:r>
            <a:r>
              <a:rPr lang="pt-BR" dirty="0"/>
              <a:t>é o desenvolvimento de óvulos não fecundados. Exemplo: abelha europeia – óvulos não fecundados originam machos (zangões, haploides); óvulos fecundados originam fêmeas (rainhas ou operárias, diploides).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F9A971"/>
                </a:solidFill>
              </a:rPr>
              <a:t>Poliembrionia:</a:t>
            </a:r>
            <a:r>
              <a:rPr lang="pt-BR" dirty="0">
                <a:solidFill>
                  <a:srgbClr val="F9A971"/>
                </a:solidFill>
              </a:rPr>
              <a:t> </a:t>
            </a:r>
            <a:r>
              <a:rPr lang="pt-BR" dirty="0"/>
              <a:t>é o caso em que uma célula-ovo, ou zigoto, se divide, originando diversos embriões. Exemplos: tatus e na espécie humana (surgimento dos gêmeos idênticos, monozigóticos).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51A8E2E6-5D92-47E1-B735-828B0DDB76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Fundamentos da reprodução animal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4294967295"/>
          </p:nvPr>
        </p:nvSpPr>
        <p:spPr>
          <a:xfrm>
            <a:off x="180624" y="1122373"/>
            <a:ext cx="11830755" cy="43204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pt-BR" dirty="0"/>
              <a:t>Outras estratégias reprodutivas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C0AA3C-145D-45A4-9D24-8A0669897A6D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A911259-07EB-4C42-8198-10B384907F25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404567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80624" y="1578792"/>
            <a:ext cx="11830755" cy="449657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1800" b="1" dirty="0" err="1">
                <a:solidFill>
                  <a:srgbClr val="F9A971"/>
                </a:solidFill>
              </a:rPr>
              <a:t>Pedogênese</a:t>
            </a:r>
            <a:r>
              <a:rPr lang="pt-BR" sz="1800" b="1" dirty="0">
                <a:solidFill>
                  <a:srgbClr val="F9A971"/>
                </a:solidFill>
              </a:rPr>
              <a:t>:</a:t>
            </a:r>
            <a:r>
              <a:rPr lang="pt-BR" sz="1800" dirty="0">
                <a:solidFill>
                  <a:srgbClr val="F9A971"/>
                </a:solidFill>
              </a:rPr>
              <a:t> </a:t>
            </a:r>
            <a:r>
              <a:rPr lang="pt-BR" sz="1800" dirty="0"/>
              <a:t>é a ocorrência de reprodução assexuada em organismos que ainda se encontram no estágio de larva. Exemplo típico: esquistossomo (</a:t>
            </a:r>
            <a:r>
              <a:rPr lang="pt-BR" sz="1800" i="1" dirty="0"/>
              <a:t>Schistosoma mansoni</a:t>
            </a:r>
            <a:r>
              <a:rPr lang="pt-BR" sz="1800" dirty="0"/>
              <a:t>), verme platelminto causador da esquistossomose. Evolutivamente, a </a:t>
            </a:r>
            <a:r>
              <a:rPr lang="pt-BR" sz="1800" dirty="0" err="1"/>
              <a:t>pedogênese</a:t>
            </a:r>
            <a:r>
              <a:rPr lang="pt-BR" sz="1800" dirty="0"/>
              <a:t> consiste em uma útil adaptação à vida parasitária, uma vez que encurta o ciclo reprodutivo e aumenta o número de descendentes gerados.</a:t>
            </a:r>
          </a:p>
          <a:p>
            <a:pPr>
              <a:lnSpc>
                <a:spcPct val="150000"/>
              </a:lnSpc>
            </a:pPr>
            <a:endParaRPr lang="pt-BR" sz="1800" dirty="0"/>
          </a:p>
          <a:p>
            <a:pPr>
              <a:lnSpc>
                <a:spcPct val="150000"/>
              </a:lnSpc>
            </a:pPr>
            <a:r>
              <a:rPr lang="pt-BR" sz="1800" b="1" dirty="0" err="1">
                <a:solidFill>
                  <a:srgbClr val="F9A971"/>
                </a:solidFill>
              </a:rPr>
              <a:t>Neotenia</a:t>
            </a:r>
            <a:r>
              <a:rPr lang="pt-BR" sz="1800" b="1" dirty="0">
                <a:solidFill>
                  <a:srgbClr val="F9A971"/>
                </a:solidFill>
              </a:rPr>
              <a:t>:</a:t>
            </a:r>
            <a:r>
              <a:rPr lang="pt-BR" sz="1800" dirty="0">
                <a:solidFill>
                  <a:srgbClr val="F9A971"/>
                </a:solidFill>
              </a:rPr>
              <a:t> </a:t>
            </a:r>
            <a:r>
              <a:rPr lang="pt-BR" sz="1800" dirty="0"/>
              <a:t>ocorrência de maturidade genital e reprodução sexual em indivíduos que ainda não perderam completamente características do estágio de larva. Exemplo mais conhecido: salamandras, anfíbios que, preservando estruturas larvais, como a presença de brânquias e de cauda, reproduzem-se </a:t>
            </a:r>
            <a:r>
              <a:rPr lang="pt-BR" sz="1800" dirty="0" err="1"/>
              <a:t>sexuadamente</a:t>
            </a:r>
            <a:r>
              <a:rPr lang="pt-BR" sz="1800" dirty="0"/>
              <a:t>.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DF4C52AD-B380-4BB3-8BF9-6B9FF3D03CC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Fundamentos da reprodução animal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4294967295"/>
          </p:nvPr>
        </p:nvSpPr>
        <p:spPr>
          <a:xfrm>
            <a:off x="180624" y="1122373"/>
            <a:ext cx="11830755" cy="43204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pt-BR" dirty="0"/>
              <a:t>Outras estratégias reprodutivas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F9A81A-897C-4A66-8014-CCD8952A381A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AF47EBA-A173-4F44-9D7D-58EA3ADA491C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56247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Espaço Reservado para Conteúdo 3"/>
          <p:cNvSpPr txBox="1">
            <a:spLocks/>
          </p:cNvSpPr>
          <p:nvPr/>
        </p:nvSpPr>
        <p:spPr bwMode="auto">
          <a:xfrm>
            <a:off x="1658941" y="1122363"/>
            <a:ext cx="8874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endParaRPr lang="pt-BR" altLang="pt-BR" sz="2400" b="1" dirty="0">
              <a:solidFill>
                <a:srgbClr val="595959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151066" y="1854200"/>
            <a:ext cx="4175125" cy="922338"/>
          </a:xfrm>
          <a:prstGeom prst="rect">
            <a:avLst/>
          </a:prstGeom>
          <a:solidFill>
            <a:srgbClr val="FAA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000">
              <a:latin typeface="Trebuchet MS" panose="020B06030202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151063" y="3854450"/>
            <a:ext cx="2303462" cy="1663700"/>
          </a:xfrm>
          <a:prstGeom prst="rect">
            <a:avLst/>
          </a:prstGeom>
          <a:solidFill>
            <a:srgbClr val="FAA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b="1" dirty="0">
                <a:solidFill>
                  <a:schemeClr val="bg1"/>
                </a:solidFill>
                <a:latin typeface="Trebuchet MS" panose="020B0603020202020204" pitchFamily="34" charset="0"/>
              </a:rPr>
              <a:t>Carga genética do(s) </a:t>
            </a:r>
          </a:p>
          <a:p>
            <a:pPr algn="ctr">
              <a:defRPr/>
            </a:pPr>
            <a:r>
              <a:rPr lang="pt-BR" b="1" dirty="0">
                <a:solidFill>
                  <a:schemeClr val="bg1"/>
                </a:solidFill>
                <a:latin typeface="Trebuchet MS" panose="020B0603020202020204" pitchFamily="34" charset="0"/>
              </a:rPr>
              <a:t>indivíduo(s)  </a:t>
            </a:r>
          </a:p>
        </p:txBody>
      </p:sp>
      <p:sp>
        <p:nvSpPr>
          <p:cNvPr id="8" name="TextBox 17"/>
          <p:cNvSpPr txBox="1">
            <a:spLocks noChangeArrowheads="1"/>
          </p:cNvSpPr>
          <p:nvPr/>
        </p:nvSpPr>
        <p:spPr bwMode="auto">
          <a:xfrm>
            <a:off x="2151066" y="2133600"/>
            <a:ext cx="4175125" cy="369332"/>
          </a:xfrm>
          <a:prstGeom prst="rect">
            <a:avLst/>
          </a:prstGeom>
          <a:solidFill>
            <a:srgbClr val="FAA97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b="1" dirty="0">
                <a:solidFill>
                  <a:schemeClr val="bg1"/>
                </a:solidFill>
                <a:latin typeface="Trebuchet MS" panose="020B0603020202020204" pitchFamily="34" charset="0"/>
              </a:rPr>
              <a:t>Número de indivíduos identificáveis</a:t>
            </a:r>
          </a:p>
        </p:txBody>
      </p:sp>
      <p:sp>
        <p:nvSpPr>
          <p:cNvPr id="9" name="TextBox 30"/>
          <p:cNvSpPr txBox="1">
            <a:spLocks noChangeArrowheads="1"/>
          </p:cNvSpPr>
          <p:nvPr/>
        </p:nvSpPr>
        <p:spPr bwMode="auto">
          <a:xfrm>
            <a:off x="5219703" y="3925891"/>
            <a:ext cx="1090613" cy="584775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Haploide</a:t>
            </a:r>
          </a:p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(</a:t>
            </a:r>
            <a:r>
              <a:rPr lang="pt-BR" altLang="pt-BR" sz="1600" b="1" i="1">
                <a:solidFill>
                  <a:schemeClr val="bg1"/>
                </a:solidFill>
                <a:latin typeface="Trebuchet MS" panose="020B0603020202020204" pitchFamily="34" charset="0"/>
              </a:rPr>
              <a:t>n</a:t>
            </a:r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10" name="TextBox 33"/>
          <p:cNvSpPr txBox="1">
            <a:spLocks noChangeArrowheads="1"/>
          </p:cNvSpPr>
          <p:nvPr/>
        </p:nvSpPr>
        <p:spPr bwMode="auto">
          <a:xfrm>
            <a:off x="5219703" y="4870453"/>
            <a:ext cx="1090613" cy="584775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Diploide</a:t>
            </a:r>
          </a:p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(2</a:t>
            </a:r>
            <a:r>
              <a:rPr lang="pt-BR" altLang="pt-BR" sz="1600" b="1" i="1">
                <a:solidFill>
                  <a:schemeClr val="bg1"/>
                </a:solidFill>
                <a:latin typeface="Trebuchet MS" panose="020B0603020202020204" pitchFamily="34" charset="0"/>
              </a:rPr>
              <a:t>n</a:t>
            </a:r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11" name="TextBox 30"/>
          <p:cNvSpPr txBox="1"/>
          <p:nvPr/>
        </p:nvSpPr>
        <p:spPr>
          <a:xfrm>
            <a:off x="7113588" y="1849441"/>
            <a:ext cx="438150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12" name="TextBox 33"/>
          <p:cNvSpPr txBox="1"/>
          <p:nvPr/>
        </p:nvSpPr>
        <p:spPr>
          <a:xfrm>
            <a:off x="7113588" y="2454278"/>
            <a:ext cx="43815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13" name="TextBox 30"/>
          <p:cNvSpPr txBox="1">
            <a:spLocks noChangeArrowheads="1"/>
          </p:cNvSpPr>
          <p:nvPr/>
        </p:nvSpPr>
        <p:spPr bwMode="auto">
          <a:xfrm>
            <a:off x="8408988" y="1849441"/>
            <a:ext cx="1517650" cy="338137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Haplobionte</a:t>
            </a:r>
          </a:p>
        </p:txBody>
      </p:sp>
      <p:sp>
        <p:nvSpPr>
          <p:cNvPr id="14" name="TextBox 33"/>
          <p:cNvSpPr txBox="1">
            <a:spLocks noChangeArrowheads="1"/>
          </p:cNvSpPr>
          <p:nvPr/>
        </p:nvSpPr>
        <p:spPr bwMode="auto">
          <a:xfrm>
            <a:off x="8408988" y="2454278"/>
            <a:ext cx="1517650" cy="339725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Diplobionte</a:t>
            </a:r>
          </a:p>
        </p:txBody>
      </p:sp>
      <p:cxnSp>
        <p:nvCxnSpPr>
          <p:cNvPr id="15" name="Conector de seta reta 14"/>
          <p:cNvCxnSpPr>
            <a:endCxn id="11" idx="1"/>
          </p:cNvCxnSpPr>
          <p:nvPr/>
        </p:nvCxnSpPr>
        <p:spPr>
          <a:xfrm>
            <a:off x="6326188" y="2019300"/>
            <a:ext cx="787400" cy="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endCxn id="12" idx="1"/>
          </p:cNvCxnSpPr>
          <p:nvPr/>
        </p:nvCxnSpPr>
        <p:spPr>
          <a:xfrm>
            <a:off x="6326188" y="2624138"/>
            <a:ext cx="787400" cy="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7551741" y="2019300"/>
            <a:ext cx="790575" cy="0"/>
          </a:xfrm>
          <a:prstGeom prst="straightConnector1">
            <a:avLst/>
          </a:prstGeom>
          <a:ln>
            <a:solidFill>
              <a:srgbClr val="00945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>
            <a:off x="7551741" y="2624138"/>
            <a:ext cx="790575" cy="0"/>
          </a:xfrm>
          <a:prstGeom prst="straightConnector1">
            <a:avLst/>
          </a:prstGeom>
          <a:ln>
            <a:solidFill>
              <a:srgbClr val="00945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4454528" y="4094163"/>
            <a:ext cx="765175" cy="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4454528" y="5040313"/>
            <a:ext cx="765175" cy="0"/>
          </a:xfrm>
          <a:prstGeom prst="straightConnector1">
            <a:avLst/>
          </a:prstGeom>
          <a:ln>
            <a:solidFill>
              <a:srgbClr val="F582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3"/>
            <a:endCxn id="23" idx="1"/>
          </p:cNvCxnSpPr>
          <p:nvPr/>
        </p:nvCxnSpPr>
        <p:spPr>
          <a:xfrm>
            <a:off x="6310316" y="4218276"/>
            <a:ext cx="814387" cy="506"/>
          </a:xfrm>
          <a:prstGeom prst="straightConnector1">
            <a:avLst/>
          </a:prstGeom>
          <a:ln>
            <a:solidFill>
              <a:srgbClr val="00945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0" idx="3"/>
          </p:cNvCxnSpPr>
          <p:nvPr/>
        </p:nvCxnSpPr>
        <p:spPr>
          <a:xfrm flipV="1">
            <a:off x="6310313" y="5153028"/>
            <a:ext cx="747712" cy="9813"/>
          </a:xfrm>
          <a:prstGeom prst="straightConnector1">
            <a:avLst/>
          </a:prstGeom>
          <a:ln>
            <a:solidFill>
              <a:srgbClr val="00945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0"/>
          <p:cNvSpPr txBox="1">
            <a:spLocks noChangeArrowheads="1"/>
          </p:cNvSpPr>
          <p:nvPr/>
        </p:nvSpPr>
        <p:spPr bwMode="auto">
          <a:xfrm>
            <a:off x="7124700" y="4049716"/>
            <a:ext cx="1517650" cy="338137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Haplonte</a:t>
            </a:r>
          </a:p>
        </p:txBody>
      </p:sp>
      <p:sp>
        <p:nvSpPr>
          <p:cNvPr id="24" name="TextBox 33"/>
          <p:cNvSpPr txBox="1">
            <a:spLocks noChangeArrowheads="1"/>
          </p:cNvSpPr>
          <p:nvPr/>
        </p:nvSpPr>
        <p:spPr bwMode="auto">
          <a:xfrm>
            <a:off x="7086600" y="5010153"/>
            <a:ext cx="1517650" cy="339725"/>
          </a:xfrm>
          <a:prstGeom prst="rect">
            <a:avLst/>
          </a:prstGeom>
          <a:solidFill>
            <a:srgbClr val="0094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sz="1600" b="1">
                <a:solidFill>
                  <a:schemeClr val="bg1"/>
                </a:solidFill>
                <a:latin typeface="Trebuchet MS" panose="020B0603020202020204" pitchFamily="34" charset="0"/>
              </a:rPr>
              <a:t>Diplonte</a:t>
            </a:r>
          </a:p>
        </p:txBody>
      </p:sp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71C044EB-FC7F-4940-884B-2FFFA00B1A47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>
                <a:solidFill>
                  <a:schemeClr val="bg1"/>
                </a:solidFill>
              </a:rPr>
              <a:t>Fundamentos da reprodução animal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C2C8035-0698-4528-9D45-E19054B98B1B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6F1F213-3307-421C-9272-CA25D2AB7BA7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49968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/>
          <p:cNvSpPr txBox="1"/>
          <p:nvPr/>
        </p:nvSpPr>
        <p:spPr>
          <a:xfrm>
            <a:off x="1779588" y="1236666"/>
            <a:ext cx="8583612" cy="92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009456"/>
                </a:solidFill>
                <a:latin typeface="Trebuchet MS" panose="020B0603020202020204" pitchFamily="34" charset="0"/>
              </a:rPr>
              <a:t>Haplobionte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(do grego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haplóos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não composto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”,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bíos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</a:t>
            </a:r>
          </a:p>
          <a:p>
            <a:pPr>
              <a:defRPr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“vida”, e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óntos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ser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”) – apresenta apenas um indivíduo identificável (ou haploide ou diploide).</a:t>
            </a:r>
          </a:p>
        </p:txBody>
      </p:sp>
      <p:sp>
        <p:nvSpPr>
          <p:cNvPr id="7" name="TextBox 20"/>
          <p:cNvSpPr txBox="1"/>
          <p:nvPr/>
        </p:nvSpPr>
        <p:spPr>
          <a:xfrm>
            <a:off x="1779588" y="3300416"/>
            <a:ext cx="8583612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009456"/>
                </a:solidFill>
                <a:latin typeface="Trebuchet MS" panose="020B0603020202020204" pitchFamily="34" charset="0"/>
              </a:rPr>
              <a:t>Haplobionte </a:t>
            </a:r>
            <a:r>
              <a:rPr lang="pt-BR" b="1" dirty="0" err="1">
                <a:solidFill>
                  <a:srgbClr val="009456"/>
                </a:solidFill>
                <a:latin typeface="Trebuchet MS" panose="020B0603020202020204" pitchFamily="34" charset="0"/>
              </a:rPr>
              <a:t>diplonte</a:t>
            </a:r>
            <a:r>
              <a:rPr lang="pt-BR" b="1" dirty="0">
                <a:solidFill>
                  <a:srgbClr val="009456"/>
                </a:solidFill>
                <a:latin typeface="Trebuchet MS" panose="020B0603020202020204" pitchFamily="34" charset="0"/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(do grego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diplóos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duplo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”,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óntos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ser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”)  – apresenta apenas um indivíduo (diploide) identificável.</a:t>
            </a:r>
          </a:p>
          <a:p>
            <a:pPr>
              <a:defRPr/>
            </a:pP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Exs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.: Animais e algas.</a:t>
            </a:r>
          </a:p>
        </p:txBody>
      </p:sp>
      <p:sp>
        <p:nvSpPr>
          <p:cNvPr id="8" name="TextBox 20"/>
          <p:cNvSpPr txBox="1"/>
          <p:nvPr/>
        </p:nvSpPr>
        <p:spPr>
          <a:xfrm>
            <a:off x="1779588" y="2216153"/>
            <a:ext cx="8583612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009456"/>
                </a:solidFill>
                <a:latin typeface="Trebuchet MS" panose="020B0603020202020204" pitchFamily="34" charset="0"/>
              </a:rPr>
              <a:t>Haplobionte </a:t>
            </a:r>
            <a:r>
              <a:rPr lang="pt-BR" b="1" dirty="0" err="1">
                <a:solidFill>
                  <a:srgbClr val="009456"/>
                </a:solidFill>
                <a:latin typeface="Trebuchet MS" panose="020B0603020202020204" pitchFamily="34" charset="0"/>
              </a:rPr>
              <a:t>haplonte</a:t>
            </a:r>
            <a:r>
              <a:rPr lang="pt-BR" b="1" dirty="0">
                <a:solidFill>
                  <a:srgbClr val="009456"/>
                </a:solidFill>
                <a:latin typeface="Trebuchet MS" panose="020B0603020202020204" pitchFamily="34" charset="0"/>
              </a:rPr>
              <a:t>: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(do grego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haplóos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não composto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”,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óntos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ser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”)  – apresenta apenas um indivíduo (haploide) identificável.</a:t>
            </a:r>
          </a:p>
          <a:p>
            <a:pPr>
              <a:defRPr/>
            </a:pP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Exs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.: Fungos e algas.</a:t>
            </a:r>
          </a:p>
        </p:txBody>
      </p:sp>
      <p:sp>
        <p:nvSpPr>
          <p:cNvPr id="9" name="TextBox 19"/>
          <p:cNvSpPr txBox="1"/>
          <p:nvPr/>
        </p:nvSpPr>
        <p:spPr>
          <a:xfrm>
            <a:off x="1749428" y="4384675"/>
            <a:ext cx="80887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 err="1">
                <a:solidFill>
                  <a:srgbClr val="009456"/>
                </a:solidFill>
                <a:latin typeface="Trebuchet MS" panose="020B0603020202020204" pitchFamily="34" charset="0"/>
              </a:rPr>
              <a:t>Diplobionte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(do grego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diplóos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duplo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”,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bíos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“vida”, e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óntos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“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ser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”) – apresenta dois indivíduos (um haploide e outro diploide) identificáveis.</a:t>
            </a:r>
          </a:p>
          <a:p>
            <a:pPr>
              <a:defRPr/>
            </a:pP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Exs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.: Plantas, algas e cnidários.</a:t>
            </a: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49428" y="5572125"/>
            <a:ext cx="8613775" cy="369888"/>
          </a:xfrm>
          <a:prstGeom prst="rect">
            <a:avLst/>
          </a:prstGeom>
          <a:solidFill>
            <a:srgbClr val="FAA97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altLang="pt-BR" b="1" dirty="0">
                <a:solidFill>
                  <a:schemeClr val="bg1"/>
                </a:solidFill>
                <a:latin typeface="Trebuchet MS" panose="020B0603020202020204" pitchFamily="34" charset="0"/>
              </a:rPr>
              <a:t>Obs.: Note que as algas se apresentam em todos os ciclos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F7B0E5DB-C554-4F43-B57A-C9DFBD4E778A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>
                <a:solidFill>
                  <a:schemeClr val="bg1"/>
                </a:solidFill>
              </a:rPr>
              <a:t>Fundamentos da reprodução animal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F4B1BB-88D9-4AED-B1CC-8C8F96B0E999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6253DBA-FABB-4AFA-87C8-F16F5EDBF16A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441004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3091465" y="1136832"/>
            <a:ext cx="4711416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dirty="0"/>
              <a:t>Fundamentos da reprodução animal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5" t="24667" r="21750" b="14222"/>
          <a:stretch/>
        </p:blipFill>
        <p:spPr bwMode="auto">
          <a:xfrm>
            <a:off x="1447800" y="1722120"/>
            <a:ext cx="8351520" cy="4800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B8F61685-7AC8-47D4-BF1E-1F3C679918F4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Ciclo Haplobionte </a:t>
            </a:r>
            <a:r>
              <a:rPr lang="pt-BR" sz="3600" dirty="0" err="1">
                <a:solidFill>
                  <a:schemeClr val="bg1"/>
                </a:solidFill>
              </a:rPr>
              <a:t>haplonte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29B5BA-2043-4D8D-BC06-66734C9AF2CA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554BB91-52B2-4BF2-8B5B-2251FECA19B2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615814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3579145" y="1171828"/>
            <a:ext cx="4711416" cy="43204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dirty="0"/>
              <a:t>Fundamentos da reprodução animal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5" t="19556" r="21000" b="14889"/>
          <a:stretch/>
        </p:blipFill>
        <p:spPr bwMode="auto">
          <a:xfrm>
            <a:off x="2011680" y="1603876"/>
            <a:ext cx="7879080" cy="4735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985E17CD-D1A2-4E60-8021-5BB9814A296D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Ciclo Haplobionte </a:t>
            </a:r>
            <a:r>
              <a:rPr lang="pt-BR" sz="3600" dirty="0" err="1">
                <a:solidFill>
                  <a:schemeClr val="bg1"/>
                </a:solidFill>
              </a:rPr>
              <a:t>diplonte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87FEE5-3C2F-4237-AB72-547B282D7AE5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93FD0C5-53D1-4590-AA3A-208448541F60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354350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0" t="28222" r="35125" b="16223"/>
          <a:stretch/>
        </p:blipFill>
        <p:spPr bwMode="auto">
          <a:xfrm>
            <a:off x="1813560" y="1630682"/>
            <a:ext cx="7178040" cy="4430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DAAFFF50-782B-44D1-A43D-63AC28D85D22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Ciclo </a:t>
            </a:r>
            <a:r>
              <a:rPr lang="pt-BR" sz="3600" dirty="0" err="1">
                <a:solidFill>
                  <a:schemeClr val="bg1"/>
                </a:solidFill>
              </a:rPr>
              <a:t>diplobionte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2FB226A-C6AC-4B69-AD6A-44F7E1FDED95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8202EE7-92A6-46FD-9BB7-AACB7C02FFD7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3296140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DAAFFF50-782B-44D1-A43D-63AC28D85D22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Espermatogênese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DB80F63-98D2-452C-8778-0DAFC3F93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10" t="18776" r="9297" b="8441"/>
          <a:stretch/>
        </p:blipFill>
        <p:spPr>
          <a:xfrm>
            <a:off x="1171575" y="1400175"/>
            <a:ext cx="9886950" cy="472916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12CDF60-65EF-4DD4-906F-BFB943E6B963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DEAC085-2E3E-4563-9AC6-F64E1F502EF6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7443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DAAFFF50-782B-44D1-A43D-63AC28D85D22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Espermatogênese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48B8AF-54BE-43A5-9EAA-5313969675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10" t="18996" r="9414" b="8441"/>
          <a:stretch/>
        </p:blipFill>
        <p:spPr>
          <a:xfrm>
            <a:off x="742952" y="1528765"/>
            <a:ext cx="10758488" cy="4972051"/>
          </a:xfrm>
          <a:prstGeom prst="rect">
            <a:avLst/>
          </a:prstGeom>
        </p:spPr>
      </p:pic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DE132550-426A-4828-A9E4-EEE750437C2A}"/>
              </a:ext>
            </a:extLst>
          </p:cNvPr>
          <p:cNvSpPr txBox="1">
            <a:spLocks/>
          </p:cNvSpPr>
          <p:nvPr/>
        </p:nvSpPr>
        <p:spPr>
          <a:xfrm>
            <a:off x="4478895" y="951710"/>
            <a:ext cx="3007777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dirty="0" err="1"/>
              <a:t>Espermiogênese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AE8B54F-788C-4F83-9CED-95472EAB8F3E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7069380-6F7F-4457-9851-081933B9E097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947741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DAAFFF50-782B-44D1-A43D-63AC28D85D22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 err="1">
                <a:solidFill>
                  <a:schemeClr val="bg1"/>
                </a:solidFill>
              </a:rPr>
              <a:t>Ovogênese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4D5286A-776C-4CA4-B317-B8E28E0300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67" t="18776" r="10586" b="7122"/>
          <a:stretch/>
        </p:blipFill>
        <p:spPr>
          <a:xfrm>
            <a:off x="714375" y="1400174"/>
            <a:ext cx="10658475" cy="501491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BCBCD42-E3AB-4501-883F-1E654B50489A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0CC3B18-D55A-4A2D-803C-59B4B4724CC1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834460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659470" y="1238250"/>
            <a:ext cx="3598333" cy="4837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pt-BR" sz="1800" dirty="0"/>
              <a:t>O espermatozoide penetra no ovócito secundário com o auxílio das enzimas </a:t>
            </a:r>
            <a:r>
              <a:rPr lang="pt-BR" sz="1800" dirty="0" err="1"/>
              <a:t>acrossômicas</a:t>
            </a:r>
            <a:r>
              <a:rPr lang="pt-BR" sz="1800" dirty="0"/>
              <a:t>. </a:t>
            </a:r>
          </a:p>
          <a:p>
            <a:pPr marL="0" indent="0" algn="ctr">
              <a:lnSpc>
                <a:spcPts val="2600"/>
              </a:lnSpc>
              <a:buNone/>
            </a:pPr>
            <a:endParaRPr lang="pt-BR" sz="18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pt-BR" sz="1800" dirty="0"/>
              <a:t>Nesse momento, forma-se uma barreira que impede a entrada de outros espermatozoides.</a:t>
            </a:r>
          </a:p>
        </p:txBody>
      </p:sp>
      <p:sp>
        <p:nvSpPr>
          <p:cNvPr id="11269" name="Espaço Reservado para Conteúdo 3"/>
          <p:cNvSpPr txBox="1">
            <a:spLocks/>
          </p:cNvSpPr>
          <p:nvPr/>
        </p:nvSpPr>
        <p:spPr bwMode="auto">
          <a:xfrm>
            <a:off x="1658941" y="1122363"/>
            <a:ext cx="8874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endParaRPr lang="pt-BR" altLang="pt-BR" sz="2400" b="1" dirty="0">
              <a:solidFill>
                <a:srgbClr val="595959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49" t="22662" r="10376" b="10445"/>
          <a:stretch/>
        </p:blipFill>
        <p:spPr bwMode="auto">
          <a:xfrm>
            <a:off x="5562603" y="1238250"/>
            <a:ext cx="5176203" cy="5281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978360D3-F90C-4EA5-AB09-9D14C96927DA}"/>
              </a:ext>
            </a:extLst>
          </p:cNvPr>
          <p:cNvSpPr txBox="1">
            <a:spLocks/>
          </p:cNvSpPr>
          <p:nvPr/>
        </p:nvSpPr>
        <p:spPr>
          <a:xfrm>
            <a:off x="1021142" y="335348"/>
            <a:ext cx="11830755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FAA971"/>
                </a:solidFill>
                <a:latin typeface="Trebuchet MS" panose="020B0603020202020204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sz="3600" dirty="0">
                <a:solidFill>
                  <a:schemeClr val="bg1"/>
                </a:solidFill>
              </a:rPr>
              <a:t>Fecundação humana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996DEE-C40C-415B-B88C-0E829473CA02}"/>
              </a:ext>
            </a:extLst>
          </p:cNvPr>
          <p:cNvSpPr/>
          <p:nvPr/>
        </p:nvSpPr>
        <p:spPr>
          <a:xfrm>
            <a:off x="0" y="4"/>
            <a:ext cx="12192000" cy="1007834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2C21413-B351-4EF8-AA68-BB5A3AFF3811}"/>
              </a:ext>
            </a:extLst>
          </p:cNvPr>
          <p:cNvSpPr txBox="1">
            <a:spLocks/>
          </p:cNvSpPr>
          <p:nvPr/>
        </p:nvSpPr>
        <p:spPr>
          <a:xfrm>
            <a:off x="2152650" y="20572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>
                <a:solidFill>
                  <a:schemeClr val="bg1"/>
                </a:solidFill>
              </a:rPr>
              <a:t>Reprodução</a:t>
            </a:r>
          </a:p>
        </p:txBody>
      </p:sp>
    </p:spTree>
    <p:extLst>
      <p:ext uri="{BB962C8B-B14F-4D97-AF65-F5344CB8AC3E}">
        <p14:creationId xmlns:p14="http://schemas.microsoft.com/office/powerpoint/2010/main" val="1089250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860</Words>
  <Application>Microsoft Office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Trebuchet MS</vt:lpstr>
      <vt:lpstr>Tema do Office</vt:lpstr>
      <vt:lpstr>Fundamentos da Biologia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12</cp:revision>
  <dcterms:created xsi:type="dcterms:W3CDTF">2021-05-09T19:31:11Z</dcterms:created>
  <dcterms:modified xsi:type="dcterms:W3CDTF">2021-05-15T02:00:40Z</dcterms:modified>
</cp:coreProperties>
</file>