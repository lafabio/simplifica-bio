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5"/>
  </p:notesMasterIdLst>
  <p:sldIdLst>
    <p:sldId id="316" r:id="rId2"/>
    <p:sldId id="317" r:id="rId3"/>
    <p:sldId id="259" r:id="rId4"/>
    <p:sldId id="260" r:id="rId5"/>
    <p:sldId id="261" r:id="rId6"/>
    <p:sldId id="262" r:id="rId7"/>
    <p:sldId id="264" r:id="rId8"/>
    <p:sldId id="263" r:id="rId9"/>
    <p:sldId id="265" r:id="rId10"/>
    <p:sldId id="266" r:id="rId11"/>
    <p:sldId id="267" r:id="rId12"/>
    <p:sldId id="268" r:id="rId13"/>
    <p:sldId id="269" r:id="rId14"/>
    <p:sldId id="297" r:id="rId15"/>
    <p:sldId id="270" r:id="rId16"/>
    <p:sldId id="318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B606"/>
    <a:srgbClr val="02A606"/>
    <a:srgbClr val="02D8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1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F58D1-667F-4B47-894F-F5843460E4F8}" type="datetimeFigureOut">
              <a:rPr lang="pt-BR" smtClean="0"/>
              <a:t>18/05/2021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DB9BDF-4EC6-4AA0-9559-E66382EE67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786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126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2B4DF23-7C7C-4231-816F-E435E9ABC902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229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A135D5F-0B44-43B2-A8A0-E3BACE19547D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3316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DBBD8CA-2DB4-4796-A50B-871624BD4377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434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42BF496-E631-4334-A9DF-9ECF459ABDF0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536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8C366C9-11CF-4B81-B6AB-50402DDD366E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638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6FEFA13-C8D2-4E34-9B82-B226B6925751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638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77132BE-A687-4772-A476-662F8D2BD246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638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C8744AC-CE7A-4546-A245-3CD15A49E040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638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E0A4B71-3D7E-48A6-8567-6EFEC0C07411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pt-B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638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A43E113-3F50-4180-A3EF-0FF66950BD2E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638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D82BD8-109B-4970-B0AA-6ED6C5A1CDD4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638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A2FE698-E644-470C-A222-911195B89387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pt-B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638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41D77D1-4D8B-4462-A029-86DBFD8769CE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pt-B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638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A2FE698-E644-470C-A222-911195B89387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32225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638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F18E58F-6687-492C-A448-3D45388A7D9B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pt-B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638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786709E-FA4F-480E-9360-9AEF64C72E09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pt-B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638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D065447-4572-41FC-83B5-BA166C3756D3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pt-B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638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061455-08B2-4B7F-83AE-B3C145F37048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pt-B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638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8A142A8-2CDC-4000-ADBF-A65941D5C5EC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pt-B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638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5270B05-FB16-421D-961D-8BAE73429703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pt-B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638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F4A2066-651F-4A6D-9710-079651D24EB8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pt-B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638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18670B8-7BF7-4122-BFBB-88CFC2987D22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pt-B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638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729F665-BE15-41D5-B48D-990E350AF04F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pt-B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638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DCD431B-F935-49ED-913E-831E935689CE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pt-B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638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CCFD21C-B34D-453A-88B2-6AB089D6A8D6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pt-B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638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DFF66B0-B322-4DE8-8B75-D393760CDE47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28</a:t>
            </a:fld>
            <a:endParaRPr lang="pt-BR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638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559A1D6-5898-4751-AA29-2F8F46DBFA21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29</a:t>
            </a:fld>
            <a:endParaRPr lang="pt-B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638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9FDE24B-0237-458D-9DEA-F13CCCC24CEE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30</a:t>
            </a:fld>
            <a:endParaRPr lang="pt-BR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638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AE274B-6996-48FC-80CE-5A68E6B79830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31</a:t>
            </a:fld>
            <a:endParaRPr lang="pt-BR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638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A4FFD0C-F06E-40CE-966B-7E3958FF2132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32</a:t>
            </a:fld>
            <a:endParaRPr lang="pt-BR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638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B5F6D00-C3FA-435B-AF3C-530D3C8BDFDD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33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18/05/2021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0596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18/05/2021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236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18/05/2021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580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18/05/2021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70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18/05/2021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0818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18/05/2021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221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18/05/2021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5111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18/05/2021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72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18/05/2021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30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18/05/2021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7951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18/05/2021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675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EB2CB-219F-436E-9B65-25A3D1B4A5D0}" type="datetimeFigureOut">
              <a:rPr lang="pt-BR" smtClean="0"/>
              <a:t>18/05/2021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0654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Resultado de imagem para botanica">
            <a:extLst>
              <a:ext uri="{FF2B5EF4-FFF2-40B4-BE49-F238E27FC236}">
                <a16:creationId xmlns:a16="http://schemas.microsoft.com/office/drawing/2014/main" id="{3948D3BB-AD02-4C9C-A211-AE52786DC0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5" b="14476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2435979C-8683-4775-A51B-7B69B8A51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00443"/>
            <a:ext cx="12192000" cy="1316038"/>
          </a:xfr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Fisiologia Vegetal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1B4C986-036F-4177-A597-967B1FA8B789}"/>
              </a:ext>
            </a:extLst>
          </p:cNvPr>
          <p:cNvSpPr txBox="1">
            <a:spLocks/>
          </p:cNvSpPr>
          <p:nvPr/>
        </p:nvSpPr>
        <p:spPr>
          <a:xfrm>
            <a:off x="0" y="2272751"/>
            <a:ext cx="12192000" cy="1775526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0" dirty="0"/>
          </a:p>
          <a:p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1313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666876" y="1071564"/>
            <a:ext cx="8786813" cy="29543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Introdução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b="1" dirty="0"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dirty="0">
                <a:latin typeface="+mn-lt"/>
                <a:cs typeface="Tahoma" pitchFamily="34" charset="0"/>
              </a:rPr>
              <a:t>A fisiologia vegetal é a parte da biologia que estuda o funcionamento do organismo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dirty="0">
                <a:latin typeface="+mn-lt"/>
                <a:cs typeface="Tahoma" pitchFamily="34" charset="0"/>
              </a:rPr>
              <a:t>das plantas, que inclui: a nutrição vegetal, o crescimento, a ação dos hormônios 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dirty="0">
                <a:latin typeface="+mn-lt"/>
                <a:cs typeface="Tahoma" pitchFamily="34" charset="0"/>
              </a:rPr>
              <a:t>vegetais e a floração.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	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pic>
        <p:nvPicPr>
          <p:cNvPr id="3077" name="Imagem 6" descr="sanflower01_jpg2a65cd29-eb61-4370-8997-769ec3711b4bLarge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95750" y="2857500"/>
            <a:ext cx="4000500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AF011E1A-E9B3-47FD-BAC2-C85533F6F4A5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2DBBBAF-BCA4-4660-8522-6394A47EE420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Fisiologia Vegetal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666876" y="1071563"/>
            <a:ext cx="8786813" cy="30162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2) Nutrição Vegetal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sz="1600" b="1" dirty="0">
              <a:latin typeface="Tahoma" pitchFamily="34" charset="0"/>
              <a:cs typeface="Tahoma" pitchFamily="34" charset="0"/>
            </a:endParaRPr>
          </a:p>
          <a:p>
            <a:pPr marL="514350" indent="-5143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solidFill>
                  <a:srgbClr val="FF0000"/>
                </a:solidFill>
                <a:latin typeface="+mn-lt"/>
                <a:cs typeface="Tahoma" pitchFamily="34" charset="0"/>
              </a:rPr>
              <a:t>I)  Elementos químicos essenciais às plantas</a:t>
            </a:r>
          </a:p>
          <a:p>
            <a:pPr marL="400050" indent="-400050" fontAlgn="auto">
              <a:spcBef>
                <a:spcPts val="0"/>
              </a:spcBef>
              <a:spcAft>
                <a:spcPts val="0"/>
              </a:spcAft>
              <a:buFontTx/>
              <a:buAutoNum type="romanUcParenR"/>
              <a:defRPr/>
            </a:pPr>
            <a:endParaRPr lang="pt-BR" sz="80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857250" lvl="1" indent="-400050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b="1" dirty="0">
                <a:solidFill>
                  <a:srgbClr val="0070C0"/>
                </a:solidFill>
                <a:latin typeface="+mn-lt"/>
                <a:cs typeface="Tahoma" pitchFamily="34" charset="0"/>
              </a:rPr>
              <a:t>Macronutrientes: </a:t>
            </a:r>
            <a:r>
              <a:rPr lang="pt-BR" dirty="0">
                <a:latin typeface="+mn-lt"/>
                <a:cs typeface="Tahoma" pitchFamily="34" charset="0"/>
              </a:rPr>
              <a:t>Elementos químicos necessários em quantidades relativamente grandes.</a:t>
            </a:r>
          </a:p>
          <a:p>
            <a:pPr marL="857250" lvl="1" indent="-400050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b="1" dirty="0">
                <a:solidFill>
                  <a:srgbClr val="00B050"/>
                </a:solidFill>
                <a:latin typeface="+mn-lt"/>
                <a:cs typeface="Tahoma" pitchFamily="34" charset="0"/>
              </a:rPr>
              <a:t>Micronutrientes: </a:t>
            </a:r>
            <a:r>
              <a:rPr lang="pt-BR" dirty="0">
                <a:latin typeface="+mn-lt"/>
                <a:cs typeface="Tahoma" pitchFamily="34" charset="0"/>
              </a:rPr>
              <a:t>Elementos químicos necessários em pequenas quantidades.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	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3810000" y="3143250"/>
          <a:ext cx="4643470" cy="3380760"/>
        </p:xfrm>
        <a:graphic>
          <a:graphicData uri="http://schemas.openxmlformats.org/drawingml/2006/table">
            <a:tbl>
              <a:tblPr firstRow="1" bandRow="1">
                <a:effectLst/>
                <a:tableStyleId>{72833802-FEF1-4C79-8D5D-14CF1EAF98D9}</a:tableStyleId>
              </a:tblPr>
              <a:tblGrid>
                <a:gridCol w="2321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1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065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Macronutrientes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Micronutrientes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065">
                <a:tc>
                  <a:txBody>
                    <a:bodyPr/>
                    <a:lstStyle/>
                    <a:p>
                      <a:r>
                        <a:rPr lang="pt-BR" sz="1800" dirty="0"/>
                        <a:t>Hidrogênio</a:t>
                      </a:r>
                      <a:r>
                        <a:rPr lang="pt-BR" sz="1800" baseline="0" dirty="0"/>
                        <a:t> (H)</a:t>
                      </a:r>
                      <a:endParaRPr lang="pt-B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/>
                        <a:t>Cloro (Cl)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065">
                <a:tc>
                  <a:txBody>
                    <a:bodyPr/>
                    <a:lstStyle/>
                    <a:p>
                      <a:r>
                        <a:rPr lang="pt-BR" sz="1800" dirty="0"/>
                        <a:t>Carbono (C)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/>
                        <a:t>Ferro (Fe)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065">
                <a:tc>
                  <a:txBody>
                    <a:bodyPr/>
                    <a:lstStyle/>
                    <a:p>
                      <a:r>
                        <a:rPr lang="pt-BR" sz="1800" dirty="0"/>
                        <a:t>Oxigênio</a:t>
                      </a:r>
                      <a:r>
                        <a:rPr lang="pt-BR" sz="1800" baseline="0" dirty="0"/>
                        <a:t> (O)</a:t>
                      </a:r>
                      <a:endParaRPr lang="pt-B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/>
                        <a:t>Boro (B)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065">
                <a:tc>
                  <a:txBody>
                    <a:bodyPr/>
                    <a:lstStyle/>
                    <a:p>
                      <a:r>
                        <a:rPr lang="pt-BR" sz="1800" dirty="0"/>
                        <a:t>Nitrogênio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/>
                        <a:t>Manganês (Mn)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065">
                <a:tc>
                  <a:txBody>
                    <a:bodyPr/>
                    <a:lstStyle/>
                    <a:p>
                      <a:r>
                        <a:rPr lang="pt-BR" sz="1800" dirty="0"/>
                        <a:t>Fósforo (P)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/>
                        <a:t>Sódio (Na)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065">
                <a:tc>
                  <a:txBody>
                    <a:bodyPr/>
                    <a:lstStyle/>
                    <a:p>
                      <a:r>
                        <a:rPr lang="pt-BR" sz="1800" dirty="0"/>
                        <a:t>Cálcio (Ca)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/>
                        <a:t>Zinco (Zn)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065">
                <a:tc>
                  <a:txBody>
                    <a:bodyPr/>
                    <a:lstStyle/>
                    <a:p>
                      <a:r>
                        <a:rPr lang="pt-BR" sz="1800" dirty="0"/>
                        <a:t>Magnésio (</a:t>
                      </a:r>
                      <a:r>
                        <a:rPr lang="pt-BR" sz="1800" dirty="0" err="1"/>
                        <a:t>Mg</a:t>
                      </a:r>
                      <a:r>
                        <a:rPr lang="pt-BR" sz="18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/>
                        <a:t>Cobre (Cu)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065">
                <a:tc>
                  <a:txBody>
                    <a:bodyPr/>
                    <a:lstStyle/>
                    <a:p>
                      <a:r>
                        <a:rPr lang="pt-BR" sz="1800" dirty="0"/>
                        <a:t>Potássio (K)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/>
                        <a:t>Níquel (</a:t>
                      </a:r>
                      <a:r>
                        <a:rPr lang="pt-BR" sz="1800" dirty="0" err="1"/>
                        <a:t>Ni</a:t>
                      </a:r>
                      <a:r>
                        <a:rPr lang="pt-BR" sz="18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etângulo 5">
            <a:extLst>
              <a:ext uri="{FF2B5EF4-FFF2-40B4-BE49-F238E27FC236}">
                <a16:creationId xmlns:a16="http://schemas.microsoft.com/office/drawing/2014/main" id="{D755B2BE-48D6-4CA6-8570-0796444DF9E7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ED195DE-CC94-4566-AEDB-014954D2680F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Fisiologia Vegetal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666876" y="1071563"/>
            <a:ext cx="8786813" cy="56943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2) Nutrição Vegetal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sz="1600" b="1" dirty="0">
              <a:latin typeface="Tahoma" pitchFamily="34" charset="0"/>
              <a:cs typeface="Tahoma" pitchFamily="34" charset="0"/>
            </a:endParaRPr>
          </a:p>
          <a:p>
            <a:pPr marL="514350" indent="-5143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solidFill>
                  <a:srgbClr val="FF0000"/>
                </a:solidFill>
                <a:latin typeface="+mn-lt"/>
                <a:cs typeface="Tahoma" pitchFamily="34" charset="0"/>
              </a:rPr>
              <a:t>I)  Elementos químicos essenciais às plantas</a:t>
            </a:r>
            <a:endParaRPr lang="pt-BR" sz="80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solidFill>
                <a:srgbClr val="0070C0"/>
              </a:solidFill>
              <a:latin typeface="Tahoma" pitchFamily="34" charset="0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Macronutrientes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Tahoma" pitchFamily="34" charset="0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sz="2000" dirty="0">
                <a:latin typeface="+mn-lt"/>
                <a:cs typeface="Tahoma" pitchFamily="34" charset="0"/>
              </a:rPr>
              <a:t>C, H, O, N, P (são os principais constituintes das moléculas orgânicas)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sz="2000" dirty="0">
                <a:latin typeface="+mn-lt"/>
                <a:cs typeface="Tahoma" pitchFamily="34" charset="0"/>
              </a:rPr>
              <a:t>Ca (constituição da lamela média)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sz="2000" dirty="0">
                <a:latin typeface="+mn-lt"/>
                <a:cs typeface="Tahoma" pitchFamily="34" charset="0"/>
              </a:rPr>
              <a:t>K (regulador da pressão osmótica no interior da célula vegetal)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sz="2000" dirty="0" err="1">
                <a:latin typeface="+mn-lt"/>
                <a:cs typeface="Tahoma" pitchFamily="34" charset="0"/>
              </a:rPr>
              <a:t>Mg</a:t>
            </a:r>
            <a:r>
              <a:rPr lang="pt-BR" sz="2000" dirty="0">
                <a:latin typeface="+mn-lt"/>
                <a:cs typeface="Tahoma" pitchFamily="34" charset="0"/>
              </a:rPr>
              <a:t> (componente da clorofila)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00B050"/>
                </a:solidFill>
                <a:latin typeface="Tahoma" pitchFamily="34" charset="0"/>
                <a:cs typeface="Tahoma" pitchFamily="34" charset="0"/>
              </a:rPr>
              <a:t>      Micronutrientes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Tahoma" pitchFamily="34" charset="0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sz="2000" dirty="0">
                <a:latin typeface="+mn-lt"/>
                <a:cs typeface="Tahoma" pitchFamily="34" charset="0"/>
              </a:rPr>
              <a:t>Na, Cl, Cu, Zn, Fe, </a:t>
            </a:r>
            <a:r>
              <a:rPr lang="pt-BR" sz="2000" dirty="0" err="1">
                <a:latin typeface="+mn-lt"/>
                <a:cs typeface="Tahoma" pitchFamily="34" charset="0"/>
              </a:rPr>
              <a:t>Bo</a:t>
            </a:r>
            <a:r>
              <a:rPr lang="pt-BR" sz="2000" dirty="0">
                <a:latin typeface="+mn-lt"/>
                <a:cs typeface="Tahoma" pitchFamily="34" charset="0"/>
              </a:rPr>
              <a:t>, etc.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sz="2000" dirty="0">
                <a:latin typeface="+mn-lt"/>
                <a:cs typeface="Tahoma" pitchFamily="34" charset="0"/>
              </a:rPr>
              <a:t>Atuam como co-fatores de enzimas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sz="2000" dirty="0">
                <a:latin typeface="+mn-lt"/>
                <a:cs typeface="Tahoma" pitchFamily="34" charset="0"/>
              </a:rPr>
              <a:t>Necessários em quantidades pequenas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5407B60-022C-4A93-A46D-109A67582C36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FAC9EE0-B5A2-4CE0-90ED-6A22404BBC4F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Fisiologia Vegetal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666876" y="1071564"/>
            <a:ext cx="8786813" cy="51085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2) Nutrição Vegetal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600" b="1" dirty="0"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solidFill>
                  <a:srgbClr val="FF0000"/>
                </a:solidFill>
                <a:latin typeface="+mn-lt"/>
                <a:cs typeface="Tahoma" pitchFamily="34" charset="0"/>
              </a:rPr>
              <a:t>II)  Correção de solos deficientes em nutrientes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Tahoma" pitchFamily="34" charset="0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sz="2000" b="1" dirty="0">
                <a:latin typeface="+mn-lt"/>
                <a:cs typeface="Tahoma" pitchFamily="34" charset="0"/>
              </a:rPr>
              <a:t>Adição de Adubos orgânicos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sz="2000" dirty="0">
                <a:latin typeface="+mn-lt"/>
                <a:cs typeface="Tahoma" pitchFamily="34" charset="0"/>
              </a:rPr>
              <a:t>Restos de alimentos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sz="2000" dirty="0">
                <a:latin typeface="+mn-lt"/>
                <a:cs typeface="Tahoma" pitchFamily="34" charset="0"/>
              </a:rPr>
              <a:t>Restos vegetais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sz="2000" dirty="0">
                <a:latin typeface="+mn-lt"/>
                <a:cs typeface="Tahoma" pitchFamily="34" charset="0"/>
              </a:rPr>
              <a:t>Fezes de animais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pt-BR" sz="2000" dirty="0">
                <a:latin typeface="+mn-lt"/>
                <a:cs typeface="Tahoma" pitchFamily="34" charset="0"/>
                <a:sym typeface="Wingdings" pitchFamily="2" charset="2"/>
              </a:rPr>
              <a:t>No processo de decomposição biológica (microrganismos) ocorre a liberação de elementos essenciais ao desenvolvimento das plantas.</a:t>
            </a:r>
            <a:endParaRPr lang="pt-BR" dirty="0">
              <a:latin typeface="+mn-lt"/>
              <a:cs typeface="Tahoma" pitchFamily="34" charset="0"/>
              <a:sym typeface="Wingdings" pitchFamily="2" charset="2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600" dirty="0">
              <a:latin typeface="+mn-lt"/>
              <a:cs typeface="Tahoma" pitchFamily="34" charset="0"/>
              <a:sym typeface="Wingdings" pitchFamily="2" charset="2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sz="2000" b="1" dirty="0">
                <a:latin typeface="+mn-lt"/>
                <a:cs typeface="Tahoma" pitchFamily="34" charset="0"/>
                <a:sym typeface="Wingdings" pitchFamily="2" charset="2"/>
              </a:rPr>
              <a:t>Adição de Adubos químicos</a:t>
            </a:r>
            <a:endParaRPr lang="pt-BR" sz="2000" dirty="0">
              <a:latin typeface="+mn-lt"/>
              <a:cs typeface="Tahoma" pitchFamily="34" charset="0"/>
              <a:sym typeface="Wingdings" pitchFamily="2" charset="2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sz="2000" dirty="0">
                <a:latin typeface="+mn-lt"/>
                <a:cs typeface="Tahoma" pitchFamily="34" charset="0"/>
                <a:sym typeface="Wingdings" pitchFamily="2" charset="2"/>
              </a:rPr>
              <a:t>Contém sais minerais com os seguintes macronutrientes: N, P, K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200" dirty="0">
              <a:latin typeface="+mn-lt"/>
              <a:cs typeface="Tahoma" pitchFamily="34" charset="0"/>
            </a:endParaRPr>
          </a:p>
          <a:p>
            <a:pPr lvl="1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latin typeface="+mn-lt"/>
                <a:cs typeface="Tahoma" pitchFamily="34" charset="0"/>
              </a:rPr>
              <a:t>Obs.: </a:t>
            </a:r>
            <a:r>
              <a:rPr lang="pt-BR" sz="2000" dirty="0">
                <a:latin typeface="+mn-lt"/>
                <a:cs typeface="Tahoma" pitchFamily="34" charset="0"/>
              </a:rPr>
              <a:t>A adubação excessiva pode causar a contaminação de lagos e rios, morte de animais, e possíveis problemas à saúde humana.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pic>
        <p:nvPicPr>
          <p:cNvPr id="6149" name="Picture 6" descr="http://www.capatangara.com/imagens/produtos/107/adubo_organico.jpg"/>
          <p:cNvPicPr>
            <a:picLocks noChangeAspect="1" noChangeArrowheads="1"/>
          </p:cNvPicPr>
          <p:nvPr/>
        </p:nvPicPr>
        <p:blipFill>
          <a:blip r:embed="rId4" cstate="print">
            <a:lum contrast="20000"/>
          </a:blip>
          <a:srcRect/>
          <a:stretch>
            <a:fillRect/>
          </a:stretch>
        </p:blipFill>
        <p:spPr bwMode="auto">
          <a:xfrm>
            <a:off x="8992516" y="5357814"/>
            <a:ext cx="1532608" cy="127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0" name="Picture 8" descr="http://www.lagoasanta.mg.gov.br/meioambiente/imagem2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310439" y="1071563"/>
            <a:ext cx="3017837" cy="2189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aixaDeTexto 7"/>
          <p:cNvSpPr txBox="1"/>
          <p:nvPr/>
        </p:nvSpPr>
        <p:spPr>
          <a:xfrm>
            <a:off x="2238375" y="5929314"/>
            <a:ext cx="6572250" cy="7080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>
              <a:defRPr/>
            </a:pPr>
            <a:r>
              <a:rPr lang="pt-BR" sz="2000" b="1" dirty="0">
                <a:solidFill>
                  <a:srgbClr val="FF0000"/>
                </a:solidFill>
              </a:rPr>
              <a:t>Calagem: </a:t>
            </a:r>
            <a:r>
              <a:rPr lang="pt-BR" sz="2000" dirty="0"/>
              <a:t>aplica-se carbonato de cálcio (CaCO3) para a correção de solos ácidos (ricos em Al).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3640BB9-430B-48AC-BFF7-3446D013F306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8CF93520-CE5F-4DE6-8C84-C6613FCF6214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Fisiologia Vegetal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m 4" descr="c15-1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67438" y="982665"/>
            <a:ext cx="4500562" cy="5686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aixaDeTexto 8"/>
          <p:cNvSpPr txBox="1"/>
          <p:nvPr/>
        </p:nvSpPr>
        <p:spPr>
          <a:xfrm>
            <a:off x="1666876" y="1071563"/>
            <a:ext cx="8786813" cy="3600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2) Nutrição Vegetal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600" b="1" dirty="0"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solidFill>
                  <a:srgbClr val="FF0000"/>
                </a:solidFill>
                <a:latin typeface="+mn-lt"/>
                <a:cs typeface="Tahoma" pitchFamily="34" charset="0"/>
              </a:rPr>
              <a:t>III)  Absorção de água e sais pelas raízes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Local de absorção nas raízes: zona pilífera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Após atravessar a epiderme: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A água se locomove em direção ao xilema via: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00" dirty="0">
              <a:latin typeface="+mn-lt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  <a:defRPr/>
            </a:pPr>
            <a:r>
              <a:rPr lang="pt-BR" b="1" dirty="0" err="1">
                <a:latin typeface="+mn-lt"/>
                <a:cs typeface="Tahoma" pitchFamily="34" charset="0"/>
              </a:rPr>
              <a:t>Simplasto</a:t>
            </a:r>
            <a:r>
              <a:rPr lang="pt-BR" b="1" dirty="0">
                <a:latin typeface="+mn-lt"/>
                <a:cs typeface="Tahoma" pitchFamily="34" charset="0"/>
              </a:rPr>
              <a:t>: </a:t>
            </a:r>
            <a:r>
              <a:rPr lang="pt-BR" dirty="0">
                <a:latin typeface="+mn-lt"/>
                <a:cs typeface="Tahoma" pitchFamily="34" charset="0"/>
              </a:rPr>
              <a:t>passando por dentro das células 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via </a:t>
            </a:r>
            <a:r>
              <a:rPr lang="pt-BR" dirty="0" err="1">
                <a:latin typeface="+mn-lt"/>
                <a:cs typeface="Tahoma" pitchFamily="34" charset="0"/>
              </a:rPr>
              <a:t>plasmodesmos</a:t>
            </a:r>
            <a:r>
              <a:rPr lang="pt-BR" dirty="0">
                <a:latin typeface="+mn-lt"/>
                <a:cs typeface="Tahoma" pitchFamily="34" charset="0"/>
              </a:rPr>
              <a:t>.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400" dirty="0">
              <a:latin typeface="+mn-lt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  <a:defRPr/>
            </a:pPr>
            <a:r>
              <a:rPr lang="pt-BR" b="1" dirty="0" err="1">
                <a:latin typeface="+mn-lt"/>
                <a:cs typeface="Tahoma" pitchFamily="34" charset="0"/>
              </a:rPr>
              <a:t>Apoplasto</a:t>
            </a:r>
            <a:r>
              <a:rPr lang="pt-BR" b="1" dirty="0">
                <a:latin typeface="+mn-lt"/>
                <a:cs typeface="Tahoma" pitchFamily="34" charset="0"/>
              </a:rPr>
              <a:t>: </a:t>
            </a:r>
            <a:r>
              <a:rPr lang="pt-BR" dirty="0">
                <a:latin typeface="+mn-lt"/>
                <a:cs typeface="Tahoma" pitchFamily="34" charset="0"/>
              </a:rPr>
              <a:t>passando entre as células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Ao chegar na endoderme:</a:t>
            </a:r>
          </a:p>
        </p:txBody>
      </p:sp>
      <p:sp>
        <p:nvSpPr>
          <p:cNvPr id="7173" name="CaixaDeTexto 5"/>
          <p:cNvSpPr txBox="1">
            <a:spLocks noChangeArrowheads="1"/>
          </p:cNvSpPr>
          <p:nvPr/>
        </p:nvSpPr>
        <p:spPr bwMode="auto">
          <a:xfrm>
            <a:off x="6024563" y="1335089"/>
            <a:ext cx="10715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1400" b="1">
                <a:latin typeface="Calibri" pitchFamily="34" charset="0"/>
              </a:rPr>
              <a:t>Simplasto</a:t>
            </a:r>
          </a:p>
        </p:txBody>
      </p:sp>
      <p:sp>
        <p:nvSpPr>
          <p:cNvPr id="7174" name="CaixaDeTexto 6"/>
          <p:cNvSpPr txBox="1">
            <a:spLocks noChangeArrowheads="1"/>
          </p:cNvSpPr>
          <p:nvPr/>
        </p:nvSpPr>
        <p:spPr bwMode="auto">
          <a:xfrm>
            <a:off x="5595938" y="2428876"/>
            <a:ext cx="10715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1400" b="1">
                <a:latin typeface="Calibri" pitchFamily="34" charset="0"/>
              </a:rPr>
              <a:t>Apoplasto</a:t>
            </a:r>
          </a:p>
        </p:txBody>
      </p:sp>
      <p:sp>
        <p:nvSpPr>
          <p:cNvPr id="7175" name="CaixaDeTexto 7"/>
          <p:cNvSpPr txBox="1">
            <a:spLocks noChangeArrowheads="1"/>
          </p:cNvSpPr>
          <p:nvPr/>
        </p:nvSpPr>
        <p:spPr bwMode="auto">
          <a:xfrm>
            <a:off x="1524000" y="4572000"/>
            <a:ext cx="485775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800100" lvl="1" indent="-342900"/>
            <a:r>
              <a:rPr lang="pt-BR">
                <a:latin typeface="Calibri" pitchFamily="34" charset="0"/>
                <a:cs typeface="Tahoma" pitchFamily="34" charset="0"/>
              </a:rPr>
              <a:t>Células contém estrias de </a:t>
            </a:r>
            <a:r>
              <a:rPr lang="pt-BR" b="1" i="1">
                <a:latin typeface="Calibri" pitchFamily="34" charset="0"/>
                <a:cs typeface="Tahoma" pitchFamily="34" charset="0"/>
              </a:rPr>
              <a:t>Caspary</a:t>
            </a:r>
            <a:r>
              <a:rPr lang="pt-BR">
                <a:latin typeface="Calibri" pitchFamily="34" charset="0"/>
                <a:cs typeface="Tahoma" pitchFamily="34" charset="0"/>
              </a:rPr>
              <a:t> (suberina)</a:t>
            </a:r>
          </a:p>
          <a:p>
            <a:pPr marL="342900" indent="-342900">
              <a:buFont typeface="Wingdings" pitchFamily="2" charset="2"/>
              <a:buChar char="ü"/>
            </a:pPr>
            <a:endParaRPr lang="pt-BR" sz="1200">
              <a:latin typeface="Calibri" pitchFamily="34" charset="0"/>
              <a:cs typeface="Tahoma" pitchFamily="34" charset="0"/>
            </a:endParaRPr>
          </a:p>
          <a:p>
            <a:pPr marL="800100" lvl="1" indent="-342900">
              <a:buFont typeface="Courier New" pitchFamily="49" charset="0"/>
              <a:buChar char="o"/>
            </a:pPr>
            <a:r>
              <a:rPr lang="pt-BR">
                <a:latin typeface="Calibri" pitchFamily="34" charset="0"/>
                <a:cs typeface="Tahoma" pitchFamily="34" charset="0"/>
              </a:rPr>
              <a:t>Ocorre a seleção dos sais minerais que entram no xilema</a:t>
            </a:r>
          </a:p>
          <a:p>
            <a:pPr marL="800100" lvl="1" indent="-342900">
              <a:buFont typeface="Courier New" pitchFamily="49" charset="0"/>
              <a:buChar char="o"/>
            </a:pPr>
            <a:r>
              <a:rPr lang="pt-BR">
                <a:latin typeface="Calibri" pitchFamily="34" charset="0"/>
                <a:cs typeface="Tahoma" pitchFamily="34" charset="0"/>
              </a:rPr>
              <a:t> Regulação da quantidade de água que pode entrar para dentro do xilema.</a:t>
            </a:r>
          </a:p>
          <a:p>
            <a:pPr marL="342900" indent="-342900" algn="ctr"/>
            <a:endParaRPr lang="pt-BR">
              <a:latin typeface="Calibri" pitchFamily="34" charset="0"/>
              <a:cs typeface="Tahoma" pitchFamily="34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3AF2FB1-374D-4FF8-B58C-9633E52AACEC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F6071B48-949F-402C-800B-FEAA4501A591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Fisiologia Vegetal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666876" y="1071563"/>
            <a:ext cx="8786813" cy="10461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2) Nutrição Vegetal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600" b="1" dirty="0"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solidFill>
                  <a:srgbClr val="FF0000"/>
                </a:solidFill>
                <a:latin typeface="+mn-lt"/>
                <a:cs typeface="Tahoma" pitchFamily="34" charset="0"/>
              </a:rPr>
              <a:t>IV)  Condução da seiva Bruta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Tahoma" pitchFamily="34" charset="0"/>
              <a:cs typeface="Tahoma" pitchFamily="34" charset="0"/>
            </a:endParaRPr>
          </a:p>
        </p:txBody>
      </p:sp>
      <p:pic>
        <p:nvPicPr>
          <p:cNvPr id="8196" name="Imagem 4" descr="pressao positiva raiz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1" y="2857500"/>
            <a:ext cx="5133975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luxograma: Disco magnético 5"/>
          <p:cNvSpPr/>
          <p:nvPr/>
        </p:nvSpPr>
        <p:spPr>
          <a:xfrm>
            <a:off x="7453314" y="3571875"/>
            <a:ext cx="2643187" cy="1714500"/>
          </a:xfrm>
          <a:prstGeom prst="flowChartMagneticDisk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8" name="Cilindro 7"/>
          <p:cNvSpPr/>
          <p:nvPr/>
        </p:nvSpPr>
        <p:spPr>
          <a:xfrm>
            <a:off x="8667751" y="1785939"/>
            <a:ext cx="142875" cy="3000375"/>
          </a:xfrm>
          <a:prstGeom prst="ca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0" name="Cilindro 9"/>
          <p:cNvSpPr/>
          <p:nvPr/>
        </p:nvSpPr>
        <p:spPr>
          <a:xfrm>
            <a:off x="8667751" y="3000376"/>
            <a:ext cx="142875" cy="1857375"/>
          </a:xfrm>
          <a:prstGeom prst="can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cxnSp>
        <p:nvCxnSpPr>
          <p:cNvPr id="12" name="Conector reto 11"/>
          <p:cNvCxnSpPr/>
          <p:nvPr/>
        </p:nvCxnSpPr>
        <p:spPr>
          <a:xfrm>
            <a:off x="8596314" y="4143375"/>
            <a:ext cx="357187" cy="1588"/>
          </a:xfrm>
          <a:prstGeom prst="line">
            <a:avLst/>
          </a:prstGeom>
          <a:ln w="22225">
            <a:solidFill>
              <a:srgbClr val="8832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/>
          <p:nvPr/>
        </p:nvCxnSpPr>
        <p:spPr>
          <a:xfrm rot="5400000" flipH="1" flipV="1">
            <a:off x="8775701" y="3606801"/>
            <a:ext cx="500062" cy="158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2095501" y="5500689"/>
            <a:ext cx="2786063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b="1" dirty="0">
                <a:latin typeface="+mn-lt"/>
              </a:rPr>
              <a:t>Pressão positiva da raiz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7381876" y="5572125"/>
            <a:ext cx="2786063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b="1" dirty="0">
                <a:latin typeface="+mn-lt"/>
              </a:rPr>
              <a:t>Capilaridade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A6E40F4-CCE9-45A1-B564-2308A3D8B14A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1F0B7482-91FA-4928-8A87-0351E83B8BA5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Fisiologia Vegetal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666876" y="1071563"/>
            <a:ext cx="8786813" cy="56943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2) Nutrição Vegetal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600" b="1" dirty="0"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solidFill>
                  <a:srgbClr val="FF0000"/>
                </a:solidFill>
                <a:latin typeface="+mn-lt"/>
                <a:cs typeface="Tahoma" pitchFamily="34" charset="0"/>
              </a:rPr>
              <a:t>IV)  Condução da seiva Bruta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Sentido de condução da seiva bruta: raízes </a:t>
            </a:r>
            <a:r>
              <a:rPr lang="pt-BR" sz="1600" dirty="0">
                <a:latin typeface="+mn-lt"/>
                <a:cs typeface="Tahoma" pitchFamily="34" charset="0"/>
                <a:sym typeface="Wingdings" pitchFamily="2" charset="2"/>
              </a:rPr>
              <a:t></a:t>
            </a:r>
            <a:r>
              <a:rPr lang="pt-BR" dirty="0">
                <a:latin typeface="+mn-lt"/>
                <a:cs typeface="Tahoma" pitchFamily="34" charset="0"/>
                <a:sym typeface="Wingdings" pitchFamily="2" charset="2"/>
              </a:rPr>
              <a:t> folhas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  <a:sym typeface="Wingdings" pitchFamily="2" charset="2"/>
              </a:rPr>
              <a:t>Como a água sobe até as folhas?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1400" dirty="0">
              <a:latin typeface="+mn-lt"/>
              <a:cs typeface="Tahoma" pitchFamily="34" charset="0"/>
              <a:sym typeface="Wingdings" pitchFamily="2" charset="2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b="1" dirty="0">
                <a:latin typeface="+mn-lt"/>
                <a:cs typeface="Tahoma" pitchFamily="34" charset="0"/>
                <a:sym typeface="Wingdings" pitchFamily="2" charset="2"/>
              </a:rPr>
              <a:t>Teorias existentes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800" b="1" dirty="0">
              <a:latin typeface="+mn-lt"/>
              <a:cs typeface="Tahoma" pitchFamily="34" charset="0"/>
              <a:sym typeface="Wingdings" pitchFamily="2" charset="2"/>
            </a:endParaRPr>
          </a:p>
          <a:p>
            <a:pPr marL="1314450" lvl="2" indent="-40005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b="1" dirty="0">
                <a:latin typeface="+mn-lt"/>
                <a:cs typeface="Tahoma" pitchFamily="34" charset="0"/>
                <a:sym typeface="Wingdings" pitchFamily="2" charset="2"/>
              </a:rPr>
              <a:t>Pressão positiva da raiz </a:t>
            </a:r>
            <a:r>
              <a:rPr lang="pt-BR" dirty="0">
                <a:latin typeface="+mn-lt"/>
                <a:cs typeface="Tahoma" pitchFamily="34" charset="0"/>
                <a:sym typeface="Wingdings" pitchFamily="2" charset="2"/>
              </a:rPr>
              <a:t>(contribui, mas não explica).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Transporte ativo de sais minerais para dentro do xilema (+).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Água penetra do solo para o xilema por osmose.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Problema: nem todas as plantas possuem esta característica.</a:t>
            </a:r>
          </a:p>
          <a:p>
            <a:pPr marL="1314450" lvl="2" indent="-40005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314450" lvl="2" indent="-40005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b="1" dirty="0">
                <a:latin typeface="+mn-lt"/>
                <a:cs typeface="Tahoma" pitchFamily="34" charset="0"/>
              </a:rPr>
              <a:t>Capilaridade</a:t>
            </a:r>
            <a:r>
              <a:rPr lang="pt-BR" dirty="0">
                <a:latin typeface="+mn-lt"/>
                <a:cs typeface="Tahoma" pitchFamily="34" charset="0"/>
              </a:rPr>
              <a:t> </a:t>
            </a:r>
            <a:r>
              <a:rPr lang="pt-BR" dirty="0">
                <a:latin typeface="+mn-lt"/>
                <a:cs typeface="Tahoma" pitchFamily="34" charset="0"/>
                <a:sym typeface="Wingdings" pitchFamily="2" charset="2"/>
              </a:rPr>
              <a:t>(contribui, mas não explica).</a:t>
            </a:r>
            <a:endParaRPr lang="pt-BR" dirty="0">
              <a:latin typeface="+mn-lt"/>
              <a:cs typeface="Tahoma" pitchFamily="34" charset="0"/>
            </a:endParaRPr>
          </a:p>
          <a:p>
            <a:pPr marL="1771650" lvl="3" indent="-40005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As moléculas de água são capazes de subir espontaneamente em um tubo de pequeno calibre.</a:t>
            </a:r>
          </a:p>
          <a:p>
            <a:pPr marL="1771650" lvl="3" indent="-40005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Ocorre adesão entre moléculas de água e o tubo e também ligações de hidrogênio entre as moléculas de água.</a:t>
            </a:r>
          </a:p>
          <a:p>
            <a:pPr marL="1771650" lvl="3" indent="-40005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A água sobe até a força de adesão se igualar a força gravitacional.</a:t>
            </a:r>
          </a:p>
          <a:p>
            <a:pPr marL="1771650" lvl="3" indent="-40005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Problema: o máximo que a água pode alcançar é meio metro de altura.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87A54EC-5434-4F8F-AA94-CA05F689F1F4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B01F0200-1593-42C2-B2CC-FD09FDB9F59E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Fisiologia Vegetal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Documents and Settings\Paulinho\Meus documentos\Biologia\Pre-UFMG\Aulas\Fisiologia Vegetal\c15-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53188" y="928688"/>
            <a:ext cx="4214812" cy="5929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aixaDeTexto 8"/>
          <p:cNvSpPr txBox="1"/>
          <p:nvPr/>
        </p:nvSpPr>
        <p:spPr>
          <a:xfrm>
            <a:off x="1666876" y="1071564"/>
            <a:ext cx="8786813" cy="25860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2) Nutrição Vegetal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600" b="1" dirty="0">
              <a:latin typeface="Tahoma" pitchFamily="34" charset="0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buFontTx/>
              <a:buAutoNum type="romanUcParenR" startAt="4"/>
              <a:defRPr/>
            </a:pPr>
            <a:r>
              <a:rPr lang="pt-BR" sz="2000" b="1" dirty="0">
                <a:solidFill>
                  <a:srgbClr val="FF0000"/>
                </a:solidFill>
                <a:latin typeface="+mn-lt"/>
                <a:cs typeface="Tahoma" pitchFamily="34" charset="0"/>
              </a:rPr>
              <a:t>Condução da seiva Bruta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b="1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III. Teoria da tensão-coesão (Teoria de </a:t>
            </a:r>
            <a:r>
              <a:rPr lang="pt-BR" b="1" dirty="0" err="1">
                <a:latin typeface="+mn-lt"/>
                <a:cs typeface="Tahoma" pitchFamily="34" charset="0"/>
              </a:rPr>
              <a:t>Dixon</a:t>
            </a:r>
            <a:r>
              <a:rPr lang="pt-BR" b="1" dirty="0">
                <a:latin typeface="+mn-lt"/>
                <a:cs typeface="Tahoma" pitchFamily="34" charset="0"/>
              </a:rPr>
              <a:t>)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F0000"/>
              </a:solidFill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000" b="1" dirty="0">
              <a:latin typeface="+mn-lt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1524001" y="2714626"/>
            <a:ext cx="5286375" cy="2862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dirty="0">
                <a:latin typeface="+mn-lt"/>
                <a:cs typeface="Tahoma" pitchFamily="34" charset="0"/>
              </a:rPr>
              <a:t>Ocorre transpiração foliar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dirty="0">
                <a:latin typeface="+mn-lt"/>
                <a:cs typeface="Tahoma" pitchFamily="34" charset="0"/>
              </a:rPr>
              <a:t>A pressão dentro do xilema das folhas diminui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dirty="0">
                <a:latin typeface="+mn-lt"/>
                <a:cs typeface="Tahoma" pitchFamily="34" charset="0"/>
              </a:rPr>
              <a:t>Ocorre fluxo de água no sentido: caule </a:t>
            </a:r>
            <a:r>
              <a:rPr lang="pt-BR" sz="1400" dirty="0">
                <a:latin typeface="+mn-lt"/>
                <a:cs typeface="Tahoma" pitchFamily="34" charset="0"/>
                <a:sym typeface="Wingdings" pitchFamily="2" charset="2"/>
              </a:rPr>
              <a:t></a:t>
            </a:r>
            <a:r>
              <a:rPr lang="pt-BR" dirty="0">
                <a:latin typeface="+mn-lt"/>
                <a:cs typeface="Tahoma" pitchFamily="34" charset="0"/>
                <a:sym typeface="Wingdings" pitchFamily="2" charset="2"/>
              </a:rPr>
              <a:t> folhas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dirty="0">
                <a:latin typeface="+mn-lt"/>
                <a:cs typeface="Tahoma" pitchFamily="34" charset="0"/>
                <a:sym typeface="Wingdings" pitchFamily="2" charset="2"/>
              </a:rPr>
              <a:t>A pressão dentro do xilema do caule diminui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dirty="0">
                <a:latin typeface="+mn-lt"/>
                <a:cs typeface="Tahoma" pitchFamily="34" charset="0"/>
                <a:sym typeface="Wingdings" pitchFamily="2" charset="2"/>
              </a:rPr>
              <a:t>Ocorre o fluxo de água no sentido: raiz </a:t>
            </a:r>
            <a:r>
              <a:rPr lang="pt-BR" sz="1400" dirty="0">
                <a:latin typeface="+mn-lt"/>
                <a:cs typeface="Tahoma" pitchFamily="34" charset="0"/>
                <a:sym typeface="Wingdings" pitchFamily="2" charset="2"/>
              </a:rPr>
              <a:t></a:t>
            </a:r>
            <a:r>
              <a:rPr lang="pt-BR" dirty="0">
                <a:latin typeface="+mn-lt"/>
                <a:cs typeface="Tahoma" pitchFamily="34" charset="0"/>
                <a:sym typeface="Wingdings" pitchFamily="2" charset="2"/>
              </a:rPr>
              <a:t> caule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dirty="0">
                <a:latin typeface="+mn-lt"/>
                <a:cs typeface="Tahoma" pitchFamily="34" charset="0"/>
                <a:sym typeface="Wingdings" pitchFamily="2" charset="2"/>
              </a:rPr>
              <a:t>A coesão entre as moléculas de água e a tensão existente na coluna de água no xilema permitem a subida da água desde a raiz até as folhas.</a:t>
            </a:r>
            <a:endParaRPr lang="pt-BR" dirty="0">
              <a:latin typeface="+mn-lt"/>
              <a:cs typeface="Tahoma" pitchFamily="34" charset="0"/>
            </a:endParaRPr>
          </a:p>
          <a:p>
            <a:pPr>
              <a:defRPr/>
            </a:pPr>
            <a:endParaRPr lang="pt-BR" dirty="0"/>
          </a:p>
        </p:txBody>
      </p:sp>
      <p:sp>
        <p:nvSpPr>
          <p:cNvPr id="10246" name="CaixaDeTexto 17"/>
          <p:cNvSpPr txBox="1">
            <a:spLocks noChangeArrowheads="1"/>
          </p:cNvSpPr>
          <p:nvPr/>
        </p:nvSpPr>
        <p:spPr bwMode="auto">
          <a:xfrm>
            <a:off x="6881814" y="1000125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10247" name="CaixaDeTexto 18"/>
          <p:cNvSpPr txBox="1">
            <a:spLocks noChangeArrowheads="1"/>
          </p:cNvSpPr>
          <p:nvPr/>
        </p:nvSpPr>
        <p:spPr bwMode="auto">
          <a:xfrm>
            <a:off x="6881814" y="3000375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10248" name="CaixaDeTexto 19"/>
          <p:cNvSpPr txBox="1">
            <a:spLocks noChangeArrowheads="1"/>
          </p:cNvSpPr>
          <p:nvPr/>
        </p:nvSpPr>
        <p:spPr bwMode="auto">
          <a:xfrm>
            <a:off x="6810376" y="5143500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21" name="CaixaDeTexto 20"/>
          <p:cNvSpPr txBox="1"/>
          <p:nvPr/>
        </p:nvSpPr>
        <p:spPr>
          <a:xfrm>
            <a:off x="6381751" y="2500314"/>
            <a:ext cx="1571625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400" i="1" dirty="0">
                <a:latin typeface="+mn-lt"/>
              </a:rPr>
              <a:t>Transpiração</a:t>
            </a:r>
          </a:p>
        </p:txBody>
      </p:sp>
      <p:sp>
        <p:nvSpPr>
          <p:cNvPr id="10251" name="Retângulo 11"/>
          <p:cNvSpPr>
            <a:spLocks noChangeArrowheads="1"/>
          </p:cNvSpPr>
          <p:nvPr/>
        </p:nvSpPr>
        <p:spPr bwMode="auto">
          <a:xfrm>
            <a:off x="2452688" y="2357439"/>
            <a:ext cx="378301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971550" lvl="1" indent="-514350"/>
            <a:r>
              <a:rPr lang="pt-BR">
                <a:solidFill>
                  <a:srgbClr val="0070C0"/>
                </a:solidFill>
                <a:latin typeface="Calibri" pitchFamily="34" charset="0"/>
                <a:cs typeface="Tahoma" pitchFamily="34" charset="0"/>
              </a:rPr>
              <a:t>Teoria mais aceita atualmente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D4AFC88-A65B-4E30-90C7-8FAD1644775E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86BA6799-D9E1-4547-B893-BDFA621C41AB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Fisiologia Vegetal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m 5" descr="estomato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00838" y="4214814"/>
            <a:ext cx="3967162" cy="2343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aixaDeTexto 8"/>
          <p:cNvSpPr txBox="1"/>
          <p:nvPr/>
        </p:nvSpPr>
        <p:spPr>
          <a:xfrm>
            <a:off x="1666876" y="1071563"/>
            <a:ext cx="8786813" cy="48323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2) Nutrição Vegetal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600" b="1" dirty="0">
              <a:latin typeface="Tahoma" pitchFamily="34" charset="0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buFontTx/>
              <a:buAutoNum type="romanUcParenR" startAt="5"/>
              <a:defRPr/>
            </a:pPr>
            <a:r>
              <a:rPr lang="pt-BR" sz="2000" b="1" dirty="0">
                <a:solidFill>
                  <a:srgbClr val="FF0000"/>
                </a:solidFill>
                <a:latin typeface="+mn-lt"/>
                <a:cs typeface="Tahoma" pitchFamily="34" charset="0"/>
              </a:rPr>
              <a:t>Nutrição orgânica das plantas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b="1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Plantas: autotróficas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Produzem sua própria matéria orgânica por meio da fotossíntese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CO</a:t>
            </a:r>
            <a:r>
              <a:rPr lang="pt-BR" baseline="-25000" dirty="0">
                <a:latin typeface="+mn-lt"/>
                <a:cs typeface="Tahoma" pitchFamily="34" charset="0"/>
              </a:rPr>
              <a:t>2</a:t>
            </a:r>
            <a:r>
              <a:rPr lang="pt-BR" dirty="0">
                <a:latin typeface="+mn-lt"/>
                <a:cs typeface="Tahoma" pitchFamily="34" charset="0"/>
              </a:rPr>
              <a:t> + H</a:t>
            </a:r>
            <a:r>
              <a:rPr lang="pt-BR" baseline="-25000" dirty="0">
                <a:latin typeface="+mn-lt"/>
                <a:cs typeface="Tahoma" pitchFamily="34" charset="0"/>
              </a:rPr>
              <a:t>2</a:t>
            </a:r>
            <a:r>
              <a:rPr lang="pt-BR" dirty="0">
                <a:latin typeface="+mn-lt"/>
                <a:cs typeface="Tahoma" pitchFamily="34" charset="0"/>
              </a:rPr>
              <a:t>O + Luz </a:t>
            </a:r>
            <a:r>
              <a:rPr lang="pt-BR" dirty="0">
                <a:latin typeface="+mn-lt"/>
                <a:cs typeface="Tahoma" pitchFamily="34" charset="0"/>
                <a:sym typeface="Wingdings" pitchFamily="2" charset="2"/>
              </a:rPr>
              <a:t> C</a:t>
            </a:r>
            <a:r>
              <a:rPr lang="pt-BR" baseline="-25000" dirty="0">
                <a:latin typeface="+mn-lt"/>
                <a:cs typeface="Tahoma" pitchFamily="34" charset="0"/>
                <a:sym typeface="Wingdings" pitchFamily="2" charset="2"/>
              </a:rPr>
              <a:t>6</a:t>
            </a:r>
            <a:r>
              <a:rPr lang="pt-BR" dirty="0">
                <a:latin typeface="+mn-lt"/>
                <a:cs typeface="Tahoma" pitchFamily="34" charset="0"/>
                <a:sym typeface="Wingdings" pitchFamily="2" charset="2"/>
              </a:rPr>
              <a:t>H</a:t>
            </a:r>
            <a:r>
              <a:rPr lang="pt-BR" baseline="-25000" dirty="0">
                <a:latin typeface="+mn-lt"/>
                <a:cs typeface="Tahoma" pitchFamily="34" charset="0"/>
                <a:sym typeface="Wingdings" pitchFamily="2" charset="2"/>
              </a:rPr>
              <a:t>12</a:t>
            </a:r>
            <a:r>
              <a:rPr lang="pt-BR" dirty="0">
                <a:latin typeface="+mn-lt"/>
                <a:cs typeface="Tahoma" pitchFamily="34" charset="0"/>
                <a:sym typeface="Wingdings" pitchFamily="2" charset="2"/>
              </a:rPr>
              <a:t>O</a:t>
            </a:r>
            <a:r>
              <a:rPr lang="pt-BR" baseline="-25000" dirty="0">
                <a:latin typeface="+mn-lt"/>
                <a:cs typeface="Tahoma" pitchFamily="34" charset="0"/>
                <a:sym typeface="Wingdings" pitchFamily="2" charset="2"/>
              </a:rPr>
              <a:t>6</a:t>
            </a:r>
            <a:r>
              <a:rPr lang="pt-BR" dirty="0">
                <a:latin typeface="+mn-lt"/>
                <a:cs typeface="Tahoma" pitchFamily="34" charset="0"/>
                <a:sym typeface="Wingdings" pitchFamily="2" charset="2"/>
              </a:rPr>
              <a:t> + O</a:t>
            </a:r>
            <a:r>
              <a:rPr lang="pt-BR" baseline="-25000" dirty="0">
                <a:latin typeface="+mn-lt"/>
                <a:cs typeface="Tahoma" pitchFamily="34" charset="0"/>
                <a:sym typeface="Wingdings" pitchFamily="2" charset="2"/>
              </a:rPr>
              <a:t>2</a:t>
            </a:r>
            <a:endParaRPr lang="pt-BR" dirty="0">
              <a:latin typeface="+mn-lt"/>
              <a:cs typeface="Tahoma" pitchFamily="34" charset="0"/>
              <a:sym typeface="Wingdings" pitchFamily="2" charset="2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1400" b="1" dirty="0">
              <a:latin typeface="+mn-lt"/>
              <a:cs typeface="Tahoma" pitchFamily="34" charset="0"/>
              <a:sym typeface="Wingdings" pitchFamily="2" charset="2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buFontTx/>
              <a:buAutoNum type="alphaLcParenR"/>
              <a:defRPr/>
            </a:pPr>
            <a:r>
              <a:rPr lang="pt-BR" b="1" dirty="0">
                <a:latin typeface="+mn-lt"/>
                <a:cs typeface="Tahoma" pitchFamily="34" charset="0"/>
              </a:rPr>
              <a:t>Trocas gasosas via estômatos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buFontTx/>
              <a:buAutoNum type="alphaLcParenR"/>
              <a:defRPr/>
            </a:pPr>
            <a:endParaRPr lang="pt-BR" sz="800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Estômato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Estruturas</a:t>
            </a:r>
          </a:p>
          <a:p>
            <a:pPr marL="1428750" lvl="2" indent="-51435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pt-BR" dirty="0">
                <a:latin typeface="+mn-lt"/>
                <a:cs typeface="Tahoma" pitchFamily="34" charset="0"/>
              </a:rPr>
              <a:t>Duas células guarda (fotossintetizantes)</a:t>
            </a:r>
          </a:p>
          <a:p>
            <a:pPr marL="1428750" lvl="2" indent="-51435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pt-BR" dirty="0">
                <a:latin typeface="+mn-lt"/>
                <a:cs typeface="Tahoma" pitchFamily="34" charset="0"/>
              </a:rPr>
              <a:t>Células subsidiárias (ao redor das cel. guarda)</a:t>
            </a:r>
          </a:p>
          <a:p>
            <a:pPr marL="1428750" lvl="2" indent="-51435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pt-BR" dirty="0" err="1">
                <a:latin typeface="+mn-lt"/>
                <a:cs typeface="Tahoma" pitchFamily="34" charset="0"/>
              </a:rPr>
              <a:t>Ostiolo</a:t>
            </a:r>
            <a:r>
              <a:rPr lang="pt-BR" dirty="0">
                <a:latin typeface="+mn-lt"/>
                <a:cs typeface="Tahoma" pitchFamily="34" charset="0"/>
              </a:rPr>
              <a:t> (abertura) entre as cel. guarda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1269" name="CaixaDeTexto 17"/>
          <p:cNvSpPr txBox="1">
            <a:spLocks noChangeArrowheads="1"/>
          </p:cNvSpPr>
          <p:nvPr/>
        </p:nvSpPr>
        <p:spPr bwMode="auto">
          <a:xfrm>
            <a:off x="6881814" y="1000125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7" name="Arco 6"/>
          <p:cNvSpPr/>
          <p:nvPr/>
        </p:nvSpPr>
        <p:spPr>
          <a:xfrm>
            <a:off x="8239125" y="5643563"/>
            <a:ext cx="914400" cy="914400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8" name="Arco 7"/>
          <p:cNvSpPr/>
          <p:nvPr/>
        </p:nvSpPr>
        <p:spPr>
          <a:xfrm rot="710265">
            <a:off x="8272463" y="4224339"/>
            <a:ext cx="1676400" cy="1895475"/>
          </a:xfrm>
          <a:prstGeom prst="arc">
            <a:avLst>
              <a:gd name="adj1" fmla="val 7822770"/>
              <a:gd name="adj2" fmla="val 1346106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7596189" y="4143375"/>
            <a:ext cx="642937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dirty="0">
                <a:latin typeface="+mn-lt"/>
              </a:rPr>
              <a:t>CO</a:t>
            </a:r>
            <a:r>
              <a:rPr lang="pt-BR" baseline="-25000" dirty="0">
                <a:latin typeface="+mn-lt"/>
              </a:rPr>
              <a:t>2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8096251" y="5643564"/>
            <a:ext cx="714375" cy="369887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latin typeface="+mn-lt"/>
              </a:rPr>
              <a:t>O</a:t>
            </a:r>
            <a:r>
              <a:rPr lang="pt-BR" baseline="-25000" dirty="0">
                <a:latin typeface="+mn-lt"/>
              </a:rPr>
              <a:t>2</a:t>
            </a:r>
          </a:p>
        </p:txBody>
      </p:sp>
      <p:sp>
        <p:nvSpPr>
          <p:cNvPr id="11" name="Arco 10"/>
          <p:cNvSpPr/>
          <p:nvPr/>
        </p:nvSpPr>
        <p:spPr>
          <a:xfrm rot="710265">
            <a:off x="6557963" y="4295776"/>
            <a:ext cx="1676400" cy="1895475"/>
          </a:xfrm>
          <a:prstGeom prst="arc">
            <a:avLst>
              <a:gd name="adj1" fmla="val 17650424"/>
              <a:gd name="adj2" fmla="val 202713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3CFD846-6CEC-4FCC-9E44-BA2797C2A332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A53FAA59-B3FA-421F-9874-D880C4613B43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Fisiologia Vegetal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m 11" descr="c15-4b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10314" y="1785939"/>
            <a:ext cx="3500437" cy="3500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1" name="Imagem 10" descr="c15-4a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81313" y="1857376"/>
            <a:ext cx="3643312" cy="3643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aixaDeTexto 8"/>
          <p:cNvSpPr txBox="1"/>
          <p:nvPr/>
        </p:nvSpPr>
        <p:spPr>
          <a:xfrm>
            <a:off x="1666876" y="1071564"/>
            <a:ext cx="8786813" cy="2308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2) Nutrição Vegetal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600" b="1" dirty="0">
              <a:latin typeface="Tahoma" pitchFamily="34" charset="0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buFontTx/>
              <a:buAutoNum type="romanUcParenR" startAt="5"/>
              <a:defRPr/>
            </a:pPr>
            <a:r>
              <a:rPr lang="pt-BR" sz="2000" b="1" dirty="0">
                <a:solidFill>
                  <a:srgbClr val="FF0000"/>
                </a:solidFill>
                <a:latin typeface="+mn-lt"/>
                <a:cs typeface="Tahoma" pitchFamily="34" charset="0"/>
              </a:rPr>
              <a:t>Nutrição orgânica das plantas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b="1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000" b="1" dirty="0">
              <a:latin typeface="+mn-lt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2294" name="CaixaDeTexto 17"/>
          <p:cNvSpPr txBox="1">
            <a:spLocks noChangeArrowheads="1"/>
          </p:cNvSpPr>
          <p:nvPr/>
        </p:nvSpPr>
        <p:spPr bwMode="auto">
          <a:xfrm>
            <a:off x="6881814" y="1000125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13" name="CaixaDeTexto 12"/>
          <p:cNvSpPr txBox="1"/>
          <p:nvPr/>
        </p:nvSpPr>
        <p:spPr>
          <a:xfrm>
            <a:off x="1809751" y="4929188"/>
            <a:ext cx="3571875" cy="18462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b="1" dirty="0">
                <a:latin typeface="+mn-lt"/>
              </a:rPr>
              <a:t>Abertura</a:t>
            </a:r>
          </a:p>
          <a:p>
            <a:pPr algn="ctr">
              <a:defRPr/>
            </a:pPr>
            <a:endParaRPr lang="pt-BR" sz="800" dirty="0">
              <a:latin typeface="+mn-lt"/>
            </a:endParaRPr>
          </a:p>
          <a:p>
            <a:pPr>
              <a:defRPr/>
            </a:pPr>
            <a:r>
              <a:rPr lang="pt-BR" dirty="0">
                <a:latin typeface="+mn-lt"/>
              </a:rPr>
              <a:t>Entrada de K+</a:t>
            </a:r>
          </a:p>
          <a:p>
            <a:pPr>
              <a:defRPr/>
            </a:pPr>
            <a:r>
              <a:rPr lang="pt-BR" dirty="0">
                <a:latin typeface="+mn-lt"/>
              </a:rPr>
              <a:t>Água entra nas células guarda</a:t>
            </a:r>
          </a:p>
          <a:p>
            <a:pPr>
              <a:defRPr/>
            </a:pPr>
            <a:r>
              <a:rPr lang="pt-BR" dirty="0">
                <a:latin typeface="+mn-lt"/>
              </a:rPr>
              <a:t>Células guarda tornam-se túrgidas</a:t>
            </a:r>
          </a:p>
          <a:p>
            <a:pPr>
              <a:defRPr/>
            </a:pPr>
            <a:r>
              <a:rPr lang="pt-BR" dirty="0">
                <a:latin typeface="+mn-lt"/>
              </a:rPr>
              <a:t>Promove a abertura do ostíolo</a:t>
            </a:r>
          </a:p>
          <a:p>
            <a:pPr>
              <a:defRPr/>
            </a:pPr>
            <a:endParaRPr lang="pt-BR" sz="1600" dirty="0">
              <a:latin typeface="+mn-lt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5953125" y="4979988"/>
            <a:ext cx="4357688" cy="18780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b="1" dirty="0">
                <a:latin typeface="+mn-lt"/>
              </a:rPr>
              <a:t>Fechamento</a:t>
            </a:r>
          </a:p>
          <a:p>
            <a:pPr algn="r">
              <a:defRPr/>
            </a:pPr>
            <a:endParaRPr lang="pt-BR" sz="800" dirty="0">
              <a:latin typeface="+mn-lt"/>
            </a:endParaRPr>
          </a:p>
          <a:p>
            <a:pPr algn="r">
              <a:defRPr/>
            </a:pPr>
            <a:r>
              <a:rPr lang="pt-BR" dirty="0">
                <a:latin typeface="+mn-lt"/>
              </a:rPr>
              <a:t>Saída de K+</a:t>
            </a:r>
          </a:p>
          <a:p>
            <a:pPr algn="r">
              <a:defRPr/>
            </a:pPr>
            <a:r>
              <a:rPr lang="pt-BR" dirty="0">
                <a:latin typeface="+mn-lt"/>
              </a:rPr>
              <a:t>Água sai das células guarda</a:t>
            </a:r>
          </a:p>
          <a:p>
            <a:pPr algn="r">
              <a:defRPr/>
            </a:pPr>
            <a:r>
              <a:rPr lang="pt-BR" dirty="0">
                <a:latin typeface="+mn-lt"/>
              </a:rPr>
              <a:t>Células guarda tornam-se </a:t>
            </a:r>
            <a:r>
              <a:rPr lang="pt-BR" dirty="0" err="1">
                <a:latin typeface="+mn-lt"/>
              </a:rPr>
              <a:t>plasmolizadas</a:t>
            </a:r>
            <a:endParaRPr lang="pt-BR" dirty="0">
              <a:latin typeface="+mn-lt"/>
            </a:endParaRPr>
          </a:p>
          <a:p>
            <a:pPr algn="r">
              <a:defRPr/>
            </a:pPr>
            <a:r>
              <a:rPr lang="pt-BR" dirty="0">
                <a:latin typeface="+mn-lt"/>
              </a:rPr>
              <a:t>Ocorre o fechamento do </a:t>
            </a:r>
            <a:r>
              <a:rPr lang="pt-BR" dirty="0" err="1">
                <a:latin typeface="+mn-lt"/>
              </a:rPr>
              <a:t>ostiolo</a:t>
            </a:r>
            <a:endParaRPr lang="pt-BR" dirty="0">
              <a:latin typeface="+mn-lt"/>
            </a:endParaRPr>
          </a:p>
          <a:p>
            <a:pPr algn="r">
              <a:defRPr/>
            </a:pPr>
            <a:endParaRPr lang="pt-BR" dirty="0">
              <a:latin typeface="+mn-lt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36197A6-58C6-4033-9228-239CF325CABB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943AF3B2-3BCA-47A0-87BC-73AF32E502AF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Fisiologia Vegetal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666876" y="1071564"/>
            <a:ext cx="8786813" cy="6308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2) Nutrição Vegetal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600" b="1" dirty="0">
              <a:latin typeface="Tahoma" pitchFamily="34" charset="0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Fatores que determinam a abertura dos estômatos: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buFontTx/>
              <a:buAutoNum type="alphaLcParenR"/>
              <a:defRPr/>
            </a:pPr>
            <a:r>
              <a:rPr lang="pt-BR" sz="2000" b="1" dirty="0">
                <a:solidFill>
                  <a:srgbClr val="FF0000"/>
                </a:solidFill>
                <a:latin typeface="+mn-lt"/>
                <a:cs typeface="Tahoma" pitchFamily="34" charset="0"/>
              </a:rPr>
              <a:t>Luminosidade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200" b="1" dirty="0">
              <a:solidFill>
                <a:srgbClr val="FF0000"/>
              </a:solidFill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Estimula a abertura dos estômatos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Maioria das plantas (abrem estômatos durante o dia) e os fecham (à noite)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Dia </a:t>
            </a:r>
            <a:r>
              <a:rPr lang="pt-BR" sz="1600" dirty="0">
                <a:latin typeface="+mn-lt"/>
                <a:cs typeface="Tahoma" pitchFamily="34" charset="0"/>
                <a:sym typeface="Wingdings" pitchFamily="2" charset="2"/>
              </a:rPr>
              <a:t></a:t>
            </a:r>
            <a:r>
              <a:rPr lang="pt-BR" dirty="0">
                <a:latin typeface="+mn-lt"/>
                <a:cs typeface="Tahoma" pitchFamily="34" charset="0"/>
                <a:sym typeface="Wingdings" pitchFamily="2" charset="2"/>
              </a:rPr>
              <a:t> luz </a:t>
            </a:r>
            <a:r>
              <a:rPr lang="pt-BR" sz="1600" dirty="0">
                <a:latin typeface="+mn-lt"/>
                <a:cs typeface="Tahoma" pitchFamily="34" charset="0"/>
                <a:sym typeface="Wingdings" pitchFamily="2" charset="2"/>
              </a:rPr>
              <a:t></a:t>
            </a:r>
            <a:r>
              <a:rPr lang="pt-BR" dirty="0">
                <a:latin typeface="+mn-lt"/>
                <a:cs typeface="Tahoma" pitchFamily="34" charset="0"/>
                <a:sym typeface="Wingdings" pitchFamily="2" charset="2"/>
              </a:rPr>
              <a:t> fotossíntese </a:t>
            </a:r>
            <a:r>
              <a:rPr lang="pt-BR" sz="1600" dirty="0">
                <a:latin typeface="+mn-lt"/>
                <a:cs typeface="Tahoma" pitchFamily="34" charset="0"/>
                <a:sym typeface="Wingdings" pitchFamily="2" charset="2"/>
              </a:rPr>
              <a:t></a:t>
            </a:r>
            <a:r>
              <a:rPr lang="pt-BR" dirty="0">
                <a:latin typeface="+mn-lt"/>
                <a:cs typeface="Tahoma" pitchFamily="34" charset="0"/>
                <a:sym typeface="Wingdings" pitchFamily="2" charset="2"/>
              </a:rPr>
              <a:t> abertura dos estômatos </a:t>
            </a:r>
            <a:r>
              <a:rPr lang="pt-BR" sz="1600" dirty="0">
                <a:latin typeface="+mn-lt"/>
                <a:cs typeface="Tahoma" pitchFamily="34" charset="0"/>
                <a:sym typeface="Wingdings" pitchFamily="2" charset="2"/>
              </a:rPr>
              <a:t></a:t>
            </a:r>
            <a:r>
              <a:rPr lang="pt-BR" dirty="0">
                <a:latin typeface="+mn-lt"/>
                <a:cs typeface="Tahoma" pitchFamily="34" charset="0"/>
                <a:sym typeface="Wingdings" pitchFamily="2" charset="2"/>
              </a:rPr>
              <a:t> trocas gasosas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1600" dirty="0">
              <a:latin typeface="+mn-lt"/>
              <a:cs typeface="Tahoma" pitchFamily="34" charset="0"/>
              <a:sym typeface="Wingdings" pitchFamily="2" charset="2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buFontTx/>
              <a:buAutoNum type="alphaLcParenR" startAt="2"/>
              <a:defRPr/>
            </a:pPr>
            <a:r>
              <a:rPr lang="pt-BR" sz="2000" b="1" dirty="0">
                <a:solidFill>
                  <a:srgbClr val="FF0000"/>
                </a:solidFill>
                <a:latin typeface="+mn-lt"/>
                <a:cs typeface="Tahoma" pitchFamily="34" charset="0"/>
                <a:sym typeface="Wingdings" pitchFamily="2" charset="2"/>
              </a:rPr>
              <a:t>Concentração de gás carbônico (CO</a:t>
            </a:r>
            <a:r>
              <a:rPr lang="pt-BR" sz="2000" b="1" baseline="-25000" dirty="0">
                <a:solidFill>
                  <a:srgbClr val="FF0000"/>
                </a:solidFill>
                <a:latin typeface="+mn-lt"/>
                <a:cs typeface="Tahoma" pitchFamily="34" charset="0"/>
                <a:sym typeface="Wingdings" pitchFamily="2" charset="2"/>
              </a:rPr>
              <a:t>2</a:t>
            </a:r>
            <a:r>
              <a:rPr lang="pt-BR" sz="2000" b="1" dirty="0">
                <a:solidFill>
                  <a:srgbClr val="FF0000"/>
                </a:solidFill>
                <a:latin typeface="+mn-lt"/>
                <a:cs typeface="Tahoma" pitchFamily="34" charset="0"/>
                <a:sym typeface="Wingdings" pitchFamily="2" charset="2"/>
              </a:rPr>
              <a:t>)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buFontTx/>
              <a:buAutoNum type="alphaLcParenR" startAt="2"/>
              <a:defRPr/>
            </a:pPr>
            <a:endParaRPr lang="pt-BR" sz="1200" b="1" dirty="0">
              <a:solidFill>
                <a:srgbClr val="FF0000"/>
              </a:solidFill>
              <a:latin typeface="+mn-lt"/>
              <a:cs typeface="Tahoma" pitchFamily="34" charset="0"/>
              <a:sym typeface="Wingdings" pitchFamily="2" charset="2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  <a:sym typeface="Wingdings" pitchFamily="2" charset="2"/>
              </a:rPr>
              <a:t>Baixas concentrações de CO</a:t>
            </a:r>
            <a:r>
              <a:rPr lang="pt-BR" baseline="-25000" dirty="0">
                <a:latin typeface="+mn-lt"/>
                <a:cs typeface="Tahoma" pitchFamily="34" charset="0"/>
                <a:sym typeface="Wingdings" pitchFamily="2" charset="2"/>
              </a:rPr>
              <a:t>2</a:t>
            </a:r>
            <a:r>
              <a:rPr lang="pt-BR" dirty="0">
                <a:latin typeface="+mn-lt"/>
                <a:cs typeface="Tahoma" pitchFamily="34" charset="0"/>
                <a:sym typeface="Wingdings" pitchFamily="2" charset="2"/>
              </a:rPr>
              <a:t> </a:t>
            </a:r>
            <a:r>
              <a:rPr lang="pt-BR" sz="1600" dirty="0">
                <a:latin typeface="+mn-lt"/>
                <a:cs typeface="Tahoma" pitchFamily="34" charset="0"/>
                <a:sym typeface="Wingdings" pitchFamily="2" charset="2"/>
              </a:rPr>
              <a:t></a:t>
            </a:r>
            <a:r>
              <a:rPr lang="pt-BR" dirty="0">
                <a:latin typeface="+mn-lt"/>
                <a:cs typeface="Tahoma" pitchFamily="34" charset="0"/>
                <a:sym typeface="Wingdings" pitchFamily="2" charset="2"/>
              </a:rPr>
              <a:t> Estômatos abrem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Altas concentrações de </a:t>
            </a:r>
            <a:r>
              <a:rPr lang="pt-BR" dirty="0">
                <a:latin typeface="+mn-lt"/>
                <a:cs typeface="Tahoma" pitchFamily="34" charset="0"/>
                <a:sym typeface="Wingdings" pitchFamily="2" charset="2"/>
              </a:rPr>
              <a:t>CO</a:t>
            </a:r>
            <a:r>
              <a:rPr lang="pt-BR" baseline="-25000" dirty="0">
                <a:latin typeface="+mn-lt"/>
                <a:cs typeface="Tahoma" pitchFamily="34" charset="0"/>
                <a:sym typeface="Wingdings" pitchFamily="2" charset="2"/>
              </a:rPr>
              <a:t>2 </a:t>
            </a:r>
            <a:r>
              <a:rPr lang="pt-BR" dirty="0">
                <a:latin typeface="+mn-lt"/>
                <a:cs typeface="Tahoma" pitchFamily="34" charset="0"/>
                <a:sym typeface="Wingdings" pitchFamily="2" charset="2"/>
              </a:rPr>
              <a:t> </a:t>
            </a:r>
            <a:r>
              <a:rPr lang="pt-BR" sz="1600" dirty="0">
                <a:latin typeface="+mn-lt"/>
                <a:cs typeface="Tahoma" pitchFamily="34" charset="0"/>
                <a:sym typeface="Wingdings" pitchFamily="2" charset="2"/>
              </a:rPr>
              <a:t> </a:t>
            </a:r>
            <a:r>
              <a:rPr lang="pt-BR" dirty="0">
                <a:latin typeface="+mn-lt"/>
                <a:cs typeface="Tahoma" pitchFamily="34" charset="0"/>
                <a:sym typeface="Wingdings" pitchFamily="2" charset="2"/>
              </a:rPr>
              <a:t>Estômatos se fecham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600" dirty="0">
              <a:latin typeface="+mn-lt"/>
              <a:cs typeface="Tahoma" pitchFamily="34" charset="0"/>
              <a:sym typeface="Wingdings" pitchFamily="2" charset="2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buFontTx/>
              <a:buAutoNum type="alphaLcParenR" startAt="3"/>
              <a:defRPr/>
            </a:pPr>
            <a:r>
              <a:rPr lang="pt-BR" sz="2000" b="1" dirty="0">
                <a:solidFill>
                  <a:srgbClr val="FF0000"/>
                </a:solidFill>
                <a:latin typeface="+mn-lt"/>
                <a:cs typeface="Tahoma" pitchFamily="34" charset="0"/>
                <a:sym typeface="Wingdings" pitchFamily="2" charset="2"/>
              </a:rPr>
              <a:t>Disponibilidade de água</a:t>
            </a:r>
            <a:endParaRPr lang="pt-BR" sz="2000" dirty="0">
              <a:latin typeface="+mn-lt"/>
              <a:cs typeface="Tahoma" pitchFamily="34" charset="0"/>
              <a:sym typeface="Wingdings" pitchFamily="2" charset="2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buFontTx/>
              <a:buAutoNum type="alphaLcParenR" startAt="3"/>
              <a:defRPr/>
            </a:pPr>
            <a:endParaRPr lang="pt-BR" sz="1200" b="1" dirty="0">
              <a:solidFill>
                <a:srgbClr val="FF0000"/>
              </a:solidFill>
              <a:latin typeface="+mn-lt"/>
              <a:cs typeface="Tahoma" pitchFamily="34" charset="0"/>
              <a:sym typeface="Wingdings" pitchFamily="2" charset="2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  <a:sym typeface="Wingdings" pitchFamily="2" charset="2"/>
              </a:rPr>
              <a:t>Pouca água no solo </a:t>
            </a:r>
            <a:r>
              <a:rPr lang="pt-BR" sz="1600" dirty="0">
                <a:latin typeface="+mn-lt"/>
                <a:cs typeface="Tahoma" pitchFamily="34" charset="0"/>
                <a:sym typeface="Wingdings" pitchFamily="2" charset="2"/>
              </a:rPr>
              <a:t></a:t>
            </a:r>
            <a:r>
              <a:rPr lang="pt-BR" dirty="0">
                <a:latin typeface="+mn-lt"/>
                <a:cs typeface="Tahoma" pitchFamily="34" charset="0"/>
                <a:sym typeface="Wingdings" pitchFamily="2" charset="2"/>
              </a:rPr>
              <a:t> estômatos se fecham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  <a:sym typeface="Wingdings" pitchFamily="2" charset="2"/>
              </a:rPr>
              <a:t>Muita água no solo </a:t>
            </a:r>
            <a:r>
              <a:rPr lang="pt-BR" sz="1600" dirty="0">
                <a:latin typeface="+mn-lt"/>
                <a:cs typeface="Tahoma" pitchFamily="34" charset="0"/>
                <a:sym typeface="Wingdings" pitchFamily="2" charset="2"/>
              </a:rPr>
              <a:t></a:t>
            </a:r>
            <a:r>
              <a:rPr lang="pt-BR" dirty="0">
                <a:latin typeface="+mn-lt"/>
                <a:cs typeface="Tahoma" pitchFamily="34" charset="0"/>
                <a:sym typeface="Wingdings" pitchFamily="2" charset="2"/>
              </a:rPr>
              <a:t> estômatos abrem</a:t>
            </a: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000" b="1" dirty="0">
              <a:latin typeface="+mn-lt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3316" name="CaixaDeTexto 17"/>
          <p:cNvSpPr txBox="1">
            <a:spLocks noChangeArrowheads="1"/>
          </p:cNvSpPr>
          <p:nvPr/>
        </p:nvSpPr>
        <p:spPr bwMode="auto">
          <a:xfrm>
            <a:off x="6881814" y="1000125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7024689" y="5643564"/>
            <a:ext cx="3000375" cy="3698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pt-BR" dirty="0"/>
              <a:t>Adaptação à economia hídrica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7739064" y="4286250"/>
            <a:ext cx="2643187" cy="36988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pt-BR" dirty="0"/>
              <a:t>Adaptação à fotossíntese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126714F-5976-42CE-B3A4-A28681C311DB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A262D64-9857-45EC-BF39-E14976EE1562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Fisiologia Vegetal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Imagem 21" descr="seivaelaborada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08800" y="1428751"/>
            <a:ext cx="3759200" cy="5072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aixaDeTexto 8"/>
          <p:cNvSpPr txBox="1"/>
          <p:nvPr/>
        </p:nvSpPr>
        <p:spPr>
          <a:xfrm>
            <a:off x="1666876" y="1071564"/>
            <a:ext cx="8786813" cy="72024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2) Nutrição Vegetal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600" b="1" dirty="0">
              <a:latin typeface="Tahoma" pitchFamily="34" charset="0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solidFill>
                  <a:srgbClr val="FF0000"/>
                </a:solidFill>
                <a:latin typeface="+mn-lt"/>
                <a:cs typeface="Tahoma" pitchFamily="34" charset="0"/>
              </a:rPr>
              <a:t>VI) Condução de seiva elaborada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000" b="1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Teoria mais aceita: </a:t>
            </a:r>
            <a:r>
              <a:rPr lang="pt-BR" b="1" dirty="0">
                <a:solidFill>
                  <a:schemeClr val="tx2"/>
                </a:solidFill>
                <a:latin typeface="+mn-lt"/>
                <a:cs typeface="Tahoma" pitchFamily="34" charset="0"/>
              </a:rPr>
              <a:t>Fluxo de massa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solidFill>
                <a:schemeClr val="tx2"/>
              </a:solidFill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chemeClr val="tx2"/>
                </a:solidFill>
                <a:latin typeface="+mn-lt"/>
                <a:cs typeface="Tahoma" pitchFamily="34" charset="0"/>
              </a:rPr>
              <a:t>Como a matéria orgânica se movimenta no floema?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solidFill>
                <a:schemeClr val="tx2"/>
              </a:solidFill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b="1" dirty="0">
                <a:latin typeface="+mn-lt"/>
                <a:cs typeface="Tahoma" pitchFamily="34" charset="0"/>
              </a:rPr>
              <a:t>Folhas (órgãos fonte)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Floema possui maior concentração de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matéria orgânica.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300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b="1" dirty="0">
                <a:latin typeface="+mn-lt"/>
                <a:cs typeface="Tahoma" pitchFamily="34" charset="0"/>
              </a:rPr>
              <a:t>Raízes (órgãos dreno)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Floema possui menor concentração de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matéria orgânica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428750" lvl="2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solidFill>
                <a:schemeClr val="tx2"/>
              </a:solidFill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solidFill>
                <a:schemeClr val="tx2"/>
              </a:solidFill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000" b="1" dirty="0">
              <a:latin typeface="+mn-lt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4341" name="CaixaDeTexto 17"/>
          <p:cNvSpPr txBox="1">
            <a:spLocks noChangeArrowheads="1"/>
          </p:cNvSpPr>
          <p:nvPr/>
        </p:nvSpPr>
        <p:spPr bwMode="auto">
          <a:xfrm>
            <a:off x="6881814" y="1000125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14342" name="CaixaDeTexto 12"/>
          <p:cNvSpPr txBox="1">
            <a:spLocks noChangeArrowheads="1"/>
          </p:cNvSpPr>
          <p:nvPr/>
        </p:nvSpPr>
        <p:spPr bwMode="auto">
          <a:xfrm>
            <a:off x="8596314" y="6286500"/>
            <a:ext cx="92868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1600"/>
              <a:t>Floema</a:t>
            </a:r>
          </a:p>
        </p:txBody>
      </p:sp>
      <p:sp>
        <p:nvSpPr>
          <p:cNvPr id="14343" name="CaixaDeTexto 13"/>
          <p:cNvSpPr txBox="1">
            <a:spLocks noChangeArrowheads="1"/>
          </p:cNvSpPr>
          <p:nvPr/>
        </p:nvSpPr>
        <p:spPr bwMode="auto">
          <a:xfrm>
            <a:off x="7024689" y="6286500"/>
            <a:ext cx="92868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1600"/>
              <a:t>Xilema</a:t>
            </a:r>
          </a:p>
        </p:txBody>
      </p:sp>
      <p:sp>
        <p:nvSpPr>
          <p:cNvPr id="14344" name="CaixaDeTexto 14"/>
          <p:cNvSpPr txBox="1">
            <a:spLocks noChangeArrowheads="1"/>
          </p:cNvSpPr>
          <p:nvPr/>
        </p:nvSpPr>
        <p:spPr bwMode="auto">
          <a:xfrm>
            <a:off x="6738938" y="1214439"/>
            <a:ext cx="14287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1600">
                <a:cs typeface="Arial" charset="0"/>
              </a:rPr>
              <a:t>Transpiração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9596439" y="3286126"/>
            <a:ext cx="71437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600" b="1" dirty="0">
                <a:latin typeface="+mn-lt"/>
              </a:rPr>
              <a:t>Fonte</a:t>
            </a:r>
          </a:p>
          <a:p>
            <a:pPr>
              <a:defRPr/>
            </a:pPr>
            <a:r>
              <a:rPr lang="pt-BR" sz="1200" b="1" dirty="0">
                <a:latin typeface="+mn-lt"/>
              </a:rPr>
              <a:t>(folhas)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9667876" y="6286500"/>
            <a:ext cx="714375" cy="508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600" b="1" dirty="0">
                <a:latin typeface="+mn-lt"/>
              </a:rPr>
              <a:t>Dreno</a:t>
            </a:r>
          </a:p>
          <a:p>
            <a:pPr algn="ctr">
              <a:defRPr/>
            </a:pPr>
            <a:r>
              <a:rPr lang="pt-BR" sz="1100" b="1" dirty="0"/>
              <a:t>(raízes)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1881188" y="5143500"/>
            <a:ext cx="4500562" cy="584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600" dirty="0">
                <a:cs typeface="Tahoma" pitchFamily="34" charset="0"/>
              </a:rPr>
              <a:t>A água passa do xilema para o floema,  onde existe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600" dirty="0">
                <a:cs typeface="Tahoma" pitchFamily="34" charset="0"/>
              </a:rPr>
              <a:t> maior concentração de matéria orgânica (osmose)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1881188" y="5929313"/>
            <a:ext cx="4500562" cy="584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600" dirty="0">
                <a:cs typeface="Tahoma" pitchFamily="34" charset="0"/>
              </a:rPr>
              <a:t>Ao atingir o floema a água empurra as moléculas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600" dirty="0">
                <a:cs typeface="Tahoma" pitchFamily="34" charset="0"/>
              </a:rPr>
              <a:t>orgânicas para o seu destino onde serão assimiladas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07618EB-5EFB-4456-BA20-895656E32A94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AFC73B4D-E84F-4763-BA4E-F8E2D58AEB0A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Fisiologia Vegetal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2063552" y="836712"/>
            <a:ext cx="8136904" cy="50475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514350" indent="-514350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4000" dirty="0">
              <a:latin typeface="+mj-lt"/>
              <a:cs typeface="Tahoma" pitchFamily="34" charset="0"/>
            </a:endParaRPr>
          </a:p>
          <a:p>
            <a:pPr marL="514350" indent="-51435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4400" dirty="0">
                <a:latin typeface="+mj-lt"/>
                <a:cs typeface="Tahoma" pitchFamily="34" charset="0"/>
              </a:rPr>
              <a:t>Então, o que faz com que a água se movimente no interior do floema é a diferença de pressão osmótica existente</a:t>
            </a:r>
          </a:p>
          <a:p>
            <a:pPr marL="514350" indent="-51435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4400" dirty="0">
                <a:latin typeface="+mj-lt"/>
                <a:cs typeface="Tahoma" pitchFamily="34" charset="0"/>
              </a:rPr>
              <a:t>entre o órgão fonte (folhas) e o dreno (raízes)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j-lt"/>
              <a:cs typeface="Tahoma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6DC45CA-7923-4C07-84A5-9DA30B26C7E1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C463B44-9F7E-42D5-85DE-F9C5D412AFB9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Fisiologia Vegetal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666876" y="1071563"/>
            <a:ext cx="8786813" cy="38782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2) Nutrição Vegetal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600" b="1" dirty="0">
              <a:latin typeface="Tahoma" pitchFamily="34" charset="0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solidFill>
                  <a:srgbClr val="FF0000"/>
                </a:solidFill>
                <a:latin typeface="+mn-lt"/>
                <a:cs typeface="Tahoma" pitchFamily="34" charset="0"/>
              </a:rPr>
              <a:t>VI) Condução de seiva elaborada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000" b="1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428750" lvl="2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solidFill>
                <a:schemeClr val="tx2"/>
              </a:solidFill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solidFill>
                <a:schemeClr val="tx2"/>
              </a:solidFill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000" b="1" dirty="0">
              <a:latin typeface="+mn-lt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5364" name="CaixaDeTexto 17"/>
          <p:cNvSpPr txBox="1">
            <a:spLocks noChangeArrowheads="1"/>
          </p:cNvSpPr>
          <p:nvPr/>
        </p:nvSpPr>
        <p:spPr bwMode="auto">
          <a:xfrm>
            <a:off x="6881814" y="1000125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pic>
        <p:nvPicPr>
          <p:cNvPr id="15365" name="Imagem 16" descr="c15-7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54638" y="1071564"/>
            <a:ext cx="5313362" cy="5786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7" name="Retângulo 7"/>
          <p:cNvSpPr>
            <a:spLocks noChangeArrowheads="1"/>
          </p:cNvSpPr>
          <p:nvPr/>
        </p:nvSpPr>
        <p:spPr bwMode="auto">
          <a:xfrm>
            <a:off x="1952626" y="2000250"/>
            <a:ext cx="32861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514350" indent="-514350" algn="ctr"/>
            <a:r>
              <a:rPr lang="pt-BR" b="1">
                <a:latin typeface="Calibri" pitchFamily="34" charset="0"/>
                <a:cs typeface="Tahoma" pitchFamily="34" charset="0"/>
              </a:rPr>
              <a:t>Experimento do fluxo de massa</a:t>
            </a:r>
            <a:endParaRPr lang="pt-BR">
              <a:latin typeface="Calibri" pitchFamily="34" charset="0"/>
              <a:cs typeface="Tahoma" pitchFamily="34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3E95E5F-694B-45AD-86E1-A566CF493517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A3542BA7-CE56-4B91-9B94-8E19B5151B9C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Fisiologia Vegetal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433932" y="1174840"/>
            <a:ext cx="5564776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Anel de </a:t>
            </a:r>
            <a:r>
              <a:rPr lang="pt-BR" b="1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malpighi</a:t>
            </a:r>
            <a:r>
              <a:rPr lang="pt-BR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é um experimento que consiste na retirada de um anel de casca de um ramo ou tronco de uma arvore, a retirada do anel de </a:t>
            </a:r>
            <a:r>
              <a:rPr lang="pt-BR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malpighi</a:t>
            </a:r>
            <a:r>
              <a:rPr lang="pt-BR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interrompe o floema e provoca o acumulo de substancias orgânicas acima do corte.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 retirada desse anel impede que a seiva elaborada seja distribuída para as raízes, que acabam morrendo; mais tarde a planta também morre, pois as folhas deixam de receber a seiva bruta, que é necessária à fotossíntese.</a:t>
            </a:r>
            <a:endParaRPr lang="pt-BR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428750" lvl="2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solidFill>
                <a:schemeClr val="tx2"/>
              </a:solidFill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solidFill>
                <a:schemeClr val="tx2"/>
              </a:solidFill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000" b="1" dirty="0">
              <a:latin typeface="+mn-lt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07618EB-5EFB-4456-BA20-895656E32A94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AFC73B4D-E84F-4763-BA4E-F8E2D58AEB0A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Fisiologia Vegetal – Anel de </a:t>
            </a:r>
            <a:r>
              <a:rPr lang="pt-BR" b="1" dirty="0" err="1">
                <a:solidFill>
                  <a:schemeClr val="bg1"/>
                </a:solidFill>
              </a:rPr>
              <a:t>Malpighi</a:t>
            </a:r>
            <a:endParaRPr lang="pt-BR" b="1" dirty="0">
              <a:solidFill>
                <a:schemeClr val="bg1"/>
              </a:solidFill>
            </a:endParaRPr>
          </a:p>
        </p:txBody>
      </p:sp>
      <p:pic>
        <p:nvPicPr>
          <p:cNvPr id="1026" name="Picture 2" descr="Anel de Malpighi">
            <a:extLst>
              <a:ext uri="{FF2B5EF4-FFF2-40B4-BE49-F238E27FC236}">
                <a16:creationId xmlns:a16="http://schemas.microsoft.com/office/drawing/2014/main" id="{B6617424-CCB0-4B07-84B9-1209DBB43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4663" y="1174840"/>
            <a:ext cx="4200525" cy="504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8642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666876" y="1071564"/>
            <a:ext cx="8786813" cy="69246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3)  Hormônios Vegetais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600" b="1" dirty="0">
              <a:latin typeface="Tahoma" pitchFamily="34" charset="0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Também chamados de </a:t>
            </a:r>
            <a:r>
              <a:rPr lang="pt-BR" dirty="0" err="1">
                <a:latin typeface="+mn-lt"/>
                <a:cs typeface="Tahoma" pitchFamily="34" charset="0"/>
              </a:rPr>
              <a:t>fitormônios</a:t>
            </a:r>
            <a:r>
              <a:rPr lang="pt-BR" dirty="0">
                <a:latin typeface="+mn-lt"/>
                <a:cs typeface="Tahoma" pitchFamily="34" charset="0"/>
              </a:rPr>
              <a:t>.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Regulam o funcionamento fisiológico das plantas.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São cinco hormônios vegetais: Auxina, </a:t>
            </a:r>
            <a:r>
              <a:rPr lang="pt-BR" dirty="0" err="1">
                <a:latin typeface="+mn-lt"/>
                <a:cs typeface="Tahoma" pitchFamily="34" charset="0"/>
              </a:rPr>
              <a:t>Citocinina</a:t>
            </a:r>
            <a:r>
              <a:rPr lang="pt-BR" dirty="0">
                <a:latin typeface="+mn-lt"/>
                <a:cs typeface="Tahoma" pitchFamily="34" charset="0"/>
              </a:rPr>
              <a:t>, Etileno, </a:t>
            </a:r>
            <a:r>
              <a:rPr lang="pt-BR" dirty="0" err="1">
                <a:latin typeface="+mn-lt"/>
                <a:cs typeface="Tahoma" pitchFamily="34" charset="0"/>
              </a:rPr>
              <a:t>Giberelina</a:t>
            </a:r>
            <a:r>
              <a:rPr lang="pt-BR" dirty="0">
                <a:latin typeface="+mn-lt"/>
                <a:cs typeface="Tahoma" pitchFamily="34" charset="0"/>
              </a:rPr>
              <a:t> e Ácido </a:t>
            </a:r>
            <a:r>
              <a:rPr lang="pt-BR" dirty="0" err="1">
                <a:latin typeface="+mn-lt"/>
                <a:cs typeface="Tahoma" pitchFamily="34" charset="0"/>
              </a:rPr>
              <a:t>Abscísico</a:t>
            </a:r>
            <a:r>
              <a:rPr lang="pt-BR" dirty="0">
                <a:latin typeface="+mn-lt"/>
                <a:cs typeface="Tahoma" pitchFamily="34" charset="0"/>
              </a:rPr>
              <a:t>.</a:t>
            </a:r>
          </a:p>
          <a:p>
            <a:pPr marL="1428750" lvl="2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solidFill>
                <a:schemeClr val="tx2"/>
              </a:solidFill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buFontTx/>
              <a:buAutoNum type="alphaLcParenR"/>
              <a:defRPr/>
            </a:pPr>
            <a:r>
              <a:rPr lang="pt-BR" sz="2000" b="1" dirty="0">
                <a:solidFill>
                  <a:srgbClr val="FF0000"/>
                </a:solidFill>
                <a:latin typeface="+mn-lt"/>
                <a:cs typeface="Tahoma" pitchFamily="34" charset="0"/>
              </a:rPr>
              <a:t>Auxina</a:t>
            </a:r>
            <a:endParaRPr lang="pt-BR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000" b="1" dirty="0">
              <a:solidFill>
                <a:srgbClr val="FF0000"/>
              </a:solidFill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Ácido </a:t>
            </a:r>
            <a:r>
              <a:rPr lang="pt-BR" dirty="0" err="1">
                <a:latin typeface="+mn-lt"/>
                <a:cs typeface="Tahoma" pitchFamily="34" charset="0"/>
              </a:rPr>
              <a:t>Indolacético</a:t>
            </a:r>
            <a:r>
              <a:rPr lang="pt-BR" dirty="0">
                <a:latin typeface="+mn-lt"/>
                <a:cs typeface="Tahoma" pitchFamily="34" charset="0"/>
              </a:rPr>
              <a:t> (AIA)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Descoberta por Charles Darwin (1881)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Local de produção: gema apical do caule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Funções: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	I) Alongamento celular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	II) Tropismos (movimentos vegetais)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	III) Enraizamento de estacas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	IV) Dominância apical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	V) Desenvolvimento do caule e da raiz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000" b="1" dirty="0">
              <a:latin typeface="+mn-lt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6388" name="CaixaDeTexto 17"/>
          <p:cNvSpPr txBox="1">
            <a:spLocks noChangeArrowheads="1"/>
          </p:cNvSpPr>
          <p:nvPr/>
        </p:nvSpPr>
        <p:spPr bwMode="auto">
          <a:xfrm>
            <a:off x="6881814" y="1000125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6D830AC-7D4A-48D6-BF73-138A2C01E558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5BAE1EC0-D9C6-4BCF-9142-85778C5021A8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Fisiologia Vegetal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666876" y="1071563"/>
            <a:ext cx="8786813" cy="28321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3"/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Hormônios Vegetais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3"/>
              <a:defRPr/>
            </a:pPr>
            <a:endParaRPr lang="pt-BR" sz="1400" dirty="0">
              <a:solidFill>
                <a:schemeClr val="tx2"/>
              </a:solidFill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buFontTx/>
              <a:buAutoNum type="alphaLcParenR"/>
              <a:defRPr/>
            </a:pPr>
            <a:r>
              <a:rPr lang="pt-BR" sz="2000" b="1" dirty="0">
                <a:solidFill>
                  <a:srgbClr val="FF0000"/>
                </a:solidFill>
                <a:latin typeface="+mn-lt"/>
                <a:cs typeface="Tahoma" pitchFamily="34" charset="0"/>
              </a:rPr>
              <a:t>Auxina</a:t>
            </a:r>
            <a:endParaRPr lang="pt-BR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	I) Alongamento celular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000" b="1" dirty="0">
              <a:latin typeface="+mn-lt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7412" name="CaixaDeTexto 17"/>
          <p:cNvSpPr txBox="1">
            <a:spLocks noChangeArrowheads="1"/>
          </p:cNvSpPr>
          <p:nvPr/>
        </p:nvSpPr>
        <p:spPr bwMode="auto">
          <a:xfrm>
            <a:off x="6881814" y="1000125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pic>
        <p:nvPicPr>
          <p:cNvPr id="17413" name="Imagem 5" descr="auxina alongamento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38313" y="2714626"/>
            <a:ext cx="8786812" cy="3681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aixaDeTexto 6"/>
          <p:cNvSpPr txBox="1"/>
          <p:nvPr/>
        </p:nvSpPr>
        <p:spPr>
          <a:xfrm>
            <a:off x="1738313" y="3357563"/>
            <a:ext cx="114300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600" dirty="0">
                <a:latin typeface="+mn-lt"/>
              </a:rPr>
              <a:t>Membrana</a:t>
            </a:r>
          </a:p>
          <a:p>
            <a:pPr algn="ctr">
              <a:defRPr/>
            </a:pPr>
            <a:r>
              <a:rPr lang="pt-BR" sz="1600" dirty="0">
                <a:latin typeface="+mn-lt"/>
              </a:rPr>
              <a:t>plasmática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2595563" y="3714750"/>
            <a:ext cx="114300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600" dirty="0">
                <a:latin typeface="+mn-lt"/>
              </a:rPr>
              <a:t>Parede celular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3595688" y="2786063"/>
            <a:ext cx="1357312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600" b="1" dirty="0">
                <a:latin typeface="+mn-lt"/>
              </a:rPr>
              <a:t>Auxinas</a:t>
            </a:r>
            <a:r>
              <a:rPr lang="pt-BR" sz="1600" dirty="0">
                <a:latin typeface="+mn-lt"/>
              </a:rPr>
              <a:t> estimulam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3810001" y="4714876"/>
            <a:ext cx="1357313" cy="830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600" dirty="0">
                <a:latin typeface="+mn-lt"/>
              </a:rPr>
              <a:t>Proteína </a:t>
            </a:r>
            <a:r>
              <a:rPr lang="pt-BR" sz="1600" dirty="0" err="1">
                <a:latin typeface="+mn-lt"/>
              </a:rPr>
              <a:t>bombeadora</a:t>
            </a:r>
            <a:r>
              <a:rPr lang="pt-BR" sz="1600" dirty="0">
                <a:latin typeface="+mn-lt"/>
              </a:rPr>
              <a:t> de H</a:t>
            </a:r>
            <a:r>
              <a:rPr lang="pt-BR" sz="1600" baseline="30000" dirty="0">
                <a:latin typeface="+mn-lt"/>
              </a:rPr>
              <a:t>+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6667501" y="5143500"/>
            <a:ext cx="1285875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600" dirty="0" err="1">
                <a:latin typeface="+mn-lt"/>
              </a:rPr>
              <a:t>Expansinas</a:t>
            </a:r>
            <a:endParaRPr lang="pt-BR" sz="1600" dirty="0">
              <a:latin typeface="+mn-lt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4667251" y="6000750"/>
            <a:ext cx="1285875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600" dirty="0">
                <a:latin typeface="+mn-lt"/>
              </a:rPr>
              <a:t>Molécula de celulose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6024564" y="6072188"/>
            <a:ext cx="2643187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600" dirty="0">
                <a:latin typeface="+mn-lt"/>
              </a:rPr>
              <a:t>Molécula de celulose sofrem alongamento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7739063" y="4143375"/>
            <a:ext cx="142875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600" dirty="0">
                <a:latin typeface="+mn-lt"/>
              </a:rPr>
              <a:t>Expansão da parede celular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9167813" y="6273800"/>
            <a:ext cx="1357312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600" dirty="0">
                <a:latin typeface="+mn-lt"/>
              </a:rPr>
              <a:t>Alongamento celular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024564" y="2857500"/>
            <a:ext cx="1571625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dirty="0">
                <a:latin typeface="+mn-lt"/>
              </a:rPr>
              <a:t>Parede celular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1C14C02-7EB0-49B0-BBBB-1972CE2BAB31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90D301A7-68A6-4D34-B565-FED6E16D4655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Fisiologia Vegetal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666876" y="1071563"/>
            <a:ext cx="8786813" cy="42164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3"/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Hormônios Vegetais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3"/>
              <a:defRPr/>
            </a:pPr>
            <a:endParaRPr lang="pt-BR" sz="1400" dirty="0">
              <a:solidFill>
                <a:schemeClr val="tx2"/>
              </a:solidFill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buFontTx/>
              <a:buAutoNum type="alphaLcParenR"/>
              <a:defRPr/>
            </a:pPr>
            <a:r>
              <a:rPr lang="pt-BR" sz="2000" b="1" dirty="0">
                <a:solidFill>
                  <a:srgbClr val="FF0000"/>
                </a:solidFill>
                <a:latin typeface="+mn-lt"/>
                <a:cs typeface="Tahoma" pitchFamily="34" charset="0"/>
              </a:rPr>
              <a:t>Auxina</a:t>
            </a:r>
            <a:endParaRPr lang="pt-BR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	</a:t>
            </a:r>
            <a:r>
              <a:rPr lang="pt-BR" b="1" dirty="0">
                <a:latin typeface="+mn-lt"/>
                <a:cs typeface="Tahoma" pitchFamily="34" charset="0"/>
              </a:rPr>
              <a:t>II) Tropismos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	As auxinas controlam os tropismos: movimentos de curvatura da planta em resposta a um determinado estímulo.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romanLcPeriod"/>
              <a:defRPr/>
            </a:pPr>
            <a:r>
              <a:rPr lang="pt-BR" b="1" dirty="0">
                <a:latin typeface="+mn-lt"/>
                <a:cs typeface="Tahoma" pitchFamily="34" charset="0"/>
              </a:rPr>
              <a:t>Fototropismo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Tipo de tropismo em que a fonte estimuladora do movimento da planta é a luz.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000" b="1" dirty="0">
              <a:latin typeface="+mn-lt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8436" name="CaixaDeTexto 17"/>
          <p:cNvSpPr txBox="1">
            <a:spLocks noChangeArrowheads="1"/>
          </p:cNvSpPr>
          <p:nvPr/>
        </p:nvSpPr>
        <p:spPr bwMode="auto">
          <a:xfrm>
            <a:off x="6881814" y="1000125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18" name="CaixaDeTexto 17"/>
          <p:cNvSpPr txBox="1"/>
          <p:nvPr/>
        </p:nvSpPr>
        <p:spPr>
          <a:xfrm>
            <a:off x="2024063" y="4786313"/>
            <a:ext cx="2000250" cy="12001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pt-BR" dirty="0"/>
              <a:t>Quando a planta é iluminada a auxina migra para o lado oposto ao da luz</a:t>
            </a:r>
          </a:p>
        </p:txBody>
      </p:sp>
      <p:pic>
        <p:nvPicPr>
          <p:cNvPr id="18438" name="Imagem 19" descr="auxina1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67189" y="4429126"/>
            <a:ext cx="5653087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52D82E7E-7855-43CE-A895-F5BD0D1D9222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55F468DD-CF6E-4997-BDD1-9E5865611BB6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Fisiologia Vegetal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666876" y="1071564"/>
            <a:ext cx="8786813" cy="2738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3"/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Hormônios Vegetais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romanLcPeriod"/>
              <a:defRPr/>
            </a:pPr>
            <a:r>
              <a:rPr lang="pt-BR" b="1" dirty="0">
                <a:latin typeface="+mn-lt"/>
                <a:cs typeface="Tahoma" pitchFamily="34" charset="0"/>
              </a:rPr>
              <a:t>Fototropismo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Caule: </a:t>
            </a:r>
            <a:r>
              <a:rPr lang="pt-BR" dirty="0">
                <a:latin typeface="+mn-lt"/>
                <a:cs typeface="Tahoma" pitchFamily="34" charset="0"/>
              </a:rPr>
              <a:t>O excesso de auxina estimula o alongamento celular (fototropismo positivo)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Raiz: </a:t>
            </a:r>
            <a:r>
              <a:rPr lang="pt-BR" dirty="0">
                <a:latin typeface="+mn-lt"/>
                <a:cs typeface="Tahoma" pitchFamily="34" charset="0"/>
              </a:rPr>
              <a:t>O excesso de auxina inibe o alongamento celular (fototropismo negativo)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000" b="1" dirty="0">
              <a:latin typeface="+mn-lt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9460" name="CaixaDeTexto 17"/>
          <p:cNvSpPr txBox="1">
            <a:spLocks noChangeArrowheads="1"/>
          </p:cNvSpPr>
          <p:nvPr/>
        </p:nvSpPr>
        <p:spPr bwMode="auto">
          <a:xfrm>
            <a:off x="6881814" y="1000125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8" name="Hexágono 7"/>
          <p:cNvSpPr/>
          <p:nvPr/>
        </p:nvSpPr>
        <p:spPr>
          <a:xfrm>
            <a:off x="2238375" y="3000376"/>
            <a:ext cx="1214438" cy="3286125"/>
          </a:xfrm>
          <a:prstGeom prst="hexag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cxnSp>
        <p:nvCxnSpPr>
          <p:cNvPr id="11" name="Conector reto 10"/>
          <p:cNvCxnSpPr>
            <a:stCxn id="8" idx="2"/>
            <a:endCxn id="8" idx="2"/>
          </p:cNvCxnSpPr>
          <p:nvPr/>
        </p:nvCxnSpPr>
        <p:spPr>
          <a:xfrm rot="10800000" flipH="1">
            <a:off x="2238375" y="4643439"/>
            <a:ext cx="1214438" cy="15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2452688" y="3786189"/>
            <a:ext cx="785812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latin typeface="+mn-lt"/>
              </a:rPr>
              <a:t>Caule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2452688" y="5072064"/>
            <a:ext cx="785812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latin typeface="+mn-lt"/>
              </a:rPr>
              <a:t>Raiz</a:t>
            </a:r>
          </a:p>
        </p:txBody>
      </p:sp>
      <p:sp>
        <p:nvSpPr>
          <p:cNvPr id="14" name="Elipse 13"/>
          <p:cNvSpPr/>
          <p:nvPr/>
        </p:nvSpPr>
        <p:spPr>
          <a:xfrm>
            <a:off x="4024313" y="3000375"/>
            <a:ext cx="571500" cy="5715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cxnSp>
        <p:nvCxnSpPr>
          <p:cNvPr id="16" name="Conector reto 15"/>
          <p:cNvCxnSpPr/>
          <p:nvPr/>
        </p:nvCxnSpPr>
        <p:spPr>
          <a:xfrm flipV="1">
            <a:off x="3667126" y="3357564"/>
            <a:ext cx="214313" cy="7143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Conector reto 16"/>
          <p:cNvCxnSpPr/>
          <p:nvPr/>
        </p:nvCxnSpPr>
        <p:spPr>
          <a:xfrm flipV="1">
            <a:off x="3738564" y="3571875"/>
            <a:ext cx="223837" cy="13335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 rot="5400000" flipH="1" flipV="1">
            <a:off x="3931444" y="3745707"/>
            <a:ext cx="204788" cy="16192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4095751" y="3071814"/>
            <a:ext cx="428625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600" b="1" dirty="0">
                <a:latin typeface="+mn-lt"/>
              </a:rPr>
              <a:t>luz</a:t>
            </a:r>
          </a:p>
        </p:txBody>
      </p:sp>
      <p:sp>
        <p:nvSpPr>
          <p:cNvPr id="24" name="Hexágono 23"/>
          <p:cNvSpPr/>
          <p:nvPr/>
        </p:nvSpPr>
        <p:spPr>
          <a:xfrm>
            <a:off x="5310189" y="3071814"/>
            <a:ext cx="1214437" cy="3286125"/>
          </a:xfrm>
          <a:prstGeom prst="hexag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cxnSp>
        <p:nvCxnSpPr>
          <p:cNvPr id="26" name="Conector de seta reta 25"/>
          <p:cNvCxnSpPr/>
          <p:nvPr/>
        </p:nvCxnSpPr>
        <p:spPr>
          <a:xfrm rot="10800000">
            <a:off x="5953126" y="3500439"/>
            <a:ext cx="214313" cy="15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rot="10800000">
            <a:off x="6024563" y="3786189"/>
            <a:ext cx="214312" cy="15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rot="10800000">
            <a:off x="6096001" y="4071939"/>
            <a:ext cx="214313" cy="15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/>
          <p:nvPr/>
        </p:nvCxnSpPr>
        <p:spPr>
          <a:xfrm rot="10800000">
            <a:off x="6167438" y="4429125"/>
            <a:ext cx="214312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Conector de seta reta 29"/>
          <p:cNvCxnSpPr/>
          <p:nvPr/>
        </p:nvCxnSpPr>
        <p:spPr>
          <a:xfrm rot="10800000">
            <a:off x="6167438" y="4857750"/>
            <a:ext cx="214312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rot="10800000">
            <a:off x="6096001" y="5214939"/>
            <a:ext cx="214313" cy="15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Conector de seta reta 31"/>
          <p:cNvCxnSpPr/>
          <p:nvPr/>
        </p:nvCxnSpPr>
        <p:spPr>
          <a:xfrm rot="10800000">
            <a:off x="6024563" y="5500689"/>
            <a:ext cx="214312" cy="15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Conector de seta reta 32"/>
          <p:cNvCxnSpPr/>
          <p:nvPr/>
        </p:nvCxnSpPr>
        <p:spPr>
          <a:xfrm rot="10800000">
            <a:off x="5953126" y="5857875"/>
            <a:ext cx="214313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Elipse 33"/>
          <p:cNvSpPr/>
          <p:nvPr/>
        </p:nvSpPr>
        <p:spPr>
          <a:xfrm>
            <a:off x="5595939" y="3429001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35" name="Elipse 34"/>
          <p:cNvSpPr/>
          <p:nvPr/>
        </p:nvSpPr>
        <p:spPr>
          <a:xfrm>
            <a:off x="5595939" y="3857626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36" name="Elipse 35"/>
          <p:cNvSpPr/>
          <p:nvPr/>
        </p:nvSpPr>
        <p:spPr>
          <a:xfrm>
            <a:off x="5738814" y="3643314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37" name="Elipse 36"/>
          <p:cNvSpPr/>
          <p:nvPr/>
        </p:nvSpPr>
        <p:spPr>
          <a:xfrm>
            <a:off x="5524501" y="4143376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38" name="Elipse 37"/>
          <p:cNvSpPr/>
          <p:nvPr/>
        </p:nvSpPr>
        <p:spPr>
          <a:xfrm>
            <a:off x="5676901" y="4295776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39" name="Elipse 38"/>
          <p:cNvSpPr/>
          <p:nvPr/>
        </p:nvSpPr>
        <p:spPr>
          <a:xfrm>
            <a:off x="5738814" y="4071939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40" name="Elipse 39"/>
          <p:cNvSpPr/>
          <p:nvPr/>
        </p:nvSpPr>
        <p:spPr>
          <a:xfrm>
            <a:off x="5524501" y="4429126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41" name="Elipse 40"/>
          <p:cNvSpPr/>
          <p:nvPr/>
        </p:nvSpPr>
        <p:spPr>
          <a:xfrm>
            <a:off x="5667376" y="4572001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42" name="Elipse 41"/>
          <p:cNvSpPr/>
          <p:nvPr/>
        </p:nvSpPr>
        <p:spPr>
          <a:xfrm>
            <a:off x="5453064" y="4714876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43" name="Elipse 42"/>
          <p:cNvSpPr/>
          <p:nvPr/>
        </p:nvSpPr>
        <p:spPr>
          <a:xfrm>
            <a:off x="5667376" y="4857751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44" name="Elipse 43"/>
          <p:cNvSpPr/>
          <p:nvPr/>
        </p:nvSpPr>
        <p:spPr>
          <a:xfrm>
            <a:off x="5453064" y="5000626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45" name="Elipse 44"/>
          <p:cNvSpPr/>
          <p:nvPr/>
        </p:nvSpPr>
        <p:spPr>
          <a:xfrm>
            <a:off x="5667376" y="5143501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46" name="Elipse 45"/>
          <p:cNvSpPr/>
          <p:nvPr/>
        </p:nvSpPr>
        <p:spPr>
          <a:xfrm>
            <a:off x="5524501" y="5286376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47" name="Elipse 46"/>
          <p:cNvSpPr/>
          <p:nvPr/>
        </p:nvSpPr>
        <p:spPr>
          <a:xfrm>
            <a:off x="5595939" y="5572126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48" name="Elipse 47"/>
          <p:cNvSpPr/>
          <p:nvPr/>
        </p:nvSpPr>
        <p:spPr>
          <a:xfrm>
            <a:off x="5738814" y="5357814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49" name="Elipse 48"/>
          <p:cNvSpPr/>
          <p:nvPr/>
        </p:nvSpPr>
        <p:spPr>
          <a:xfrm>
            <a:off x="5595939" y="5786439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0" name="Elipse 49"/>
          <p:cNvSpPr/>
          <p:nvPr/>
        </p:nvSpPr>
        <p:spPr>
          <a:xfrm>
            <a:off x="5667376" y="6000751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1" name="Seta para a direita listrada 50"/>
          <p:cNvSpPr/>
          <p:nvPr/>
        </p:nvSpPr>
        <p:spPr>
          <a:xfrm>
            <a:off x="3952875" y="4500564"/>
            <a:ext cx="857250" cy="357187"/>
          </a:xfrm>
          <a:prstGeom prst="striped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2" name="Seta para a direita listrada 51"/>
          <p:cNvSpPr/>
          <p:nvPr/>
        </p:nvSpPr>
        <p:spPr>
          <a:xfrm>
            <a:off x="6810375" y="4572000"/>
            <a:ext cx="857250" cy="357188"/>
          </a:xfrm>
          <a:prstGeom prst="striped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61" name="Elipse 60"/>
          <p:cNvSpPr/>
          <p:nvPr/>
        </p:nvSpPr>
        <p:spPr>
          <a:xfrm>
            <a:off x="6881813" y="2928938"/>
            <a:ext cx="571500" cy="5715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cxnSp>
        <p:nvCxnSpPr>
          <p:cNvPr id="62" name="Conector reto 61"/>
          <p:cNvCxnSpPr/>
          <p:nvPr/>
        </p:nvCxnSpPr>
        <p:spPr>
          <a:xfrm flipV="1">
            <a:off x="6524626" y="3286125"/>
            <a:ext cx="214313" cy="7143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3" name="Conector reto 62"/>
          <p:cNvCxnSpPr/>
          <p:nvPr/>
        </p:nvCxnSpPr>
        <p:spPr>
          <a:xfrm flipV="1">
            <a:off x="6596064" y="3500438"/>
            <a:ext cx="223837" cy="13335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4" name="Conector reto 63"/>
          <p:cNvCxnSpPr/>
          <p:nvPr/>
        </p:nvCxnSpPr>
        <p:spPr>
          <a:xfrm rot="5400000" flipH="1" flipV="1">
            <a:off x="6788945" y="3674270"/>
            <a:ext cx="204787" cy="16192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5" name="CaixaDeTexto 64"/>
          <p:cNvSpPr txBox="1"/>
          <p:nvPr/>
        </p:nvSpPr>
        <p:spPr>
          <a:xfrm>
            <a:off x="6953251" y="3000375"/>
            <a:ext cx="428625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600" b="1" dirty="0">
                <a:latin typeface="+mn-lt"/>
              </a:rPr>
              <a:t>luz</a:t>
            </a:r>
          </a:p>
        </p:txBody>
      </p:sp>
      <p:sp>
        <p:nvSpPr>
          <p:cNvPr id="71" name="Forma livre 70"/>
          <p:cNvSpPr/>
          <p:nvPr/>
        </p:nvSpPr>
        <p:spPr>
          <a:xfrm>
            <a:off x="7524751" y="3000376"/>
            <a:ext cx="2092325" cy="3522663"/>
          </a:xfrm>
          <a:custGeom>
            <a:avLst/>
            <a:gdLst>
              <a:gd name="connsiteX0" fmla="*/ 729803 w 2092817"/>
              <a:gd name="connsiteY0" fmla="*/ 1824507 h 3522371"/>
              <a:gd name="connsiteX1" fmla="*/ 729803 w 2092817"/>
              <a:gd name="connsiteY1" fmla="*/ 1335110 h 3522371"/>
              <a:gd name="connsiteX2" fmla="*/ 871471 w 2092817"/>
              <a:gd name="connsiteY2" fmla="*/ 961623 h 3522371"/>
              <a:gd name="connsiteX3" fmla="*/ 1605567 w 2092817"/>
              <a:gd name="connsiteY3" fmla="*/ 124496 h 3522371"/>
              <a:gd name="connsiteX4" fmla="*/ 1901781 w 2092817"/>
              <a:gd name="connsiteY4" fmla="*/ 214648 h 3522371"/>
              <a:gd name="connsiteX5" fmla="*/ 2082085 w 2092817"/>
              <a:gd name="connsiteY5" fmla="*/ 485104 h 3522371"/>
              <a:gd name="connsiteX6" fmla="*/ 1837386 w 2092817"/>
              <a:gd name="connsiteY6" fmla="*/ 845713 h 3522371"/>
              <a:gd name="connsiteX7" fmla="*/ 1283595 w 2092817"/>
              <a:gd name="connsiteY7" fmla="*/ 1489656 h 3522371"/>
              <a:gd name="connsiteX8" fmla="*/ 1232079 w 2092817"/>
              <a:gd name="connsiteY8" fmla="*/ 2210873 h 3522371"/>
              <a:gd name="connsiteX9" fmla="*/ 1257837 w 2092817"/>
              <a:gd name="connsiteY9" fmla="*/ 2687392 h 3522371"/>
              <a:gd name="connsiteX10" fmla="*/ 549499 w 2092817"/>
              <a:gd name="connsiteY10" fmla="*/ 3434366 h 3522371"/>
              <a:gd name="connsiteX11" fmla="*/ 163133 w 2092817"/>
              <a:gd name="connsiteY11" fmla="*/ 3215425 h 3522371"/>
              <a:gd name="connsiteX12" fmla="*/ 34344 w 2092817"/>
              <a:gd name="connsiteY12" fmla="*/ 2970727 h 3522371"/>
              <a:gd name="connsiteX13" fmla="*/ 369195 w 2092817"/>
              <a:gd name="connsiteY13" fmla="*/ 2635876 h 3522371"/>
              <a:gd name="connsiteX14" fmla="*/ 794198 w 2092817"/>
              <a:gd name="connsiteY14" fmla="*/ 2313904 h 3522371"/>
              <a:gd name="connsiteX15" fmla="*/ 729803 w 2092817"/>
              <a:gd name="connsiteY15" fmla="*/ 1824507 h 3522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92817" h="3522371">
                <a:moveTo>
                  <a:pt x="729803" y="1824507"/>
                </a:moveTo>
                <a:cubicBezTo>
                  <a:pt x="719071" y="1661375"/>
                  <a:pt x="706192" y="1478924"/>
                  <a:pt x="729803" y="1335110"/>
                </a:cubicBezTo>
                <a:cubicBezTo>
                  <a:pt x="753414" y="1191296"/>
                  <a:pt x="725510" y="1163392"/>
                  <a:pt x="871471" y="961623"/>
                </a:cubicBezTo>
                <a:cubicBezTo>
                  <a:pt x="1017432" y="759854"/>
                  <a:pt x="1433849" y="248992"/>
                  <a:pt x="1605567" y="124496"/>
                </a:cubicBezTo>
                <a:cubicBezTo>
                  <a:pt x="1777285" y="0"/>
                  <a:pt x="1822361" y="154547"/>
                  <a:pt x="1901781" y="214648"/>
                </a:cubicBezTo>
                <a:cubicBezTo>
                  <a:pt x="1981201" y="274749"/>
                  <a:pt x="2092817" y="379927"/>
                  <a:pt x="2082085" y="485104"/>
                </a:cubicBezTo>
                <a:cubicBezTo>
                  <a:pt x="2071353" y="590281"/>
                  <a:pt x="1970468" y="678288"/>
                  <a:pt x="1837386" y="845713"/>
                </a:cubicBezTo>
                <a:cubicBezTo>
                  <a:pt x="1704304" y="1013138"/>
                  <a:pt x="1384479" y="1262129"/>
                  <a:pt x="1283595" y="1489656"/>
                </a:cubicBezTo>
                <a:cubicBezTo>
                  <a:pt x="1182711" y="1717183"/>
                  <a:pt x="1236372" y="2011250"/>
                  <a:pt x="1232079" y="2210873"/>
                </a:cubicBezTo>
                <a:cubicBezTo>
                  <a:pt x="1227786" y="2410496"/>
                  <a:pt x="1371600" y="2483477"/>
                  <a:pt x="1257837" y="2687392"/>
                </a:cubicBezTo>
                <a:cubicBezTo>
                  <a:pt x="1144074" y="2891308"/>
                  <a:pt x="731950" y="3346361"/>
                  <a:pt x="549499" y="3434366"/>
                </a:cubicBezTo>
                <a:cubicBezTo>
                  <a:pt x="367048" y="3522371"/>
                  <a:pt x="248992" y="3292698"/>
                  <a:pt x="163133" y="3215425"/>
                </a:cubicBezTo>
                <a:cubicBezTo>
                  <a:pt x="77274" y="3138152"/>
                  <a:pt x="0" y="3067318"/>
                  <a:pt x="34344" y="2970727"/>
                </a:cubicBezTo>
                <a:cubicBezTo>
                  <a:pt x="68688" y="2874136"/>
                  <a:pt x="242553" y="2745346"/>
                  <a:pt x="369195" y="2635876"/>
                </a:cubicBezTo>
                <a:cubicBezTo>
                  <a:pt x="495837" y="2526406"/>
                  <a:pt x="736243" y="2451279"/>
                  <a:pt x="794198" y="2313904"/>
                </a:cubicBezTo>
                <a:cubicBezTo>
                  <a:pt x="852153" y="2176529"/>
                  <a:pt x="740535" y="1987639"/>
                  <a:pt x="729803" y="1824507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2" name="Elipse 71"/>
          <p:cNvSpPr/>
          <p:nvPr/>
        </p:nvSpPr>
        <p:spPr>
          <a:xfrm>
            <a:off x="8739189" y="3643314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3" name="Elipse 72"/>
          <p:cNvSpPr/>
          <p:nvPr/>
        </p:nvSpPr>
        <p:spPr>
          <a:xfrm>
            <a:off x="8524876" y="3857626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4" name="Elipse 73"/>
          <p:cNvSpPr/>
          <p:nvPr/>
        </p:nvSpPr>
        <p:spPr>
          <a:xfrm>
            <a:off x="8382001" y="4143376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5" name="Elipse 74"/>
          <p:cNvSpPr/>
          <p:nvPr/>
        </p:nvSpPr>
        <p:spPr>
          <a:xfrm>
            <a:off x="8953501" y="3357564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6" name="Elipse 75"/>
          <p:cNvSpPr/>
          <p:nvPr/>
        </p:nvSpPr>
        <p:spPr>
          <a:xfrm>
            <a:off x="7810501" y="5857876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7" name="Elipse 76"/>
          <p:cNvSpPr/>
          <p:nvPr/>
        </p:nvSpPr>
        <p:spPr>
          <a:xfrm>
            <a:off x="8096251" y="5572126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8" name="Elipse 77"/>
          <p:cNvSpPr/>
          <p:nvPr/>
        </p:nvSpPr>
        <p:spPr>
          <a:xfrm>
            <a:off x="8382001" y="5357814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9" name="Elipse 78"/>
          <p:cNvSpPr/>
          <p:nvPr/>
        </p:nvSpPr>
        <p:spPr>
          <a:xfrm>
            <a:off x="8382001" y="4929189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80" name="Elipse 79"/>
          <p:cNvSpPr/>
          <p:nvPr/>
        </p:nvSpPr>
        <p:spPr>
          <a:xfrm>
            <a:off x="8382001" y="4572001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81" name="Elipse 80"/>
          <p:cNvSpPr/>
          <p:nvPr/>
        </p:nvSpPr>
        <p:spPr>
          <a:xfrm>
            <a:off x="9882188" y="3000375"/>
            <a:ext cx="571500" cy="5715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cxnSp>
        <p:nvCxnSpPr>
          <p:cNvPr id="82" name="Conector reto 81"/>
          <p:cNvCxnSpPr/>
          <p:nvPr/>
        </p:nvCxnSpPr>
        <p:spPr>
          <a:xfrm flipV="1">
            <a:off x="9525001" y="3357564"/>
            <a:ext cx="214313" cy="7143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3" name="Conector reto 82"/>
          <p:cNvCxnSpPr/>
          <p:nvPr/>
        </p:nvCxnSpPr>
        <p:spPr>
          <a:xfrm flipV="1">
            <a:off x="9596439" y="3571875"/>
            <a:ext cx="223837" cy="13335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4" name="Conector reto 83"/>
          <p:cNvCxnSpPr/>
          <p:nvPr/>
        </p:nvCxnSpPr>
        <p:spPr>
          <a:xfrm rot="5400000" flipH="1" flipV="1">
            <a:off x="9789319" y="3745707"/>
            <a:ext cx="204788" cy="16192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5" name="CaixaDeTexto 84"/>
          <p:cNvSpPr txBox="1"/>
          <p:nvPr/>
        </p:nvSpPr>
        <p:spPr>
          <a:xfrm>
            <a:off x="9953626" y="3071814"/>
            <a:ext cx="428625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600" b="1" dirty="0">
                <a:latin typeface="+mn-lt"/>
              </a:rPr>
              <a:t>luz</a:t>
            </a:r>
          </a:p>
        </p:txBody>
      </p:sp>
      <p:sp>
        <p:nvSpPr>
          <p:cNvPr id="86" name="CaixaDeTexto 85"/>
          <p:cNvSpPr txBox="1"/>
          <p:nvPr/>
        </p:nvSpPr>
        <p:spPr>
          <a:xfrm>
            <a:off x="8810625" y="4071938"/>
            <a:ext cx="1500188" cy="8302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600" dirty="0">
                <a:latin typeface="+mn-lt"/>
              </a:rPr>
              <a:t>Caule</a:t>
            </a:r>
          </a:p>
          <a:p>
            <a:pPr algn="ctr">
              <a:defRPr/>
            </a:pPr>
            <a:r>
              <a:rPr lang="pt-BR" sz="1600" dirty="0">
                <a:latin typeface="+mn-lt"/>
              </a:rPr>
              <a:t>Fototropismo (+)</a:t>
            </a:r>
          </a:p>
        </p:txBody>
      </p:sp>
      <p:sp>
        <p:nvSpPr>
          <p:cNvPr id="19519" name="CaixaDeTexto 87"/>
          <p:cNvSpPr txBox="1">
            <a:spLocks noChangeArrowheads="1"/>
          </p:cNvSpPr>
          <p:nvPr/>
        </p:nvSpPr>
        <p:spPr bwMode="auto">
          <a:xfrm>
            <a:off x="8524876" y="5786438"/>
            <a:ext cx="18573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1600">
                <a:latin typeface="Calibri" pitchFamily="34" charset="0"/>
              </a:rPr>
              <a:t>↓auxina</a:t>
            </a:r>
          </a:p>
          <a:p>
            <a:r>
              <a:rPr lang="pt-BR" sz="1600">
                <a:latin typeface="Calibri" pitchFamily="34" charset="0"/>
              </a:rPr>
              <a:t>↑alongamento</a:t>
            </a:r>
            <a:endParaRPr lang="pt-BR" sz="1600"/>
          </a:p>
        </p:txBody>
      </p:sp>
      <p:sp>
        <p:nvSpPr>
          <p:cNvPr id="19520" name="CaixaDeTexto 88"/>
          <p:cNvSpPr txBox="1">
            <a:spLocks noChangeArrowheads="1"/>
          </p:cNvSpPr>
          <p:nvPr/>
        </p:nvSpPr>
        <p:spPr bwMode="auto">
          <a:xfrm>
            <a:off x="7739064" y="2786063"/>
            <a:ext cx="18573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1600">
                <a:latin typeface="Calibri" pitchFamily="34" charset="0"/>
              </a:rPr>
              <a:t>↑ auxina</a:t>
            </a:r>
          </a:p>
          <a:p>
            <a:r>
              <a:rPr lang="pt-BR" sz="1600">
                <a:latin typeface="Calibri" pitchFamily="34" charset="0"/>
              </a:rPr>
              <a:t>↑ alongamento</a:t>
            </a:r>
            <a:endParaRPr lang="pt-BR" sz="1600"/>
          </a:p>
        </p:txBody>
      </p:sp>
      <p:sp>
        <p:nvSpPr>
          <p:cNvPr id="91" name="Elipse 90"/>
          <p:cNvSpPr/>
          <p:nvPr/>
        </p:nvSpPr>
        <p:spPr>
          <a:xfrm>
            <a:off x="3667126" y="6357939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92" name="CaixaDeTexto 91"/>
          <p:cNvSpPr txBox="1"/>
          <p:nvPr/>
        </p:nvSpPr>
        <p:spPr>
          <a:xfrm>
            <a:off x="3810000" y="6215064"/>
            <a:ext cx="1214438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dirty="0">
                <a:latin typeface="+mn-lt"/>
              </a:rPr>
              <a:t>Auxina</a:t>
            </a:r>
          </a:p>
        </p:txBody>
      </p:sp>
      <p:sp>
        <p:nvSpPr>
          <p:cNvPr id="93" name="CaixaDeTexto 92"/>
          <p:cNvSpPr txBox="1"/>
          <p:nvPr/>
        </p:nvSpPr>
        <p:spPr>
          <a:xfrm>
            <a:off x="6524625" y="6027738"/>
            <a:ext cx="1500188" cy="8302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600" dirty="0">
                <a:latin typeface="+mn-lt"/>
              </a:rPr>
              <a:t>Raiz</a:t>
            </a:r>
          </a:p>
          <a:p>
            <a:pPr algn="ctr">
              <a:defRPr/>
            </a:pPr>
            <a:r>
              <a:rPr lang="pt-BR" sz="1600" dirty="0">
                <a:latin typeface="+mn-lt"/>
              </a:rPr>
              <a:t>Fototropismo </a:t>
            </a:r>
          </a:p>
          <a:p>
            <a:pPr algn="ctr">
              <a:defRPr/>
            </a:pPr>
            <a:r>
              <a:rPr lang="pt-BR" sz="1600" dirty="0">
                <a:latin typeface="+mn-lt"/>
              </a:rPr>
              <a:t>(-)</a:t>
            </a:r>
          </a:p>
        </p:txBody>
      </p:sp>
      <p:sp>
        <p:nvSpPr>
          <p:cNvPr id="68" name="Retângulo 67">
            <a:extLst>
              <a:ext uri="{FF2B5EF4-FFF2-40B4-BE49-F238E27FC236}">
                <a16:creationId xmlns:a16="http://schemas.microsoft.com/office/drawing/2014/main" id="{F3350E49-79DF-4BF8-B474-E8C5C07D1A93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" name="Título 1">
            <a:extLst>
              <a:ext uri="{FF2B5EF4-FFF2-40B4-BE49-F238E27FC236}">
                <a16:creationId xmlns:a16="http://schemas.microsoft.com/office/drawing/2014/main" id="{643B8A12-7502-4EDF-B05F-A6DF20B79BA8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Fisiologia Vegetal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666876" y="1071563"/>
            <a:ext cx="8786813" cy="30781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3"/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Hormônios Vegetais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400" dirty="0">
              <a:solidFill>
                <a:schemeClr val="tx2"/>
              </a:solidFill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ii.      </a:t>
            </a:r>
            <a:r>
              <a:rPr lang="pt-BR" b="1" dirty="0" err="1">
                <a:latin typeface="+mn-lt"/>
                <a:cs typeface="Tahoma" pitchFamily="34" charset="0"/>
              </a:rPr>
              <a:t>Gravitropismo</a:t>
            </a:r>
            <a:r>
              <a:rPr lang="pt-BR" b="1" dirty="0">
                <a:latin typeface="+mn-lt"/>
                <a:cs typeface="Tahoma" pitchFamily="34" charset="0"/>
              </a:rPr>
              <a:t> (Geotropismo)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Tipo de tropismo em que a fonte estimuladora do movimento é a força gravitacional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200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Caule: </a:t>
            </a:r>
            <a:r>
              <a:rPr lang="pt-BR" dirty="0" err="1">
                <a:latin typeface="+mn-lt"/>
                <a:cs typeface="Tahoma" pitchFamily="34" charset="0"/>
              </a:rPr>
              <a:t>gravitropismo</a:t>
            </a:r>
            <a:r>
              <a:rPr lang="pt-BR" dirty="0">
                <a:latin typeface="+mn-lt"/>
                <a:cs typeface="Tahoma" pitchFamily="34" charset="0"/>
              </a:rPr>
              <a:t> negativo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Raiz: </a:t>
            </a:r>
            <a:r>
              <a:rPr lang="pt-BR" dirty="0" err="1">
                <a:latin typeface="+mn-lt"/>
                <a:cs typeface="Tahoma" pitchFamily="34" charset="0"/>
              </a:rPr>
              <a:t>gravitropismo</a:t>
            </a:r>
            <a:r>
              <a:rPr lang="pt-BR" dirty="0">
                <a:latin typeface="+mn-lt"/>
                <a:cs typeface="Tahoma" pitchFamily="34" charset="0"/>
              </a:rPr>
              <a:t> positivo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000" b="1" dirty="0">
              <a:latin typeface="+mn-lt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0484" name="CaixaDeTexto 17"/>
          <p:cNvSpPr txBox="1">
            <a:spLocks noChangeArrowheads="1"/>
          </p:cNvSpPr>
          <p:nvPr/>
        </p:nvSpPr>
        <p:spPr bwMode="auto">
          <a:xfrm>
            <a:off x="6881814" y="1000125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8" name="Hexágono 7"/>
          <p:cNvSpPr/>
          <p:nvPr/>
        </p:nvSpPr>
        <p:spPr>
          <a:xfrm rot="5400000">
            <a:off x="2917033" y="2607470"/>
            <a:ext cx="1214437" cy="3286125"/>
          </a:xfrm>
          <a:prstGeom prst="hexag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cxnSp>
        <p:nvCxnSpPr>
          <p:cNvPr id="11" name="Conector reto 10"/>
          <p:cNvCxnSpPr>
            <a:stCxn id="8" idx="2"/>
            <a:endCxn id="8" idx="2"/>
          </p:cNvCxnSpPr>
          <p:nvPr/>
        </p:nvCxnSpPr>
        <p:spPr>
          <a:xfrm rot="16200000" flipH="1">
            <a:off x="2916238" y="4251326"/>
            <a:ext cx="1214438" cy="15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87" name="CaixaDeTexto 11"/>
          <p:cNvSpPr txBox="1">
            <a:spLocks noChangeArrowheads="1"/>
          </p:cNvSpPr>
          <p:nvPr/>
        </p:nvSpPr>
        <p:spPr bwMode="auto">
          <a:xfrm>
            <a:off x="2095501" y="4000500"/>
            <a:ext cx="10715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/>
              <a:t>raiz</a:t>
            </a:r>
          </a:p>
        </p:txBody>
      </p:sp>
      <p:sp>
        <p:nvSpPr>
          <p:cNvPr id="20488" name="CaixaDeTexto 12"/>
          <p:cNvSpPr txBox="1">
            <a:spLocks noChangeArrowheads="1"/>
          </p:cNvSpPr>
          <p:nvPr/>
        </p:nvSpPr>
        <p:spPr bwMode="auto">
          <a:xfrm>
            <a:off x="3738563" y="4071939"/>
            <a:ext cx="10715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/>
              <a:t>caule</a:t>
            </a:r>
          </a:p>
        </p:txBody>
      </p:sp>
      <p:sp>
        <p:nvSpPr>
          <p:cNvPr id="15" name="Hexágono 14"/>
          <p:cNvSpPr/>
          <p:nvPr/>
        </p:nvSpPr>
        <p:spPr>
          <a:xfrm rot="5400000">
            <a:off x="2988469" y="4250532"/>
            <a:ext cx="1214438" cy="3286125"/>
          </a:xfrm>
          <a:prstGeom prst="hexag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cxnSp>
        <p:nvCxnSpPr>
          <p:cNvPr id="17" name="Conector de seta reta 16"/>
          <p:cNvCxnSpPr/>
          <p:nvPr/>
        </p:nvCxnSpPr>
        <p:spPr>
          <a:xfrm rot="5400000">
            <a:off x="2094707" y="5787232"/>
            <a:ext cx="285750" cy="15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/>
          <p:nvPr/>
        </p:nvCxnSpPr>
        <p:spPr>
          <a:xfrm rot="5400000">
            <a:off x="2382044" y="5714206"/>
            <a:ext cx="28575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 rot="5400000">
            <a:off x="2667794" y="5642769"/>
            <a:ext cx="28575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/>
          <p:nvPr/>
        </p:nvCxnSpPr>
        <p:spPr>
          <a:xfrm rot="5400000">
            <a:off x="2953544" y="5571331"/>
            <a:ext cx="28575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/>
          <p:nvPr/>
        </p:nvCxnSpPr>
        <p:spPr>
          <a:xfrm rot="5400000">
            <a:off x="3239294" y="5571331"/>
            <a:ext cx="28575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/>
          <p:nvPr/>
        </p:nvCxnSpPr>
        <p:spPr>
          <a:xfrm rot="5400000">
            <a:off x="3453607" y="5571332"/>
            <a:ext cx="285750" cy="15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/>
          <p:nvPr/>
        </p:nvCxnSpPr>
        <p:spPr>
          <a:xfrm rot="5400000">
            <a:off x="3667919" y="5571331"/>
            <a:ext cx="28575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ector de seta reta 25"/>
          <p:cNvCxnSpPr/>
          <p:nvPr/>
        </p:nvCxnSpPr>
        <p:spPr>
          <a:xfrm rot="5400000">
            <a:off x="3953669" y="5642769"/>
            <a:ext cx="28575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rot="5400000">
            <a:off x="4239419" y="5714206"/>
            <a:ext cx="28575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/>
          <p:nvPr/>
        </p:nvCxnSpPr>
        <p:spPr>
          <a:xfrm rot="5400000">
            <a:off x="4525169" y="5785644"/>
            <a:ext cx="28575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Conector de seta reta 29"/>
          <p:cNvCxnSpPr/>
          <p:nvPr/>
        </p:nvCxnSpPr>
        <p:spPr>
          <a:xfrm rot="5400000">
            <a:off x="4810919" y="5857081"/>
            <a:ext cx="28575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Elipse 30"/>
          <p:cNvSpPr/>
          <p:nvPr/>
        </p:nvSpPr>
        <p:spPr>
          <a:xfrm>
            <a:off x="2309814" y="6072189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32" name="Elipse 31"/>
          <p:cNvSpPr/>
          <p:nvPr/>
        </p:nvSpPr>
        <p:spPr>
          <a:xfrm>
            <a:off x="2667001" y="6072189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33" name="Elipse 32"/>
          <p:cNvSpPr/>
          <p:nvPr/>
        </p:nvSpPr>
        <p:spPr>
          <a:xfrm>
            <a:off x="2952751" y="6072189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34" name="Elipse 33"/>
          <p:cNvSpPr/>
          <p:nvPr/>
        </p:nvSpPr>
        <p:spPr>
          <a:xfrm>
            <a:off x="3167064" y="6000751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35" name="Elipse 34"/>
          <p:cNvSpPr/>
          <p:nvPr/>
        </p:nvSpPr>
        <p:spPr>
          <a:xfrm>
            <a:off x="3452814" y="6000751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36" name="Elipse 35"/>
          <p:cNvSpPr/>
          <p:nvPr/>
        </p:nvSpPr>
        <p:spPr>
          <a:xfrm>
            <a:off x="3095626" y="6215064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37" name="Elipse 36"/>
          <p:cNvSpPr/>
          <p:nvPr/>
        </p:nvSpPr>
        <p:spPr>
          <a:xfrm>
            <a:off x="3595689" y="6215064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38" name="Elipse 37"/>
          <p:cNvSpPr/>
          <p:nvPr/>
        </p:nvSpPr>
        <p:spPr>
          <a:xfrm>
            <a:off x="3810001" y="6000751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39" name="Elipse 38"/>
          <p:cNvSpPr/>
          <p:nvPr/>
        </p:nvSpPr>
        <p:spPr>
          <a:xfrm>
            <a:off x="3810001" y="6215064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40" name="Elipse 39"/>
          <p:cNvSpPr/>
          <p:nvPr/>
        </p:nvSpPr>
        <p:spPr>
          <a:xfrm>
            <a:off x="4167189" y="6000751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41" name="Elipse 40"/>
          <p:cNvSpPr/>
          <p:nvPr/>
        </p:nvSpPr>
        <p:spPr>
          <a:xfrm>
            <a:off x="4319589" y="6153151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42" name="Elipse 41"/>
          <p:cNvSpPr/>
          <p:nvPr/>
        </p:nvSpPr>
        <p:spPr>
          <a:xfrm>
            <a:off x="4595814" y="6072189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43" name="Elipse 42"/>
          <p:cNvSpPr/>
          <p:nvPr/>
        </p:nvSpPr>
        <p:spPr>
          <a:xfrm>
            <a:off x="4095751" y="6215064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44" name="Elipse 43"/>
          <p:cNvSpPr/>
          <p:nvPr/>
        </p:nvSpPr>
        <p:spPr>
          <a:xfrm>
            <a:off x="3309939" y="6215064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45" name="CaixaDeTexto 44"/>
          <p:cNvSpPr txBox="1"/>
          <p:nvPr/>
        </p:nvSpPr>
        <p:spPr>
          <a:xfrm>
            <a:off x="5238751" y="5786438"/>
            <a:ext cx="2714625" cy="8302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600" dirty="0">
                <a:latin typeface="+mn-lt"/>
              </a:rPr>
              <a:t>Força da gravidade faz com que a auxina se acumule na região inferior da planta.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4452938" y="3357563"/>
            <a:ext cx="1928812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600" dirty="0">
                <a:latin typeface="+mn-lt"/>
              </a:rPr>
              <a:t>Planta em posição horizontal</a:t>
            </a:r>
          </a:p>
        </p:txBody>
      </p:sp>
      <p:sp>
        <p:nvSpPr>
          <p:cNvPr id="48" name="Seta para baixo 47"/>
          <p:cNvSpPr/>
          <p:nvPr/>
        </p:nvSpPr>
        <p:spPr>
          <a:xfrm>
            <a:off x="3452813" y="4929188"/>
            <a:ext cx="214312" cy="2857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1" name="Forma livre 50"/>
          <p:cNvSpPr/>
          <p:nvPr/>
        </p:nvSpPr>
        <p:spPr>
          <a:xfrm>
            <a:off x="6524626" y="3214688"/>
            <a:ext cx="3286125" cy="2144712"/>
          </a:xfrm>
          <a:custGeom>
            <a:avLst/>
            <a:gdLst>
              <a:gd name="connsiteX0" fmla="*/ 1380185 w 3758484"/>
              <a:gd name="connsiteY0" fmla="*/ 1139780 h 2429814"/>
              <a:gd name="connsiteX1" fmla="*/ 2152917 w 3758484"/>
              <a:gd name="connsiteY1" fmla="*/ 1139780 h 2429814"/>
              <a:gd name="connsiteX2" fmla="*/ 2474889 w 3758484"/>
              <a:gd name="connsiteY2" fmla="*/ 985233 h 2429814"/>
              <a:gd name="connsiteX3" fmla="*/ 2899892 w 3758484"/>
              <a:gd name="connsiteY3" fmla="*/ 482957 h 2429814"/>
              <a:gd name="connsiteX4" fmla="*/ 3208985 w 3758484"/>
              <a:gd name="connsiteY4" fmla="*/ 96591 h 2429814"/>
              <a:gd name="connsiteX5" fmla="*/ 3543836 w 3758484"/>
              <a:gd name="connsiteY5" fmla="*/ 19318 h 2429814"/>
              <a:gd name="connsiteX6" fmla="*/ 3711261 w 3758484"/>
              <a:gd name="connsiteY6" fmla="*/ 212501 h 2429814"/>
              <a:gd name="connsiteX7" fmla="*/ 3621109 w 3758484"/>
              <a:gd name="connsiteY7" fmla="*/ 573110 h 2429814"/>
              <a:gd name="connsiteX8" fmla="*/ 2887013 w 3758484"/>
              <a:gd name="connsiteY8" fmla="*/ 1448873 h 2429814"/>
              <a:gd name="connsiteX9" fmla="*/ 2590799 w 3758484"/>
              <a:gd name="connsiteY9" fmla="*/ 1719329 h 2429814"/>
              <a:gd name="connsiteX10" fmla="*/ 2333222 w 3758484"/>
              <a:gd name="connsiteY10" fmla="*/ 1757966 h 2429814"/>
              <a:gd name="connsiteX11" fmla="*/ 1380185 w 3758484"/>
              <a:gd name="connsiteY11" fmla="*/ 1770845 h 2429814"/>
              <a:gd name="connsiteX12" fmla="*/ 1045334 w 3758484"/>
              <a:gd name="connsiteY12" fmla="*/ 1989786 h 2429814"/>
              <a:gd name="connsiteX13" fmla="*/ 852151 w 3758484"/>
              <a:gd name="connsiteY13" fmla="*/ 2157211 h 2429814"/>
              <a:gd name="connsiteX14" fmla="*/ 504422 w 3758484"/>
              <a:gd name="connsiteY14" fmla="*/ 2401910 h 2429814"/>
              <a:gd name="connsiteX15" fmla="*/ 169571 w 3758484"/>
              <a:gd name="connsiteY15" fmla="*/ 2324636 h 2429814"/>
              <a:gd name="connsiteX16" fmla="*/ 2146 w 3758484"/>
              <a:gd name="connsiteY16" fmla="*/ 2105695 h 2429814"/>
              <a:gd name="connsiteX17" fmla="*/ 182450 w 3758484"/>
              <a:gd name="connsiteY17" fmla="*/ 1848118 h 2429814"/>
              <a:gd name="connsiteX18" fmla="*/ 633210 w 3758484"/>
              <a:gd name="connsiteY18" fmla="*/ 1500388 h 2429814"/>
              <a:gd name="connsiteX19" fmla="*/ 1212760 w 3758484"/>
              <a:gd name="connsiteY19" fmla="*/ 1178417 h 2429814"/>
              <a:gd name="connsiteX20" fmla="*/ 1380185 w 3758484"/>
              <a:gd name="connsiteY20" fmla="*/ 1139780 h 2429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58484" h="2429814">
                <a:moveTo>
                  <a:pt x="1380185" y="1139780"/>
                </a:moveTo>
                <a:cubicBezTo>
                  <a:pt x="1536878" y="1133341"/>
                  <a:pt x="1970466" y="1165538"/>
                  <a:pt x="2152917" y="1139780"/>
                </a:cubicBezTo>
                <a:cubicBezTo>
                  <a:pt x="2335368" y="1114022"/>
                  <a:pt x="2350393" y="1094703"/>
                  <a:pt x="2474889" y="985233"/>
                </a:cubicBezTo>
                <a:cubicBezTo>
                  <a:pt x="2599385" y="875763"/>
                  <a:pt x="2777543" y="631064"/>
                  <a:pt x="2899892" y="482957"/>
                </a:cubicBezTo>
                <a:cubicBezTo>
                  <a:pt x="3022241" y="334850"/>
                  <a:pt x="3101661" y="173864"/>
                  <a:pt x="3208985" y="96591"/>
                </a:cubicBezTo>
                <a:cubicBezTo>
                  <a:pt x="3316309" y="19318"/>
                  <a:pt x="3460123" y="0"/>
                  <a:pt x="3543836" y="19318"/>
                </a:cubicBezTo>
                <a:cubicBezTo>
                  <a:pt x="3627549" y="38636"/>
                  <a:pt x="3698382" y="120202"/>
                  <a:pt x="3711261" y="212501"/>
                </a:cubicBezTo>
                <a:cubicBezTo>
                  <a:pt x="3724140" y="304800"/>
                  <a:pt x="3758484" y="367048"/>
                  <a:pt x="3621109" y="573110"/>
                </a:cubicBezTo>
                <a:cubicBezTo>
                  <a:pt x="3483734" y="779172"/>
                  <a:pt x="3058731" y="1257837"/>
                  <a:pt x="2887013" y="1448873"/>
                </a:cubicBezTo>
                <a:cubicBezTo>
                  <a:pt x="2715295" y="1639909"/>
                  <a:pt x="2683098" y="1667813"/>
                  <a:pt x="2590799" y="1719329"/>
                </a:cubicBezTo>
                <a:cubicBezTo>
                  <a:pt x="2498500" y="1770845"/>
                  <a:pt x="2534991" y="1749380"/>
                  <a:pt x="2333222" y="1757966"/>
                </a:cubicBezTo>
                <a:cubicBezTo>
                  <a:pt x="2131453" y="1766552"/>
                  <a:pt x="1594833" y="1732208"/>
                  <a:pt x="1380185" y="1770845"/>
                </a:cubicBezTo>
                <a:cubicBezTo>
                  <a:pt x="1165537" y="1809482"/>
                  <a:pt x="1133340" y="1925392"/>
                  <a:pt x="1045334" y="1989786"/>
                </a:cubicBezTo>
                <a:cubicBezTo>
                  <a:pt x="957328" y="2054180"/>
                  <a:pt x="942303" y="2088524"/>
                  <a:pt x="852151" y="2157211"/>
                </a:cubicBezTo>
                <a:cubicBezTo>
                  <a:pt x="761999" y="2225898"/>
                  <a:pt x="618185" y="2374006"/>
                  <a:pt x="504422" y="2401910"/>
                </a:cubicBezTo>
                <a:cubicBezTo>
                  <a:pt x="390659" y="2429814"/>
                  <a:pt x="253284" y="2374005"/>
                  <a:pt x="169571" y="2324636"/>
                </a:cubicBezTo>
                <a:cubicBezTo>
                  <a:pt x="85858" y="2275267"/>
                  <a:pt x="0" y="2185115"/>
                  <a:pt x="2146" y="2105695"/>
                </a:cubicBezTo>
                <a:cubicBezTo>
                  <a:pt x="4293" y="2026275"/>
                  <a:pt x="77273" y="1949003"/>
                  <a:pt x="182450" y="1848118"/>
                </a:cubicBezTo>
                <a:cubicBezTo>
                  <a:pt x="287627" y="1747233"/>
                  <a:pt x="461492" y="1612005"/>
                  <a:pt x="633210" y="1500388"/>
                </a:cubicBezTo>
                <a:cubicBezTo>
                  <a:pt x="804928" y="1388771"/>
                  <a:pt x="1090411" y="1238518"/>
                  <a:pt x="1212760" y="1178417"/>
                </a:cubicBezTo>
                <a:cubicBezTo>
                  <a:pt x="1335109" y="1118316"/>
                  <a:pt x="1223492" y="1146220"/>
                  <a:pt x="1380185" y="113978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2" name="Elipse 51"/>
          <p:cNvSpPr/>
          <p:nvPr/>
        </p:nvSpPr>
        <p:spPr>
          <a:xfrm>
            <a:off x="6953251" y="5072064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3" name="Elipse 52"/>
          <p:cNvSpPr/>
          <p:nvPr/>
        </p:nvSpPr>
        <p:spPr>
          <a:xfrm>
            <a:off x="7167564" y="4929189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4" name="Elipse 53"/>
          <p:cNvSpPr/>
          <p:nvPr/>
        </p:nvSpPr>
        <p:spPr>
          <a:xfrm>
            <a:off x="7381876" y="4714876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5" name="Elipse 54"/>
          <p:cNvSpPr/>
          <p:nvPr/>
        </p:nvSpPr>
        <p:spPr>
          <a:xfrm>
            <a:off x="7667626" y="4572001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6" name="Elipse 55"/>
          <p:cNvSpPr/>
          <p:nvPr/>
        </p:nvSpPr>
        <p:spPr>
          <a:xfrm>
            <a:off x="8024814" y="4572001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7" name="Elipse 56"/>
          <p:cNvSpPr/>
          <p:nvPr/>
        </p:nvSpPr>
        <p:spPr>
          <a:xfrm>
            <a:off x="8382001" y="4572001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8" name="Elipse 57"/>
          <p:cNvSpPr/>
          <p:nvPr/>
        </p:nvSpPr>
        <p:spPr>
          <a:xfrm>
            <a:off x="8739189" y="4429126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9" name="Elipse 58"/>
          <p:cNvSpPr/>
          <p:nvPr/>
        </p:nvSpPr>
        <p:spPr>
          <a:xfrm>
            <a:off x="8953501" y="4214814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60" name="Elipse 59"/>
          <p:cNvSpPr/>
          <p:nvPr/>
        </p:nvSpPr>
        <p:spPr>
          <a:xfrm>
            <a:off x="9167814" y="4000501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61" name="Elipse 60"/>
          <p:cNvSpPr/>
          <p:nvPr/>
        </p:nvSpPr>
        <p:spPr>
          <a:xfrm>
            <a:off x="9382126" y="3714751"/>
            <a:ext cx="142875" cy="1428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62" name="CaixaDeTexto 61"/>
          <p:cNvSpPr txBox="1"/>
          <p:nvPr/>
        </p:nvSpPr>
        <p:spPr>
          <a:xfrm>
            <a:off x="9167814" y="4214813"/>
            <a:ext cx="1500187" cy="8620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dirty="0">
                <a:latin typeface="+mn-lt"/>
              </a:rPr>
              <a:t>Caule</a:t>
            </a:r>
          </a:p>
          <a:p>
            <a:pPr>
              <a:defRPr/>
            </a:pPr>
            <a:r>
              <a:rPr lang="pt-BR" sz="1600" dirty="0">
                <a:latin typeface="+mn-lt"/>
              </a:rPr>
              <a:t>↑auxina</a:t>
            </a:r>
          </a:p>
          <a:p>
            <a:pPr>
              <a:defRPr/>
            </a:pPr>
            <a:r>
              <a:rPr lang="pt-BR" sz="1600" dirty="0">
                <a:latin typeface="+mn-lt"/>
              </a:rPr>
              <a:t>↑alongamento</a:t>
            </a:r>
          </a:p>
        </p:txBody>
      </p:sp>
      <p:sp>
        <p:nvSpPr>
          <p:cNvPr id="63" name="CaixaDeTexto 62"/>
          <p:cNvSpPr txBox="1"/>
          <p:nvPr/>
        </p:nvSpPr>
        <p:spPr>
          <a:xfrm>
            <a:off x="6238875" y="3786188"/>
            <a:ext cx="1500188" cy="8620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dirty="0">
                <a:latin typeface="+mn-lt"/>
              </a:rPr>
              <a:t>Raiz</a:t>
            </a:r>
          </a:p>
          <a:p>
            <a:pPr>
              <a:defRPr/>
            </a:pPr>
            <a:r>
              <a:rPr lang="pt-BR" sz="1600" dirty="0">
                <a:latin typeface="Calibri"/>
              </a:rPr>
              <a:t>↓</a:t>
            </a:r>
            <a:r>
              <a:rPr lang="pt-BR" sz="1600" dirty="0">
                <a:latin typeface="+mn-lt"/>
              </a:rPr>
              <a:t>auxina</a:t>
            </a:r>
          </a:p>
          <a:p>
            <a:pPr>
              <a:defRPr/>
            </a:pPr>
            <a:r>
              <a:rPr lang="pt-BR" sz="1600" dirty="0">
                <a:latin typeface="+mn-lt"/>
              </a:rPr>
              <a:t>↑alongamento</a:t>
            </a:r>
          </a:p>
        </p:txBody>
      </p:sp>
      <p:sp>
        <p:nvSpPr>
          <p:cNvPr id="64" name="Seta para a direita listrada 63"/>
          <p:cNvSpPr/>
          <p:nvPr/>
        </p:nvSpPr>
        <p:spPr>
          <a:xfrm rot="20388570">
            <a:off x="5546725" y="5283200"/>
            <a:ext cx="857250" cy="285750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66" name="Retângulo 65">
            <a:extLst>
              <a:ext uri="{FF2B5EF4-FFF2-40B4-BE49-F238E27FC236}">
                <a16:creationId xmlns:a16="http://schemas.microsoft.com/office/drawing/2014/main" id="{7AC3A2B5-C2C3-4340-A294-1739BD0D240A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7" name="Título 1">
            <a:extLst>
              <a:ext uri="{FF2B5EF4-FFF2-40B4-BE49-F238E27FC236}">
                <a16:creationId xmlns:a16="http://schemas.microsoft.com/office/drawing/2014/main" id="{EE848C09-8BD4-4B07-84D5-6E8586C9C6C6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Fisiologia Vegetal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666875" y="1143001"/>
            <a:ext cx="8643938" cy="39084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3"/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Hormônios Vegetais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3"/>
              <a:defRPr/>
            </a:pPr>
            <a:endParaRPr lang="pt-BR" sz="1400" dirty="0">
              <a:solidFill>
                <a:schemeClr val="tx2"/>
              </a:solidFill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Obs.:</a:t>
            </a:r>
            <a:r>
              <a:rPr lang="pt-BR" b="1" dirty="0">
                <a:latin typeface="+mn-lt"/>
                <a:cs typeface="Tahoma" pitchFamily="34" charset="0"/>
              </a:rPr>
              <a:t> </a:t>
            </a:r>
            <a:r>
              <a:rPr lang="pt-BR" b="1" dirty="0" err="1">
                <a:latin typeface="+mn-lt"/>
                <a:cs typeface="Tahoma" pitchFamily="34" charset="0"/>
              </a:rPr>
              <a:t>Nastismos</a:t>
            </a:r>
            <a:endParaRPr lang="pt-BR" b="1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Movimentos que ocorrem em resposta a um estímulo, mas que não são orientados pela fonte estimuladora.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b="1" u="sng" dirty="0">
                <a:latin typeface="+mn-lt"/>
                <a:cs typeface="Tahoma" pitchFamily="34" charset="0"/>
              </a:rPr>
              <a:t>Não</a:t>
            </a:r>
            <a:r>
              <a:rPr lang="pt-BR" dirty="0">
                <a:latin typeface="+mn-lt"/>
                <a:cs typeface="Tahoma" pitchFamily="34" charset="0"/>
              </a:rPr>
              <a:t> há participação de </a:t>
            </a:r>
            <a:r>
              <a:rPr lang="pt-BR" b="1" dirty="0">
                <a:solidFill>
                  <a:srgbClr val="FF0000"/>
                </a:solidFill>
                <a:latin typeface="+mn-lt"/>
                <a:cs typeface="Tahoma" pitchFamily="34" charset="0"/>
              </a:rPr>
              <a:t>Auxina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b="1" dirty="0">
              <a:solidFill>
                <a:srgbClr val="FF0000"/>
              </a:solidFill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solidFill>
                <a:srgbClr val="FF0000"/>
              </a:solidFill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FF0000"/>
                </a:solidFill>
                <a:latin typeface="+mn-lt"/>
                <a:cs typeface="Tahoma" pitchFamily="34" charset="0"/>
              </a:rPr>
              <a:t>Ex: Plantas insetívoras (carnívoras) e sensitivas.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000" b="1" dirty="0">
              <a:latin typeface="+mn-lt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1508" name="CaixaDeTexto 17"/>
          <p:cNvSpPr txBox="1">
            <a:spLocks noChangeArrowheads="1"/>
          </p:cNvSpPr>
          <p:nvPr/>
        </p:nvSpPr>
        <p:spPr bwMode="auto">
          <a:xfrm>
            <a:off x="6881814" y="1000125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pic>
        <p:nvPicPr>
          <p:cNvPr id="21509" name="Picture 2" descr="http://cienciahoje.uol.com.br/materia/resources/images/che/carniv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09924" y="4143376"/>
            <a:ext cx="2693988" cy="164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10" name="Picture 4" descr="http://www.herbario.com.br/cie/universi/SEISMO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54392" y="4143376"/>
            <a:ext cx="2293937" cy="165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CaixaDeTexto 13"/>
          <p:cNvSpPr txBox="1"/>
          <p:nvPr/>
        </p:nvSpPr>
        <p:spPr>
          <a:xfrm>
            <a:off x="2783633" y="5857875"/>
            <a:ext cx="2357437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600" dirty="0">
                <a:latin typeface="+mn-lt"/>
              </a:rPr>
              <a:t>Planta carnívora (</a:t>
            </a:r>
            <a:r>
              <a:rPr lang="pt-BR" sz="1600" dirty="0" err="1">
                <a:latin typeface="+mn-lt"/>
              </a:rPr>
              <a:t>Dioneia</a:t>
            </a:r>
            <a:r>
              <a:rPr lang="pt-BR" sz="1600" dirty="0">
                <a:latin typeface="+mn-lt"/>
              </a:rPr>
              <a:t>)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6744073" y="5877272"/>
            <a:ext cx="2357437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600" dirty="0">
                <a:latin typeface="+mn-lt"/>
              </a:rPr>
              <a:t>Planta sensitiva </a:t>
            </a:r>
          </a:p>
          <a:p>
            <a:pPr algn="ctr">
              <a:defRPr/>
            </a:pPr>
            <a:r>
              <a:rPr lang="pt-BR" sz="1600" i="1" dirty="0">
                <a:latin typeface="+mn-lt"/>
              </a:rPr>
              <a:t>Mimosa pudica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81B2547-77CB-42BA-A8C2-36CF8157B0A2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DA64AA64-ACCD-44FA-896E-C563DE1240B2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Fisiologia Vegetal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666876" y="1071563"/>
            <a:ext cx="8786813" cy="50482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3"/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Hormônios Vegetais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3"/>
              <a:defRPr/>
            </a:pPr>
            <a:endParaRPr lang="pt-BR" sz="1400" dirty="0">
              <a:solidFill>
                <a:schemeClr val="tx2"/>
              </a:solidFill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buFontTx/>
              <a:buAutoNum type="alphaLcParenR"/>
              <a:defRPr/>
            </a:pPr>
            <a:r>
              <a:rPr lang="pt-BR" sz="2000" b="1" dirty="0">
                <a:solidFill>
                  <a:srgbClr val="FF0000"/>
                </a:solidFill>
                <a:latin typeface="+mn-lt"/>
                <a:cs typeface="Tahoma" pitchFamily="34" charset="0"/>
              </a:rPr>
              <a:t>Auxina</a:t>
            </a:r>
            <a:endParaRPr lang="pt-BR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	</a:t>
            </a:r>
            <a:r>
              <a:rPr lang="pt-BR" b="1" dirty="0">
                <a:latin typeface="+mn-lt"/>
                <a:cs typeface="Tahoma" pitchFamily="34" charset="0"/>
              </a:rPr>
              <a:t>III) Enraizamento de estacas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	Por estímulo da auxina, raízes adventícias podem 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	surgir a partir de estacas (mudas).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	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	IV) Desenvolvimento de raiz e caule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Raiz, mais sensível a auxina que o caule	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000" b="1" dirty="0">
              <a:latin typeface="+mn-lt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3556" name="CaixaDeTexto 17"/>
          <p:cNvSpPr txBox="1">
            <a:spLocks noChangeArrowheads="1"/>
          </p:cNvSpPr>
          <p:nvPr/>
        </p:nvSpPr>
        <p:spPr bwMode="auto">
          <a:xfrm>
            <a:off x="6881814" y="1000125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pic>
        <p:nvPicPr>
          <p:cNvPr id="23557" name="Picture 2" descr="http://www.elhogarnatural.com/estructura/Adventitiops_roots_MC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96126" y="1214438"/>
            <a:ext cx="2428875" cy="2411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CaixaDeTexto 10"/>
          <p:cNvSpPr txBox="1"/>
          <p:nvPr/>
        </p:nvSpPr>
        <p:spPr>
          <a:xfrm>
            <a:off x="1738313" y="5357814"/>
            <a:ext cx="3929062" cy="9239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>
              <a:defRPr/>
            </a:pPr>
            <a:r>
              <a:rPr lang="pt-BR" dirty="0"/>
              <a:t>Uma concentração que induza o crescimento ótimo do caule, tem efeito inibidor sobre o crescimento da raiz.</a:t>
            </a:r>
          </a:p>
        </p:txBody>
      </p:sp>
      <p:pic>
        <p:nvPicPr>
          <p:cNvPr id="23559" name="Imagem 11" descr="grafico auxina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05500" y="3929064"/>
            <a:ext cx="4762500" cy="292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0B854070-B18E-4BC1-8478-CF671C48A189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154D09A1-0B2D-4E78-943A-309923B28250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Fisiologia Vegetal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Imagem 9" descr="dominancia apical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67063" y="3643315"/>
            <a:ext cx="5942012" cy="3098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aixaDeTexto 8"/>
          <p:cNvSpPr txBox="1"/>
          <p:nvPr/>
        </p:nvSpPr>
        <p:spPr>
          <a:xfrm>
            <a:off x="1666876" y="1071563"/>
            <a:ext cx="8786813" cy="33083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3"/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Hormônios Vegetais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3"/>
              <a:defRPr/>
            </a:pPr>
            <a:endParaRPr lang="pt-BR" sz="1400" dirty="0">
              <a:solidFill>
                <a:schemeClr val="tx2"/>
              </a:solidFill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buFontTx/>
              <a:buAutoNum type="alphaLcParenR"/>
              <a:defRPr/>
            </a:pPr>
            <a:r>
              <a:rPr lang="pt-BR" sz="2000" b="1" dirty="0">
                <a:solidFill>
                  <a:srgbClr val="FF0000"/>
                </a:solidFill>
                <a:latin typeface="+mn-lt"/>
                <a:cs typeface="Tahoma" pitchFamily="34" charset="0"/>
              </a:rPr>
              <a:t>Auxina</a:t>
            </a:r>
            <a:endParaRPr lang="pt-BR" sz="2000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	</a:t>
            </a:r>
            <a:r>
              <a:rPr lang="pt-BR" b="1" dirty="0">
                <a:latin typeface="+mn-lt"/>
                <a:cs typeface="Tahoma" pitchFamily="34" charset="0"/>
              </a:rPr>
              <a:t>V) Dominância Apical</a:t>
            </a:r>
            <a:endParaRPr lang="pt-BR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	A auxina produzida na gema apical do caule exerce inibição sobre as gemas laterais, mantendo-as em estado de dormência.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500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	Se a gema apical for retirada (técnica de poda) as gemas laterais passam a se desenvolver e novos ramos se desenvolvem.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	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	</a:t>
            </a:r>
            <a:endParaRPr lang="pt-BR" sz="2000" b="1" dirty="0">
              <a:latin typeface="+mn-lt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4581" name="CaixaDeTexto 17"/>
          <p:cNvSpPr txBox="1">
            <a:spLocks noChangeArrowheads="1"/>
          </p:cNvSpPr>
          <p:nvPr/>
        </p:nvSpPr>
        <p:spPr bwMode="auto">
          <a:xfrm>
            <a:off x="6881814" y="1000125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6BCA4C8-C2B1-4B57-99FB-C3B12DDAB702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32C5EA3-3E5E-4F44-97E7-34970BBB278E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Fisiologia Vegetal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666876" y="1071563"/>
            <a:ext cx="8786813" cy="374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3"/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Hormônios Vegetais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3"/>
              <a:defRPr/>
            </a:pPr>
            <a:endParaRPr lang="pt-BR" sz="1400" dirty="0">
              <a:solidFill>
                <a:schemeClr val="tx2"/>
              </a:solidFill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solidFill>
                  <a:srgbClr val="FF0000"/>
                </a:solidFill>
                <a:latin typeface="+mn-lt"/>
                <a:cs typeface="Tahoma" pitchFamily="34" charset="0"/>
              </a:rPr>
              <a:t>b)     </a:t>
            </a:r>
            <a:r>
              <a:rPr lang="pt-BR" sz="2000" b="1" dirty="0" err="1">
                <a:solidFill>
                  <a:srgbClr val="FF0000"/>
                </a:solidFill>
                <a:latin typeface="+mn-lt"/>
                <a:cs typeface="Tahoma" pitchFamily="34" charset="0"/>
              </a:rPr>
              <a:t>Citocinina</a:t>
            </a:r>
            <a:endParaRPr lang="pt-BR" sz="2000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500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Funções na planta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dirty="0">
                <a:latin typeface="+mn-lt"/>
                <a:cs typeface="Tahoma" pitchFamily="34" charset="0"/>
              </a:rPr>
              <a:t>Estimula a divisão celular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dirty="0">
                <a:latin typeface="+mn-lt"/>
                <a:cs typeface="Tahoma" pitchFamily="34" charset="0"/>
              </a:rPr>
              <a:t>Estimula a morfogênese (diferenciação dos tecidos da planta)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dirty="0">
                <a:latin typeface="+mn-lt"/>
                <a:cs typeface="Tahoma" pitchFamily="34" charset="0"/>
              </a:rPr>
              <a:t>Estimula o alongamento caulinar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dirty="0">
                <a:latin typeface="+mn-lt"/>
                <a:cs typeface="Tahoma" pitchFamily="34" charset="0"/>
              </a:rPr>
              <a:t>Promove o retardo do envelhecimento da planta (</a:t>
            </a:r>
            <a:r>
              <a:rPr lang="pt-BR" dirty="0" err="1">
                <a:latin typeface="+mn-lt"/>
                <a:cs typeface="Tahoma" pitchFamily="34" charset="0"/>
              </a:rPr>
              <a:t>senescência</a:t>
            </a:r>
            <a:r>
              <a:rPr lang="pt-BR" dirty="0">
                <a:latin typeface="+mn-lt"/>
                <a:cs typeface="Tahoma" pitchFamily="34" charset="0"/>
              </a:rPr>
              <a:t>)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dirty="0">
                <a:latin typeface="+mn-lt"/>
                <a:cs typeface="Tahoma" pitchFamily="34" charset="0"/>
              </a:rPr>
              <a:t>Quebra a dominância apical e promove o desenvolvimento das gemas laterais.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	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	</a:t>
            </a:r>
            <a:endParaRPr lang="pt-BR" sz="2000" b="1" dirty="0">
              <a:latin typeface="+mn-lt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5604" name="CaixaDeTexto 17"/>
          <p:cNvSpPr txBox="1">
            <a:spLocks noChangeArrowheads="1"/>
          </p:cNvSpPr>
          <p:nvPr/>
        </p:nvSpPr>
        <p:spPr bwMode="auto">
          <a:xfrm>
            <a:off x="6881814" y="1000125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pic>
        <p:nvPicPr>
          <p:cNvPr id="25605" name="Imagem 6" descr="auxina2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81564" y="4572001"/>
            <a:ext cx="5038725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aixaDeTexto 7"/>
          <p:cNvSpPr txBox="1"/>
          <p:nvPr/>
        </p:nvSpPr>
        <p:spPr>
          <a:xfrm>
            <a:off x="1666875" y="4500563"/>
            <a:ext cx="2928938" cy="2032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pt-BR" dirty="0"/>
              <a:t>Auxina e </a:t>
            </a:r>
            <a:r>
              <a:rPr lang="pt-BR" dirty="0" err="1"/>
              <a:t>citocinina</a:t>
            </a:r>
            <a:r>
              <a:rPr lang="pt-BR" dirty="0"/>
              <a:t> podem ser utilizadas em conjunto para promoverem a diferenciação celular em vegetais e a formação de plantas inteiras a partir de um conjunto de </a:t>
            </a:r>
            <a:r>
              <a:rPr lang="pt-BR" dirty="0" err="1"/>
              <a:t>céulas</a:t>
            </a:r>
            <a:r>
              <a:rPr lang="pt-BR" dirty="0"/>
              <a:t> (calo)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5381625" y="6488114"/>
            <a:ext cx="928688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latin typeface="+mn-lt"/>
              </a:rPr>
              <a:t>calo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7096125" y="6488114"/>
            <a:ext cx="928688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latin typeface="+mn-lt"/>
              </a:rPr>
              <a:t>raízes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8310563" y="6488114"/>
            <a:ext cx="1643062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latin typeface="+mn-lt"/>
              </a:rPr>
              <a:t>Caules e folhas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FA6F819-4158-4A3D-87B0-7F95996848E2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D953193B-7046-418B-B920-E6EF547A3973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Fisiologia Vegetal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666876" y="1071564"/>
            <a:ext cx="8786813" cy="4016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3"/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Hormônios Vegetais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3"/>
              <a:defRPr/>
            </a:pPr>
            <a:endParaRPr lang="pt-BR" sz="1400" dirty="0">
              <a:solidFill>
                <a:schemeClr val="tx2"/>
              </a:solidFill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solidFill>
                  <a:srgbClr val="FF0000"/>
                </a:solidFill>
                <a:latin typeface="+mn-lt"/>
                <a:cs typeface="Tahoma" pitchFamily="34" charset="0"/>
              </a:rPr>
              <a:t>c)    Etileno (Gás Eteno – C</a:t>
            </a:r>
            <a:r>
              <a:rPr lang="pt-BR" sz="2000" b="1" baseline="-25000" dirty="0">
                <a:solidFill>
                  <a:srgbClr val="FF0000"/>
                </a:solidFill>
                <a:latin typeface="+mn-lt"/>
                <a:cs typeface="Tahoma" pitchFamily="34" charset="0"/>
              </a:rPr>
              <a:t>2</a:t>
            </a:r>
            <a:r>
              <a:rPr lang="pt-BR" sz="2000" b="1" dirty="0">
                <a:solidFill>
                  <a:srgbClr val="FF0000"/>
                </a:solidFill>
                <a:latin typeface="+mn-lt"/>
                <a:cs typeface="Tahoma" pitchFamily="34" charset="0"/>
              </a:rPr>
              <a:t>H</a:t>
            </a:r>
            <a:r>
              <a:rPr lang="pt-BR" sz="2000" b="1" baseline="-25000" dirty="0">
                <a:solidFill>
                  <a:srgbClr val="FF0000"/>
                </a:solidFill>
                <a:latin typeface="+mn-lt"/>
                <a:cs typeface="Tahoma" pitchFamily="34" charset="0"/>
              </a:rPr>
              <a:t>4</a:t>
            </a:r>
            <a:r>
              <a:rPr lang="pt-BR" sz="2000" b="1" dirty="0">
                <a:solidFill>
                  <a:srgbClr val="FF0000"/>
                </a:solidFill>
                <a:latin typeface="+mn-lt"/>
                <a:cs typeface="Tahoma" pitchFamily="34" charset="0"/>
              </a:rPr>
              <a:t>)</a:t>
            </a:r>
            <a:endParaRPr lang="pt-BR" sz="2000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500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Funções na planta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dirty="0">
                <a:latin typeface="+mn-lt"/>
                <a:cs typeface="Tahoma" pitchFamily="34" charset="0"/>
              </a:rPr>
              <a:t>Promove a germinação em plantas jovens.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dirty="0">
                <a:latin typeface="+mn-lt"/>
                <a:cs typeface="Tahoma" pitchFamily="34" charset="0"/>
              </a:rPr>
              <a:t>Promove o amadurecimento dos frutos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dirty="0">
                <a:latin typeface="+mn-lt"/>
                <a:cs typeface="Tahoma" pitchFamily="34" charset="0"/>
              </a:rPr>
              <a:t>Promove o envelhecimento celular (</a:t>
            </a:r>
            <a:r>
              <a:rPr lang="pt-BR" dirty="0" err="1">
                <a:latin typeface="+mn-lt"/>
                <a:cs typeface="Tahoma" pitchFamily="34" charset="0"/>
              </a:rPr>
              <a:t>senescência</a:t>
            </a:r>
            <a:r>
              <a:rPr lang="pt-BR" dirty="0">
                <a:latin typeface="+mn-lt"/>
                <a:cs typeface="Tahoma" pitchFamily="34" charset="0"/>
              </a:rPr>
              <a:t>)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dirty="0">
                <a:latin typeface="+mn-lt"/>
                <a:cs typeface="Tahoma" pitchFamily="34" charset="0"/>
              </a:rPr>
              <a:t>Estimula a floração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dirty="0">
                <a:latin typeface="+mn-lt"/>
                <a:cs typeface="Tahoma" pitchFamily="34" charset="0"/>
              </a:rPr>
              <a:t>Promove a abscisão foliar (queda das folhas)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	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	</a:t>
            </a:r>
            <a:endParaRPr lang="pt-BR" sz="2000" b="1" dirty="0">
              <a:latin typeface="+mn-lt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6628" name="CaixaDeTexto 17"/>
          <p:cNvSpPr txBox="1">
            <a:spLocks noChangeArrowheads="1"/>
          </p:cNvSpPr>
          <p:nvPr/>
        </p:nvSpPr>
        <p:spPr bwMode="auto">
          <a:xfrm>
            <a:off x="6881814" y="1000125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pic>
        <p:nvPicPr>
          <p:cNvPr id="26629" name="Picture 6" descr="http://farm2.static.flickr.com/1054/1130663713_65f7295f59.jpg?v=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95814" y="4214813"/>
            <a:ext cx="2428875" cy="161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30" name="Picture 8" descr="http://www.bbc.co.uk/portuguese/especial/images/1131_fumaca/2125054_fumaca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66938" y="4214813"/>
            <a:ext cx="1651000" cy="165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Seta para a direita listrada 15"/>
          <p:cNvSpPr/>
          <p:nvPr/>
        </p:nvSpPr>
        <p:spPr>
          <a:xfrm>
            <a:off x="3952876" y="5000626"/>
            <a:ext cx="500063" cy="214313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7" name="CaixaDeTexto 16"/>
          <p:cNvSpPr txBox="1"/>
          <p:nvPr/>
        </p:nvSpPr>
        <p:spPr>
          <a:xfrm>
            <a:off x="1524000" y="5857876"/>
            <a:ext cx="2928938" cy="830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600" dirty="0">
                <a:latin typeface="+mn-lt"/>
              </a:rPr>
              <a:t>No cultivo de banana é comum realizar a queima da serragem, pois há liberação do gás etileno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4452938" y="5857876"/>
            <a:ext cx="27860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latin typeface="+mn-lt"/>
              </a:rPr>
              <a:t>Etileno promove o amadurecimento do fruto.</a:t>
            </a:r>
          </a:p>
        </p:txBody>
      </p:sp>
      <p:pic>
        <p:nvPicPr>
          <p:cNvPr id="26634" name="Imagem 19" descr="outono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596189" y="3357563"/>
            <a:ext cx="2790825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CaixaDeTexto 20"/>
          <p:cNvSpPr txBox="1"/>
          <p:nvPr/>
        </p:nvSpPr>
        <p:spPr>
          <a:xfrm>
            <a:off x="7596188" y="6000751"/>
            <a:ext cx="27860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latin typeface="+mn-lt"/>
              </a:rPr>
              <a:t>Etileno promove a queda das folhas (abscisão foliar)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870BB6D-514D-4D13-9AA9-62C2A0BFAD7F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970FD118-50C8-4123-B2A5-8C59800BCCB8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Fisiologia Vegetal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666876" y="1071563"/>
            <a:ext cx="8786813" cy="33083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3"/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Hormônios Vegetais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3"/>
              <a:defRPr/>
            </a:pPr>
            <a:endParaRPr lang="pt-BR" sz="1400" dirty="0">
              <a:solidFill>
                <a:schemeClr val="tx2"/>
              </a:solidFill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solidFill>
                  <a:srgbClr val="FF0000"/>
                </a:solidFill>
                <a:latin typeface="+mn-lt"/>
                <a:cs typeface="Tahoma" pitchFamily="34" charset="0"/>
              </a:rPr>
              <a:t>d)    </a:t>
            </a:r>
            <a:r>
              <a:rPr lang="pt-BR" sz="2000" b="1" dirty="0" err="1">
                <a:solidFill>
                  <a:srgbClr val="FF0000"/>
                </a:solidFill>
                <a:latin typeface="+mn-lt"/>
                <a:cs typeface="Tahoma" pitchFamily="34" charset="0"/>
              </a:rPr>
              <a:t>Giberelina</a:t>
            </a:r>
            <a:r>
              <a:rPr lang="pt-BR" sz="2000" b="1" dirty="0">
                <a:solidFill>
                  <a:srgbClr val="FF0000"/>
                </a:solidFill>
                <a:latin typeface="+mn-lt"/>
                <a:cs typeface="Tahoma" pitchFamily="34" charset="0"/>
              </a:rPr>
              <a:t> </a:t>
            </a:r>
            <a:endParaRPr lang="pt-BR" sz="2000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500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dirty="0">
                <a:latin typeface="+mn-lt"/>
                <a:cs typeface="Tahoma" pitchFamily="34" charset="0"/>
              </a:rPr>
              <a:t>Promove o crescimento dos frutos partenocárpicos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dirty="0">
                <a:latin typeface="+mn-lt"/>
                <a:cs typeface="Tahoma" pitchFamily="34" charset="0"/>
              </a:rPr>
              <a:t>Promove o alongamento caulinar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dirty="0">
                <a:latin typeface="+mn-lt"/>
                <a:cs typeface="Tahoma" pitchFamily="34" charset="0"/>
              </a:rPr>
              <a:t>Realiza a mobilização das reservas da semente para o embrião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dirty="0">
                <a:latin typeface="+mn-lt"/>
                <a:cs typeface="Tahoma" pitchFamily="34" charset="0"/>
              </a:rPr>
              <a:t>Quebra a dormência em sementes e gemas (primavera)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	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	</a:t>
            </a:r>
            <a:endParaRPr lang="pt-BR" sz="2000" b="1" dirty="0">
              <a:latin typeface="+mn-lt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7652" name="CaixaDeTexto 17"/>
          <p:cNvSpPr txBox="1">
            <a:spLocks noChangeArrowheads="1"/>
          </p:cNvSpPr>
          <p:nvPr/>
        </p:nvSpPr>
        <p:spPr bwMode="auto">
          <a:xfrm>
            <a:off x="6881814" y="1000125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pic>
        <p:nvPicPr>
          <p:cNvPr id="15" name="Imagem 14" descr="ImbGerm17S1.JPG"/>
          <p:cNvPicPr>
            <a:picLocks noChangeAspect="1"/>
          </p:cNvPicPr>
          <p:nvPr/>
        </p:nvPicPr>
        <p:blipFill>
          <a:blip r:embed="rId3" cstate="print">
            <a:lum contrast="10000"/>
          </a:blip>
          <a:stretch>
            <a:fillRect/>
          </a:stretch>
        </p:blipFill>
        <p:spPr>
          <a:xfrm>
            <a:off x="2309787" y="4143381"/>
            <a:ext cx="3095647" cy="2321735"/>
          </a:xfrm>
          <a:prstGeom prst="roundRect">
            <a:avLst/>
          </a:prstGeom>
        </p:spPr>
      </p:pic>
      <p:sp>
        <p:nvSpPr>
          <p:cNvPr id="19" name="CaixaDeTexto 18"/>
          <p:cNvSpPr txBox="1"/>
          <p:nvPr/>
        </p:nvSpPr>
        <p:spPr>
          <a:xfrm>
            <a:off x="2238375" y="6488114"/>
            <a:ext cx="3214688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latin typeface="+mn-lt"/>
              </a:rPr>
              <a:t>Germinação das sementes</a:t>
            </a:r>
          </a:p>
        </p:txBody>
      </p:sp>
      <p:pic>
        <p:nvPicPr>
          <p:cNvPr id="27655" name="Picture 2" descr="http://www.emporiumsaopaulo.com.br/images/produtos/prod_00408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24563" y="3786188"/>
            <a:ext cx="2000250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6" descr="http://farm2.static.flickr.com/1054/1130663713_65f7295f59.jpg?v=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310579" y="4143381"/>
            <a:ext cx="2143569" cy="1427617"/>
          </a:xfrm>
          <a:prstGeom prst="roundRect">
            <a:avLst/>
          </a:prstGeom>
          <a:noFill/>
        </p:spPr>
      </p:pic>
      <p:pic>
        <p:nvPicPr>
          <p:cNvPr id="27657" name="Picture 4" descr="http://www.observatorioagricola.pt/AdvHTML_Upload/laranjas8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881689" y="5429251"/>
            <a:ext cx="2428875" cy="1192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CaixaDeTexto 22"/>
          <p:cNvSpPr txBox="1"/>
          <p:nvPr/>
        </p:nvSpPr>
        <p:spPr>
          <a:xfrm>
            <a:off x="8239126" y="5643564"/>
            <a:ext cx="24288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latin typeface="+mn-lt"/>
              </a:rPr>
              <a:t>Desenvolvimento de frutos partenocárpicos (sem fecundação).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109EC0C-BB4B-4025-B510-BBD5400630D5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624AC802-C371-4D51-99E6-9D7BEBFF7CB6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Fisiologia Vegetal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666876" y="1071564"/>
            <a:ext cx="8786813" cy="2632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3"/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Hormônios Vegetais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3"/>
              <a:defRPr/>
            </a:pPr>
            <a:endParaRPr lang="pt-BR" sz="1400" dirty="0">
              <a:solidFill>
                <a:schemeClr val="tx2"/>
              </a:solidFill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solidFill>
                  <a:srgbClr val="FF0000"/>
                </a:solidFill>
                <a:latin typeface="+mn-lt"/>
                <a:cs typeface="Tahoma" pitchFamily="34" charset="0"/>
              </a:rPr>
              <a:t>e)    Ácido </a:t>
            </a:r>
            <a:r>
              <a:rPr lang="pt-BR" sz="2000" b="1" dirty="0" err="1">
                <a:solidFill>
                  <a:srgbClr val="FF0000"/>
                </a:solidFill>
                <a:latin typeface="+mn-lt"/>
                <a:cs typeface="Tahoma" pitchFamily="34" charset="0"/>
              </a:rPr>
              <a:t>abscísico</a:t>
            </a:r>
            <a:r>
              <a:rPr lang="pt-BR" sz="2000" b="1" dirty="0">
                <a:solidFill>
                  <a:srgbClr val="FF0000"/>
                </a:solidFill>
                <a:latin typeface="+mn-lt"/>
                <a:cs typeface="Tahoma" pitchFamily="34" charset="0"/>
              </a:rPr>
              <a:t> (ABA)</a:t>
            </a:r>
            <a:endParaRPr lang="pt-BR" sz="2000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500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dirty="0">
                <a:latin typeface="+mn-lt"/>
                <a:cs typeface="Tahoma" pitchFamily="34" charset="0"/>
              </a:rPr>
              <a:t>Promove a dormência em gemas e sementes (inverno)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dirty="0">
                <a:latin typeface="+mn-lt"/>
                <a:cs typeface="Tahoma" pitchFamily="34" charset="0"/>
              </a:rPr>
              <a:t>Promove o fechamento estomático (falta de água no solo)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dirty="0">
                <a:latin typeface="+mn-lt"/>
                <a:cs typeface="Tahoma" pitchFamily="34" charset="0"/>
              </a:rPr>
              <a:t>Induz o envelhecimento de folhas, frutos e flores.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	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	</a:t>
            </a:r>
            <a:endParaRPr lang="pt-BR" sz="2000" b="1" dirty="0">
              <a:latin typeface="+mn-lt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8676" name="CaixaDeTexto 17"/>
          <p:cNvSpPr txBox="1">
            <a:spLocks noChangeArrowheads="1"/>
          </p:cNvSpPr>
          <p:nvPr/>
        </p:nvSpPr>
        <p:spPr bwMode="auto">
          <a:xfrm>
            <a:off x="6881814" y="1000125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pic>
        <p:nvPicPr>
          <p:cNvPr id="28677" name="Picture 2" descr="http://l.yimg.com/g/images/spaceball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08650" y="-1536700"/>
            <a:ext cx="4762500" cy="317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8" name="Picture 4" descr="http://l.yimg.com/g/images/spaceball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08650" y="-1536700"/>
            <a:ext cx="4762500" cy="317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9" name="Picture 2" descr="http://garatujando.blogs.sapo.pt/arquivo/Invern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52626" y="3071814"/>
            <a:ext cx="4562475" cy="338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80" name="Picture 4" descr="http://www.ilustrare.bio.br/Sementes%20web%20gd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667500" y="3143250"/>
            <a:ext cx="3587750" cy="239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CaixaDeTexto 15"/>
          <p:cNvSpPr txBox="1"/>
          <p:nvPr/>
        </p:nvSpPr>
        <p:spPr>
          <a:xfrm>
            <a:off x="6738939" y="5643563"/>
            <a:ext cx="3571875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latin typeface="+mn-lt"/>
              </a:rPr>
              <a:t>Sementes dormentes no período do inverno por ação do ácido </a:t>
            </a:r>
            <a:r>
              <a:rPr lang="pt-BR" dirty="0" err="1">
                <a:latin typeface="+mn-lt"/>
              </a:rPr>
              <a:t>abscísico</a:t>
            </a:r>
            <a:endParaRPr lang="pt-BR" dirty="0">
              <a:latin typeface="+mn-lt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D64411A-7A87-4A29-BADA-9B0C3ECBE6F0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6CBA8AA2-1D9C-41E4-8620-116A4BBB8E85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Fisiologia Vegetal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666876" y="1071563"/>
            <a:ext cx="8786813" cy="47863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4)  </a:t>
            </a:r>
            <a:r>
              <a:rPr lang="pt-BR" b="1" dirty="0" err="1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Fotoperiodismo</a:t>
            </a:r>
            <a:endParaRPr lang="pt-BR" b="1" dirty="0">
              <a:solidFill>
                <a:schemeClr val="tx2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3"/>
              <a:defRPr/>
            </a:pPr>
            <a:endParaRPr lang="pt-BR" sz="1000" dirty="0">
              <a:solidFill>
                <a:schemeClr val="tx2"/>
              </a:solidFill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500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É o mecanismo de floração que algumas plantas angiospermas possuem em resposta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ao período de luminosidade diária (</a:t>
            </a:r>
            <a:r>
              <a:rPr lang="pt-BR" dirty="0" err="1">
                <a:latin typeface="+mn-lt"/>
                <a:cs typeface="Tahoma" pitchFamily="34" charset="0"/>
              </a:rPr>
              <a:t>fotoperíodo</a:t>
            </a:r>
            <a:r>
              <a:rPr lang="pt-BR" dirty="0">
                <a:latin typeface="+mn-lt"/>
                <a:cs typeface="Tahoma" pitchFamily="34" charset="0"/>
              </a:rPr>
              <a:t>).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FF0000"/>
                </a:solidFill>
                <a:latin typeface="+mn-lt"/>
                <a:cs typeface="Tahoma" pitchFamily="34" charset="0"/>
              </a:rPr>
              <a:t>Fotoperíodo crítico: (FPC)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000" dirty="0"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Valor em horas de iluminação que determina a floração ou não de uma planta.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O </a:t>
            </a:r>
            <a:r>
              <a:rPr lang="pt-BR" dirty="0" err="1">
                <a:latin typeface="+mn-lt"/>
                <a:cs typeface="Tahoma" pitchFamily="34" charset="0"/>
              </a:rPr>
              <a:t>fotoperíodo</a:t>
            </a:r>
            <a:r>
              <a:rPr lang="pt-BR" dirty="0">
                <a:latin typeface="+mn-lt"/>
                <a:cs typeface="Tahoma" pitchFamily="34" charset="0"/>
              </a:rPr>
              <a:t> crítico é específico de cada espécie.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b="1" dirty="0">
                <a:latin typeface="+mn-lt"/>
                <a:cs typeface="Tahoma" pitchFamily="34" charset="0"/>
              </a:rPr>
              <a:t>Plantas de dia-curto: </a:t>
            </a:r>
            <a:r>
              <a:rPr lang="pt-BR" dirty="0">
                <a:latin typeface="+mn-lt"/>
                <a:cs typeface="Tahoma" pitchFamily="34" charset="0"/>
              </a:rPr>
              <a:t>Florescem quando a duração do período iluminado é inferior ao seu </a:t>
            </a:r>
            <a:r>
              <a:rPr lang="pt-BR" dirty="0" err="1">
                <a:latin typeface="+mn-lt"/>
                <a:cs typeface="Tahoma" pitchFamily="34" charset="0"/>
              </a:rPr>
              <a:t>fotoperíodo</a:t>
            </a:r>
            <a:r>
              <a:rPr lang="pt-BR" dirty="0">
                <a:latin typeface="+mn-lt"/>
                <a:cs typeface="Tahoma" pitchFamily="34" charset="0"/>
              </a:rPr>
              <a:t> crítico.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endParaRPr lang="pt-BR" sz="1000" dirty="0">
              <a:latin typeface="+mn-lt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romanUcPeriod" startAt="2"/>
              <a:defRPr/>
            </a:pPr>
            <a:r>
              <a:rPr lang="pt-BR" b="1" dirty="0">
                <a:latin typeface="+mn-lt"/>
                <a:cs typeface="Tahoma" pitchFamily="34" charset="0"/>
              </a:rPr>
              <a:t>Plantas de dia-longo: </a:t>
            </a:r>
            <a:r>
              <a:rPr lang="pt-BR" dirty="0">
                <a:latin typeface="+mn-lt"/>
                <a:cs typeface="Tahoma" pitchFamily="34" charset="0"/>
              </a:rPr>
              <a:t>Florescem quando a duração do período iluminado é maior que o seu </a:t>
            </a:r>
            <a:r>
              <a:rPr lang="pt-BR" dirty="0" err="1">
                <a:latin typeface="+mn-lt"/>
                <a:cs typeface="Tahoma" pitchFamily="34" charset="0"/>
              </a:rPr>
              <a:t>fotoperíodo</a:t>
            </a:r>
            <a:r>
              <a:rPr lang="pt-BR" dirty="0">
                <a:latin typeface="+mn-lt"/>
                <a:cs typeface="Tahoma" pitchFamily="34" charset="0"/>
              </a:rPr>
              <a:t> crítico.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romanUcPeriod" startAt="2"/>
              <a:defRPr/>
            </a:pPr>
            <a:endParaRPr lang="pt-BR" sz="1000" dirty="0">
              <a:latin typeface="+mn-lt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romanUcPeriod" startAt="2"/>
              <a:defRPr/>
            </a:pPr>
            <a:r>
              <a:rPr lang="pt-BR" b="1" dirty="0">
                <a:latin typeface="+mn-lt"/>
                <a:cs typeface="Tahoma" pitchFamily="34" charset="0"/>
              </a:rPr>
              <a:t>Plantas indiferentes: </a:t>
            </a:r>
            <a:r>
              <a:rPr lang="pt-BR" dirty="0">
                <a:latin typeface="+mn-lt"/>
                <a:cs typeface="Tahoma" pitchFamily="34" charset="0"/>
              </a:rPr>
              <a:t>A floração não depende do </a:t>
            </a:r>
            <a:r>
              <a:rPr lang="pt-BR" dirty="0" err="1">
                <a:latin typeface="+mn-lt"/>
                <a:cs typeface="Tahoma" pitchFamily="34" charset="0"/>
              </a:rPr>
              <a:t>fotoperíodo</a:t>
            </a:r>
            <a:r>
              <a:rPr lang="pt-BR" dirty="0">
                <a:latin typeface="+mn-lt"/>
                <a:cs typeface="Tahoma" pitchFamily="34" charset="0"/>
              </a:rPr>
              <a:t>.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sp>
        <p:nvSpPr>
          <p:cNvPr id="29700" name="CaixaDeTexto 17"/>
          <p:cNvSpPr txBox="1">
            <a:spLocks noChangeArrowheads="1"/>
          </p:cNvSpPr>
          <p:nvPr/>
        </p:nvSpPr>
        <p:spPr bwMode="auto">
          <a:xfrm>
            <a:off x="6881814" y="1000125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8EAE64B-3D57-4538-A599-F169875C031B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073478D-A4CB-4668-9E19-34A24B9B5DB2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Fisiologia Vegetal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666876" y="1071564"/>
            <a:ext cx="8786813" cy="1354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4)  </a:t>
            </a:r>
            <a:r>
              <a:rPr lang="pt-BR" b="1" dirty="0" err="1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Fotoperiodismo</a:t>
            </a:r>
            <a:endParaRPr lang="pt-BR" b="1" dirty="0">
              <a:solidFill>
                <a:schemeClr val="tx2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3"/>
              <a:defRPr/>
            </a:pPr>
            <a:endParaRPr lang="pt-BR" sz="1000" dirty="0">
              <a:solidFill>
                <a:schemeClr val="tx2"/>
              </a:solidFill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a) Plantas de dia-curto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sp>
        <p:nvSpPr>
          <p:cNvPr id="30724" name="CaixaDeTexto 17"/>
          <p:cNvSpPr txBox="1">
            <a:spLocks noChangeArrowheads="1"/>
          </p:cNvSpPr>
          <p:nvPr/>
        </p:nvSpPr>
        <p:spPr bwMode="auto">
          <a:xfrm>
            <a:off x="6881814" y="1000125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pic>
        <p:nvPicPr>
          <p:cNvPr id="30725" name="Imagem 7" descr="diacurto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95875" y="1785938"/>
            <a:ext cx="48514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aixaDeTexto 9"/>
          <p:cNvSpPr txBox="1"/>
          <p:nvPr/>
        </p:nvSpPr>
        <p:spPr>
          <a:xfrm>
            <a:off x="1738313" y="2286001"/>
            <a:ext cx="2571750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dirty="0">
                <a:latin typeface="+mn-lt"/>
              </a:rPr>
              <a:t>Fotoperíodo crítico da espécie = 11 </a:t>
            </a:r>
            <a:r>
              <a:rPr lang="pt-BR" dirty="0" err="1">
                <a:latin typeface="+mn-lt"/>
              </a:rPr>
              <a:t>hs</a:t>
            </a:r>
            <a:endParaRPr lang="pt-BR" dirty="0">
              <a:latin typeface="+mn-lt"/>
            </a:endParaRPr>
          </a:p>
        </p:txBody>
      </p:sp>
      <p:sp>
        <p:nvSpPr>
          <p:cNvPr id="30727" name="CaixaDeTexto 10"/>
          <p:cNvSpPr txBox="1">
            <a:spLocks noChangeArrowheads="1"/>
          </p:cNvSpPr>
          <p:nvPr/>
        </p:nvSpPr>
        <p:spPr bwMode="auto">
          <a:xfrm>
            <a:off x="5238751" y="1928814"/>
            <a:ext cx="12858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/>
              <a:t>16 hs</a:t>
            </a:r>
          </a:p>
        </p:txBody>
      </p:sp>
      <p:sp>
        <p:nvSpPr>
          <p:cNvPr id="30728" name="CaixaDeTexto 11"/>
          <p:cNvSpPr txBox="1">
            <a:spLocks noChangeArrowheads="1"/>
          </p:cNvSpPr>
          <p:nvPr/>
        </p:nvSpPr>
        <p:spPr bwMode="auto">
          <a:xfrm>
            <a:off x="6524626" y="1928814"/>
            <a:ext cx="78581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>
                <a:solidFill>
                  <a:schemeClr val="bg1"/>
                </a:solidFill>
              </a:rPr>
              <a:t>8 hs</a:t>
            </a:r>
          </a:p>
        </p:txBody>
      </p:sp>
      <p:sp>
        <p:nvSpPr>
          <p:cNvPr id="30729" name="CaixaDeTexto 12"/>
          <p:cNvSpPr txBox="1">
            <a:spLocks noChangeArrowheads="1"/>
          </p:cNvSpPr>
          <p:nvPr/>
        </p:nvSpPr>
        <p:spPr bwMode="auto">
          <a:xfrm>
            <a:off x="7667625" y="1928814"/>
            <a:ext cx="8572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/>
              <a:t>8 hs</a:t>
            </a:r>
          </a:p>
        </p:txBody>
      </p:sp>
      <p:sp>
        <p:nvSpPr>
          <p:cNvPr id="30730" name="CaixaDeTexto 13"/>
          <p:cNvSpPr txBox="1">
            <a:spLocks noChangeArrowheads="1"/>
          </p:cNvSpPr>
          <p:nvPr/>
        </p:nvSpPr>
        <p:spPr bwMode="auto">
          <a:xfrm>
            <a:off x="8453439" y="1928814"/>
            <a:ext cx="12858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>
                <a:solidFill>
                  <a:schemeClr val="bg1"/>
                </a:solidFill>
              </a:rPr>
              <a:t>16 hs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1738313" y="3071813"/>
            <a:ext cx="3643312" cy="1020762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pt-BR" dirty="0"/>
              <a:t>Floresce quando submetida a um período de luminosidade inferior ao seu </a:t>
            </a:r>
            <a:r>
              <a:rPr lang="pt-BR" dirty="0" err="1"/>
              <a:t>fotoperíodo</a:t>
            </a:r>
            <a:r>
              <a:rPr lang="pt-BR" dirty="0"/>
              <a:t> crítico.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5453064" y="5857875"/>
            <a:ext cx="1785937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b="1" dirty="0">
                <a:latin typeface="+mn-lt"/>
              </a:rPr>
              <a:t>Não floresce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7953375" y="5857875"/>
            <a:ext cx="1785938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b="1" dirty="0">
                <a:latin typeface="+mn-lt"/>
              </a:rPr>
              <a:t>Floresce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238751" y="1643064"/>
            <a:ext cx="1285875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100" dirty="0">
                <a:latin typeface="+mn-lt"/>
              </a:rPr>
              <a:t>Dia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596064" y="1643064"/>
            <a:ext cx="714375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100" dirty="0">
                <a:latin typeface="+mn-lt"/>
              </a:rPr>
              <a:t>Noite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7739064" y="1643064"/>
            <a:ext cx="714375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100" dirty="0">
                <a:latin typeface="+mn-lt"/>
              </a:rPr>
              <a:t>Dia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8524876" y="1643064"/>
            <a:ext cx="1285875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100" dirty="0">
                <a:latin typeface="+mn-lt"/>
              </a:rPr>
              <a:t>Noite</a:t>
            </a:r>
          </a:p>
        </p:txBody>
      </p:sp>
      <p:sp>
        <p:nvSpPr>
          <p:cNvPr id="30738" name="CaixaDeTexto 21"/>
          <p:cNvSpPr txBox="1">
            <a:spLocks noChangeArrowheads="1"/>
          </p:cNvSpPr>
          <p:nvPr/>
        </p:nvSpPr>
        <p:spPr bwMode="auto">
          <a:xfrm>
            <a:off x="5453063" y="1143000"/>
            <a:ext cx="164306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/>
              <a:t>Verão</a:t>
            </a:r>
          </a:p>
        </p:txBody>
      </p:sp>
      <p:sp>
        <p:nvSpPr>
          <p:cNvPr id="30739" name="CaixaDeTexto 22"/>
          <p:cNvSpPr txBox="1">
            <a:spLocks noChangeArrowheads="1"/>
          </p:cNvSpPr>
          <p:nvPr/>
        </p:nvSpPr>
        <p:spPr bwMode="auto">
          <a:xfrm>
            <a:off x="7953376" y="1143000"/>
            <a:ext cx="16430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/>
              <a:t>Inverno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F3C5DD6C-E793-481D-B475-69EA676FC293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AAFA7A33-D98C-49B6-8028-3FD499C32ABF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Fisiologia Vegetal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Imagem 23" descr="curto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38751" y="1785939"/>
            <a:ext cx="2252663" cy="763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747" name="Imagem 22" descr="longo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39063" y="1785938"/>
            <a:ext cx="2324100" cy="78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748" name="Imagem 21" descr="dialongo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81625" y="2643188"/>
            <a:ext cx="4889500" cy="379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aixaDeTexto 8"/>
          <p:cNvSpPr txBox="1"/>
          <p:nvPr/>
        </p:nvSpPr>
        <p:spPr>
          <a:xfrm>
            <a:off x="1666876" y="1071564"/>
            <a:ext cx="8786813" cy="1354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4)  </a:t>
            </a:r>
            <a:r>
              <a:rPr lang="pt-BR" b="1" dirty="0" err="1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Fotoperiodismo</a:t>
            </a:r>
            <a:endParaRPr lang="pt-BR" b="1" dirty="0">
              <a:solidFill>
                <a:schemeClr val="tx2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3"/>
              <a:defRPr/>
            </a:pPr>
            <a:endParaRPr lang="pt-BR" sz="1000" dirty="0">
              <a:solidFill>
                <a:schemeClr val="tx2"/>
              </a:solidFill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a) Plantas de dia-longo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sp>
        <p:nvSpPr>
          <p:cNvPr id="31751" name="CaixaDeTexto 17"/>
          <p:cNvSpPr txBox="1">
            <a:spLocks noChangeArrowheads="1"/>
          </p:cNvSpPr>
          <p:nvPr/>
        </p:nvSpPr>
        <p:spPr bwMode="auto">
          <a:xfrm>
            <a:off x="6881814" y="1000125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1738313" y="2286001"/>
            <a:ext cx="2571750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dirty="0">
                <a:latin typeface="+mn-lt"/>
              </a:rPr>
              <a:t>Fotoperíodo crítico da espécie = 15 </a:t>
            </a:r>
            <a:r>
              <a:rPr lang="pt-BR" dirty="0" err="1">
                <a:latin typeface="+mn-lt"/>
              </a:rPr>
              <a:t>hs</a:t>
            </a:r>
            <a:endParaRPr lang="pt-BR" dirty="0">
              <a:latin typeface="+mn-lt"/>
            </a:endParaRPr>
          </a:p>
        </p:txBody>
      </p:sp>
      <p:sp>
        <p:nvSpPr>
          <p:cNvPr id="31753" name="CaixaDeTexto 10"/>
          <p:cNvSpPr txBox="1">
            <a:spLocks noChangeArrowheads="1"/>
          </p:cNvSpPr>
          <p:nvPr/>
        </p:nvSpPr>
        <p:spPr bwMode="auto">
          <a:xfrm>
            <a:off x="5310189" y="1928814"/>
            <a:ext cx="12858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/>
              <a:t>16 hs</a:t>
            </a:r>
          </a:p>
        </p:txBody>
      </p:sp>
      <p:sp>
        <p:nvSpPr>
          <p:cNvPr id="31754" name="CaixaDeTexto 11"/>
          <p:cNvSpPr txBox="1">
            <a:spLocks noChangeArrowheads="1"/>
          </p:cNvSpPr>
          <p:nvPr/>
        </p:nvSpPr>
        <p:spPr bwMode="auto">
          <a:xfrm>
            <a:off x="6596063" y="1928814"/>
            <a:ext cx="78581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>
                <a:solidFill>
                  <a:schemeClr val="bg1"/>
                </a:solidFill>
              </a:rPr>
              <a:t>8 hs</a:t>
            </a:r>
          </a:p>
        </p:txBody>
      </p:sp>
      <p:sp>
        <p:nvSpPr>
          <p:cNvPr id="31755" name="CaixaDeTexto 12"/>
          <p:cNvSpPr txBox="1">
            <a:spLocks noChangeArrowheads="1"/>
          </p:cNvSpPr>
          <p:nvPr/>
        </p:nvSpPr>
        <p:spPr bwMode="auto">
          <a:xfrm>
            <a:off x="7881938" y="1928814"/>
            <a:ext cx="78581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/>
              <a:t>8 hs</a:t>
            </a:r>
          </a:p>
        </p:txBody>
      </p:sp>
      <p:sp>
        <p:nvSpPr>
          <p:cNvPr id="31756" name="CaixaDeTexto 13"/>
          <p:cNvSpPr txBox="1">
            <a:spLocks noChangeArrowheads="1"/>
          </p:cNvSpPr>
          <p:nvPr/>
        </p:nvSpPr>
        <p:spPr bwMode="auto">
          <a:xfrm>
            <a:off x="8596313" y="1928814"/>
            <a:ext cx="135731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>
                <a:solidFill>
                  <a:schemeClr val="bg1"/>
                </a:solidFill>
              </a:rPr>
              <a:t>16 hs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1666876" y="3071813"/>
            <a:ext cx="3643313" cy="1020762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pt-BR" dirty="0"/>
              <a:t>Floresce quando submetida a um período de luminosidade superior ao seu </a:t>
            </a:r>
            <a:r>
              <a:rPr lang="pt-BR" dirty="0" err="1"/>
              <a:t>fotoperíodo</a:t>
            </a:r>
            <a:r>
              <a:rPr lang="pt-BR" dirty="0"/>
              <a:t> crítico.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5738814" y="5929314"/>
            <a:ext cx="1785937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b="1" dirty="0">
                <a:latin typeface="+mn-lt"/>
              </a:rPr>
              <a:t>floresce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8167689" y="5929314"/>
            <a:ext cx="1785937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b="1" dirty="0">
                <a:latin typeface="+mn-lt"/>
              </a:rPr>
              <a:t>Não Floresce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238751" y="1643064"/>
            <a:ext cx="1285875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100" dirty="0">
                <a:latin typeface="+mn-lt"/>
              </a:rPr>
              <a:t>Dia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596064" y="1643064"/>
            <a:ext cx="714375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100" dirty="0">
                <a:latin typeface="+mn-lt"/>
              </a:rPr>
              <a:t>Noite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7953376" y="1643064"/>
            <a:ext cx="714375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100" dirty="0">
                <a:latin typeface="+mn-lt"/>
              </a:rPr>
              <a:t>Dia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8667750" y="1643064"/>
            <a:ext cx="1214438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100" dirty="0">
                <a:latin typeface="+mn-lt"/>
              </a:rPr>
              <a:t>Noite</a:t>
            </a:r>
          </a:p>
        </p:txBody>
      </p:sp>
      <p:sp>
        <p:nvSpPr>
          <p:cNvPr id="31764" name="CaixaDeTexto 24"/>
          <p:cNvSpPr txBox="1">
            <a:spLocks noChangeArrowheads="1"/>
          </p:cNvSpPr>
          <p:nvPr/>
        </p:nvSpPr>
        <p:spPr bwMode="auto">
          <a:xfrm>
            <a:off x="5524501" y="1143000"/>
            <a:ext cx="16430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/>
              <a:t>Verão</a:t>
            </a:r>
          </a:p>
        </p:txBody>
      </p:sp>
      <p:sp>
        <p:nvSpPr>
          <p:cNvPr id="31765" name="CaixaDeTexto 25"/>
          <p:cNvSpPr txBox="1">
            <a:spLocks noChangeArrowheads="1"/>
          </p:cNvSpPr>
          <p:nvPr/>
        </p:nvSpPr>
        <p:spPr bwMode="auto">
          <a:xfrm>
            <a:off x="8096251" y="1143000"/>
            <a:ext cx="16430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/>
              <a:t>Inverno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163867F6-00A2-4FBF-90BE-00576A8DB3F7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29E6DCB5-6610-43C4-8E1A-C48C462A61AE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Fisiologia Vegetal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666876" y="1071564"/>
            <a:ext cx="8786813" cy="3754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4"/>
              <a:defRPr/>
            </a:pPr>
            <a:r>
              <a:rPr lang="pt-BR" b="1" dirty="0" err="1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Fotoperiodismo</a:t>
            </a:r>
            <a:endParaRPr lang="pt-BR" b="1" dirty="0">
              <a:solidFill>
                <a:schemeClr val="tx2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4"/>
              <a:defRPr/>
            </a:pPr>
            <a:endParaRPr lang="pt-BR" b="1" dirty="0">
              <a:solidFill>
                <a:schemeClr val="tx2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	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sz="2000" b="1" dirty="0">
                <a:latin typeface="+mn-lt"/>
                <a:cs typeface="Tahoma" pitchFamily="34" charset="0"/>
              </a:rPr>
              <a:t>Estudos posteriores revelaram que não é o período de luminosidade diária que efetua a floração, mas sim o período de escuro ao qual a planta é submetida.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b="1" dirty="0">
              <a:solidFill>
                <a:schemeClr val="tx2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sz="2000" b="1" dirty="0">
                <a:latin typeface="+mn-lt"/>
                <a:cs typeface="Tahoma" pitchFamily="34" charset="0"/>
              </a:rPr>
              <a:t>Plantas de dia-curto: </a:t>
            </a:r>
            <a:r>
              <a:rPr lang="pt-BR" sz="2000" dirty="0">
                <a:latin typeface="+mn-lt"/>
                <a:cs typeface="Tahoma" pitchFamily="34" charset="0"/>
              </a:rPr>
              <a:t>necessitam de uma “noite longa” para florescer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000" b="1" dirty="0">
              <a:latin typeface="+mn-lt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sz="2000" b="1" dirty="0">
                <a:latin typeface="+mn-lt"/>
                <a:cs typeface="Tahoma" pitchFamily="34" charset="0"/>
              </a:rPr>
              <a:t>Plantas de dia-longo: </a:t>
            </a:r>
            <a:r>
              <a:rPr lang="pt-BR" sz="2000" dirty="0">
                <a:latin typeface="+mn-lt"/>
                <a:cs typeface="Tahoma" pitchFamily="34" charset="0"/>
              </a:rPr>
              <a:t>necessitam de uma “noite curta” para florescer.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3"/>
              <a:defRPr/>
            </a:pPr>
            <a:endParaRPr lang="pt-BR" sz="1000" dirty="0">
              <a:solidFill>
                <a:schemeClr val="tx2"/>
              </a:solidFill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sp>
        <p:nvSpPr>
          <p:cNvPr id="32772" name="CaixaDeTexto 17"/>
          <p:cNvSpPr txBox="1">
            <a:spLocks noChangeArrowheads="1"/>
          </p:cNvSpPr>
          <p:nvPr/>
        </p:nvSpPr>
        <p:spPr bwMode="auto">
          <a:xfrm>
            <a:off x="6881814" y="1000125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D3BD271-CB63-4FE2-BDAE-AD8107E4AFC3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0FD9B15F-0264-46A2-9760-D4C8A5CE539F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Fisiologia Vegetal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666876" y="1071563"/>
            <a:ext cx="8786813" cy="16319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4"/>
              <a:defRPr/>
            </a:pPr>
            <a:r>
              <a:rPr lang="pt-BR" b="1" dirty="0" err="1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Fotoperiodismo</a:t>
            </a:r>
            <a:endParaRPr lang="pt-BR" b="1" dirty="0">
              <a:solidFill>
                <a:schemeClr val="tx2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4"/>
              <a:defRPr/>
            </a:pPr>
            <a:endParaRPr lang="pt-BR" b="1" dirty="0">
              <a:solidFill>
                <a:schemeClr val="tx2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	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3"/>
              <a:defRPr/>
            </a:pPr>
            <a:endParaRPr lang="pt-BR" sz="1000" dirty="0">
              <a:solidFill>
                <a:schemeClr val="tx2"/>
              </a:solidFill>
              <a:latin typeface="+mn-lt"/>
              <a:cs typeface="Tahoma" pitchFamily="34" charset="0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sp>
        <p:nvSpPr>
          <p:cNvPr id="33796" name="CaixaDeTexto 17"/>
          <p:cNvSpPr txBox="1">
            <a:spLocks noChangeArrowheads="1"/>
          </p:cNvSpPr>
          <p:nvPr/>
        </p:nvSpPr>
        <p:spPr bwMode="auto">
          <a:xfrm>
            <a:off x="6881814" y="836712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pic>
        <p:nvPicPr>
          <p:cNvPr id="33797" name="Imagem 7" descr="fotoperiodo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86450" y="1105347"/>
            <a:ext cx="4781550" cy="5589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aixaDeTexto 9"/>
          <p:cNvSpPr txBox="1"/>
          <p:nvPr/>
        </p:nvSpPr>
        <p:spPr>
          <a:xfrm>
            <a:off x="1666876" y="1857375"/>
            <a:ext cx="4214813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r>
              <a:rPr lang="pt-BR" dirty="0">
                <a:latin typeface="+mn-lt"/>
              </a:rPr>
              <a:t>Interrompendo o período noturno por um breve período luminoso a planta de dia-curto, não floresce, pois na verdade ela necessita é de uma “noite longa” contínua.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8882064" y="3265587"/>
            <a:ext cx="1785937" cy="323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500" b="1" dirty="0">
                <a:latin typeface="+mn-lt"/>
              </a:rPr>
              <a:t>Não Floresce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9024939" y="6370737"/>
            <a:ext cx="1785937" cy="323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500" b="1" dirty="0">
                <a:latin typeface="+mn-lt"/>
              </a:rPr>
              <a:t>Floresce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1666876" y="4714875"/>
            <a:ext cx="4214813" cy="17541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r>
              <a:rPr lang="pt-BR" dirty="0">
                <a:latin typeface="+mn-lt"/>
              </a:rPr>
              <a:t>Interrompendo o período noturno por um breve período luminoso a planta de dia-longo floresce, pois como ela necessita de “noite curta” para florescer a interrupção da noite longa faz com que a noite se torne curta para planta e ela floresce.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CA8E257-9D83-4C1B-9D9B-5ACE4E91F97F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42496E92-8919-4637-B9B3-BF8C4ABD6F52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Fisiologia Vegetal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347</TotalTime>
  <Words>2264</Words>
  <Application>Microsoft Office PowerPoint</Application>
  <PresentationFormat>Widescreen</PresentationFormat>
  <Paragraphs>591</Paragraphs>
  <Slides>33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41" baseType="lpstr">
      <vt:lpstr>Arial</vt:lpstr>
      <vt:lpstr>Calibri</vt:lpstr>
      <vt:lpstr>Calibri Light</vt:lpstr>
      <vt:lpstr>Courier New</vt:lpstr>
      <vt:lpstr>Open Sans</vt:lpstr>
      <vt:lpstr>Tahoma</vt:lpstr>
      <vt:lpstr>Wingdings</vt:lpstr>
      <vt:lpstr>Tema do Office</vt:lpstr>
      <vt:lpstr>Fisiologia Vegetal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Barbosa</dc:creator>
  <cp:lastModifiedBy>Bruno Barbosa</cp:lastModifiedBy>
  <cp:revision>31</cp:revision>
  <dcterms:created xsi:type="dcterms:W3CDTF">2020-06-05T12:13:59Z</dcterms:created>
  <dcterms:modified xsi:type="dcterms:W3CDTF">2021-05-18T16:09:07Z</dcterms:modified>
</cp:coreProperties>
</file>