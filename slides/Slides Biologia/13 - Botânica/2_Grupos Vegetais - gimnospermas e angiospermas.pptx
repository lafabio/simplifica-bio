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16" r:id="rId2"/>
    <p:sldId id="276" r:id="rId3"/>
    <p:sldId id="277" r:id="rId4"/>
    <p:sldId id="278" r:id="rId5"/>
    <p:sldId id="279" r:id="rId6"/>
    <p:sldId id="280" r:id="rId7"/>
    <p:sldId id="281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37BE03-CAF6-4FAF-A68D-BADE1FD2FE2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A69BC3-5D66-4507-9AA2-3A849D21D46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83DABE-F446-4EA7-BF53-CBE64AAE32D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34E8B9-CD64-4CA2-884A-4C9276138AB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4B1E452-31CB-4470-8F44-3BAA0F02F98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EDA487-8425-4DAC-B7E1-73A4425364B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EB40D4-2924-421F-A570-CF958268E25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6C4C11-C934-46D4-9662-9121F2982F8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6C7B74-4C6B-4596-A491-CDB12601274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719CEF-B3E5-4A0F-AF47-BEC8F15E705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DA5CE5-51D3-452B-A4F6-FEF05DDC74E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FF13B25-0670-4341-8BF8-CC3A5DD6B4C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BEDB9A-5A4B-4D65-BFD6-A36B3FFAA7EB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021CB3-4770-4EE1-85C1-53223EEAF00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FBD9BB-F9EF-4C0F-A0A7-E2A9402E41B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52CC52C-A9C8-422D-995A-C4155C89106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30D926-802B-4FC6-872F-0543217D337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F10B9E4-B38D-4C67-9F6B-82F444FC94F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09E9D83-DB32-40A6-BC25-E9A988398A1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aajvs.files.wordpress.com/2008/03/pinhao.jpg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Resultado de imagem para botanica">
            <a:extLst>
              <a:ext uri="{FF2B5EF4-FFF2-40B4-BE49-F238E27FC236}">
                <a16:creationId xmlns:a16="http://schemas.microsoft.com/office/drawing/2014/main" id="{3948D3BB-AD02-4C9C-A211-AE52786DC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" b="14476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Grupos Vegetais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Gimnospermas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Angiospermas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52939" y="4654550"/>
            <a:ext cx="3286125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7)  Gimnospermas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3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Calibri" pitchFamily="34" charset="0"/>
              </a:rPr>
              <a:t>Primeiro grupo a conquistar definitivamente o ambiente terrestre.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000" dirty="0">
                <a:latin typeface="Calibri" pitchFamily="34" charset="0"/>
              </a:rPr>
              <a:t>Principais representantes: Pinheiros, sequóias, araucárias e cipreste</a:t>
            </a:r>
            <a:endParaRPr lang="pt-BR" sz="800" dirty="0">
              <a:latin typeface="Calibri" pitchFamily="34" charset="0"/>
            </a:endParaRP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200" dirty="0">
              <a:latin typeface="Calibri" pitchFamily="34" charset="0"/>
            </a:endParaRP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200" dirty="0">
                <a:latin typeface="Calibri" pitchFamily="34" charset="0"/>
              </a:rPr>
              <a:t>Qual a vantagem?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Calibri" pitchFamily="34" charset="0"/>
            </a:endParaRP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r>
              <a:rPr lang="pt-BR" sz="2200" dirty="0">
                <a:latin typeface="Calibri" pitchFamily="34" charset="0"/>
              </a:rPr>
              <a:t>Independência total da água para a reprodução.</a:t>
            </a: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095501" y="2643189"/>
            <a:ext cx="8215313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Características</a:t>
            </a:r>
          </a:p>
          <a:p>
            <a:pPr>
              <a:defRPr/>
            </a:pPr>
            <a:endParaRPr lang="pt-BR" sz="1200" dirty="0">
              <a:latin typeface="+mn-lt"/>
            </a:endParaRPr>
          </a:p>
          <a:p>
            <a:pPr marL="514350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</a:rPr>
              <a:t>Surgimento do tubo polínico (Sifonógamas)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2952751" y="6286500"/>
            <a:ext cx="1357313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pt-BR" dirty="0">
                <a:latin typeface="+mn-lt"/>
              </a:rPr>
              <a:t>Exemplos: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C6FC87C-885C-4B41-A0EC-E38921AE547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0EB5099-6A51-48A1-8C6E-C12510CFD6ED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095501" y="2000251"/>
            <a:ext cx="8215313" cy="3508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Características</a:t>
            </a:r>
          </a:p>
          <a:p>
            <a:pPr>
              <a:defRPr/>
            </a:pPr>
            <a:endParaRPr lang="pt-BR" sz="2000" dirty="0">
              <a:latin typeface="+mn-lt"/>
            </a:endParaRPr>
          </a:p>
          <a:p>
            <a:pPr marL="514350" indent="-514350">
              <a:defRPr/>
            </a:pPr>
            <a:r>
              <a:rPr lang="pt-BR" sz="2200" b="1" dirty="0">
                <a:latin typeface="+mn-lt"/>
              </a:rPr>
              <a:t>II)    Surgimento das sementes (</a:t>
            </a:r>
            <a:r>
              <a:rPr lang="pt-BR" sz="2200" b="1" dirty="0" err="1">
                <a:latin typeface="+mn-lt"/>
              </a:rPr>
              <a:t>espermatófitas</a:t>
            </a:r>
            <a:r>
              <a:rPr lang="pt-BR" sz="2200" b="1" dirty="0">
                <a:latin typeface="+mn-lt"/>
              </a:rPr>
              <a:t>)</a:t>
            </a:r>
          </a:p>
          <a:p>
            <a:pPr marL="514350" indent="-514350">
              <a:buFontTx/>
              <a:buAutoNum type="romanUcParenR"/>
              <a:defRPr/>
            </a:pPr>
            <a:endParaRPr lang="pt-BR" sz="2000" b="1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r>
              <a:rPr lang="pt-BR" sz="2200" b="1" dirty="0">
                <a:latin typeface="+mn-lt"/>
              </a:rPr>
              <a:t>Quais as vantagens?</a:t>
            </a:r>
          </a:p>
          <a:p>
            <a:pPr marL="971550" lvl="1" indent="-514350">
              <a:buFont typeface="Wingdings" pitchFamily="2" charset="2"/>
              <a:buChar char="§"/>
              <a:defRPr/>
            </a:pPr>
            <a:endParaRPr lang="pt-BR" sz="900" b="1" dirty="0">
              <a:latin typeface="+mn-lt"/>
            </a:endParaRP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200" dirty="0">
                <a:latin typeface="+mn-lt"/>
              </a:rPr>
              <a:t>Aumento da dispersão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200" dirty="0">
                <a:latin typeface="+mn-lt"/>
              </a:rPr>
              <a:t>Colonização de habitats mais variados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200" dirty="0">
                <a:latin typeface="+mn-lt"/>
              </a:rPr>
              <a:t>Proteção do embrião</a:t>
            </a:r>
          </a:p>
          <a:p>
            <a:pPr marL="514350" indent="-514350">
              <a:buFontTx/>
              <a:buAutoNum type="romanUcParenR"/>
              <a:defRPr/>
            </a:pPr>
            <a:endParaRPr lang="pt-BR" sz="2000" b="1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</p:txBody>
      </p:sp>
      <p:pic>
        <p:nvPicPr>
          <p:cNvPr id="21511" name="Picture 2" descr="http://www.colegiosaofrancisco.com.br/alfa/pinhao/imagens/pinha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1439" y="5000626"/>
            <a:ext cx="157162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2" name="Picture 4" descr="http://shots.snap.com/preview/?url=http%3A%2F%2Faaajvs.files.wordpress.com%2F2008%2F03%2Fpinhao.jpg&amp;key=e5a3c1e6dff5de35b1c6e7c470411886&amp;src=pub-2311827-www.wordpress.com&amp;cp=&amp;sb=1&amp;v=3.63&amp;size=small&amp;lang=pt-br&amp;search_type=spasense&amp;vis=0&amp;origin=shots_bubble&amp;act=only_link&amp;po=0&amp;rp=null&amp;tok=0003496a004b8f593306d78a27d21015020059e654&amp;has_img=1&amp;ol=0&amp;ex=0&amp;ad=unknown&amp;ip=189.12.191.113&amp;ua=Mozilla%2F4.0+%28compatible%3B+MSIE+7.0%3B+Windows+NT+5.1%3B+Mozilla%2F4.0+%28compatible%3B+MSIE+6.0%3B+Windows+NT+5.1%3B+SV1%29+%3B+InfoPath.2%3B+.NET+CLR+2.0.50727%29&amp;vid=34c833a9983e66210f3074cbbb3a8721&amp;nl=0&amp;referrer=http%3A%2F%2Faaajvs.wordpress.com%2F2008%2F03%2F27%2F&amp;svc=&amp;rt=1231554090718&amp;view_id=34c833a9983e66210f3074cbbb3a8721&amp;goto=Ir%20para%20%25URL&amp;direct=1&amp;sc=2&amp;rss=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3125" y="5000625"/>
            <a:ext cx="25717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31E160C-771F-4994-813B-305AC78204C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5604B80-F393-4825-BFA4-A628A662C958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095501" y="2000251"/>
            <a:ext cx="8215313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Características</a:t>
            </a:r>
          </a:p>
          <a:p>
            <a:pPr>
              <a:defRPr/>
            </a:pPr>
            <a:endParaRPr lang="pt-BR" sz="2000" dirty="0">
              <a:latin typeface="+mn-lt"/>
            </a:endParaRPr>
          </a:p>
          <a:p>
            <a:pPr marL="514350" indent="-514350">
              <a:defRPr/>
            </a:pPr>
            <a:r>
              <a:rPr lang="pt-BR" sz="2200" b="1" dirty="0">
                <a:latin typeface="+mn-lt"/>
              </a:rPr>
              <a:t>III)    Redução extrema da fase gametofítica</a:t>
            </a:r>
          </a:p>
          <a:p>
            <a:pPr marL="514350" indent="-514350">
              <a:buFontTx/>
              <a:buAutoNum type="romanUcParenR"/>
              <a:defRPr/>
            </a:pPr>
            <a:endParaRPr lang="pt-BR" sz="2000" b="1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r>
              <a:rPr lang="pt-BR" sz="2200" b="1" dirty="0">
                <a:latin typeface="+mn-lt"/>
              </a:rPr>
              <a:t>Gametófito masculino: </a:t>
            </a:r>
            <a:r>
              <a:rPr lang="pt-BR" sz="2200" dirty="0">
                <a:latin typeface="+mn-lt"/>
              </a:rPr>
              <a:t>grão de pólen.</a:t>
            </a:r>
          </a:p>
          <a:p>
            <a:pPr marL="971550" lvl="1" indent="-514350">
              <a:buFont typeface="Wingdings" pitchFamily="2" charset="2"/>
              <a:buChar char="§"/>
              <a:defRPr/>
            </a:pPr>
            <a:r>
              <a:rPr lang="pt-BR" sz="2200" b="1" dirty="0">
                <a:latin typeface="+mn-lt"/>
              </a:rPr>
              <a:t>Gametófito feminino: </a:t>
            </a:r>
            <a:r>
              <a:rPr lang="pt-BR" sz="2200" dirty="0">
                <a:latin typeface="+mn-lt"/>
              </a:rPr>
              <a:t>saco embrionário (</a:t>
            </a:r>
            <a:r>
              <a:rPr lang="pt-BR" sz="2200" dirty="0" err="1">
                <a:latin typeface="+mn-lt"/>
              </a:rPr>
              <a:t>megaprótalo</a:t>
            </a:r>
            <a:r>
              <a:rPr lang="pt-BR" sz="2200" dirty="0">
                <a:latin typeface="+mn-lt"/>
              </a:rPr>
              <a:t>).</a:t>
            </a:r>
          </a:p>
          <a:p>
            <a:pPr marL="514350" indent="-514350">
              <a:buFontTx/>
              <a:buAutoNum type="romanUcParenR"/>
              <a:defRPr/>
            </a:pPr>
            <a:endParaRPr lang="pt-BR" sz="2000" b="1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</p:txBody>
      </p:sp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3" cstate="print">
            <a:lum contrast="30000"/>
          </a:blip>
          <a:srcRect/>
          <a:stretch>
            <a:fillRect/>
          </a:stretch>
        </p:blipFill>
        <p:spPr bwMode="auto">
          <a:xfrm>
            <a:off x="3095626" y="4214814"/>
            <a:ext cx="5929313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6B94B87-38C2-405E-A651-58FB49B4091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7F0421A-D8DF-4319-9DAD-996C80AE7411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095501" y="2000251"/>
            <a:ext cx="8215313" cy="2708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Características</a:t>
            </a:r>
          </a:p>
          <a:p>
            <a:pPr>
              <a:defRPr/>
            </a:pPr>
            <a:endParaRPr lang="pt-BR" sz="2000" dirty="0">
              <a:latin typeface="+mn-lt"/>
            </a:endParaRPr>
          </a:p>
          <a:p>
            <a:pPr marL="514350" indent="-514350">
              <a:defRPr/>
            </a:pPr>
            <a:r>
              <a:rPr lang="pt-BR" sz="2200" b="1" dirty="0">
                <a:latin typeface="+mn-lt"/>
              </a:rPr>
              <a:t>IV)    Polinização pelo vento (</a:t>
            </a:r>
            <a:r>
              <a:rPr lang="pt-BR" sz="2200" b="1" dirty="0" err="1">
                <a:latin typeface="+mn-lt"/>
              </a:rPr>
              <a:t>anemofilia</a:t>
            </a:r>
            <a:r>
              <a:rPr lang="pt-BR" sz="2200" b="1" dirty="0">
                <a:latin typeface="+mn-lt"/>
              </a:rPr>
              <a:t>)</a:t>
            </a:r>
          </a:p>
          <a:p>
            <a:pPr marL="514350" indent="-514350">
              <a:buFontTx/>
              <a:buAutoNum type="romanUcParenR"/>
              <a:defRPr/>
            </a:pPr>
            <a:endParaRPr lang="pt-BR" sz="2000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r>
              <a:rPr lang="pt-BR" sz="2200" dirty="0">
                <a:latin typeface="+mn-lt"/>
              </a:rPr>
              <a:t>Transporte dos </a:t>
            </a:r>
            <a:r>
              <a:rPr lang="pt-BR" sz="2200" dirty="0" err="1">
                <a:latin typeface="+mn-lt"/>
              </a:rPr>
              <a:t>grãos-de-pólen</a:t>
            </a:r>
            <a:r>
              <a:rPr lang="pt-BR" sz="2200" dirty="0">
                <a:latin typeface="+mn-lt"/>
              </a:rPr>
              <a:t> até a abertura do óvulo (micrópila).</a:t>
            </a:r>
          </a:p>
          <a:p>
            <a:pPr marL="971550" lvl="1" indent="-514350">
              <a:buFont typeface="Wingdings" pitchFamily="2" charset="2"/>
              <a:buChar char="§"/>
              <a:defRPr/>
            </a:pPr>
            <a:r>
              <a:rPr lang="pt-BR" sz="2200" dirty="0">
                <a:latin typeface="+mn-lt"/>
              </a:rPr>
              <a:t>Os </a:t>
            </a:r>
            <a:r>
              <a:rPr lang="pt-BR" sz="2200" dirty="0" err="1">
                <a:latin typeface="+mn-lt"/>
              </a:rPr>
              <a:t>grãos-de-pólen</a:t>
            </a:r>
            <a:r>
              <a:rPr lang="pt-BR" sz="2200" dirty="0">
                <a:latin typeface="+mn-lt"/>
              </a:rPr>
              <a:t> alados facilitam esse tipo de dispersão.</a:t>
            </a:r>
            <a:endParaRPr lang="pt-BR" sz="2000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E44780A-C68E-43F9-91F9-226C486D842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407FB3F-589F-41D6-BECB-83BED9392727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095501" y="2000250"/>
            <a:ext cx="8215313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Desenvolvimento do</a:t>
            </a:r>
          </a:p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Tubo polínico</a:t>
            </a:r>
          </a:p>
          <a:p>
            <a:pPr>
              <a:defRPr/>
            </a:pPr>
            <a:endParaRPr lang="pt-BR" sz="2000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</p:txBody>
      </p:sp>
      <p:grpSp>
        <p:nvGrpSpPr>
          <p:cNvPr id="24583" name="Grupo 42"/>
          <p:cNvGrpSpPr>
            <a:grpSpLocks/>
          </p:cNvGrpSpPr>
          <p:nvPr/>
        </p:nvGrpSpPr>
        <p:grpSpPr bwMode="auto">
          <a:xfrm>
            <a:off x="3309938" y="1357314"/>
            <a:ext cx="7327884" cy="5349875"/>
            <a:chOff x="1066800" y="1219200"/>
            <a:chExt cx="6553200" cy="4914816"/>
          </a:xfrm>
        </p:grpSpPr>
        <p:pic>
          <p:nvPicPr>
            <p:cNvPr id="24587" name="Picture 10" descr="C:\Documents and Settings\Claudia Frederico\Desktop\Moderna\powerpoints\U4\Figura_13-11_6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86000" y="1219200"/>
              <a:ext cx="4246563" cy="4891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88" name="Text Box 11"/>
            <p:cNvSpPr txBox="1">
              <a:spLocks noChangeArrowheads="1"/>
            </p:cNvSpPr>
            <p:nvPr/>
          </p:nvSpPr>
          <p:spPr bwMode="auto">
            <a:xfrm>
              <a:off x="2919469" y="5879505"/>
              <a:ext cx="1416623" cy="254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Célula espermática</a:t>
              </a:r>
            </a:p>
          </p:txBody>
        </p:sp>
        <p:sp>
          <p:nvSpPr>
            <p:cNvPr id="24589" name="Text Box 12"/>
            <p:cNvSpPr txBox="1">
              <a:spLocks noChangeArrowheads="1"/>
            </p:cNvSpPr>
            <p:nvPr/>
          </p:nvSpPr>
          <p:spPr bwMode="auto">
            <a:xfrm>
              <a:off x="5486400" y="5638800"/>
              <a:ext cx="1020966" cy="25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Célula estéril</a:t>
              </a:r>
            </a:p>
          </p:txBody>
        </p:sp>
        <p:sp>
          <p:nvSpPr>
            <p:cNvPr id="24590" name="Text Box 13"/>
            <p:cNvSpPr txBox="1">
              <a:spLocks noChangeArrowheads="1"/>
            </p:cNvSpPr>
            <p:nvPr/>
          </p:nvSpPr>
          <p:spPr bwMode="auto">
            <a:xfrm>
              <a:off x="3276600" y="4495800"/>
              <a:ext cx="914400" cy="424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pt-BR" sz="1200" b="1">
                  <a:solidFill>
                    <a:srgbClr val="000000"/>
                  </a:solidFill>
                </a:rPr>
                <a:t>Tubo polínico</a:t>
              </a:r>
            </a:p>
          </p:txBody>
        </p:sp>
        <p:sp>
          <p:nvSpPr>
            <p:cNvPr id="24591" name="Text Box 14"/>
            <p:cNvSpPr txBox="1">
              <a:spLocks noChangeArrowheads="1"/>
            </p:cNvSpPr>
            <p:nvPr/>
          </p:nvSpPr>
          <p:spPr bwMode="auto">
            <a:xfrm>
              <a:off x="6400800" y="4114800"/>
              <a:ext cx="1124181" cy="25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Célula do tubo</a:t>
              </a:r>
            </a:p>
          </p:txBody>
        </p:sp>
        <p:sp>
          <p:nvSpPr>
            <p:cNvPr id="24592" name="Text Box 15"/>
            <p:cNvSpPr txBox="1">
              <a:spLocks noChangeArrowheads="1"/>
            </p:cNvSpPr>
            <p:nvPr/>
          </p:nvSpPr>
          <p:spPr bwMode="auto">
            <a:xfrm>
              <a:off x="5867400" y="4724400"/>
              <a:ext cx="1752600" cy="424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Asa da parede do grão de pólen</a:t>
              </a:r>
            </a:p>
          </p:txBody>
        </p:sp>
        <p:sp>
          <p:nvSpPr>
            <p:cNvPr id="24593" name="Text Box 16"/>
            <p:cNvSpPr txBox="1">
              <a:spLocks noChangeArrowheads="1"/>
            </p:cNvSpPr>
            <p:nvPr/>
          </p:nvSpPr>
          <p:spPr bwMode="auto">
            <a:xfrm>
              <a:off x="6172200" y="3581400"/>
              <a:ext cx="1303372" cy="25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Célula generativa</a:t>
              </a:r>
            </a:p>
          </p:txBody>
        </p:sp>
        <p:sp>
          <p:nvSpPr>
            <p:cNvPr id="24594" name="Text Box 17"/>
            <p:cNvSpPr txBox="1">
              <a:spLocks noChangeArrowheads="1"/>
            </p:cNvSpPr>
            <p:nvPr/>
          </p:nvSpPr>
          <p:spPr bwMode="auto">
            <a:xfrm>
              <a:off x="6019800" y="3124200"/>
              <a:ext cx="1304807" cy="25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Células protaliais</a:t>
              </a:r>
            </a:p>
          </p:txBody>
        </p:sp>
        <p:sp>
          <p:nvSpPr>
            <p:cNvPr id="24595" name="Text Box 18"/>
            <p:cNvSpPr txBox="1">
              <a:spLocks noChangeArrowheads="1"/>
            </p:cNvSpPr>
            <p:nvPr/>
          </p:nvSpPr>
          <p:spPr bwMode="auto">
            <a:xfrm>
              <a:off x="5791200" y="2438400"/>
              <a:ext cx="1205892" cy="25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Micrósporos (n)</a:t>
              </a:r>
            </a:p>
          </p:txBody>
        </p:sp>
        <p:sp>
          <p:nvSpPr>
            <p:cNvPr id="24596" name="Text Box 19"/>
            <p:cNvSpPr txBox="1">
              <a:spLocks noChangeArrowheads="1"/>
            </p:cNvSpPr>
            <p:nvPr/>
          </p:nvSpPr>
          <p:spPr bwMode="auto">
            <a:xfrm>
              <a:off x="5638800" y="2133600"/>
              <a:ext cx="701287" cy="254473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MEIOSE</a:t>
              </a:r>
            </a:p>
          </p:txBody>
        </p:sp>
        <p:sp>
          <p:nvSpPr>
            <p:cNvPr id="24597" name="Text Box 20"/>
            <p:cNvSpPr txBox="1">
              <a:spLocks noChangeArrowheads="1"/>
            </p:cNvSpPr>
            <p:nvPr/>
          </p:nvSpPr>
          <p:spPr bwMode="auto">
            <a:xfrm>
              <a:off x="4114800" y="3048000"/>
              <a:ext cx="1447800" cy="5937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Grão de pólen (microgametófito imaturo)</a:t>
              </a:r>
            </a:p>
          </p:txBody>
        </p:sp>
        <p:sp>
          <p:nvSpPr>
            <p:cNvPr id="24598" name="Text Box 21"/>
            <p:cNvSpPr txBox="1">
              <a:spLocks noChangeArrowheads="1"/>
            </p:cNvSpPr>
            <p:nvPr/>
          </p:nvSpPr>
          <p:spPr bwMode="auto">
            <a:xfrm>
              <a:off x="4876800" y="1676400"/>
              <a:ext cx="1451027" cy="254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Microsporócito (2n)</a:t>
              </a:r>
            </a:p>
          </p:txBody>
        </p:sp>
        <p:sp>
          <p:nvSpPr>
            <p:cNvPr id="24599" name="Text Box 22"/>
            <p:cNvSpPr txBox="1">
              <a:spLocks noChangeArrowheads="1"/>
            </p:cNvSpPr>
            <p:nvPr/>
          </p:nvSpPr>
          <p:spPr bwMode="auto">
            <a:xfrm>
              <a:off x="1066800" y="1524000"/>
              <a:ext cx="1198725" cy="254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Microesporófilo</a:t>
              </a:r>
            </a:p>
          </p:txBody>
        </p:sp>
        <p:sp>
          <p:nvSpPr>
            <p:cNvPr id="24600" name="Text Box 23"/>
            <p:cNvSpPr txBox="1">
              <a:spLocks noChangeArrowheads="1"/>
            </p:cNvSpPr>
            <p:nvPr/>
          </p:nvSpPr>
          <p:spPr bwMode="auto">
            <a:xfrm>
              <a:off x="3505200" y="1219200"/>
              <a:ext cx="1752600" cy="424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pt-BR" sz="1200" b="1">
                  <a:solidFill>
                    <a:srgbClr val="000000"/>
                  </a:solidFill>
                </a:rPr>
                <a:t>Microsporângio com microsporócito (2n)</a:t>
              </a:r>
            </a:p>
          </p:txBody>
        </p:sp>
        <p:sp>
          <p:nvSpPr>
            <p:cNvPr id="24601" name="Line 25"/>
            <p:cNvSpPr>
              <a:spLocks noChangeShapeType="1"/>
            </p:cNvSpPr>
            <p:nvPr/>
          </p:nvSpPr>
          <p:spPr bwMode="auto">
            <a:xfrm flipV="1">
              <a:off x="3962400" y="5410200"/>
              <a:ext cx="914400" cy="457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2" name="Line 26"/>
            <p:cNvSpPr>
              <a:spLocks noChangeShapeType="1"/>
            </p:cNvSpPr>
            <p:nvPr/>
          </p:nvSpPr>
          <p:spPr bwMode="auto">
            <a:xfrm flipH="1" flipV="1">
              <a:off x="5257800" y="5410200"/>
              <a:ext cx="60960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3" name="Line 27"/>
            <p:cNvSpPr>
              <a:spLocks noChangeShapeType="1"/>
            </p:cNvSpPr>
            <p:nvPr/>
          </p:nvSpPr>
          <p:spPr bwMode="auto">
            <a:xfrm>
              <a:off x="3886200" y="4724400"/>
              <a:ext cx="304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4" name="Line 28"/>
            <p:cNvSpPr>
              <a:spLocks noChangeShapeType="1"/>
            </p:cNvSpPr>
            <p:nvPr/>
          </p:nvSpPr>
          <p:spPr bwMode="auto">
            <a:xfrm flipH="1">
              <a:off x="3276600" y="4724400"/>
              <a:ext cx="228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5" name="Line 29"/>
            <p:cNvSpPr>
              <a:spLocks noChangeShapeType="1"/>
            </p:cNvSpPr>
            <p:nvPr/>
          </p:nvSpPr>
          <p:spPr bwMode="auto">
            <a:xfrm>
              <a:off x="2286000" y="1676400"/>
              <a:ext cx="685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6" name="Text Box 30"/>
            <p:cNvSpPr txBox="1">
              <a:spLocks noChangeArrowheads="1"/>
            </p:cNvSpPr>
            <p:nvPr/>
          </p:nvSpPr>
          <p:spPr bwMode="auto">
            <a:xfrm>
              <a:off x="1371600" y="4114800"/>
              <a:ext cx="1600200" cy="424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0" hangingPunct="0"/>
              <a:r>
                <a:rPr lang="pt-BR" sz="1200" b="1">
                  <a:solidFill>
                    <a:srgbClr val="000000"/>
                  </a:solidFill>
                </a:rPr>
                <a:t>Célula espermáticas (gametas)</a:t>
              </a:r>
            </a:p>
          </p:txBody>
        </p:sp>
        <p:sp>
          <p:nvSpPr>
            <p:cNvPr id="24607" name="Line 31"/>
            <p:cNvSpPr>
              <a:spLocks noChangeShapeType="1"/>
            </p:cNvSpPr>
            <p:nvPr/>
          </p:nvSpPr>
          <p:spPr bwMode="auto">
            <a:xfrm flipV="1">
              <a:off x="2667000" y="2895600"/>
              <a:ext cx="1143000" cy="1219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8" name="Line 32"/>
            <p:cNvSpPr>
              <a:spLocks noChangeShapeType="1"/>
            </p:cNvSpPr>
            <p:nvPr/>
          </p:nvSpPr>
          <p:spPr bwMode="auto">
            <a:xfrm flipV="1">
              <a:off x="2743200" y="3352800"/>
              <a:ext cx="10668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09" name="Line 33"/>
            <p:cNvSpPr>
              <a:spLocks noChangeShapeType="1"/>
            </p:cNvSpPr>
            <p:nvPr/>
          </p:nvSpPr>
          <p:spPr bwMode="auto">
            <a:xfrm flipV="1">
              <a:off x="3276600" y="1524000"/>
              <a:ext cx="304800" cy="533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0" name="Line 34"/>
            <p:cNvSpPr>
              <a:spLocks noChangeShapeType="1"/>
            </p:cNvSpPr>
            <p:nvPr/>
          </p:nvSpPr>
          <p:spPr bwMode="auto">
            <a:xfrm flipV="1">
              <a:off x="4648200" y="1828800"/>
              <a:ext cx="30480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1" name="Line 35"/>
            <p:cNvSpPr>
              <a:spLocks noChangeShapeType="1"/>
            </p:cNvSpPr>
            <p:nvPr/>
          </p:nvSpPr>
          <p:spPr bwMode="auto">
            <a:xfrm flipV="1">
              <a:off x="5257800" y="2514600"/>
              <a:ext cx="60960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2" name="Line 36"/>
            <p:cNvSpPr>
              <a:spLocks noChangeShapeType="1"/>
            </p:cNvSpPr>
            <p:nvPr/>
          </p:nvSpPr>
          <p:spPr bwMode="auto">
            <a:xfrm flipH="1">
              <a:off x="5562600" y="2590800"/>
              <a:ext cx="30480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3" name="Line 37"/>
            <p:cNvSpPr>
              <a:spLocks noChangeShapeType="1"/>
            </p:cNvSpPr>
            <p:nvPr/>
          </p:nvSpPr>
          <p:spPr bwMode="auto">
            <a:xfrm>
              <a:off x="6248400" y="4495800"/>
              <a:ext cx="1524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4" name="Line 38"/>
            <p:cNvSpPr>
              <a:spLocks noChangeShapeType="1"/>
            </p:cNvSpPr>
            <p:nvPr/>
          </p:nvSpPr>
          <p:spPr bwMode="auto">
            <a:xfrm>
              <a:off x="5029200" y="3505200"/>
              <a:ext cx="3048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5" name="Line 39"/>
            <p:cNvSpPr>
              <a:spLocks noChangeShapeType="1"/>
            </p:cNvSpPr>
            <p:nvPr/>
          </p:nvSpPr>
          <p:spPr bwMode="auto">
            <a:xfrm flipV="1">
              <a:off x="5562600" y="3352800"/>
              <a:ext cx="5334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 flipH="1">
              <a:off x="5791200" y="3352800"/>
              <a:ext cx="304800" cy="381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 flipV="1">
              <a:off x="5715000" y="3733800"/>
              <a:ext cx="53340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>
              <a:off x="5791200" y="4191000"/>
              <a:ext cx="685800" cy="76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0" name="CaixaDeTexto 39"/>
          <p:cNvSpPr txBox="1"/>
          <p:nvPr/>
        </p:nvSpPr>
        <p:spPr>
          <a:xfrm>
            <a:off x="2166939" y="2857500"/>
            <a:ext cx="2428875" cy="3698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Gametófito Masculino</a:t>
            </a:r>
          </a:p>
        </p:txBody>
      </p:sp>
      <p:pic>
        <p:nvPicPr>
          <p:cNvPr id="24585" name="Picture 4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1188" y="3714750"/>
            <a:ext cx="1714500" cy="191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Seta para a direita listrada 42"/>
          <p:cNvSpPr/>
          <p:nvPr/>
        </p:nvSpPr>
        <p:spPr>
          <a:xfrm rot="20644483">
            <a:off x="3579813" y="3511550"/>
            <a:ext cx="1179512" cy="571500"/>
          </a:xfrm>
          <a:prstGeom prst="strip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9A91066-632A-4D2F-B491-FA7F88FE763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C28D36E1-9192-4FA3-A293-CE0DB7642E4B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10126" y="1985963"/>
            <a:ext cx="5857875" cy="3890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10063" y="1071564"/>
            <a:ext cx="1714500" cy="1309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809751" y="2000250"/>
            <a:ext cx="8215313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Desenvolvimento do</a:t>
            </a:r>
          </a:p>
          <a:p>
            <a:pPr>
              <a:defRPr/>
            </a:pPr>
            <a:r>
              <a:rPr lang="pt-BR" sz="2200" b="1" dirty="0">
                <a:solidFill>
                  <a:srgbClr val="FF0000"/>
                </a:solidFill>
                <a:latin typeface="+mn-lt"/>
              </a:rPr>
              <a:t>Saco embrionário</a:t>
            </a:r>
          </a:p>
          <a:p>
            <a:pPr>
              <a:defRPr/>
            </a:pPr>
            <a:endParaRPr lang="pt-BR" sz="2000" dirty="0">
              <a:latin typeface="+mn-lt"/>
            </a:endParaRPr>
          </a:p>
          <a:p>
            <a:pPr marL="971550" lvl="1" indent="-514350"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2166939" y="2857500"/>
            <a:ext cx="2428875" cy="3698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dirty="0"/>
              <a:t>Gametófito feminino</a:t>
            </a:r>
          </a:p>
        </p:txBody>
      </p:sp>
      <p:grpSp>
        <p:nvGrpSpPr>
          <p:cNvPr id="25610" name="Grupo 41"/>
          <p:cNvGrpSpPr>
            <a:grpSpLocks/>
          </p:cNvGrpSpPr>
          <p:nvPr/>
        </p:nvGrpSpPr>
        <p:grpSpPr bwMode="auto">
          <a:xfrm>
            <a:off x="5756276" y="1500188"/>
            <a:ext cx="2697163" cy="1643062"/>
            <a:chOff x="2667000" y="876300"/>
            <a:chExt cx="1322173" cy="876300"/>
          </a:xfrm>
        </p:grpSpPr>
        <p:sp>
          <p:nvSpPr>
            <p:cNvPr id="25633" name="Line 30"/>
            <p:cNvSpPr>
              <a:spLocks noChangeShapeType="1"/>
            </p:cNvSpPr>
            <p:nvPr/>
          </p:nvSpPr>
          <p:spPr bwMode="auto">
            <a:xfrm flipV="1">
              <a:off x="2667000" y="1066800"/>
              <a:ext cx="516924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34" name="Line 31"/>
            <p:cNvSpPr>
              <a:spLocks noChangeShapeType="1"/>
            </p:cNvSpPr>
            <p:nvPr/>
          </p:nvSpPr>
          <p:spPr bwMode="auto">
            <a:xfrm flipH="1" flipV="1">
              <a:off x="2895600" y="1447800"/>
              <a:ext cx="3048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5635" name="Text Box 5"/>
            <p:cNvSpPr txBox="1">
              <a:spLocks noChangeArrowheads="1"/>
            </p:cNvSpPr>
            <p:nvPr/>
          </p:nvSpPr>
          <p:spPr bwMode="auto">
            <a:xfrm>
              <a:off x="2693773" y="876300"/>
              <a:ext cx="1295400" cy="164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pt-BR" sz="1400" b="1"/>
                <a:t>Megaesporófilos</a:t>
              </a:r>
            </a:p>
          </p:txBody>
        </p:sp>
      </p:grpSp>
      <p:sp>
        <p:nvSpPr>
          <p:cNvPr id="25611" name="Rectangle 13"/>
          <p:cNvSpPr>
            <a:spLocks noChangeArrowheads="1"/>
          </p:cNvSpPr>
          <p:nvPr/>
        </p:nvSpPr>
        <p:spPr bwMode="auto">
          <a:xfrm>
            <a:off x="7167563" y="2071689"/>
            <a:ext cx="20002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400" b="1"/>
              <a:t>Megaesporócito (2n)</a:t>
            </a:r>
          </a:p>
        </p:txBody>
      </p:sp>
      <p:sp>
        <p:nvSpPr>
          <p:cNvPr id="25612" name="Line 29"/>
          <p:cNvSpPr>
            <a:spLocks noChangeShapeType="1"/>
          </p:cNvSpPr>
          <p:nvPr/>
        </p:nvSpPr>
        <p:spPr bwMode="auto">
          <a:xfrm flipV="1">
            <a:off x="7524750" y="2357439"/>
            <a:ext cx="357188" cy="928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13" name="Rectangle 15"/>
          <p:cNvSpPr>
            <a:spLocks noChangeArrowheads="1"/>
          </p:cNvSpPr>
          <p:nvPr/>
        </p:nvSpPr>
        <p:spPr bwMode="auto">
          <a:xfrm>
            <a:off x="8096251" y="1571625"/>
            <a:ext cx="982663" cy="338138"/>
          </a:xfrm>
          <a:prstGeom prst="rect">
            <a:avLst/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/>
              <a:t>MEIOSE</a:t>
            </a:r>
          </a:p>
        </p:txBody>
      </p:sp>
      <p:sp>
        <p:nvSpPr>
          <p:cNvPr id="25614" name="Text Box 8"/>
          <p:cNvSpPr txBox="1">
            <a:spLocks noChangeArrowheads="1"/>
          </p:cNvSpPr>
          <p:nvPr/>
        </p:nvSpPr>
        <p:spPr bwMode="auto">
          <a:xfrm>
            <a:off x="6953250" y="5143500"/>
            <a:ext cx="27511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/>
              <a:t>1 megásporo funcional (n)</a:t>
            </a:r>
          </a:p>
        </p:txBody>
      </p:sp>
      <p:sp>
        <p:nvSpPr>
          <p:cNvPr id="25615" name="Rectangle 19"/>
          <p:cNvSpPr>
            <a:spLocks noChangeArrowheads="1"/>
          </p:cNvSpPr>
          <p:nvPr/>
        </p:nvSpPr>
        <p:spPr bwMode="auto">
          <a:xfrm>
            <a:off x="7453314" y="5929314"/>
            <a:ext cx="30813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/>
              <a:t>3 Células em degeneração (n)</a:t>
            </a:r>
          </a:p>
        </p:txBody>
      </p:sp>
      <p:sp>
        <p:nvSpPr>
          <p:cNvPr id="25616" name="Line 25"/>
          <p:cNvSpPr>
            <a:spLocks noChangeShapeType="1"/>
          </p:cNvSpPr>
          <p:nvPr/>
        </p:nvSpPr>
        <p:spPr bwMode="auto">
          <a:xfrm flipV="1">
            <a:off x="8524875" y="4286250"/>
            <a:ext cx="1143000" cy="1576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17" name="Line 26"/>
          <p:cNvSpPr>
            <a:spLocks noChangeShapeType="1"/>
          </p:cNvSpPr>
          <p:nvPr/>
        </p:nvSpPr>
        <p:spPr bwMode="auto">
          <a:xfrm flipV="1">
            <a:off x="8382000" y="3857626"/>
            <a:ext cx="1214438" cy="128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9698038" y="5429251"/>
            <a:ext cx="9699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400" b="1"/>
              <a:t>Micrópila</a:t>
            </a:r>
          </a:p>
        </p:txBody>
      </p:sp>
      <p:sp>
        <p:nvSpPr>
          <p:cNvPr id="25619" name="Line 34"/>
          <p:cNvSpPr>
            <a:spLocks noChangeShapeType="1"/>
          </p:cNvSpPr>
          <p:nvPr/>
        </p:nvSpPr>
        <p:spPr bwMode="auto">
          <a:xfrm>
            <a:off x="9810750" y="5214938"/>
            <a:ext cx="285750" cy="214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2562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24064" y="3494088"/>
            <a:ext cx="1908175" cy="336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Seta para a direita listrada 55"/>
          <p:cNvSpPr/>
          <p:nvPr/>
        </p:nvSpPr>
        <p:spPr>
          <a:xfrm rot="10800000">
            <a:off x="5095875" y="5286375"/>
            <a:ext cx="2000250" cy="857250"/>
          </a:xfrm>
          <a:prstGeom prst="strip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5622" name="Rectangle 20"/>
          <p:cNvSpPr>
            <a:spLocks noChangeArrowheads="1"/>
          </p:cNvSpPr>
          <p:nvPr/>
        </p:nvSpPr>
        <p:spPr bwMode="auto">
          <a:xfrm>
            <a:off x="3738563" y="5214939"/>
            <a:ext cx="14652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/>
              <a:t>Arquegônio (n)</a:t>
            </a:r>
          </a:p>
        </p:txBody>
      </p:sp>
      <p:sp>
        <p:nvSpPr>
          <p:cNvPr id="25623" name="Rectangle 22"/>
          <p:cNvSpPr>
            <a:spLocks noChangeArrowheads="1"/>
          </p:cNvSpPr>
          <p:nvPr/>
        </p:nvSpPr>
        <p:spPr bwMode="auto">
          <a:xfrm>
            <a:off x="3738564" y="5857876"/>
            <a:ext cx="11382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/>
              <a:t>Oosfera (n)</a:t>
            </a:r>
          </a:p>
        </p:txBody>
      </p:sp>
      <p:sp>
        <p:nvSpPr>
          <p:cNvPr id="25624" name="Rectangle 27"/>
          <p:cNvSpPr>
            <a:spLocks noChangeArrowheads="1"/>
          </p:cNvSpPr>
          <p:nvPr/>
        </p:nvSpPr>
        <p:spPr bwMode="auto">
          <a:xfrm>
            <a:off x="2952751" y="3643314"/>
            <a:ext cx="18319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400" b="1"/>
              <a:t>Megagametófito (n)</a:t>
            </a:r>
          </a:p>
        </p:txBody>
      </p:sp>
      <p:sp>
        <p:nvSpPr>
          <p:cNvPr id="25625" name="Line 34"/>
          <p:cNvSpPr>
            <a:spLocks noChangeShapeType="1"/>
          </p:cNvSpPr>
          <p:nvPr/>
        </p:nvSpPr>
        <p:spPr bwMode="auto">
          <a:xfrm>
            <a:off x="3095626" y="5857876"/>
            <a:ext cx="71437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26" name="Line 35"/>
          <p:cNvSpPr>
            <a:spLocks noChangeShapeType="1"/>
          </p:cNvSpPr>
          <p:nvPr/>
        </p:nvSpPr>
        <p:spPr bwMode="auto">
          <a:xfrm flipV="1">
            <a:off x="3162300" y="5500689"/>
            <a:ext cx="93345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27" name="Line 36"/>
          <p:cNvSpPr>
            <a:spLocks noChangeShapeType="1"/>
          </p:cNvSpPr>
          <p:nvPr/>
        </p:nvSpPr>
        <p:spPr bwMode="auto">
          <a:xfrm flipV="1">
            <a:off x="3086101" y="4000500"/>
            <a:ext cx="581025" cy="947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28" name="Line 37"/>
          <p:cNvSpPr>
            <a:spLocks noChangeShapeType="1"/>
          </p:cNvSpPr>
          <p:nvPr/>
        </p:nvSpPr>
        <p:spPr bwMode="auto">
          <a:xfrm flipV="1">
            <a:off x="3309939" y="4000501"/>
            <a:ext cx="357187" cy="1019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5" name="Seta para a direita listrada 64"/>
          <p:cNvSpPr/>
          <p:nvPr/>
        </p:nvSpPr>
        <p:spPr>
          <a:xfrm rot="3996195">
            <a:off x="5166520" y="2169320"/>
            <a:ext cx="644525" cy="420687"/>
          </a:xfrm>
          <a:prstGeom prst="striped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5630" name="CaixaDeTexto 65"/>
          <p:cNvSpPr txBox="1">
            <a:spLocks noChangeArrowheads="1"/>
          </p:cNvSpPr>
          <p:nvPr/>
        </p:nvSpPr>
        <p:spPr bwMode="auto">
          <a:xfrm>
            <a:off x="4953000" y="6143625"/>
            <a:ext cx="2357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600">
                <a:solidFill>
                  <a:srgbClr val="FF0000"/>
                </a:solidFill>
              </a:rPr>
              <a:t>Mitoses sucessivas do megásporo funcional.</a:t>
            </a:r>
          </a:p>
        </p:txBody>
      </p:sp>
      <p:sp>
        <p:nvSpPr>
          <p:cNvPr id="25631" name="CaixaDeTexto 66"/>
          <p:cNvSpPr txBox="1">
            <a:spLocks noChangeArrowheads="1"/>
          </p:cNvSpPr>
          <p:nvPr/>
        </p:nvSpPr>
        <p:spPr bwMode="auto">
          <a:xfrm>
            <a:off x="5738814" y="4572000"/>
            <a:ext cx="928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Óvulo</a:t>
            </a:r>
          </a:p>
        </p:txBody>
      </p:sp>
      <p:cxnSp>
        <p:nvCxnSpPr>
          <p:cNvPr id="69" name="Conector reto 68"/>
          <p:cNvCxnSpPr/>
          <p:nvPr/>
        </p:nvCxnSpPr>
        <p:spPr>
          <a:xfrm>
            <a:off x="5524501" y="4143376"/>
            <a:ext cx="500063" cy="428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tângulo 34">
            <a:extLst>
              <a:ext uri="{FF2B5EF4-FFF2-40B4-BE49-F238E27FC236}">
                <a16:creationId xmlns:a16="http://schemas.microsoft.com/office/drawing/2014/main" id="{F2C80855-195E-499F-839C-668D2FDEB27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3CEE5D6-CB89-41A0-B8CA-AFBCEF1458F5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1" y="980728"/>
            <a:ext cx="8302626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26628" name="CaixaDeTexto 7"/>
          <p:cNvSpPr txBox="1">
            <a:spLocks noChangeArrowheads="1"/>
          </p:cNvSpPr>
          <p:nvPr/>
        </p:nvSpPr>
        <p:spPr bwMode="auto">
          <a:xfrm>
            <a:off x="1524000" y="898873"/>
            <a:ext cx="2857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Ciclo Reprodutivo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3131049-0FEF-42D7-84A6-8EFDCBC700B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F7BB481-419C-46D4-898B-4B19C26353C0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952625" y="1857375"/>
            <a:ext cx="8286750" cy="4216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002060"/>
                </a:solidFill>
                <a:latin typeface="+mn-lt"/>
              </a:rPr>
              <a:t>Fecundação</a:t>
            </a:r>
          </a:p>
          <a:p>
            <a:pPr>
              <a:defRPr/>
            </a:pPr>
            <a:endParaRPr lang="pt-BR" sz="1200" dirty="0">
              <a:latin typeface="+mn-lt"/>
            </a:endParaRP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É independente da água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Somente uma das células espermáticas é utilizada</a:t>
            </a:r>
          </a:p>
          <a:p>
            <a:pPr lvl="1">
              <a:buFont typeface="Wingdings" pitchFamily="2" charset="2"/>
              <a:buChar char="§"/>
              <a:defRPr/>
            </a:pPr>
            <a:endParaRPr lang="pt-BR" sz="2000" dirty="0">
              <a:latin typeface="+mn-lt"/>
            </a:endParaRPr>
          </a:p>
          <a:p>
            <a:pPr>
              <a:defRPr/>
            </a:pPr>
            <a:r>
              <a:rPr lang="pt-BR" sz="2000" b="1" dirty="0">
                <a:solidFill>
                  <a:srgbClr val="002060"/>
                </a:solidFill>
                <a:latin typeface="+mn-lt"/>
              </a:rPr>
              <a:t>Desenvolvimento do óvulo</a:t>
            </a:r>
          </a:p>
          <a:p>
            <a:pPr>
              <a:defRPr/>
            </a:pPr>
            <a:endParaRPr lang="pt-BR" sz="1200" dirty="0">
              <a:latin typeface="+mn-lt"/>
            </a:endParaRP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</a:t>
            </a:r>
            <a:r>
              <a:rPr lang="pt-BR" sz="2000" b="1" dirty="0">
                <a:latin typeface="+mn-lt"/>
              </a:rPr>
              <a:t>Tegumento: </a:t>
            </a:r>
            <a:r>
              <a:rPr lang="pt-BR" sz="2000" dirty="0">
                <a:latin typeface="+mn-lt"/>
              </a:rPr>
              <a:t>origina a casca da semente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</a:rPr>
              <a:t>  Zigoto: </a:t>
            </a:r>
            <a:r>
              <a:rPr lang="pt-BR" sz="2000" dirty="0">
                <a:latin typeface="+mn-lt"/>
              </a:rPr>
              <a:t>origina o embrião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</a:rPr>
              <a:t>  Saco embrionário: </a:t>
            </a:r>
            <a:r>
              <a:rPr lang="pt-BR" sz="2000" dirty="0">
                <a:latin typeface="+mn-lt"/>
              </a:rPr>
              <a:t>origina o endosperma primário ou albúmen (n).</a:t>
            </a:r>
          </a:p>
          <a:p>
            <a:pPr lvl="1">
              <a:buFont typeface="Wingdings" pitchFamily="2" charset="2"/>
              <a:buChar char="§"/>
              <a:defRPr/>
            </a:pPr>
            <a:endParaRPr lang="pt-BR" sz="1200" dirty="0">
              <a:latin typeface="+mn-lt"/>
            </a:endParaRPr>
          </a:p>
          <a:p>
            <a:pPr>
              <a:defRPr/>
            </a:pPr>
            <a:r>
              <a:rPr lang="pt-BR" sz="2000" b="1" dirty="0">
                <a:solidFill>
                  <a:srgbClr val="002060"/>
                </a:solidFill>
                <a:latin typeface="+mn-lt"/>
              </a:rPr>
              <a:t>Gametófitos</a:t>
            </a:r>
          </a:p>
          <a:p>
            <a:pPr>
              <a:defRPr/>
            </a:pPr>
            <a:endParaRPr lang="pt-BR" sz="1200" dirty="0">
              <a:latin typeface="+mn-lt"/>
            </a:endParaRP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b="1" dirty="0">
                <a:latin typeface="+mn-lt"/>
              </a:rPr>
              <a:t>  Feminino: </a:t>
            </a:r>
            <a:r>
              <a:rPr lang="pt-BR" sz="2000" dirty="0">
                <a:latin typeface="+mn-lt"/>
              </a:rPr>
              <a:t>saco embrionário.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</a:t>
            </a:r>
            <a:r>
              <a:rPr lang="pt-BR" sz="2000" b="1" dirty="0">
                <a:latin typeface="+mn-lt"/>
              </a:rPr>
              <a:t>Masculino: </a:t>
            </a:r>
            <a:r>
              <a:rPr lang="pt-BR" sz="2000" dirty="0" err="1">
                <a:latin typeface="+mn-lt"/>
              </a:rPr>
              <a:t>grão-de-pólen</a:t>
            </a:r>
            <a:r>
              <a:rPr lang="pt-BR" sz="2000" dirty="0">
                <a:latin typeface="+mn-lt"/>
              </a:rPr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5C69464-EEB2-4BFF-A88A-5F124C927DD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7E81592-D030-4A67-824C-DB80AD0A0E94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Gimnospermas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952625" y="1857375"/>
            <a:ext cx="8286750" cy="2432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Importância</a:t>
            </a:r>
          </a:p>
          <a:p>
            <a:pPr>
              <a:defRPr/>
            </a:pPr>
            <a:endParaRPr lang="pt-BR" sz="1200" dirty="0">
              <a:latin typeface="+mn-lt"/>
            </a:endParaRP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Indústria madeireira.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Indústria de celulose (papel).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Alimentação (pinhão) semente do </a:t>
            </a:r>
            <a:r>
              <a:rPr lang="pt-BR" sz="2000" dirty="0" err="1">
                <a:latin typeface="+mn-lt"/>
              </a:rPr>
              <a:t>pinheiro-do-Paraná</a:t>
            </a:r>
            <a:r>
              <a:rPr lang="pt-BR" sz="2000" dirty="0">
                <a:latin typeface="+mn-lt"/>
              </a:rPr>
              <a:t>.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Ornamentação.</a:t>
            </a:r>
          </a:p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Indústria </a:t>
            </a:r>
            <a:r>
              <a:rPr lang="pt-BR" sz="2000" dirty="0" err="1">
                <a:latin typeface="+mn-lt"/>
              </a:rPr>
              <a:t>farmaucêutica</a:t>
            </a:r>
            <a:r>
              <a:rPr lang="pt-BR" sz="2000" dirty="0">
                <a:latin typeface="+mn-lt"/>
              </a:rPr>
              <a:t> (</a:t>
            </a:r>
            <a:r>
              <a:rPr lang="pt-BR" sz="2000" dirty="0" err="1">
                <a:latin typeface="+mn-lt"/>
              </a:rPr>
              <a:t>Ginkgo</a:t>
            </a:r>
            <a:r>
              <a:rPr lang="pt-BR" sz="2000" dirty="0">
                <a:latin typeface="+mn-lt"/>
              </a:rPr>
              <a:t> </a:t>
            </a:r>
            <a:r>
              <a:rPr lang="pt-BR" sz="2000" dirty="0" err="1">
                <a:latin typeface="+mn-lt"/>
              </a:rPr>
              <a:t>biloba</a:t>
            </a:r>
            <a:r>
              <a:rPr lang="pt-BR" sz="2000" dirty="0">
                <a:latin typeface="+mn-lt"/>
              </a:rPr>
              <a:t>) - Calmante.</a:t>
            </a:r>
          </a:p>
          <a:p>
            <a:pPr lvl="1">
              <a:defRPr/>
            </a:pPr>
            <a:endParaRPr lang="pt-BR" sz="2000" dirty="0">
              <a:latin typeface="+mn-lt"/>
            </a:endParaRPr>
          </a:p>
        </p:txBody>
      </p:sp>
      <p:pic>
        <p:nvPicPr>
          <p:cNvPr id="28679" name="Picture 8" descr="http://www.healthline.com/blogs/outdoor_health/uploaded_images/gingko-bottle-78949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4357688"/>
            <a:ext cx="2286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8" name="Picture 10" descr="http://www.senai.fieb.org.br/img/infra/Processos%20-%20Papel%20e%20Celulose%20-%20Indústria%200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67126" y="4429126"/>
            <a:ext cx="3071813" cy="2085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659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96125" y="4429125"/>
            <a:ext cx="2928938" cy="2046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661" name="Picture 13" descr="Pinhão">
            <a:hlinkClick r:id="rId6" tooltip="Pinhão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882063" y="1857376"/>
            <a:ext cx="1643062" cy="152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aixaDeTexto 10"/>
          <p:cNvSpPr txBox="1"/>
          <p:nvPr/>
        </p:nvSpPr>
        <p:spPr>
          <a:xfrm>
            <a:off x="8882063" y="3429000"/>
            <a:ext cx="1643062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Pinhão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9581665-8699-406A-AE00-05182F3AAB9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0870100-4E02-4629-BC31-C3E60C3A31DA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8)   Angiospermas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24000" y="1857375"/>
            <a:ext cx="8858250" cy="392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  O grupo mais diversificado do Reino </a:t>
            </a:r>
            <a:r>
              <a:rPr lang="pt-BR" sz="2000" dirty="0" err="1">
                <a:latin typeface="+mn-lt"/>
              </a:rPr>
              <a:t>Plantae</a:t>
            </a:r>
            <a:r>
              <a:rPr lang="pt-BR" sz="2000" dirty="0">
                <a:latin typeface="+mn-lt"/>
              </a:rPr>
              <a:t> (cerca de 350.000 espécies).</a:t>
            </a:r>
          </a:p>
          <a:p>
            <a:pPr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Características</a:t>
            </a:r>
          </a:p>
          <a:p>
            <a:pPr marL="457200" indent="-457200">
              <a:buFontTx/>
              <a:buAutoNum type="alphaLcParenR"/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Apresentam flores verdadeiras, contendo ovários.</a:t>
            </a:r>
          </a:p>
          <a:p>
            <a:pPr marL="914400" lvl="1" indent="-457200">
              <a:buFont typeface="Wingdings" pitchFamily="2" charset="2"/>
              <a:buChar char="§"/>
              <a:defRPr/>
            </a:pPr>
            <a:endParaRPr lang="pt-BR" sz="300" dirty="0">
              <a:latin typeface="+mn-lt"/>
            </a:endParaRPr>
          </a:p>
          <a:p>
            <a:pPr marL="914400" lvl="1" indent="-457200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Único grupo que possui frutos (importante para a dispersão das sementes).</a:t>
            </a:r>
          </a:p>
          <a:p>
            <a:pPr marL="914400" lvl="1" indent="-457200">
              <a:buFont typeface="Wingdings" pitchFamily="2" charset="2"/>
              <a:buChar char="§"/>
              <a:defRPr/>
            </a:pPr>
            <a:endParaRPr lang="pt-BR" sz="300" dirty="0">
              <a:latin typeface="+mn-lt"/>
            </a:endParaRPr>
          </a:p>
          <a:p>
            <a:pPr marL="914400" lvl="1" indent="-457200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Muitas angiospermas possuem flores com estruturas que atraem animais.</a:t>
            </a:r>
          </a:p>
          <a:p>
            <a:pPr marL="914400" lvl="1" indent="-457200">
              <a:buFont typeface="Wingdings" pitchFamily="2" charset="2"/>
              <a:buChar char="§"/>
              <a:defRPr/>
            </a:pPr>
            <a:endParaRPr lang="pt-BR" sz="300" dirty="0">
              <a:latin typeface="+mn-lt"/>
            </a:endParaRPr>
          </a:p>
          <a:p>
            <a:pPr marL="1371600" lvl="2" indent="-45720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</a:rPr>
              <a:t>Pétalas coloridas</a:t>
            </a:r>
          </a:p>
          <a:p>
            <a:pPr marL="1371600" lvl="2" indent="-45720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</a:rPr>
              <a:t>Nectários</a:t>
            </a:r>
          </a:p>
          <a:p>
            <a:pPr marL="1371600" lvl="2" indent="-45720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</a:rPr>
              <a:t>Aromas</a:t>
            </a:r>
          </a:p>
          <a:p>
            <a:pPr marL="1371600" lvl="2" indent="-457200">
              <a:buFont typeface="Courier New" pitchFamily="49" charset="0"/>
              <a:buChar char="o"/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buFont typeface="Wingdings" pitchFamily="2" charset="2"/>
              <a:buChar char="§"/>
              <a:defRPr/>
            </a:pPr>
            <a:r>
              <a:rPr lang="pt-BR" sz="2000" dirty="0">
                <a:latin typeface="+mn-lt"/>
              </a:rPr>
              <a:t>Dividido em dois grupos: Monocotiledôneas e Dicotiledôneas.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DC4798-50FF-4009-A808-477B410ECF4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5777E82-2AE8-4E05-AA7A-08B8C6D04022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8)   Angiospermas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24000" y="1857375"/>
            <a:ext cx="8858250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0" lvl="1" indent="-457200">
              <a:buFontTx/>
              <a:buAutoNum type="alphaLcParenR"/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Características</a:t>
            </a:r>
          </a:p>
          <a:p>
            <a:pPr marL="457200" indent="-457200">
              <a:buFontTx/>
              <a:buAutoNum type="alphaLcParenR"/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</p:txBody>
      </p:sp>
      <p:pic>
        <p:nvPicPr>
          <p:cNvPr id="30727" name="Picture 2"/>
          <p:cNvPicPr>
            <a:picLocks noChangeAspect="1" noChangeArrowheads="1"/>
          </p:cNvPicPr>
          <p:nvPr/>
        </p:nvPicPr>
        <p:blipFill>
          <a:blip r:embed="rId3" cstate="print">
            <a:lum contrast="40000"/>
          </a:blip>
          <a:srcRect/>
          <a:stretch>
            <a:fillRect/>
          </a:stretch>
        </p:blipFill>
        <p:spPr bwMode="auto">
          <a:xfrm>
            <a:off x="2809875" y="2428875"/>
            <a:ext cx="6357938" cy="363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63BF2DFC-571E-40A9-AC85-CE4202AE115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4DEC419-1C3D-4B7A-9873-2DB1FC37B977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5564" y="2143125"/>
            <a:ext cx="7297737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8)   Angiospermas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24000" y="1857375"/>
            <a:ext cx="8858250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0" lvl="1" indent="-457200"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b)  Estrutura da flor</a:t>
            </a: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31752" name="CaixaDeTexto 8"/>
          <p:cNvSpPr txBox="1">
            <a:spLocks noChangeArrowheads="1"/>
          </p:cNvSpPr>
          <p:nvPr/>
        </p:nvSpPr>
        <p:spPr bwMode="auto">
          <a:xfrm>
            <a:off x="2381250" y="3143251"/>
            <a:ext cx="865188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1200"/>
              <a:t>Carpelo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8661B26-1639-4999-924A-EA791AF7A50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14A7C06-55FD-4B62-9C59-ED4472312A39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8)   Angiospermas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24000" y="1857376"/>
            <a:ext cx="8858250" cy="56943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0" lvl="1" indent="-457200"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b)  Estrutura da flor</a:t>
            </a: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971550" lvl="1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</a:rPr>
              <a:t>Pedúnculo floral: </a:t>
            </a:r>
            <a:r>
              <a:rPr lang="pt-BR" sz="2000" dirty="0">
                <a:latin typeface="+mn-lt"/>
              </a:rPr>
              <a:t>Haste que fixa a flor no ramo.</a:t>
            </a:r>
          </a:p>
          <a:p>
            <a:pPr marL="971550" lvl="1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</a:rPr>
              <a:t>Receptáculo floral: </a:t>
            </a:r>
            <a:r>
              <a:rPr lang="pt-BR" sz="2000" dirty="0">
                <a:latin typeface="+mn-lt"/>
              </a:rPr>
              <a:t>Região da flor onde se inserem os elementos florais.</a:t>
            </a:r>
          </a:p>
          <a:p>
            <a:pPr marL="971550" lvl="1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</a:rPr>
              <a:t>Sépala: </a:t>
            </a:r>
            <a:r>
              <a:rPr lang="pt-BR" sz="2000" dirty="0">
                <a:latin typeface="+mn-lt"/>
              </a:rPr>
              <a:t>Folha modificada estéril (verde) </a:t>
            </a:r>
            <a:r>
              <a:rPr lang="pt-BR" sz="2000" dirty="0">
                <a:latin typeface="+mn-lt"/>
                <a:sym typeface="Wingdings" pitchFamily="2" charset="2"/>
              </a:rPr>
              <a:t> conjunto: cálice</a:t>
            </a:r>
          </a:p>
          <a:p>
            <a:pPr marL="971550" lvl="1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  <a:sym typeface="Wingdings" pitchFamily="2" charset="2"/>
              </a:rPr>
              <a:t>Pétala: </a:t>
            </a:r>
            <a:r>
              <a:rPr lang="pt-BR" sz="2000" dirty="0">
                <a:latin typeface="+mn-lt"/>
                <a:sym typeface="Wingdings" pitchFamily="2" charset="2"/>
              </a:rPr>
              <a:t>Folha modificada estéril (colorida)  conjunto: corola</a:t>
            </a:r>
          </a:p>
          <a:p>
            <a:pPr marL="971550" lvl="1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  <a:sym typeface="Wingdings" pitchFamily="2" charset="2"/>
              </a:rPr>
              <a:t>Estame</a:t>
            </a:r>
            <a:r>
              <a:rPr lang="pt-BR" sz="2000" dirty="0">
                <a:latin typeface="+mn-lt"/>
                <a:sym typeface="Wingdings" pitchFamily="2" charset="2"/>
              </a:rPr>
              <a:t> (filete + antera)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sym typeface="Wingdings" pitchFamily="2" charset="2"/>
              </a:rPr>
              <a:t>Folha modificada fértil  produz </a:t>
            </a:r>
            <a:r>
              <a:rPr lang="pt-BR" sz="2000" dirty="0" err="1">
                <a:latin typeface="+mn-lt"/>
                <a:sym typeface="Wingdings" pitchFamily="2" charset="2"/>
              </a:rPr>
              <a:t>grãos-de-pólen</a:t>
            </a:r>
            <a:r>
              <a:rPr lang="pt-BR" sz="2000" dirty="0">
                <a:latin typeface="+mn-lt"/>
                <a:sym typeface="Wingdings" pitchFamily="2" charset="2"/>
              </a:rPr>
              <a:t>.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sym typeface="Wingdings" pitchFamily="2" charset="2"/>
              </a:rPr>
              <a:t>Conjunto: Androceu</a:t>
            </a:r>
          </a:p>
          <a:p>
            <a:pPr marL="971550" lvl="1" indent="-514350">
              <a:defRPr/>
            </a:pPr>
            <a:endParaRPr lang="pt-BR" sz="1200" dirty="0">
              <a:latin typeface="+mn-lt"/>
              <a:sym typeface="Wingdings" pitchFamily="2" charset="2"/>
            </a:endParaRPr>
          </a:p>
          <a:p>
            <a:pPr marL="971550" lvl="1" indent="-514350">
              <a:buFontTx/>
              <a:buAutoNum type="romanUcParenR" startAt="6"/>
              <a:defRPr/>
            </a:pPr>
            <a:r>
              <a:rPr lang="pt-BR" sz="2000" b="1" dirty="0">
                <a:latin typeface="+mn-lt"/>
                <a:sym typeface="Wingdings" pitchFamily="2" charset="2"/>
              </a:rPr>
              <a:t>Carpelo</a:t>
            </a:r>
            <a:r>
              <a:rPr lang="pt-BR" sz="2000" dirty="0">
                <a:latin typeface="+mn-lt"/>
                <a:sym typeface="Wingdings" pitchFamily="2" charset="2"/>
              </a:rPr>
              <a:t> (estigma + estilete + ovário)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sym typeface="Wingdings" pitchFamily="2" charset="2"/>
              </a:rPr>
              <a:t>Folha fértil formadora de óvulos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sym typeface="Wingdings" pitchFamily="2" charset="2"/>
              </a:rPr>
              <a:t>Conjunto: Gineceu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endParaRPr lang="pt-BR" sz="1200" dirty="0">
              <a:latin typeface="+mn-lt"/>
              <a:sym typeface="Wingdings" pitchFamily="2" charset="2"/>
            </a:endParaRPr>
          </a:p>
          <a:p>
            <a:pPr marL="971550" lvl="1" indent="-514350">
              <a:defRPr/>
            </a:pPr>
            <a:r>
              <a:rPr lang="pt-BR" sz="2000" b="1" dirty="0">
                <a:latin typeface="+mn-lt"/>
                <a:sym typeface="Wingdings" pitchFamily="2" charset="2"/>
              </a:rPr>
              <a:t>VII) </a:t>
            </a:r>
            <a:r>
              <a:rPr lang="pt-BR" sz="2000" b="1" dirty="0" err="1">
                <a:latin typeface="+mn-lt"/>
                <a:sym typeface="Wingdings" pitchFamily="2" charset="2"/>
              </a:rPr>
              <a:t>Verticílios</a:t>
            </a:r>
            <a:r>
              <a:rPr lang="pt-BR" sz="2000" b="1" dirty="0">
                <a:latin typeface="+mn-lt"/>
                <a:sym typeface="Wingdings" pitchFamily="2" charset="2"/>
              </a:rPr>
              <a:t> florais </a:t>
            </a:r>
            <a:r>
              <a:rPr lang="pt-BR" sz="2000" dirty="0">
                <a:latin typeface="+mn-lt"/>
                <a:sym typeface="Wingdings" pitchFamily="2" charset="2"/>
              </a:rPr>
              <a:t>(conjunto de folhas modificadas)</a:t>
            </a:r>
          </a:p>
          <a:p>
            <a:pPr marL="1428750" lvl="2" indent="-514350">
              <a:buFont typeface="Courier New" pitchFamily="49" charset="0"/>
              <a:buChar char="o"/>
              <a:defRPr/>
            </a:pPr>
            <a:r>
              <a:rPr lang="pt-BR" sz="2000" dirty="0">
                <a:latin typeface="+mn-lt"/>
                <a:sym typeface="Wingdings" pitchFamily="2" charset="2"/>
              </a:rPr>
              <a:t>Androceu / Gineceu / Corola / Cálice</a:t>
            </a:r>
          </a:p>
          <a:p>
            <a:pPr marL="971550" lvl="1" indent="-514350">
              <a:buFontTx/>
              <a:buAutoNum type="romanUcParenR"/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F08FE28-460A-4C7A-85A7-A7FEDA50122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C633F43-EEA5-468A-B7D7-DD0BA3A67BB3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24376" y="4508500"/>
            <a:ext cx="1357313" cy="234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5" name="Picture 4" descr="C:\projetos\moderna\powerpoint\imagens cap 13\U4\U4\Figura_13-15_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10250" y="2143126"/>
            <a:ext cx="2571750" cy="301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CaixaDeTexto 6"/>
          <p:cNvSpPr txBox="1">
            <a:spLocks noChangeArrowheads="1"/>
          </p:cNvSpPr>
          <p:nvPr/>
        </p:nvSpPr>
        <p:spPr bwMode="auto">
          <a:xfrm>
            <a:off x="1666876" y="1143001"/>
            <a:ext cx="8786813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8)   Angiospermas</a:t>
            </a:r>
          </a:p>
          <a:p>
            <a:pPr marL="971550" lvl="1" indent="-514350" fontAlgn="auto">
              <a:spcBef>
                <a:spcPts val="0"/>
              </a:spcBef>
              <a:spcAft>
                <a:spcPts val="0"/>
              </a:spcAft>
              <a:buFontTx/>
              <a:buAutoNum type="arabicParenR" startAt="7"/>
              <a:defRPr/>
            </a:pPr>
            <a:endParaRPr lang="pt-BR" sz="2200" dirty="0">
              <a:latin typeface="Calibri" pitchFamily="34" charset="0"/>
            </a:endParaRP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200" dirty="0">
              <a:latin typeface="Calibri" pitchFamily="34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dirty="0">
              <a:latin typeface="Calibri" pitchFamily="34" charset="0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200" dirty="0">
              <a:latin typeface="Calibri" pitchFamily="34" charset="0"/>
            </a:endParaRPr>
          </a:p>
          <a:p>
            <a:pPr marL="1257300" lvl="2" indent="-342900" algn="just" fontAlgn="auto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pt-BR" sz="2200" dirty="0">
              <a:latin typeface="Calibri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524000" y="1928813"/>
            <a:ext cx="8858250" cy="1631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0" lvl="1" indent="-457200">
              <a:defRPr/>
            </a:pPr>
            <a:r>
              <a:rPr lang="pt-BR" sz="2000" b="1" dirty="0">
                <a:solidFill>
                  <a:srgbClr val="FF0000"/>
                </a:solidFill>
                <a:latin typeface="+mn-lt"/>
              </a:rPr>
              <a:t>c)  Ciclo Reprodutivo</a:t>
            </a: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1428750" lvl="2" indent="-514350">
              <a:buFontTx/>
              <a:buAutoNum type="romanUcParenR"/>
              <a:defRPr/>
            </a:pPr>
            <a:r>
              <a:rPr lang="pt-BR" sz="2000" b="1" dirty="0">
                <a:latin typeface="+mn-lt"/>
              </a:rPr>
              <a:t>Formação do tubo polínico</a:t>
            </a: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  <a:p>
            <a:pPr marL="914400" lvl="1" indent="-457200">
              <a:defRPr/>
            </a:pPr>
            <a:endParaRPr lang="pt-BR" sz="2000" dirty="0">
              <a:latin typeface="+mn-lt"/>
            </a:endParaRPr>
          </a:p>
        </p:txBody>
      </p:sp>
      <p:pic>
        <p:nvPicPr>
          <p:cNvPr id="33800" name="Picture 3" descr="C:\projetos\moderna\powerpoint\imagens cap 13\U4\U4\Figura-13-15_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38313" y="3429001"/>
            <a:ext cx="2239962" cy="207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2524125" y="3071814"/>
            <a:ext cx="928688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>
                <a:latin typeface="+mn-lt"/>
              </a:rPr>
              <a:t>Antera</a:t>
            </a:r>
          </a:p>
        </p:txBody>
      </p:sp>
      <p:cxnSp>
        <p:nvCxnSpPr>
          <p:cNvPr id="12" name="Conector reto 11"/>
          <p:cNvCxnSpPr>
            <a:endCxn id="9" idx="2"/>
          </p:cNvCxnSpPr>
          <p:nvPr/>
        </p:nvCxnSpPr>
        <p:spPr>
          <a:xfrm flipV="1">
            <a:off x="2667001" y="3441700"/>
            <a:ext cx="320675" cy="273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9" idx="2"/>
          </p:cNvCxnSpPr>
          <p:nvPr/>
        </p:nvCxnSpPr>
        <p:spPr>
          <a:xfrm rot="16200000" flipH="1">
            <a:off x="2976563" y="3452813"/>
            <a:ext cx="273050" cy="250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3024188" y="3929064"/>
            <a:ext cx="1071562" cy="1587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805" name="Grupo 37"/>
          <p:cNvGrpSpPr>
            <a:grpSpLocks/>
          </p:cNvGrpSpPr>
          <p:nvPr/>
        </p:nvGrpSpPr>
        <p:grpSpPr bwMode="auto">
          <a:xfrm>
            <a:off x="8953501" y="1857375"/>
            <a:ext cx="1571625" cy="2857500"/>
            <a:chOff x="7572396" y="1785926"/>
            <a:chExt cx="1571604" cy="2857520"/>
          </a:xfrm>
        </p:grpSpPr>
        <p:grpSp>
          <p:nvGrpSpPr>
            <p:cNvPr id="33827" name="Grupo 24"/>
            <p:cNvGrpSpPr>
              <a:grpSpLocks/>
            </p:cNvGrpSpPr>
            <p:nvPr/>
          </p:nvGrpSpPr>
          <p:grpSpPr bwMode="auto">
            <a:xfrm>
              <a:off x="7786710" y="1785926"/>
              <a:ext cx="642942" cy="642942"/>
              <a:chOff x="7572396" y="2000240"/>
              <a:chExt cx="642942" cy="642942"/>
            </a:xfrm>
          </p:grpSpPr>
          <p:sp>
            <p:nvSpPr>
              <p:cNvPr id="19" name="Elipse 18"/>
              <p:cNvSpPr/>
              <p:nvPr/>
            </p:nvSpPr>
            <p:spPr>
              <a:xfrm>
                <a:off x="7572392" y="2000240"/>
                <a:ext cx="642928" cy="642942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/>
              </a:p>
            </p:txBody>
          </p:sp>
          <p:sp>
            <p:nvSpPr>
              <p:cNvPr id="20" name="Elipse 19"/>
              <p:cNvSpPr/>
              <p:nvPr/>
            </p:nvSpPr>
            <p:spPr>
              <a:xfrm>
                <a:off x="7786701" y="2214554"/>
                <a:ext cx="214310" cy="21431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/>
              </a:p>
            </p:txBody>
          </p:sp>
        </p:grpSp>
        <p:grpSp>
          <p:nvGrpSpPr>
            <p:cNvPr id="33828" name="Grupo 34"/>
            <p:cNvGrpSpPr>
              <a:grpSpLocks/>
            </p:cNvGrpSpPr>
            <p:nvPr/>
          </p:nvGrpSpPr>
          <p:grpSpPr bwMode="auto">
            <a:xfrm>
              <a:off x="7572396" y="3571876"/>
              <a:ext cx="1071570" cy="1071570"/>
              <a:chOff x="7572396" y="3286124"/>
              <a:chExt cx="1071570" cy="1071570"/>
            </a:xfrm>
          </p:grpSpPr>
          <p:grpSp>
            <p:nvGrpSpPr>
              <p:cNvPr id="33831" name="Grupo 29"/>
              <p:cNvGrpSpPr>
                <a:grpSpLocks/>
              </p:cNvGrpSpPr>
              <p:nvPr/>
            </p:nvGrpSpPr>
            <p:grpSpPr bwMode="auto">
              <a:xfrm>
                <a:off x="7572396" y="3286124"/>
                <a:ext cx="500066" cy="500066"/>
                <a:chOff x="7358082" y="3286124"/>
                <a:chExt cx="500066" cy="500066"/>
              </a:xfrm>
            </p:grpSpPr>
            <p:sp>
              <p:nvSpPr>
                <p:cNvPr id="21" name="Elipse 20"/>
                <p:cNvSpPr/>
                <p:nvPr/>
              </p:nvSpPr>
              <p:spPr>
                <a:xfrm>
                  <a:off x="7358082" y="3286125"/>
                  <a:ext cx="500056" cy="500065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  <p:sp>
              <p:nvSpPr>
                <p:cNvPr id="26" name="Elipse 25"/>
                <p:cNvSpPr/>
                <p:nvPr/>
              </p:nvSpPr>
              <p:spPr>
                <a:xfrm>
                  <a:off x="7500955" y="3429001"/>
                  <a:ext cx="214310" cy="21431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</p:grpSp>
          <p:grpSp>
            <p:nvGrpSpPr>
              <p:cNvPr id="33832" name="Grupo 30"/>
              <p:cNvGrpSpPr>
                <a:grpSpLocks/>
              </p:cNvGrpSpPr>
              <p:nvPr/>
            </p:nvGrpSpPr>
            <p:grpSpPr bwMode="auto">
              <a:xfrm>
                <a:off x="8143900" y="3286124"/>
                <a:ext cx="500066" cy="500066"/>
                <a:chOff x="8215338" y="3286124"/>
                <a:chExt cx="500066" cy="500066"/>
              </a:xfrm>
            </p:grpSpPr>
            <p:sp>
              <p:nvSpPr>
                <p:cNvPr id="22" name="Elipse 21"/>
                <p:cNvSpPr/>
                <p:nvPr/>
              </p:nvSpPr>
              <p:spPr>
                <a:xfrm>
                  <a:off x="8215327" y="3286125"/>
                  <a:ext cx="500056" cy="500065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  <p:sp>
              <p:nvSpPr>
                <p:cNvPr id="27" name="Elipse 26"/>
                <p:cNvSpPr/>
                <p:nvPr/>
              </p:nvSpPr>
              <p:spPr>
                <a:xfrm>
                  <a:off x="8358200" y="3429001"/>
                  <a:ext cx="214310" cy="21431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</p:grpSp>
          <p:grpSp>
            <p:nvGrpSpPr>
              <p:cNvPr id="33833" name="Grupo 31"/>
              <p:cNvGrpSpPr>
                <a:grpSpLocks/>
              </p:cNvGrpSpPr>
              <p:nvPr/>
            </p:nvGrpSpPr>
            <p:grpSpPr bwMode="auto">
              <a:xfrm>
                <a:off x="7572396" y="3857628"/>
                <a:ext cx="500066" cy="500066"/>
                <a:chOff x="7358082" y="4143380"/>
                <a:chExt cx="500066" cy="500066"/>
              </a:xfrm>
            </p:grpSpPr>
            <p:sp>
              <p:nvSpPr>
                <p:cNvPr id="23" name="Elipse 22"/>
                <p:cNvSpPr/>
                <p:nvPr/>
              </p:nvSpPr>
              <p:spPr>
                <a:xfrm>
                  <a:off x="7358082" y="4143381"/>
                  <a:ext cx="500056" cy="500065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  <p:sp>
              <p:nvSpPr>
                <p:cNvPr id="28" name="Elipse 27"/>
                <p:cNvSpPr/>
                <p:nvPr/>
              </p:nvSpPr>
              <p:spPr>
                <a:xfrm>
                  <a:off x="7500955" y="4286257"/>
                  <a:ext cx="214310" cy="21431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</p:grpSp>
          <p:grpSp>
            <p:nvGrpSpPr>
              <p:cNvPr id="33834" name="Grupo 32"/>
              <p:cNvGrpSpPr>
                <a:grpSpLocks/>
              </p:cNvGrpSpPr>
              <p:nvPr/>
            </p:nvGrpSpPr>
            <p:grpSpPr bwMode="auto">
              <a:xfrm>
                <a:off x="8143900" y="3857628"/>
                <a:ext cx="500066" cy="500066"/>
                <a:chOff x="8215338" y="4143380"/>
                <a:chExt cx="500066" cy="500066"/>
              </a:xfrm>
            </p:grpSpPr>
            <p:sp>
              <p:nvSpPr>
                <p:cNvPr id="24" name="Elipse 23"/>
                <p:cNvSpPr/>
                <p:nvPr/>
              </p:nvSpPr>
              <p:spPr>
                <a:xfrm>
                  <a:off x="8215327" y="4143381"/>
                  <a:ext cx="500056" cy="500065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  <p:sp>
              <p:nvSpPr>
                <p:cNvPr id="29" name="Elipse 28"/>
                <p:cNvSpPr/>
                <p:nvPr/>
              </p:nvSpPr>
              <p:spPr>
                <a:xfrm>
                  <a:off x="8358200" y="4286257"/>
                  <a:ext cx="214310" cy="214313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pt-BR"/>
                </a:p>
              </p:txBody>
            </p:sp>
          </p:grpSp>
        </p:grpSp>
        <p:sp>
          <p:nvSpPr>
            <p:cNvPr id="34" name="Seta entalhada para a direita 33"/>
            <p:cNvSpPr/>
            <p:nvPr/>
          </p:nvSpPr>
          <p:spPr>
            <a:xfrm rot="5400000">
              <a:off x="7679541" y="2893219"/>
              <a:ext cx="928693" cy="285746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8215325" y="2857497"/>
              <a:ext cx="928675" cy="40005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BR" sz="2000" b="1" dirty="0">
                  <a:latin typeface="+mn-lt"/>
                </a:rPr>
                <a:t>R!</a:t>
              </a:r>
            </a:p>
          </p:txBody>
        </p:sp>
      </p:grpSp>
      <p:sp>
        <p:nvSpPr>
          <p:cNvPr id="37" name="CaixaDeTexto 36"/>
          <p:cNvSpPr txBox="1"/>
          <p:nvPr/>
        </p:nvSpPr>
        <p:spPr>
          <a:xfrm>
            <a:off x="8382000" y="1357314"/>
            <a:ext cx="22860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 err="1">
                <a:latin typeface="+mn-lt"/>
              </a:rPr>
              <a:t>Microspororócito</a:t>
            </a:r>
            <a:r>
              <a:rPr lang="pt-BR" b="1" dirty="0">
                <a:latin typeface="+mn-lt"/>
              </a:rPr>
              <a:t> (2n)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8382000" y="4857750"/>
            <a:ext cx="2286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latin typeface="+mn-lt"/>
              </a:rPr>
              <a:t>4 Micrósporos (n)</a:t>
            </a:r>
          </a:p>
        </p:txBody>
      </p:sp>
      <p:sp>
        <p:nvSpPr>
          <p:cNvPr id="40" name="Seta para a direita listrada 39"/>
          <p:cNvSpPr/>
          <p:nvPr/>
        </p:nvSpPr>
        <p:spPr>
          <a:xfrm>
            <a:off x="4238626" y="3714750"/>
            <a:ext cx="1643063" cy="35718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1" name="Seta entalhada para a direita 40"/>
          <p:cNvSpPr/>
          <p:nvPr/>
        </p:nvSpPr>
        <p:spPr>
          <a:xfrm rot="7989800">
            <a:off x="8813007" y="5333207"/>
            <a:ext cx="642937" cy="28575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grpSp>
        <p:nvGrpSpPr>
          <p:cNvPr id="33810" name="Grupo 48"/>
          <p:cNvGrpSpPr>
            <a:grpSpLocks/>
          </p:cNvGrpSpPr>
          <p:nvPr/>
        </p:nvGrpSpPr>
        <p:grpSpPr bwMode="auto">
          <a:xfrm>
            <a:off x="7667626" y="5500688"/>
            <a:ext cx="1285875" cy="1143000"/>
            <a:chOff x="6500826" y="5715016"/>
            <a:chExt cx="1285884" cy="1142984"/>
          </a:xfrm>
        </p:grpSpPr>
        <p:sp>
          <p:nvSpPr>
            <p:cNvPr id="43" name="Estrela de 32 pontas 42"/>
            <p:cNvSpPr/>
            <p:nvPr/>
          </p:nvSpPr>
          <p:spPr>
            <a:xfrm>
              <a:off x="6500826" y="5715016"/>
              <a:ext cx="1285884" cy="1142984"/>
            </a:xfrm>
            <a:prstGeom prst="star32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44" name="Forma livre 43"/>
            <p:cNvSpPr/>
            <p:nvPr/>
          </p:nvSpPr>
          <p:spPr>
            <a:xfrm>
              <a:off x="7143769" y="5857889"/>
              <a:ext cx="85726" cy="852475"/>
            </a:xfrm>
            <a:custGeom>
              <a:avLst/>
              <a:gdLst>
                <a:gd name="connsiteX0" fmla="*/ 0 w 218940"/>
                <a:gd name="connsiteY0" fmla="*/ 0 h 888642"/>
                <a:gd name="connsiteX1" fmla="*/ 206062 w 218940"/>
                <a:gd name="connsiteY1" fmla="*/ 180304 h 888642"/>
                <a:gd name="connsiteX2" fmla="*/ 12878 w 218940"/>
                <a:gd name="connsiteY2" fmla="*/ 618186 h 888642"/>
                <a:gd name="connsiteX3" fmla="*/ 218940 w 218940"/>
                <a:gd name="connsiteY3" fmla="*/ 888642 h 888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940" h="888642">
                  <a:moveTo>
                    <a:pt x="0" y="0"/>
                  </a:moveTo>
                  <a:cubicBezTo>
                    <a:pt x="101958" y="38636"/>
                    <a:pt x="203916" y="77273"/>
                    <a:pt x="206062" y="180304"/>
                  </a:cubicBezTo>
                  <a:cubicBezTo>
                    <a:pt x="208208" y="283335"/>
                    <a:pt x="10732" y="500130"/>
                    <a:pt x="12878" y="618186"/>
                  </a:cubicBezTo>
                  <a:cubicBezTo>
                    <a:pt x="15024" y="736242"/>
                    <a:pt x="116982" y="812442"/>
                    <a:pt x="218940" y="888642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45" name="Elipse 44"/>
            <p:cNvSpPr/>
            <p:nvPr/>
          </p:nvSpPr>
          <p:spPr>
            <a:xfrm>
              <a:off x="6858017" y="6215071"/>
              <a:ext cx="142876" cy="14287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46" name="Elipse 45"/>
            <p:cNvSpPr/>
            <p:nvPr/>
          </p:nvSpPr>
          <p:spPr>
            <a:xfrm>
              <a:off x="7286645" y="6215071"/>
              <a:ext cx="142876" cy="14287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sp>
        <p:nvSpPr>
          <p:cNvPr id="47" name="CaixaDeTexto 46"/>
          <p:cNvSpPr txBox="1"/>
          <p:nvPr/>
        </p:nvSpPr>
        <p:spPr>
          <a:xfrm>
            <a:off x="5738813" y="5500689"/>
            <a:ext cx="22860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 err="1">
                <a:latin typeface="+mn-lt"/>
              </a:rPr>
              <a:t>Grão-de-pólen</a:t>
            </a:r>
            <a:endParaRPr lang="pt-BR" b="1" dirty="0">
              <a:latin typeface="+mn-lt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5453063" y="6143625"/>
            <a:ext cx="22860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Célula geradora</a:t>
            </a:r>
          </a:p>
        </p:txBody>
      </p:sp>
      <p:cxnSp>
        <p:nvCxnSpPr>
          <p:cNvPr id="51" name="Conector reto 50"/>
          <p:cNvCxnSpPr/>
          <p:nvPr/>
        </p:nvCxnSpPr>
        <p:spPr>
          <a:xfrm flipV="1">
            <a:off x="7310438" y="6215064"/>
            <a:ext cx="785812" cy="71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8667750" y="5786439"/>
            <a:ext cx="22860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dirty="0">
                <a:latin typeface="+mn-lt"/>
              </a:rPr>
              <a:t>Célula do tubo</a:t>
            </a:r>
          </a:p>
        </p:txBody>
      </p:sp>
      <p:cxnSp>
        <p:nvCxnSpPr>
          <p:cNvPr id="54" name="Conector reto 53"/>
          <p:cNvCxnSpPr/>
          <p:nvPr/>
        </p:nvCxnSpPr>
        <p:spPr>
          <a:xfrm flipV="1">
            <a:off x="8596314" y="6143626"/>
            <a:ext cx="642937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Seta em curva para baixo 56"/>
          <p:cNvSpPr/>
          <p:nvPr/>
        </p:nvSpPr>
        <p:spPr>
          <a:xfrm rot="19893513">
            <a:off x="7600951" y="1984375"/>
            <a:ext cx="1533525" cy="406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3817" name="CaixaDeTexto 57"/>
          <p:cNvSpPr txBox="1">
            <a:spLocks noChangeArrowheads="1"/>
          </p:cNvSpPr>
          <p:nvPr/>
        </p:nvSpPr>
        <p:spPr bwMode="auto">
          <a:xfrm>
            <a:off x="3095626" y="5715000"/>
            <a:ext cx="16430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/>
              <a:t>Tubo polínico</a:t>
            </a:r>
          </a:p>
        </p:txBody>
      </p:sp>
      <p:cxnSp>
        <p:nvCxnSpPr>
          <p:cNvPr id="60" name="Conector reto 59"/>
          <p:cNvCxnSpPr/>
          <p:nvPr/>
        </p:nvCxnSpPr>
        <p:spPr>
          <a:xfrm>
            <a:off x="4452938" y="5929313"/>
            <a:ext cx="571500" cy="214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819" name="CaixaDeTexto 61"/>
          <p:cNvSpPr txBox="1">
            <a:spLocks noChangeArrowheads="1"/>
          </p:cNvSpPr>
          <p:nvPr/>
        </p:nvSpPr>
        <p:spPr bwMode="auto">
          <a:xfrm>
            <a:off x="3952876" y="4500563"/>
            <a:ext cx="16430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1600"/>
              <a:t>Células espermáticas</a:t>
            </a:r>
          </a:p>
        </p:txBody>
      </p:sp>
      <p:cxnSp>
        <p:nvCxnSpPr>
          <p:cNvPr id="64" name="Conector reto 63"/>
          <p:cNvCxnSpPr/>
          <p:nvPr/>
        </p:nvCxnSpPr>
        <p:spPr>
          <a:xfrm>
            <a:off x="5310188" y="4929189"/>
            <a:ext cx="214312" cy="71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reto 66"/>
          <p:cNvCxnSpPr/>
          <p:nvPr/>
        </p:nvCxnSpPr>
        <p:spPr>
          <a:xfrm flipV="1">
            <a:off x="5310188" y="4786314"/>
            <a:ext cx="214312" cy="142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Seta entalhada para a direita 69"/>
          <p:cNvSpPr/>
          <p:nvPr/>
        </p:nvSpPr>
        <p:spPr>
          <a:xfrm rot="10800000">
            <a:off x="5595939" y="5572125"/>
            <a:ext cx="428625" cy="28575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47387FE2-AB1C-4570-9DB2-2575CDF6917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Título 1">
            <a:extLst>
              <a:ext uri="{FF2B5EF4-FFF2-40B4-BE49-F238E27FC236}">
                <a16:creationId xmlns:a16="http://schemas.microsoft.com/office/drawing/2014/main" id="{A22AC653-89D6-4835-83E4-DF15D3D8759A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1926" y="836712"/>
            <a:ext cx="7966075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BEA5567-A889-4012-A225-36718FB97FC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D30A0D8-522A-41F4-991A-39A8AB9C551B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524001" y="1143001"/>
            <a:ext cx="9001125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latin typeface="+mn-lt"/>
              </a:rPr>
              <a:t>A polinização e os agentes polinizadores das angiospermas</a:t>
            </a:r>
          </a:p>
        </p:txBody>
      </p:sp>
      <p:pic>
        <p:nvPicPr>
          <p:cNvPr id="3584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714501"/>
            <a:ext cx="9144000" cy="451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F5AAE0A-C68F-419B-8A5E-F424FD84974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62A2DD0-5CFC-4C43-AB95-7E5CC4D0847E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524001" y="1214438"/>
            <a:ext cx="9001125" cy="4302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200" b="1" dirty="0">
                <a:latin typeface="+mn-lt"/>
              </a:rPr>
              <a:t>O desenvolvimento do tubo polínico e a dupla fecundação</a:t>
            </a:r>
          </a:p>
        </p:txBody>
      </p:sp>
      <p:pic>
        <p:nvPicPr>
          <p:cNvPr id="36870" name="Picture 2"/>
          <p:cNvPicPr>
            <a:picLocks noChangeAspect="1" noChangeArrowheads="1"/>
          </p:cNvPicPr>
          <p:nvPr/>
        </p:nvPicPr>
        <p:blipFill>
          <a:blip r:embed="rId3" cstate="print">
            <a:lum contrast="10000"/>
          </a:blip>
          <a:srcRect/>
          <a:stretch>
            <a:fillRect/>
          </a:stretch>
        </p:blipFill>
        <p:spPr bwMode="auto">
          <a:xfrm>
            <a:off x="1524000" y="1928814"/>
            <a:ext cx="9144000" cy="376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1952626" y="5857876"/>
            <a:ext cx="8215313" cy="7080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342900" indent="-342900">
              <a:buFontTx/>
              <a:buAutoNum type="romanUcParenR"/>
              <a:defRPr/>
            </a:pPr>
            <a:r>
              <a:rPr lang="pt-BR" sz="2000" dirty="0"/>
              <a:t>Oosfera (n) + Célula espermática (n) </a:t>
            </a:r>
            <a:r>
              <a:rPr lang="pt-BR" sz="2000" dirty="0">
                <a:sym typeface="Wingdings" pitchFamily="2" charset="2"/>
              </a:rPr>
              <a:t> Zigoto (2n)</a:t>
            </a:r>
          </a:p>
          <a:p>
            <a:pPr marL="342900" indent="-342900">
              <a:buFontTx/>
              <a:buAutoNum type="romanUcParenR"/>
              <a:defRPr/>
            </a:pPr>
            <a:r>
              <a:rPr lang="pt-BR" sz="2000" dirty="0">
                <a:sym typeface="Wingdings" pitchFamily="2" charset="2"/>
              </a:rPr>
              <a:t>Núcleo polar (n) + Núcleo polar (n) + Célula espermática (n)  Célula (3n)</a:t>
            </a:r>
            <a:endParaRPr lang="pt-BR" sz="20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B55CD8-7BFD-4C6B-8B27-CE75B767F01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283D243-C4CD-4172-8E35-F923249B79DC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1251" y="836712"/>
            <a:ext cx="7775575" cy="602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028D307-BCFE-410B-A86C-756A2F141D2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44CDA65-DDDC-4DD9-A9CC-5954821DE0BF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aixaDeTexto 8"/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endParaRPr lang="pt-BR">
              <a:latin typeface="Calibri" pitchFamily="34" charset="0"/>
            </a:endParaRPr>
          </a:p>
          <a:p>
            <a:pPr marL="342900" indent="-342900" algn="just"/>
            <a:endParaRPr lang="pt-BR">
              <a:latin typeface="Calibri" pitchFamily="34" charset="0"/>
            </a:endParaRPr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643064"/>
            <a:ext cx="2286000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38626" y="2000251"/>
            <a:ext cx="2741613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53250" y="2571750"/>
            <a:ext cx="3500438" cy="158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10501" y="4429125"/>
            <a:ext cx="2143125" cy="228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eta entalhada para a direita 9"/>
          <p:cNvSpPr/>
          <p:nvPr/>
        </p:nvSpPr>
        <p:spPr>
          <a:xfrm>
            <a:off x="3452814" y="2928939"/>
            <a:ext cx="714375" cy="42862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Seta entalhada para a direita 10"/>
          <p:cNvSpPr/>
          <p:nvPr/>
        </p:nvSpPr>
        <p:spPr>
          <a:xfrm>
            <a:off x="6024564" y="3071814"/>
            <a:ext cx="714375" cy="42862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Seta entalhada para a direita 11"/>
          <p:cNvSpPr/>
          <p:nvPr/>
        </p:nvSpPr>
        <p:spPr>
          <a:xfrm rot="3470257">
            <a:off x="7608888" y="4079876"/>
            <a:ext cx="538163" cy="32861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2381250" y="5357813"/>
            <a:ext cx="4071938" cy="1231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pt-BR" sz="2000" b="1" dirty="0"/>
              <a:t>Fruto</a:t>
            </a:r>
          </a:p>
          <a:p>
            <a:pPr algn="just">
              <a:buFont typeface="Courier New" pitchFamily="49" charset="0"/>
              <a:buChar char="o"/>
              <a:defRPr/>
            </a:pPr>
            <a:r>
              <a:rPr lang="pt-BR" dirty="0"/>
              <a:t>  Protege as sementes em seu interior.</a:t>
            </a:r>
          </a:p>
          <a:p>
            <a:pPr algn="just">
              <a:buFont typeface="Courier New" pitchFamily="49" charset="0"/>
              <a:buChar char="o"/>
              <a:defRPr/>
            </a:pPr>
            <a:r>
              <a:rPr lang="pt-BR" dirty="0"/>
              <a:t>  Os animais ao se alimentarem dos frutos realizam a dispersão das sementes.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514BCD5-386F-45FC-94AE-E80EF0C55A2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B6EF3F23-4BD0-431C-B94F-A80991E0A38C}"/>
              </a:ext>
            </a:extLst>
          </p:cNvPr>
          <p:cNvSpPr txBox="1">
            <a:spLocks/>
          </p:cNvSpPr>
          <p:nvPr/>
        </p:nvSpPr>
        <p:spPr>
          <a:xfrm>
            <a:off x="576398" y="20570"/>
            <a:ext cx="11284676" cy="9983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Reino Vegetal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669</Words>
  <Application>Microsoft Office PowerPoint</Application>
  <PresentationFormat>Widescreen</PresentationFormat>
  <Paragraphs>237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Wingdings</vt:lpstr>
      <vt:lpstr>Tema do Office</vt:lpstr>
      <vt:lpstr>Grupos Vegetais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27</cp:revision>
  <dcterms:created xsi:type="dcterms:W3CDTF">2020-06-05T12:13:59Z</dcterms:created>
  <dcterms:modified xsi:type="dcterms:W3CDTF">2021-05-14T22:15:35Z</dcterms:modified>
</cp:coreProperties>
</file>