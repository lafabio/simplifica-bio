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316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A95AE8-8031-44A4-8FC6-2483308615D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126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24BD7A2-ADC3-4476-A0C2-61FFED80082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126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97A6BA-7BC5-4065-981E-9FC26A92811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229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FA7ACF-0812-4A6E-98B6-EEE32CD1F28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331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5292B7-DA58-4870-9A59-00F6F9FB674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AC09D0-E696-4C07-9316-5BD7C5BC62E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587E46-A30F-4047-BAF9-ED6A0F3E76C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5862223-2AF2-483B-8646-2B68E6C19EB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D39446-B8F8-49A3-AAC9-F56ED2A3F16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C92376-C41E-4F73-A715-CBFF682A27E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F5D9AC-F89C-490B-8D2A-583912C75110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B1C5E6-2DAC-4BE6-9D1A-C19047D01CF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088246-1146-40EE-B240-AB73CC594FC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ED2596-F220-49E4-B891-7E40EECA20F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07E5600-CB68-4BB1-985B-22600C24B57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754BCF-CE8B-4503-9A57-854D776A35D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33A24E-C3A7-4EEB-A0F4-C2D95F9648BF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2F5734-DD54-48B3-8783-B7476B6D778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FEBE31-D269-411A-A977-AC684243A70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7910716-B5F2-418D-8E31-1F877B07D5C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0E21BE-ADBA-4F42-A624-3E8882E9198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A91405-A049-4F45-B4EB-74FDEFE3610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43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D8578E-4C2A-47E5-BFAB-776A2E0193E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Resultado de imagem para botanica">
            <a:extLst>
              <a:ext uri="{FF2B5EF4-FFF2-40B4-BE49-F238E27FC236}">
                <a16:creationId xmlns:a16="http://schemas.microsoft.com/office/drawing/2014/main" id="{3948D3BB-AD02-4C9C-A211-AE52786DC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" b="14476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Histologia Vegetal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701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Introdução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A histologia vegetal estuda a formação e a constituição dos tecidos das plantas.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</a:t>
            </a: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Tecido: 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conjunto de células especializadas, geralmente semelhantes, e adaptadas para realizarem determinadas funções.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Tecidos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rgbClr val="FF0000"/>
                </a:solidFill>
                <a:latin typeface="+mn-lt"/>
                <a:cs typeface="Tahoma" pitchFamily="34" charset="0"/>
              </a:rPr>
              <a:t>Meristemas</a:t>
            </a: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rgbClr val="0070C0"/>
                </a:solidFill>
                <a:latin typeface="+mn-lt"/>
                <a:cs typeface="Tahoma" pitchFamily="34" charset="0"/>
              </a:rPr>
              <a:t>Parênquima</a:t>
            </a: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rgbClr val="0070C0"/>
                </a:solidFill>
                <a:latin typeface="+mn-lt"/>
                <a:cs typeface="Tahoma" pitchFamily="34" charset="0"/>
              </a:rPr>
              <a:t>Colênquima</a:t>
            </a: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rgbClr val="0070C0"/>
                </a:solidFill>
                <a:latin typeface="+mn-lt"/>
                <a:cs typeface="Tahoma" pitchFamily="34" charset="0"/>
              </a:rPr>
              <a:t>Esclerênquima</a:t>
            </a: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rgbClr val="00B050"/>
                </a:solidFill>
                <a:latin typeface="+mn-lt"/>
                <a:cs typeface="Tahoma" pitchFamily="34" charset="0"/>
              </a:rPr>
              <a:t>Floema</a:t>
            </a: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rgbClr val="00B050"/>
                </a:solidFill>
                <a:latin typeface="+mn-lt"/>
                <a:cs typeface="Tahoma" pitchFamily="34" charset="0"/>
              </a:rPr>
              <a:t>Xilema</a:t>
            </a: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+mn-lt"/>
                <a:cs typeface="Tahoma" pitchFamily="34" charset="0"/>
              </a:rPr>
              <a:t>Epiderme</a:t>
            </a:r>
          </a:p>
          <a:p>
            <a:pPr marL="857250" lvl="1" indent="-40005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+mn-lt"/>
                <a:cs typeface="Tahoma" pitchFamily="34" charset="0"/>
              </a:rPr>
              <a:t>Periderme</a:t>
            </a: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7" name="Chave direita 6"/>
          <p:cNvSpPr/>
          <p:nvPr/>
        </p:nvSpPr>
        <p:spPr>
          <a:xfrm>
            <a:off x="3738564" y="3429000"/>
            <a:ext cx="142875" cy="35718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Chave direita 7"/>
          <p:cNvSpPr/>
          <p:nvPr/>
        </p:nvSpPr>
        <p:spPr>
          <a:xfrm>
            <a:off x="3881439" y="3929063"/>
            <a:ext cx="142875" cy="1071562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0" name="Chave direita 9"/>
          <p:cNvSpPr/>
          <p:nvPr/>
        </p:nvSpPr>
        <p:spPr>
          <a:xfrm>
            <a:off x="3238501" y="5143500"/>
            <a:ext cx="142875" cy="642938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1" name="Chave direita 10"/>
          <p:cNvSpPr/>
          <p:nvPr/>
        </p:nvSpPr>
        <p:spPr>
          <a:xfrm>
            <a:off x="3524251" y="6000750"/>
            <a:ext cx="142875" cy="64293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3081" name="CaixaDeTexto 11"/>
          <p:cNvSpPr txBox="1">
            <a:spLocks noChangeArrowheads="1"/>
          </p:cNvSpPr>
          <p:nvPr/>
        </p:nvSpPr>
        <p:spPr bwMode="auto">
          <a:xfrm>
            <a:off x="3881439" y="3429000"/>
            <a:ext cx="17859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>
                <a:latin typeface="Calibri" pitchFamily="34" charset="0"/>
              </a:rPr>
              <a:t>Crescimento</a:t>
            </a:r>
          </a:p>
        </p:txBody>
      </p:sp>
      <p:sp>
        <p:nvSpPr>
          <p:cNvPr id="3082" name="CaixaDeTexto 12"/>
          <p:cNvSpPr txBox="1">
            <a:spLocks noChangeArrowheads="1"/>
          </p:cNvSpPr>
          <p:nvPr/>
        </p:nvSpPr>
        <p:spPr bwMode="auto">
          <a:xfrm>
            <a:off x="4024313" y="4286250"/>
            <a:ext cx="4286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>
                <a:latin typeface="Calibri" pitchFamily="34" charset="0"/>
              </a:rPr>
              <a:t>Preenchimento / Sustentação / Reserva </a:t>
            </a:r>
          </a:p>
        </p:txBody>
      </p:sp>
      <p:sp>
        <p:nvSpPr>
          <p:cNvPr id="3083" name="CaixaDeTexto 13"/>
          <p:cNvSpPr txBox="1">
            <a:spLocks noChangeArrowheads="1"/>
          </p:cNvSpPr>
          <p:nvPr/>
        </p:nvSpPr>
        <p:spPr bwMode="auto">
          <a:xfrm>
            <a:off x="3381375" y="5286375"/>
            <a:ext cx="4286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>
                <a:latin typeface="Calibri" pitchFamily="34" charset="0"/>
              </a:rPr>
              <a:t>Condução de seiva</a:t>
            </a:r>
          </a:p>
        </p:txBody>
      </p:sp>
      <p:sp>
        <p:nvSpPr>
          <p:cNvPr id="3084" name="CaixaDeTexto 14"/>
          <p:cNvSpPr txBox="1">
            <a:spLocks noChangeArrowheads="1"/>
          </p:cNvSpPr>
          <p:nvPr/>
        </p:nvSpPr>
        <p:spPr bwMode="auto">
          <a:xfrm>
            <a:off x="3667125" y="6143625"/>
            <a:ext cx="4286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>
                <a:latin typeface="Calibri" pitchFamily="34" charset="0"/>
              </a:rPr>
              <a:t>Revestimento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E82F248-4731-43B6-B8DE-98E915D14BE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7A3CBC6D-81CA-40AB-A9B0-5E6F276DECC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5170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 Tecidos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I) Meristemas (tecido vivo)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Tipo de tecido presente nas partes da planta onde ocorre crescimento por multiplicação celular.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Constituído por </a:t>
            </a: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células meristemáticas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: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 err="1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Pluripotentes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 (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Calibri"/>
                <a:cs typeface="Tahoma" pitchFamily="34" charset="0"/>
              </a:rPr>
              <a:t>↑ capacidade de diferenciação)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Calibri"/>
                <a:cs typeface="Tahoma" pitchFamily="34" charset="0"/>
              </a:rPr>
              <a:t>Indiferenciadas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Calibri"/>
                <a:cs typeface="Tahoma" pitchFamily="34" charset="0"/>
              </a:rPr>
              <a:t>Parede celular delgada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Calibri"/>
                <a:cs typeface="Tahoma" pitchFamily="34" charset="0"/>
              </a:rPr>
              <a:t>Núcleo volumoso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Calibri"/>
                <a:cs typeface="Tahoma" pitchFamily="34" charset="0"/>
              </a:rPr>
              <a:t>Alta capacidade multiplicativa</a:t>
            </a:r>
            <a:endParaRPr lang="pt-BR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	</a:t>
            </a:r>
            <a:endParaRPr lang="pt-BR" sz="2000" b="1" dirty="0">
              <a:solidFill>
                <a:schemeClr val="tx2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3595689" y="4929188"/>
            <a:ext cx="1000125" cy="8572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4595814" y="4929188"/>
            <a:ext cx="1000125" cy="8572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5595939" y="4929188"/>
            <a:ext cx="1000125" cy="8572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6596064" y="4929188"/>
            <a:ext cx="1000125" cy="8572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7596189" y="4929188"/>
            <a:ext cx="1000125" cy="8572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3738564" y="5072063"/>
            <a:ext cx="642937" cy="5715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4738689" y="5072063"/>
            <a:ext cx="642937" cy="5715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5738814" y="5072063"/>
            <a:ext cx="642937" cy="5715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6810375" y="5072063"/>
            <a:ext cx="642938" cy="5715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7739064" y="5072063"/>
            <a:ext cx="642937" cy="5715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4524375" y="5857875"/>
            <a:ext cx="2928938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Células meristemáticas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0ECCDFB-CC05-473F-BCEC-37EA65B9DE9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1D479E54-A1FE-4922-AD50-68994ED37D1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m 11" descr="histo3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5500" y="928688"/>
            <a:ext cx="7905750" cy="592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1738314" y="1357313"/>
            <a:ext cx="3786187" cy="17843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Meristemas e crescimento</a:t>
            </a:r>
          </a:p>
          <a:p>
            <a:pPr>
              <a:defRPr/>
            </a:pPr>
            <a:endParaRPr lang="pt-BR" dirty="0">
              <a:latin typeface="+mn-lt"/>
            </a:endParaRPr>
          </a:p>
          <a:p>
            <a:pPr>
              <a:defRPr/>
            </a:pPr>
            <a:r>
              <a:rPr lang="pt-BR" dirty="0">
                <a:latin typeface="+mn-lt"/>
              </a:rPr>
              <a:t>Ao contrário dos animais, a produção de órgãos vegetativos e reprodutores é contínua ao longo da vida da planta e é devida à atividade dos meristemas.</a:t>
            </a:r>
          </a:p>
        </p:txBody>
      </p:sp>
      <p:sp>
        <p:nvSpPr>
          <p:cNvPr id="5126" name="CaixaDeTexto 7"/>
          <p:cNvSpPr txBox="1">
            <a:spLocks noChangeArrowheads="1"/>
          </p:cNvSpPr>
          <p:nvPr/>
        </p:nvSpPr>
        <p:spPr bwMode="auto">
          <a:xfrm>
            <a:off x="2738438" y="3357564"/>
            <a:ext cx="1428750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5127" name="CaixaDeTexto 9"/>
          <p:cNvSpPr txBox="1">
            <a:spLocks noChangeArrowheads="1"/>
          </p:cNvSpPr>
          <p:nvPr/>
        </p:nvSpPr>
        <p:spPr bwMode="auto">
          <a:xfrm>
            <a:off x="5524501" y="2357439"/>
            <a:ext cx="347663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39B346B-10C9-4F5C-8CC4-89054FF9920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6E48316-7BE0-42FD-99F4-4447CBC8982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6" descr="Sem Título-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66938" y="2643188"/>
            <a:ext cx="2336800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1071564"/>
            <a:ext cx="8929718" cy="33547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 Tecidos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Tipos de Meristemas:</a:t>
            </a:r>
            <a:endParaRPr lang="pt-BR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	a)  Meristema apical: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 Promove crescimento vertical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3543300" lvl="7" indent="-342900" algn="just">
              <a:buFont typeface="Wingdings" pitchFamily="2" charset="2"/>
              <a:buChar char="§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Origem: 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Embrião da planta (ápice do caule e da raiz)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	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6150" name="CaixaDeTexto 5"/>
          <p:cNvSpPr txBox="1">
            <a:spLocks noChangeArrowheads="1"/>
          </p:cNvSpPr>
          <p:nvPr/>
        </p:nvSpPr>
        <p:spPr bwMode="auto">
          <a:xfrm>
            <a:off x="1524000" y="5572125"/>
            <a:ext cx="1428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00">
                <a:solidFill>
                  <a:srgbClr val="FF0000"/>
                </a:solidFill>
                <a:latin typeface="Calibri" pitchFamily="34" charset="0"/>
              </a:rPr>
              <a:t>Meristema apical da raiz</a:t>
            </a:r>
          </a:p>
        </p:txBody>
      </p:sp>
      <p:sp>
        <p:nvSpPr>
          <p:cNvPr id="6151" name="CaixaDeTexto 7"/>
          <p:cNvSpPr txBox="1">
            <a:spLocks noChangeArrowheads="1"/>
          </p:cNvSpPr>
          <p:nvPr/>
        </p:nvSpPr>
        <p:spPr bwMode="auto">
          <a:xfrm>
            <a:off x="1524001" y="4786314"/>
            <a:ext cx="12858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00">
                <a:latin typeface="Calibri" pitchFamily="34" charset="0"/>
              </a:rPr>
              <a:t>Procâmbio</a:t>
            </a:r>
          </a:p>
        </p:txBody>
      </p:sp>
      <p:sp>
        <p:nvSpPr>
          <p:cNvPr id="6152" name="CaixaDeTexto 9"/>
          <p:cNvSpPr txBox="1">
            <a:spLocks noChangeArrowheads="1"/>
          </p:cNvSpPr>
          <p:nvPr/>
        </p:nvSpPr>
        <p:spPr bwMode="auto">
          <a:xfrm>
            <a:off x="1524001" y="2571750"/>
            <a:ext cx="135731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>
                <a:latin typeface="Calibri" pitchFamily="34" charset="0"/>
              </a:rPr>
              <a:t>Protoderme</a:t>
            </a:r>
          </a:p>
        </p:txBody>
      </p:sp>
      <p:sp>
        <p:nvSpPr>
          <p:cNvPr id="6153" name="CaixaDeTexto 10"/>
          <p:cNvSpPr txBox="1">
            <a:spLocks noChangeArrowheads="1"/>
          </p:cNvSpPr>
          <p:nvPr/>
        </p:nvSpPr>
        <p:spPr bwMode="auto">
          <a:xfrm>
            <a:off x="1524000" y="3500438"/>
            <a:ext cx="15001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>
                <a:latin typeface="Calibri" pitchFamily="34" charset="0"/>
              </a:rPr>
              <a:t>Meristema Fundamental</a:t>
            </a:r>
          </a:p>
        </p:txBody>
      </p:sp>
      <p:sp>
        <p:nvSpPr>
          <p:cNvPr id="6154" name="CaixaDeTexto 11"/>
          <p:cNvSpPr txBox="1">
            <a:spLocks noChangeArrowheads="1"/>
          </p:cNvSpPr>
          <p:nvPr/>
        </p:nvSpPr>
        <p:spPr bwMode="auto">
          <a:xfrm>
            <a:off x="1524000" y="2928938"/>
            <a:ext cx="15001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>
                <a:solidFill>
                  <a:srgbClr val="FF0000"/>
                </a:solidFill>
                <a:latin typeface="Calibri" pitchFamily="34" charset="0"/>
              </a:rPr>
              <a:t>Meristema Apical do caule</a:t>
            </a:r>
          </a:p>
        </p:txBody>
      </p: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4595814" y="4357688"/>
          <a:ext cx="5929367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30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2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>
                          <a:solidFill>
                            <a:schemeClr val="tx1"/>
                          </a:solidFill>
                        </a:rPr>
                        <a:t>Protoderme</a:t>
                      </a:r>
                      <a:endParaRPr lang="pt-B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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Origina a epiderme e periderme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>
                          <a:solidFill>
                            <a:schemeClr val="tx1"/>
                          </a:solidFill>
                        </a:rPr>
                        <a:t>Procâmbio</a:t>
                      </a:r>
                      <a:endParaRPr lang="pt-B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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Origina o</a:t>
                      </a:r>
                      <a:r>
                        <a:rPr lang="pt-BR" baseline="0" dirty="0">
                          <a:solidFill>
                            <a:schemeClr val="tx1"/>
                          </a:solidFill>
                        </a:rPr>
                        <a:t> xilema e floema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Meristema Fundamental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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Origina o parênquima, colênquima</a:t>
                      </a:r>
                      <a:r>
                        <a:rPr lang="pt-BR" baseline="0" dirty="0">
                          <a:solidFill>
                            <a:schemeClr val="tx1"/>
                          </a:solidFill>
                        </a:rPr>
                        <a:t> e esclerênquima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73" name="CaixaDeTexto 22"/>
          <p:cNvSpPr txBox="1">
            <a:spLocks noChangeArrowheads="1"/>
          </p:cNvSpPr>
          <p:nvPr/>
        </p:nvSpPr>
        <p:spPr bwMode="auto">
          <a:xfrm>
            <a:off x="4595814" y="3429000"/>
            <a:ext cx="2714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>
                <a:latin typeface="Calibri" pitchFamily="34" charset="0"/>
              </a:rPr>
              <a:t>Meristema apical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rot="5400000">
            <a:off x="5739607" y="4071144"/>
            <a:ext cx="42862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75" name="CaixaDeTexto 26"/>
          <p:cNvSpPr txBox="1">
            <a:spLocks noChangeArrowheads="1"/>
          </p:cNvSpPr>
          <p:nvPr/>
        </p:nvSpPr>
        <p:spPr bwMode="auto">
          <a:xfrm>
            <a:off x="5953126" y="3857625"/>
            <a:ext cx="4500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>
                <a:latin typeface="Calibri" pitchFamily="34" charset="0"/>
              </a:rPr>
              <a:t>Origina os meristemas primários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1DCDE22-C910-4A8E-A1BB-9DCD8F80DC5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F40F482-01D4-4CC5-9CEB-09E343B633E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m 19" descr="Sem Título-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4063" y="2357438"/>
            <a:ext cx="3041650" cy="450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1071563"/>
            <a:ext cx="8929688" cy="3078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 Tecidos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Tipos de Meristemas:</a:t>
            </a:r>
            <a:endParaRPr lang="pt-BR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	a)  Meristema primário ou apical (na planta adulta)</a:t>
            </a:r>
            <a:endParaRPr lang="pt-BR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7174" name="CaixaDeTexto 16"/>
          <p:cNvSpPr txBox="1">
            <a:spLocks noChangeArrowheads="1"/>
          </p:cNvSpPr>
          <p:nvPr/>
        </p:nvSpPr>
        <p:spPr bwMode="auto">
          <a:xfrm>
            <a:off x="4953000" y="2357438"/>
            <a:ext cx="2357438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Gema apical do caule</a:t>
            </a:r>
          </a:p>
          <a:p>
            <a:pPr algn="ctr"/>
            <a:r>
              <a:rPr lang="pt-BR">
                <a:latin typeface="Calibri" pitchFamily="34" charset="0"/>
              </a:rPr>
              <a:t>(meristema primário)</a:t>
            </a:r>
          </a:p>
        </p:txBody>
      </p:sp>
      <p:sp>
        <p:nvSpPr>
          <p:cNvPr id="7175" name="CaixaDeTexto 17"/>
          <p:cNvSpPr txBox="1">
            <a:spLocks noChangeArrowheads="1"/>
          </p:cNvSpPr>
          <p:nvPr/>
        </p:nvSpPr>
        <p:spPr bwMode="auto">
          <a:xfrm>
            <a:off x="5024439" y="6211888"/>
            <a:ext cx="235743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Gema apical da raiz</a:t>
            </a:r>
          </a:p>
          <a:p>
            <a:pPr algn="ctr"/>
            <a:r>
              <a:rPr lang="pt-BR">
                <a:latin typeface="Calibri" pitchFamily="34" charset="0"/>
              </a:rPr>
              <a:t>(meristema primário)</a:t>
            </a:r>
          </a:p>
        </p:txBody>
      </p:sp>
      <p:sp>
        <p:nvSpPr>
          <p:cNvPr id="7176" name="CaixaDeTexto 18"/>
          <p:cNvSpPr txBox="1">
            <a:spLocks noChangeArrowheads="1"/>
          </p:cNvSpPr>
          <p:nvPr/>
        </p:nvSpPr>
        <p:spPr bwMode="auto">
          <a:xfrm>
            <a:off x="5095876" y="4357688"/>
            <a:ext cx="27146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Gemas laterais do caule</a:t>
            </a:r>
          </a:p>
          <a:p>
            <a:pPr algn="ctr"/>
            <a:r>
              <a:rPr lang="pt-BR">
                <a:latin typeface="Calibri" pitchFamily="34" charset="0"/>
              </a:rPr>
              <a:t>(meristema primário)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3167063" y="4214814"/>
            <a:ext cx="2000250" cy="357187"/>
          </a:xfrm>
          <a:prstGeom prst="straightConnector1">
            <a:avLst/>
          </a:prstGeom>
          <a:ln>
            <a:headEnd type="oval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178" name="Imagem 32" descr="gema apical caule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39189" y="1285875"/>
            <a:ext cx="1690687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9" name="Imagem 33" descr="gema apical raiz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739188" y="4094163"/>
            <a:ext cx="1714500" cy="2620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6" name="Conector de seta reta 35"/>
          <p:cNvCxnSpPr>
            <a:stCxn id="7174" idx="3"/>
          </p:cNvCxnSpPr>
          <p:nvPr/>
        </p:nvCxnSpPr>
        <p:spPr>
          <a:xfrm flipV="1">
            <a:off x="7310438" y="2071688"/>
            <a:ext cx="2286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V="1">
            <a:off x="7239001" y="5643563"/>
            <a:ext cx="2428875" cy="857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rot="5400000" flipH="1" flipV="1">
            <a:off x="7560470" y="2678907"/>
            <a:ext cx="1857375" cy="164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385721C2-297C-411E-8AA0-5BF26CDFD98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10BCF4F-78C4-4814-9568-8021E38300A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6" descr="tecidos vegetais - 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3176" y="3252788"/>
            <a:ext cx="4314825" cy="360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1071564"/>
            <a:ext cx="8929688" cy="59708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 Tecidos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Tipos de Meristemas:</a:t>
            </a:r>
            <a:endParaRPr lang="pt-BR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		b)  Meristema secundário: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 Gimnospermas e Angiospermas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Origem: 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A partir da </a:t>
            </a:r>
            <a:r>
              <a:rPr lang="pt-BR" dirty="0" err="1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desdiferenciação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 de células parenquimáticas do córtex da raiz e 	do caule.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4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Promove o crescimento em espessura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4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Tipos: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Felogênio</a:t>
            </a:r>
          </a:p>
          <a:p>
            <a:pPr marL="2628900" lvl="5" indent="-342900" algn="just">
              <a:buFont typeface="Wingdings" pitchFamily="2" charset="2"/>
              <a:buChar char="ü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Súber</a:t>
            </a:r>
          </a:p>
          <a:p>
            <a:pPr marL="2628900" lvl="5" indent="-342900" algn="just">
              <a:buFont typeface="Wingdings" pitchFamily="2" charset="2"/>
              <a:buChar char="ü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Feloderma</a:t>
            </a:r>
          </a:p>
          <a:p>
            <a:pPr marL="2628900" lvl="5" indent="-342900" algn="just">
              <a:buFont typeface="Wingdings" pitchFamily="2" charset="2"/>
              <a:buChar char="ü"/>
              <a:defRPr/>
            </a:pPr>
            <a:endParaRPr lang="pt-BR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2171700" lvl="4" indent="-342900" algn="just">
              <a:buFont typeface="+mj-lt"/>
              <a:buAutoNum type="romanUcPeriod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Câmbio</a:t>
            </a:r>
          </a:p>
          <a:p>
            <a:pPr marL="2628900" lvl="5" indent="-342900" algn="just">
              <a:buFont typeface="Wingdings" pitchFamily="2" charset="2"/>
              <a:buChar char="ü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Xilema secundário</a:t>
            </a:r>
          </a:p>
          <a:p>
            <a:pPr marL="2628900" lvl="5" indent="-342900" algn="just">
              <a:buFont typeface="Wingdings" pitchFamily="2" charset="2"/>
              <a:buChar char="ü"/>
              <a:defRPr/>
            </a:pPr>
            <a:r>
              <a:rPr lang="pt-BR" dirty="0">
                <a:solidFill>
                  <a:schemeClr val="tx2">
                    <a:lumMod val="50000"/>
                  </a:schemeClr>
                </a:solidFill>
                <a:latin typeface="+mn-lt"/>
                <a:cs typeface="Tahoma" pitchFamily="34" charset="0"/>
              </a:rPr>
              <a:t>Floema Secundário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739189" y="5572126"/>
            <a:ext cx="1000125" cy="5238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Floema secundário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453314" y="5143501"/>
            <a:ext cx="1000125" cy="5238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Xilema secundário</a:t>
            </a:r>
          </a:p>
        </p:txBody>
      </p:sp>
      <p:sp>
        <p:nvSpPr>
          <p:cNvPr id="10" name="Retângulo de cantos arredondados 9"/>
          <p:cNvSpPr/>
          <p:nvPr/>
        </p:nvSpPr>
        <p:spPr>
          <a:xfrm>
            <a:off x="8810625" y="3286125"/>
            <a:ext cx="857250" cy="2857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8024814" y="5643563"/>
            <a:ext cx="714375" cy="2857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46CC938-7482-4094-BB00-FFC366AEBEF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AEB0170-8007-4B82-822F-F1FA2FDA6B4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m 9" descr="quadrao.JPG"/>
          <p:cNvPicPr>
            <a:picLocks noChangeAspect="1"/>
          </p:cNvPicPr>
          <p:nvPr/>
        </p:nvPicPr>
        <p:blipFill>
          <a:blip r:embed="rId3" cstate="print">
            <a:lum contrast="10000"/>
          </a:blip>
          <a:srcRect/>
          <a:stretch>
            <a:fillRect/>
          </a:stretch>
        </p:blipFill>
        <p:spPr bwMode="auto">
          <a:xfrm>
            <a:off x="2309813" y="1393826"/>
            <a:ext cx="7429500" cy="546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1071563"/>
            <a:ext cx="8929688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 Tecidos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98C5B94-A73A-4841-9751-FE5E34CEB9A6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1530120-3989-45F2-BE77-6F161D9A4F8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5786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2)  Tecidos vegetais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b) Parênquima (tecido vivo)</a:t>
            </a:r>
            <a:endParaRPr lang="pt-BR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solidFill>
                <a:schemeClr val="tx2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Origem: meristema fundamental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Funções: 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Preenchimento de espaços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Reserva de substâncias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Fotossíntese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Local: Encontrado em todos os órgãos da planta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Tipos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b="1" dirty="0">
                <a:latin typeface="+mn-lt"/>
                <a:cs typeface="Tahoma" pitchFamily="34" charset="0"/>
              </a:rPr>
              <a:t>Parênquima de preenchimento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latin typeface="+mn-lt"/>
                <a:cs typeface="Tahoma" pitchFamily="34" charset="0"/>
              </a:rPr>
              <a:t>Cortical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latin typeface="+mn-lt"/>
                <a:cs typeface="Tahoma" pitchFamily="34" charset="0"/>
              </a:rPr>
              <a:t>Medular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Realiza o preenchimento de espaços entre os tecidos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Ex: Córtex e medula do caule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0245" name="Imagem 11" descr="cortex.JPG"/>
          <p:cNvPicPr>
            <a:picLocks noChangeAspect="1"/>
          </p:cNvPicPr>
          <p:nvPr/>
        </p:nvPicPr>
        <p:blipFill>
          <a:blip r:embed="rId4" cstate="print">
            <a:lum contrast="10000"/>
          </a:blip>
          <a:srcRect/>
          <a:stretch>
            <a:fillRect/>
          </a:stretch>
        </p:blipFill>
        <p:spPr bwMode="auto">
          <a:xfrm>
            <a:off x="8051800" y="4357689"/>
            <a:ext cx="2616200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tângulo de cantos arredondados 12"/>
          <p:cNvSpPr/>
          <p:nvPr/>
        </p:nvSpPr>
        <p:spPr>
          <a:xfrm>
            <a:off x="9882189" y="5214938"/>
            <a:ext cx="642937" cy="2857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9953625" y="6286500"/>
            <a:ext cx="571500" cy="2857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248" name="CaixaDeTexto 14"/>
          <p:cNvSpPr txBox="1">
            <a:spLocks noChangeArrowheads="1"/>
          </p:cNvSpPr>
          <p:nvPr/>
        </p:nvSpPr>
        <p:spPr bwMode="auto">
          <a:xfrm>
            <a:off x="8524875" y="6429375"/>
            <a:ext cx="857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Caule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5261FD8-6CFD-4716-A587-21F5EE5E6E0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E94CBF1-FF3F-4E59-88B7-AFEC8425649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21859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b="1" dirty="0">
                <a:latin typeface="+mn-lt"/>
                <a:cs typeface="Tahoma" pitchFamily="34" charset="0"/>
              </a:rPr>
              <a:t>	</a:t>
            </a:r>
            <a:endParaRPr lang="pt-BR" sz="10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II.    Parênquima clorofiliano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Possui grande quantidade de cloroplasto em suas células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Função: Fotossíntese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Local:  Encontrado no mesófilo foliar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1269" name="Picture 12" descr="R - Histologia Vegetal - Extrutura Interna da Folha"/>
          <p:cNvPicPr>
            <a:picLocks noChangeAspect="1" noChangeArrowheads="1"/>
          </p:cNvPicPr>
          <p:nvPr/>
        </p:nvPicPr>
        <p:blipFill>
          <a:blip r:embed="rId4" cstate="print">
            <a:lum contrast="30000"/>
          </a:blip>
          <a:srcRect/>
          <a:stretch>
            <a:fillRect/>
          </a:stretch>
        </p:blipFill>
        <p:spPr bwMode="auto">
          <a:xfrm>
            <a:off x="3309939" y="3000376"/>
            <a:ext cx="4929187" cy="358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have direita 10"/>
          <p:cNvSpPr/>
          <p:nvPr/>
        </p:nvSpPr>
        <p:spPr>
          <a:xfrm>
            <a:off x="8024813" y="3786189"/>
            <a:ext cx="214312" cy="128587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8310564" y="4143375"/>
            <a:ext cx="235743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n-lt"/>
              </a:rPr>
              <a:t>Mesófilo da folha</a:t>
            </a:r>
          </a:p>
          <a:p>
            <a:pPr>
              <a:defRPr/>
            </a:pPr>
            <a:r>
              <a:rPr lang="pt-BR" sz="1600" b="1" dirty="0">
                <a:latin typeface="+mn-lt"/>
              </a:rPr>
              <a:t>Parênquima clorofiliano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D77A98-60F5-416E-B207-4F4CD6EA0F8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4D393B-44F7-4CBD-8F67-6EF042E778C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2354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b="1" dirty="0">
                <a:latin typeface="+mn-lt"/>
                <a:cs typeface="Tahoma" pitchFamily="34" charset="0"/>
              </a:rPr>
              <a:t>	</a:t>
            </a:r>
            <a:endParaRPr lang="pt-BR" sz="10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III.    Parênquima de reserva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1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Possui a função de armazenar substâncias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Tipos: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b="1" dirty="0">
                <a:latin typeface="+mn-lt"/>
                <a:cs typeface="Tahoma" pitchFamily="34" charset="0"/>
              </a:rPr>
              <a:t>Amilífero: </a:t>
            </a:r>
            <a:r>
              <a:rPr lang="pt-BR" dirty="0">
                <a:latin typeface="+mn-lt"/>
                <a:cs typeface="Tahoma" pitchFamily="34" charset="0"/>
              </a:rPr>
              <a:t>reserva amido – Ex. Batata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Aquífero</a:t>
            </a:r>
            <a:r>
              <a:rPr lang="pt-BR" b="1" dirty="0">
                <a:latin typeface="+mn-lt"/>
                <a:cs typeface="Tahoma" pitchFamily="34" charset="0"/>
              </a:rPr>
              <a:t>: </a:t>
            </a:r>
            <a:r>
              <a:rPr lang="pt-BR" dirty="0">
                <a:latin typeface="+mn-lt"/>
                <a:cs typeface="Tahoma" pitchFamily="34" charset="0"/>
              </a:rPr>
              <a:t>reserva água – Ex. Cactos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Aerífiero</a:t>
            </a:r>
            <a:r>
              <a:rPr lang="pt-BR" b="1" dirty="0">
                <a:latin typeface="+mn-lt"/>
                <a:cs typeface="Tahoma" pitchFamily="34" charset="0"/>
              </a:rPr>
              <a:t>: </a:t>
            </a:r>
            <a:r>
              <a:rPr lang="pt-BR" dirty="0">
                <a:latin typeface="+mn-lt"/>
                <a:cs typeface="Tahoma" pitchFamily="34" charset="0"/>
              </a:rPr>
              <a:t>reserva gases (ar) – Ex. Aguapé</a:t>
            </a:r>
          </a:p>
        </p:txBody>
      </p:sp>
      <p:pic>
        <p:nvPicPr>
          <p:cNvPr id="12293" name="Imagem 7" descr="parenquima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7125" y="3571876"/>
            <a:ext cx="40005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ixaDeTexto 12"/>
          <p:cNvSpPr txBox="1"/>
          <p:nvPr/>
        </p:nvSpPr>
        <p:spPr>
          <a:xfrm>
            <a:off x="3595688" y="6357939"/>
            <a:ext cx="200025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Parênquima amilífero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5810251" y="6357939"/>
            <a:ext cx="192881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Parênquima aerífero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66938" y="4857750"/>
            <a:ext cx="13573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Grânulos de amido</a:t>
            </a:r>
          </a:p>
        </p:txBody>
      </p:sp>
      <p:cxnSp>
        <p:nvCxnSpPr>
          <p:cNvPr id="17" name="Conector reto 16"/>
          <p:cNvCxnSpPr/>
          <p:nvPr/>
        </p:nvCxnSpPr>
        <p:spPr>
          <a:xfrm rot="10800000">
            <a:off x="3167064" y="5286376"/>
            <a:ext cx="928687" cy="5000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 rot="10800000">
            <a:off x="3167064" y="5286376"/>
            <a:ext cx="928687" cy="214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7881939" y="5072063"/>
            <a:ext cx="15716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Espaçamento entre as células</a:t>
            </a:r>
          </a:p>
        </p:txBody>
      </p:sp>
      <p:cxnSp>
        <p:nvCxnSpPr>
          <p:cNvPr id="22" name="Conector reto 21"/>
          <p:cNvCxnSpPr/>
          <p:nvPr/>
        </p:nvCxnSpPr>
        <p:spPr>
          <a:xfrm flipV="1">
            <a:off x="7453313" y="5214939"/>
            <a:ext cx="571500" cy="714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 rot="16200000" flipH="1">
            <a:off x="7524751" y="4714876"/>
            <a:ext cx="500063" cy="5000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6C92F0B5-A7D9-4885-86D6-F6CCC3509D6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5681EC6-8701-404B-818A-F04331AA714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294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b="1" dirty="0">
                <a:latin typeface="+mn-lt"/>
                <a:cs typeface="Tahoma" pitchFamily="34" charset="0"/>
              </a:rPr>
              <a:t>	</a:t>
            </a:r>
            <a:r>
              <a:rPr lang="pt-BR" sz="2000" b="1" dirty="0">
                <a:latin typeface="+mn-lt"/>
                <a:cs typeface="Tahoma" pitchFamily="34" charset="0"/>
              </a:rPr>
              <a:t>c) Colênquima (tecido vivo)</a:t>
            </a:r>
            <a:endParaRPr lang="pt-BR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Origem: Meristema Fundamental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Função: Promove resistência e flexibilidade aos órgãos da planta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Característica: Células com parede celular bastante espessada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Localização: Abaixo da epiderme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1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3317" name="Picture 4" descr="R - Histologia Vegetal - Tecidos de Sustentaçã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0564" y="2714626"/>
            <a:ext cx="2357437" cy="409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5881688" y="4071938"/>
            <a:ext cx="2286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Reforço de celulose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nos ângulos da célula.</a:t>
            </a:r>
          </a:p>
        </p:txBody>
      </p:sp>
      <p:cxnSp>
        <p:nvCxnSpPr>
          <p:cNvPr id="27" name="Conector reto 26"/>
          <p:cNvCxnSpPr/>
          <p:nvPr/>
        </p:nvCxnSpPr>
        <p:spPr>
          <a:xfrm>
            <a:off x="8096250" y="4357689"/>
            <a:ext cx="928688" cy="428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to 29"/>
          <p:cNvCxnSpPr/>
          <p:nvPr/>
        </p:nvCxnSpPr>
        <p:spPr>
          <a:xfrm rot="10800000">
            <a:off x="8024814" y="4357689"/>
            <a:ext cx="1000125" cy="714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321" name="Picture 12" descr="http://lh6.ggpht.com/_D095KzSt4Iw/RtHxOKEEuEI/AAAAAAAAGW0/VoJ8lLgqZBM/DSC_090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1" y="3786188"/>
            <a:ext cx="3000375" cy="199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2738439" y="5857875"/>
            <a:ext cx="292893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Gavinha - </a:t>
            </a:r>
            <a:r>
              <a:rPr lang="pt-BR" sz="1600" dirty="0" err="1">
                <a:latin typeface="+mn-lt"/>
              </a:rPr>
              <a:t>Flexiblidade</a:t>
            </a:r>
            <a:endParaRPr lang="pt-BR" sz="1600" dirty="0">
              <a:latin typeface="+mn-lt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1B9B9DE-6C55-4B88-A0BC-7EE77042C69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110082F-28FF-46FB-BA52-27B988157A5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4216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b="1" dirty="0">
                <a:latin typeface="+mn-lt"/>
                <a:cs typeface="Tahoma" pitchFamily="34" charset="0"/>
              </a:rPr>
              <a:t>	</a:t>
            </a:r>
            <a:r>
              <a:rPr lang="pt-BR" sz="2000" b="1" dirty="0">
                <a:latin typeface="+mn-lt"/>
                <a:cs typeface="Tahoma" pitchFamily="34" charset="0"/>
              </a:rPr>
              <a:t>d) Esclerênquima 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(tecido morto)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Origem: Meristema Fundamental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Função: Sustentação e proteção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Característica: Células com parede celular (celulose) bastante espessada contendo impregnação de lignina (polímero) o qual promove impermeabilização e rigidez ao tecido.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Obs.: A impregnação por lignina causa a morte da célula.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Localização: Caule, folhas, frutos e sementes.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100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100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Tipos celulares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I) Fibras esclerenquimáticas</a:t>
            </a:r>
          </a:p>
        </p:txBody>
      </p:sp>
      <p:pic>
        <p:nvPicPr>
          <p:cNvPr id="14341" name="Imagem 10" descr="fibra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1564" y="4214814"/>
            <a:ext cx="2619375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Imagem 11" descr="fibras2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67689" y="4214813"/>
            <a:ext cx="22193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Conector de seta reta 13"/>
          <p:cNvCxnSpPr/>
          <p:nvPr/>
        </p:nvCxnSpPr>
        <p:spPr>
          <a:xfrm flipV="1">
            <a:off x="7096126" y="5429251"/>
            <a:ext cx="1000125" cy="1428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 rot="5400000" flipH="1" flipV="1">
            <a:off x="9274970" y="4464845"/>
            <a:ext cx="428625" cy="214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9024939" y="3857626"/>
            <a:ext cx="12144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Reforço de lignina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881939" y="4143376"/>
            <a:ext cx="1214437" cy="3079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Lúmen vazio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095501" y="5500688"/>
            <a:ext cx="242887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Promove sustentação esquelética ao vegetal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4976D9-C04D-476C-ABB2-D3726F6FE4B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5B4728A-81DC-4425-892B-7AFCF9203E0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I) Fibras esclerenquimáticas</a:t>
            </a:r>
          </a:p>
        </p:txBody>
      </p:sp>
      <p:pic>
        <p:nvPicPr>
          <p:cNvPr id="15365" name="Imagem 12" descr="linho.JPG"/>
          <p:cNvPicPr>
            <a:picLocks noChangeAspect="1"/>
          </p:cNvPicPr>
          <p:nvPr/>
        </p:nvPicPr>
        <p:blipFill>
          <a:blip r:embed="rId3" cstate="print">
            <a:lum contrast="10000"/>
          </a:blip>
          <a:srcRect/>
          <a:stretch>
            <a:fillRect/>
          </a:stretch>
        </p:blipFill>
        <p:spPr bwMode="auto">
          <a:xfrm>
            <a:off x="2381251" y="2000250"/>
            <a:ext cx="7159625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7C3ADC8-D6A8-46CD-85D6-8C73359CEC2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119F117-A256-419D-A77A-97C0F39ED4C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1938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b="1" dirty="0">
                <a:latin typeface="+mn-lt"/>
                <a:cs typeface="Tahoma" pitchFamily="34" charset="0"/>
              </a:rPr>
              <a:t>	</a:t>
            </a:r>
            <a:r>
              <a:rPr lang="pt-BR" sz="2000" b="1" dirty="0">
                <a:latin typeface="+mn-lt"/>
                <a:cs typeface="Tahoma" pitchFamily="34" charset="0"/>
              </a:rPr>
              <a:t>d) Esclerênquima 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(tecido morto)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Tipos celulares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II) </a:t>
            </a:r>
            <a:r>
              <a:rPr lang="pt-BR" b="1" dirty="0" err="1">
                <a:latin typeface="+mn-lt"/>
                <a:cs typeface="Tahoma" pitchFamily="34" charset="0"/>
              </a:rPr>
              <a:t>Esclereídes</a:t>
            </a:r>
            <a:endParaRPr lang="pt-BR" b="1" dirty="0">
              <a:latin typeface="+mn-lt"/>
              <a:cs typeface="Tahoma" pitchFamily="34" charset="0"/>
            </a:endParaRPr>
          </a:p>
        </p:txBody>
      </p:sp>
      <p:pic>
        <p:nvPicPr>
          <p:cNvPr id="16389" name="Imagem 9" descr="esclereideo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4063" y="3143251"/>
            <a:ext cx="40005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ixaDeTexto 12"/>
          <p:cNvSpPr txBox="1"/>
          <p:nvPr/>
        </p:nvSpPr>
        <p:spPr>
          <a:xfrm>
            <a:off x="2238375" y="4929188"/>
            <a:ext cx="37147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 err="1">
                <a:latin typeface="+mn-lt"/>
              </a:rPr>
              <a:t>Possuei</a:t>
            </a:r>
            <a:r>
              <a:rPr lang="pt-BR" dirty="0">
                <a:latin typeface="+mn-lt"/>
              </a:rPr>
              <a:t> lúmen celular vazio e parede celular lignificada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096000" y="2571750"/>
            <a:ext cx="4572000" cy="1354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Pode ser encontradas</a:t>
            </a:r>
          </a:p>
          <a:p>
            <a:pPr>
              <a:defRPr/>
            </a:pPr>
            <a:endParaRPr lang="pt-BR" sz="1000" dirty="0">
              <a:latin typeface="+mn-lt"/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   Isoladas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   Grupos (entre as células parenquimáticas)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   Ex: Pêra.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35EDC77-3BCD-4B9A-92BA-40C09DC24FE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90A9DA7-CBF3-4503-9CAE-3F130A90D68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3324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e)  Epiderme (tecido vivo)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Origem: </a:t>
            </a:r>
            <a:r>
              <a:rPr lang="pt-BR" dirty="0" err="1">
                <a:latin typeface="+mn-lt"/>
                <a:cs typeface="Tahoma" pitchFamily="34" charset="0"/>
              </a:rPr>
              <a:t>Protoderme</a:t>
            </a: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Função: Revestimento externo dos órgãos da planta (raiz, caule, folhas, frutos, </a:t>
            </a:r>
            <a:r>
              <a:rPr lang="pt-BR" dirty="0" err="1">
                <a:latin typeface="+mn-lt"/>
                <a:cs typeface="Tahoma" pitchFamily="34" charset="0"/>
              </a:rPr>
              <a:t>etc</a:t>
            </a:r>
            <a:r>
              <a:rPr lang="pt-BR" dirty="0">
                <a:latin typeface="+mn-lt"/>
                <a:cs typeface="Tahoma" pitchFamily="34" charset="0"/>
              </a:rPr>
              <a:t>).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Característica: Geralmente formado por uma única camada de células.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Epiderme das folhas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7413" name="Imagem 7" descr="folha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2928938"/>
            <a:ext cx="3729038" cy="392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7453314" y="3214688"/>
            <a:ext cx="3214687" cy="3478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Estruturas encontradas</a:t>
            </a:r>
          </a:p>
          <a:p>
            <a:pPr>
              <a:defRPr/>
            </a:pPr>
            <a:endParaRPr lang="pt-BR" dirty="0">
              <a:latin typeface="+mn-lt"/>
            </a:endParaRPr>
          </a:p>
          <a:p>
            <a:pPr marL="342900" indent="-342900">
              <a:buFont typeface="+mj-lt"/>
              <a:buAutoNum type="romanUcPeriod"/>
              <a:defRPr/>
            </a:pPr>
            <a:r>
              <a:rPr lang="pt-BR" dirty="0">
                <a:latin typeface="+mn-lt"/>
              </a:rPr>
              <a:t>Cutícula: impermeabilização e economia hídrica.</a:t>
            </a:r>
          </a:p>
          <a:p>
            <a:pPr marL="342900" indent="-342900">
              <a:buFont typeface="+mj-lt"/>
              <a:buAutoNum type="romanUcPeriod"/>
              <a:defRPr/>
            </a:pPr>
            <a:endParaRPr lang="pt-BR" sz="1000" dirty="0">
              <a:latin typeface="+mn-lt"/>
            </a:endParaRPr>
          </a:p>
          <a:p>
            <a:pPr marL="342900" indent="-342900">
              <a:buFont typeface="+mj-lt"/>
              <a:buAutoNum type="romanUcPeriod"/>
              <a:defRPr/>
            </a:pPr>
            <a:r>
              <a:rPr lang="pt-BR" dirty="0">
                <a:latin typeface="+mn-lt"/>
              </a:rPr>
              <a:t>Estômatos: trocas gasosas</a:t>
            </a:r>
          </a:p>
          <a:p>
            <a:pPr marL="342900" indent="-342900">
              <a:buFont typeface="+mj-lt"/>
              <a:buAutoNum type="romanUcPeriod"/>
              <a:defRPr/>
            </a:pPr>
            <a:endParaRPr lang="pt-BR" sz="1000" dirty="0">
              <a:latin typeface="+mn-lt"/>
            </a:endParaRPr>
          </a:p>
          <a:p>
            <a:pPr marL="342900" indent="-342900">
              <a:buFont typeface="+mj-lt"/>
              <a:buAutoNum type="romanUcPeriod"/>
              <a:defRPr/>
            </a:pPr>
            <a:r>
              <a:rPr lang="pt-BR" dirty="0" err="1">
                <a:latin typeface="+mn-lt"/>
              </a:rPr>
              <a:t>Tricomas</a:t>
            </a:r>
            <a:r>
              <a:rPr lang="pt-BR" dirty="0">
                <a:latin typeface="+mn-lt"/>
              </a:rPr>
              <a:t>: retenção de água e proteção.</a:t>
            </a:r>
          </a:p>
          <a:p>
            <a:pPr marL="342900" indent="-342900">
              <a:buFont typeface="+mj-lt"/>
              <a:buAutoNum type="romanUcPeriod"/>
              <a:defRPr/>
            </a:pPr>
            <a:endParaRPr lang="pt-BR" sz="1000" dirty="0">
              <a:latin typeface="+mn-lt"/>
            </a:endParaRPr>
          </a:p>
          <a:p>
            <a:pPr marL="342900" indent="-342900">
              <a:buFont typeface="+mj-lt"/>
              <a:buAutoNum type="romanUcPeriod"/>
              <a:defRPr/>
            </a:pPr>
            <a:r>
              <a:rPr lang="pt-BR" dirty="0">
                <a:latin typeface="+mn-lt"/>
              </a:rPr>
              <a:t>Hidatódios: gutação</a:t>
            </a:r>
          </a:p>
          <a:p>
            <a:pPr marL="342900" indent="-342900">
              <a:buFont typeface="+mj-lt"/>
              <a:buAutoNum type="romanUcPeriod"/>
              <a:defRPr/>
            </a:pPr>
            <a:endParaRPr lang="pt-BR" sz="1000" dirty="0">
              <a:latin typeface="+mn-lt"/>
            </a:endParaRPr>
          </a:p>
          <a:p>
            <a:pPr marL="342900" indent="-342900">
              <a:buFont typeface="+mj-lt"/>
              <a:buAutoNum type="romanUcPeriod"/>
              <a:defRPr/>
            </a:pPr>
            <a:r>
              <a:rPr lang="pt-BR" dirty="0">
                <a:latin typeface="+mn-lt"/>
              </a:rPr>
              <a:t>Glândulas: atração de polinizadores e proteção</a:t>
            </a:r>
          </a:p>
        </p:txBody>
      </p:sp>
      <p:sp>
        <p:nvSpPr>
          <p:cNvPr id="17415" name="CaixaDeTexto 11"/>
          <p:cNvSpPr txBox="1">
            <a:spLocks noChangeArrowheads="1"/>
          </p:cNvSpPr>
          <p:nvPr/>
        </p:nvSpPr>
        <p:spPr bwMode="auto">
          <a:xfrm>
            <a:off x="3452814" y="2928939"/>
            <a:ext cx="428625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B7C0D0-B83C-4824-93C4-324BA516087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496CE06-8FF2-43E9-AE41-F3ADC472A6B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m 12" descr="estomato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5875" y="5286376"/>
            <a:ext cx="1792288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m 9" descr="cuticula.JPG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3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24299" y="2786058"/>
            <a:ext cx="3785055" cy="2071702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1524000" y="1071563"/>
            <a:ext cx="8929688" cy="2216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e)  Epiderme (tecido vivo)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Epiderme das folhas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738314" y="2500314"/>
            <a:ext cx="8715375" cy="3570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romanUcParenR"/>
              <a:defRPr/>
            </a:pPr>
            <a:r>
              <a:rPr lang="pt-BR" b="1" dirty="0">
                <a:latin typeface="+mn-lt"/>
              </a:rPr>
              <a:t>Cutícula: </a:t>
            </a:r>
            <a:r>
              <a:rPr lang="pt-BR" dirty="0">
                <a:latin typeface="+mn-lt"/>
              </a:rPr>
              <a:t>Camada de cera (lipídio) presente na superfície das células epidérmicas de algumas folhas</a:t>
            </a: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II)     Estômatos: </a:t>
            </a:r>
            <a:r>
              <a:rPr lang="pt-BR" dirty="0">
                <a:latin typeface="+mn-lt"/>
              </a:rPr>
              <a:t>Únicas células epidérmicas que possuem cloroplastos.</a:t>
            </a: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sz="1000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1DFFA2A-C846-40AB-8F05-B20A10AF78A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2296AD40-56E1-4B43-9BA9-A076541FE43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2216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e)  Epiderme (tecido vivo)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Epiderme das folhas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738314" y="2500314"/>
            <a:ext cx="8715375" cy="53546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romanUcParenR" startAt="3"/>
              <a:defRPr/>
            </a:pPr>
            <a:r>
              <a:rPr lang="pt-BR" b="1" dirty="0" err="1">
                <a:latin typeface="+mn-lt"/>
              </a:rPr>
              <a:t>Tricomas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São pêlos epidérmicos que auxiliam na redução da perda de água.</a:t>
            </a:r>
          </a:p>
          <a:p>
            <a:pPr marL="342900" indent="-342900">
              <a:buFontTx/>
              <a:buAutoNum type="romanUcParenR" startAt="3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 startAt="3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 startAt="3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 startAt="3"/>
              <a:defRPr/>
            </a:pPr>
            <a:r>
              <a:rPr lang="pt-BR" b="1" dirty="0">
                <a:latin typeface="+mn-lt"/>
              </a:rPr>
              <a:t>Hidatódio: </a:t>
            </a:r>
            <a:r>
              <a:rPr lang="pt-BR" dirty="0">
                <a:latin typeface="+mn-lt"/>
              </a:rPr>
              <a:t> Elimina o excesso de água do interior da folha.</a:t>
            </a:r>
          </a:p>
          <a:p>
            <a:pPr marL="342900" indent="-342900">
              <a:buFontTx/>
              <a:buAutoNum type="romanUcParenR" startAt="3"/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buFontTx/>
              <a:buAutoNum type="romanUcParenR" startAt="3"/>
              <a:defRPr/>
            </a:pPr>
            <a:r>
              <a:rPr lang="pt-BR" b="1" dirty="0">
                <a:latin typeface="+mn-lt"/>
              </a:rPr>
              <a:t>Glândulas: </a:t>
            </a:r>
            <a:r>
              <a:rPr lang="pt-BR" dirty="0" err="1">
                <a:latin typeface="+mn-lt"/>
              </a:rPr>
              <a:t>Tricomas</a:t>
            </a:r>
            <a:r>
              <a:rPr lang="pt-BR" dirty="0">
                <a:latin typeface="+mn-lt"/>
              </a:rPr>
              <a:t> especializados em liberar aromas que atraem polinizadores.</a:t>
            </a:r>
            <a:endParaRPr lang="pt-BR" b="1" dirty="0">
              <a:latin typeface="+mn-lt"/>
            </a:endParaRPr>
          </a:p>
          <a:p>
            <a:pPr marL="342900" indent="-342900">
              <a:buFontTx/>
              <a:buAutoNum type="romanUcParenR" startAt="3"/>
              <a:defRPr/>
            </a:pPr>
            <a:endParaRPr lang="pt-BR" b="1" dirty="0">
              <a:latin typeface="+mn-lt"/>
            </a:endParaRPr>
          </a:p>
          <a:p>
            <a:pPr marL="342900" indent="-342900">
              <a:buFontTx/>
              <a:buAutoNum type="romanUcParenR" startAt="3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pic>
        <p:nvPicPr>
          <p:cNvPr id="19462" name="Imagem 7" descr="tricoma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4439" y="5695950"/>
            <a:ext cx="1785937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Imagem 11" descr="tricomas2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67125" y="2786064"/>
            <a:ext cx="2465388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9" descr="http://www.anatomiavegetal.ib.ufu.br/FIGURAS/fol14Hidatodio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67626" y="2928938"/>
            <a:ext cx="2468563" cy="240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5" name="Picture 11" descr="http://www.herbario.com.br/cie/universi/GUTA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67501" y="4214814"/>
            <a:ext cx="1285875" cy="97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6C636C3-BCF1-40A2-8DA8-F1B3FC3FE74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7BF178E-F33B-473B-9FD9-6B82226F902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2216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e)  Epiderme (tecido vivo)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Epiderme das raízes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738314" y="2500313"/>
            <a:ext cx="8715375" cy="2862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Possui pêlos absorventes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Aumenta a superfície de contato e a absorção de água e sais minerais pelas células epiteliais das raízes.</a:t>
            </a:r>
          </a:p>
          <a:p>
            <a:pPr marL="342900" indent="-342900">
              <a:buFontTx/>
              <a:buAutoNum type="romanUcParenR" startAt="3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pic>
        <p:nvPicPr>
          <p:cNvPr id="20486" name="Imagem 9" descr="pelos.JPG"/>
          <p:cNvPicPr>
            <a:picLocks noChangeAspect="1"/>
          </p:cNvPicPr>
          <p:nvPr/>
        </p:nvPicPr>
        <p:blipFill>
          <a:blip r:embed="rId3" cstate="print">
            <a:lum contrast="10000"/>
          </a:blip>
          <a:srcRect/>
          <a:stretch>
            <a:fillRect/>
          </a:stretch>
        </p:blipFill>
        <p:spPr bwMode="auto">
          <a:xfrm>
            <a:off x="3381376" y="3500439"/>
            <a:ext cx="5643563" cy="303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5F17B60-A302-4324-B9F9-EC8FA188BF9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73EDEC7-6021-49F6-82D1-087A7AAC58B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1938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f)   Periderme (tecido vivo)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809751" y="2000250"/>
            <a:ext cx="8715375" cy="6032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Somente em Gimnospermas e Angiospermas (Dicotiledôneas).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Típico de plantas que apresentam crescimento secundário.</a:t>
            </a:r>
          </a:p>
          <a:p>
            <a:pPr marL="342900" indent="-342900"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Possui três camadas: Felogênio, Feloderme e Súber.</a:t>
            </a:r>
          </a:p>
          <a:p>
            <a:pPr marL="342900" indent="-342900">
              <a:buFontTx/>
              <a:buAutoNum type="romanUcParenR" startAt="3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Estruturas da periderme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I) Lenticela: 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Abertura da periderme que permite a circulação de ar.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II) Ritidoma: 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Periderme morta que se destaca do caule da planta.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pic>
        <p:nvPicPr>
          <p:cNvPr id="21510" name="Imagem 7" descr="lenticela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0439" y="2714626"/>
            <a:ext cx="31718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2" descr="http://www.nucleodeaprendizagem.com.br/ritidom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1875" y="4929188"/>
            <a:ext cx="1403350" cy="192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ixaDeTexto 11"/>
          <p:cNvSpPr txBox="1"/>
          <p:nvPr/>
        </p:nvSpPr>
        <p:spPr>
          <a:xfrm>
            <a:off x="9167814" y="2286001"/>
            <a:ext cx="121443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Lenticela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8739189" y="6550026"/>
            <a:ext cx="121443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Ritidoma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8596313" y="2143125"/>
            <a:ext cx="7858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Ar</a:t>
            </a:r>
          </a:p>
        </p:txBody>
      </p:sp>
      <p:cxnSp>
        <p:nvCxnSpPr>
          <p:cNvPr id="16" name="Conector de seta reta 15"/>
          <p:cNvCxnSpPr/>
          <p:nvPr/>
        </p:nvCxnSpPr>
        <p:spPr>
          <a:xfrm rot="5400000">
            <a:off x="8746332" y="2707482"/>
            <a:ext cx="41592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F1091C45-684C-4418-9B73-626D65D6CF86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4BEB52A-C6CA-43F2-9ECD-C9480A3B6A5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198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f)   Periderme (tecido vivo)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 err="1">
                <a:latin typeface="+mn-lt"/>
                <a:cs typeface="Tahoma" pitchFamily="34" charset="0"/>
              </a:rPr>
              <a:t>Suber</a:t>
            </a:r>
            <a:r>
              <a:rPr lang="pt-BR" dirty="0">
                <a:latin typeface="+mn-lt"/>
                <a:cs typeface="Tahoma" pitchFamily="34" charset="0"/>
              </a:rPr>
              <a:t> + Felogênio + Feloderme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Obs.: O súber, tecido morto, faz parte da periderme.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809751" y="2000250"/>
            <a:ext cx="8715375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pic>
        <p:nvPicPr>
          <p:cNvPr id="22534" name="Imagem 14" descr="tronc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1250" y="2714626"/>
            <a:ext cx="7596188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CaixaDeTexto 16"/>
          <p:cNvSpPr txBox="1"/>
          <p:nvPr/>
        </p:nvSpPr>
        <p:spPr>
          <a:xfrm>
            <a:off x="2309813" y="2714625"/>
            <a:ext cx="1143000" cy="369888"/>
          </a:xfrm>
          <a:prstGeom prst="rect">
            <a:avLst/>
          </a:prstGeom>
          <a:solidFill>
            <a:schemeClr val="lt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Súber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52750" y="5929313"/>
            <a:ext cx="1214438" cy="646112"/>
          </a:xfrm>
          <a:prstGeom prst="rect">
            <a:avLst/>
          </a:prstGeom>
          <a:solidFill>
            <a:schemeClr val="lt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Feloderme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4B7B4D5-8687-4ABB-8F34-5413044B6F8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E49644E-1194-4B1A-83F2-2B1501EA2A3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3724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g)   Floema ou Líber (tecido vivo)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Origem: </a:t>
            </a:r>
            <a:r>
              <a:rPr lang="pt-BR" dirty="0" err="1">
                <a:latin typeface="+mn-lt"/>
                <a:cs typeface="Tahoma" pitchFamily="34" charset="0"/>
              </a:rPr>
              <a:t>Procâmbio</a:t>
            </a: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Função: Conduzir a seiva elaborada (matéria orgânica) produzida pelas folhas para todas as células da planta.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Tipos celulares: </a:t>
            </a:r>
            <a:r>
              <a:rPr lang="pt-BR" b="1" dirty="0">
                <a:latin typeface="+mn-lt"/>
                <a:cs typeface="Tahoma" pitchFamily="34" charset="0"/>
              </a:rPr>
              <a:t>(</a:t>
            </a:r>
            <a:r>
              <a:rPr lang="pt-BR" b="1" i="1" dirty="0">
                <a:latin typeface="+mn-lt"/>
                <a:cs typeface="Tahoma" pitchFamily="34" charset="0"/>
              </a:rPr>
              <a:t>Elementos de tubo crivado</a:t>
            </a:r>
            <a:r>
              <a:rPr lang="pt-BR" b="1" dirty="0">
                <a:latin typeface="+mn-lt"/>
                <a:cs typeface="Tahoma" pitchFamily="34" charset="0"/>
              </a:rPr>
              <a:t>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371600" lvl="2" indent="-4572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b="1" dirty="0">
                <a:latin typeface="+mn-lt"/>
                <a:cs typeface="Tahoma" pitchFamily="34" charset="0"/>
              </a:rPr>
              <a:t>Célula crivada </a:t>
            </a:r>
            <a:r>
              <a:rPr lang="pt-BR" dirty="0">
                <a:latin typeface="+mn-lt"/>
                <a:cs typeface="Tahoma" pitchFamily="34" charset="0"/>
              </a:rPr>
              <a:t>(Gimnosperma e </a:t>
            </a:r>
            <a:r>
              <a:rPr lang="pt-BR" dirty="0" err="1">
                <a:latin typeface="+mn-lt"/>
                <a:cs typeface="Tahoma" pitchFamily="34" charset="0"/>
              </a:rPr>
              <a:t>Pteridófita</a:t>
            </a:r>
            <a:r>
              <a:rPr lang="pt-BR" dirty="0">
                <a:latin typeface="+mn-lt"/>
                <a:cs typeface="Tahoma" pitchFamily="34" charset="0"/>
              </a:rPr>
              <a:t>)</a:t>
            </a:r>
          </a:p>
          <a:p>
            <a:pPr marL="1371600" lvl="2" indent="-4572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b="1" dirty="0">
                <a:latin typeface="+mn-lt"/>
                <a:cs typeface="Tahoma" pitchFamily="34" charset="0"/>
              </a:rPr>
              <a:t>Tubos crivados </a:t>
            </a:r>
            <a:r>
              <a:rPr lang="pt-BR" dirty="0">
                <a:latin typeface="+mn-lt"/>
                <a:cs typeface="Tahoma" pitchFamily="34" charset="0"/>
              </a:rPr>
              <a:t>(Angiospermas)</a:t>
            </a:r>
          </a:p>
          <a:p>
            <a:pPr marL="1371600" lvl="2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738314" y="2000250"/>
            <a:ext cx="8715375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pic>
        <p:nvPicPr>
          <p:cNvPr id="23558" name="Imagem 13" descr="companh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0" y="2697164"/>
            <a:ext cx="3429000" cy="416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CaixaDeTexto 14"/>
          <p:cNvSpPr txBox="1"/>
          <p:nvPr/>
        </p:nvSpPr>
        <p:spPr>
          <a:xfrm>
            <a:off x="2524125" y="4303714"/>
            <a:ext cx="4643438" cy="25542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 typeface="Courier New" pitchFamily="49" charset="0"/>
              <a:buChar char="o"/>
              <a:defRPr/>
            </a:pPr>
            <a:r>
              <a:rPr lang="pt-BR" sz="1600" b="1" dirty="0"/>
              <a:t>   Elementos de Tubo crivado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pt-BR" sz="1600" dirty="0"/>
              <a:t> Anucleadas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pt-BR" sz="1600" dirty="0"/>
              <a:t> Sobrevive graças ao auxílio das células companheiras.</a:t>
            </a:r>
          </a:p>
          <a:p>
            <a:pPr lvl="1">
              <a:buFont typeface="Wingdings" pitchFamily="2" charset="2"/>
              <a:buChar char="ü"/>
              <a:defRPr/>
            </a:pPr>
            <a:endParaRPr lang="pt-BR" sz="1600" dirty="0"/>
          </a:p>
          <a:p>
            <a:pPr>
              <a:buFont typeface="Courier New" pitchFamily="49" charset="0"/>
              <a:buChar char="o"/>
              <a:defRPr/>
            </a:pPr>
            <a:r>
              <a:rPr lang="pt-BR" sz="1600" b="1" dirty="0"/>
              <a:t>   Células companheiras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pt-BR" sz="1600" dirty="0"/>
              <a:t> Nucleada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pt-BR" sz="1600" dirty="0"/>
              <a:t> Fornece todas as substâncias necessárias ao metabolismo das células dos elementos de tubo crivado.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16CE48D-FE35-402B-A971-D3FFF79922E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5E49A69-D861-4BEC-92A3-7FC5B830C2E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8" cy="3324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g)  Xilema ou Lenho </a:t>
            </a:r>
            <a:r>
              <a:rPr lang="pt-BR" sz="2000" b="1" dirty="0">
                <a:solidFill>
                  <a:srgbClr val="FF0000"/>
                </a:solidFill>
                <a:latin typeface="+mn-lt"/>
                <a:cs typeface="Tahoma" pitchFamily="34" charset="0"/>
              </a:rPr>
              <a:t>(tecido morto)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Origem: </a:t>
            </a:r>
            <a:r>
              <a:rPr lang="pt-BR" dirty="0" err="1">
                <a:latin typeface="+mn-lt"/>
                <a:cs typeface="Tahoma" pitchFamily="34" charset="0"/>
              </a:rPr>
              <a:t>Procâmbio</a:t>
            </a:r>
            <a:endParaRPr lang="pt-BR" dirty="0">
              <a:latin typeface="+mn-lt"/>
              <a:cs typeface="Tahoma" pitchFamily="34" charset="0"/>
            </a:endParaRP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Função: Conduzir a seiva bruta (água e sais minerais) que é absorvida pelas raízes para as partes aéreas da planta e contribuir para a sustentação da planta.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Tipos celulares: </a:t>
            </a:r>
            <a:r>
              <a:rPr lang="pt-BR" b="1" i="1" dirty="0">
                <a:latin typeface="+mn-lt"/>
                <a:cs typeface="Tahoma" pitchFamily="34" charset="0"/>
              </a:rPr>
              <a:t>(elementos traqueais)</a:t>
            </a:r>
            <a:endParaRPr lang="pt-BR" dirty="0">
              <a:latin typeface="+mn-lt"/>
              <a:cs typeface="Tahoma" pitchFamily="34" charset="0"/>
            </a:endParaRPr>
          </a:p>
          <a:p>
            <a:pPr marL="1371600" lvl="2" indent="-4572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Células mortas</a:t>
            </a:r>
          </a:p>
          <a:p>
            <a:pPr marL="1371600" lvl="2" indent="-4572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Parede celular lignificada</a:t>
            </a:r>
          </a:p>
          <a:p>
            <a:pPr marL="1371600" lvl="2" indent="-4572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Sem núcleo, citoplasma ou organelas</a:t>
            </a:r>
          </a:p>
          <a:p>
            <a:pPr marL="1371600" lvl="2" indent="-4572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Dispostas em fileira, formando tubos contínuos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952626" y="3643313"/>
            <a:ext cx="8715375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881189" y="4572000"/>
            <a:ext cx="5286375" cy="2586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romanUcParenR"/>
              <a:defRPr/>
            </a:pPr>
            <a:r>
              <a:rPr lang="pt-BR" dirty="0">
                <a:latin typeface="+mn-lt"/>
              </a:rPr>
              <a:t>Elementos de vaso (Angiospermas)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↑ calibre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Perfuração única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 startAt="2"/>
              <a:defRPr/>
            </a:pPr>
            <a:r>
              <a:rPr lang="pt-BR" dirty="0" err="1">
                <a:latin typeface="+mn-lt"/>
              </a:rPr>
              <a:t>Traqueídes</a:t>
            </a:r>
            <a:endParaRPr lang="pt-BR" dirty="0">
              <a:latin typeface="+mn-lt"/>
            </a:endParaRP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↓ calibre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Várias perfurações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pic>
        <p:nvPicPr>
          <p:cNvPr id="24583" name="Imagem 11" descr="elementodevaso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24750" y="2933700"/>
            <a:ext cx="16510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4" name="Imagem 12" descr="traqueides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24964" y="3286126"/>
            <a:ext cx="1443037" cy="312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5" name="CaixaDeTexto 15"/>
          <p:cNvSpPr txBox="1">
            <a:spLocks noChangeArrowheads="1"/>
          </p:cNvSpPr>
          <p:nvPr/>
        </p:nvSpPr>
        <p:spPr bwMode="auto">
          <a:xfrm>
            <a:off x="7167563" y="3143250"/>
            <a:ext cx="500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/>
              <a:t>I</a:t>
            </a:r>
          </a:p>
        </p:txBody>
      </p:sp>
      <p:sp>
        <p:nvSpPr>
          <p:cNvPr id="24586" name="CaixaDeTexto 16"/>
          <p:cNvSpPr txBox="1">
            <a:spLocks noChangeArrowheads="1"/>
          </p:cNvSpPr>
          <p:nvPr/>
        </p:nvSpPr>
        <p:spPr bwMode="auto">
          <a:xfrm>
            <a:off x="9596438" y="3214689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/>
              <a:t>II</a:t>
            </a:r>
          </a:p>
        </p:txBody>
      </p:sp>
      <p:sp>
        <p:nvSpPr>
          <p:cNvPr id="24587" name="CaixaDeTexto 17"/>
          <p:cNvSpPr txBox="1">
            <a:spLocks noChangeArrowheads="1"/>
          </p:cNvSpPr>
          <p:nvPr/>
        </p:nvSpPr>
        <p:spPr bwMode="auto">
          <a:xfrm>
            <a:off x="9596438" y="5786439"/>
            <a:ext cx="1071562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A8594FE-97FB-4F67-859E-8C7DF344E62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04ED949-05CA-4AD4-BB55-2038F967A44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Tecidos vegetais</a:t>
            </a:r>
            <a:endParaRPr lang="pt-BR" dirty="0">
              <a:solidFill>
                <a:srgbClr val="FF0000"/>
              </a:solidFill>
              <a:latin typeface="+mn-lt"/>
              <a:cs typeface="Tahoma" pitchFamily="34" charset="0"/>
            </a:endParaRPr>
          </a:p>
          <a:p>
            <a:pPr marL="457200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00" dirty="0">
                <a:latin typeface="+mn-lt"/>
                <a:cs typeface="Tahoma" pitchFamily="34" charset="0"/>
              </a:rPr>
              <a:t>	</a:t>
            </a:r>
          </a:p>
          <a:p>
            <a:pPr marL="914400" lvl="1" indent="-4572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Condução de seiva</a:t>
            </a:r>
            <a:endParaRPr lang="pt-BR" sz="2000" b="1" dirty="0">
              <a:solidFill>
                <a:srgbClr val="FF0000"/>
              </a:solidFill>
              <a:latin typeface="+mn-lt"/>
              <a:cs typeface="Tahoma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952626" y="3643313"/>
            <a:ext cx="8715375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romanU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</p:txBody>
      </p:sp>
      <p:sp>
        <p:nvSpPr>
          <p:cNvPr id="25606" name="CaixaDeTexto 17"/>
          <p:cNvSpPr txBox="1">
            <a:spLocks noChangeArrowheads="1"/>
          </p:cNvSpPr>
          <p:nvPr/>
        </p:nvSpPr>
        <p:spPr bwMode="auto">
          <a:xfrm>
            <a:off x="9596438" y="5786439"/>
            <a:ext cx="1071562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5607" name="Imagem 13" descr="conduçã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8689" y="965200"/>
            <a:ext cx="2928937" cy="589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6C038CD-EDB7-40F0-9D4C-1485947579B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97D3C5F-0E82-4777-9615-AB2490B8D34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Histologia Vegetal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</TotalTime>
  <Words>1212</Words>
  <Application>Microsoft Office PowerPoint</Application>
  <PresentationFormat>Widescreen</PresentationFormat>
  <Paragraphs>417</Paragraphs>
  <Slides>24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Tahoma</vt:lpstr>
      <vt:lpstr>Wingdings</vt:lpstr>
      <vt:lpstr>Tema do Office</vt:lpstr>
      <vt:lpstr>Histologia Vegetal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28</cp:revision>
  <dcterms:created xsi:type="dcterms:W3CDTF">2020-06-05T12:13:59Z</dcterms:created>
  <dcterms:modified xsi:type="dcterms:W3CDTF">2021-05-14T22:21:10Z</dcterms:modified>
</cp:coreProperties>
</file>