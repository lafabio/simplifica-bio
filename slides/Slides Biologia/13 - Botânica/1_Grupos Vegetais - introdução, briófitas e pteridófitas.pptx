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yCSMAEXzERAsMo29vUGa4fTvb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7F9F9E-2093-4F59-95F2-4E4A7D2C71DF}">
  <a:tblStyle styleId="{637F9F9E-2093-4F59-95F2-4E4A7D2C71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B2F8651-BF28-47F9-A71B-F46BF7B9BE0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4.png"/><Relationship Id="rId5" Type="http://schemas.openxmlformats.org/officeDocument/2006/relationships/image" Target="../media/image18.jpg"/><Relationship Id="rId6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Relationship Id="rId4" Type="http://schemas.openxmlformats.org/officeDocument/2006/relationships/image" Target="../media/image12.jpg"/><Relationship Id="rId5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botanica" id="88" name="Google Shape;88;p1"/>
          <p:cNvPicPr preferRelativeResize="0"/>
          <p:nvPr/>
        </p:nvPicPr>
        <p:blipFill rotWithShape="1">
          <a:blip r:embed="rId3">
            <a:alphaModFix/>
          </a:blip>
          <a:srcRect b="14475" l="0" r="0" t="12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type="ctrTitle"/>
          </p:nvPr>
        </p:nvSpPr>
        <p:spPr>
          <a:xfrm>
            <a:off x="0" y="1100443"/>
            <a:ext cx="12192000" cy="13160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Grupos Vegetais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3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0" i="0" sz="8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Briófitas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Pteridófitas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666876" y="1143001"/>
            <a:ext cx="8786813" cy="674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arenR"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i="0" sz="22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Reino </a:t>
            </a:r>
            <a:r>
              <a:rPr b="1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Plantae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um dos cinco reinos de seres vivos, inclui todas as plantas existentes e apresentam as seguintes características:</a:t>
            </a:r>
            <a:endParaRPr/>
          </a:p>
          <a:p>
            <a:pPr indent="-2540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Eucariontes.</a:t>
            </a:r>
            <a:endParaRPr/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Pluricelulares.</a:t>
            </a:r>
            <a:endParaRPr/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Autótrofos fotossintetizantes.</a:t>
            </a:r>
            <a:endParaRPr/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Células contendo parede celular de celulose.</a:t>
            </a:r>
            <a:endParaRPr/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Organelas especiais (cloroplastos e vacúolo).</a:t>
            </a:r>
            <a:endParaRPr/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haplodiplobionte.</a:t>
            </a:r>
            <a:endParaRPr/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Polissacarídeo de reserva é o amido.</a:t>
            </a:r>
            <a:endParaRPr/>
          </a:p>
          <a:p>
            <a:pPr indent="-514350" lvl="2" marL="1428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U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Embrião pluricelular retido e nutrido no organismo materno.</a:t>
            </a:r>
            <a:endParaRPr/>
          </a:p>
          <a:p>
            <a:pPr indent="-374650" lvl="2" marL="1428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666876" y="1143001"/>
            <a:ext cx="8786813" cy="2278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2)  Cladograma</a:t>
            </a:r>
            <a:endParaRPr b="1" i="0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i="0" sz="22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2" marL="1428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Documents and Settings\Claudia Frederico\Desktop\Moderna\powerpoints\U4\Figura_13-2_10.jp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5" y="1196976"/>
            <a:ext cx="8631238" cy="54498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7248526" y="3860800"/>
            <a:ext cx="2879725" cy="369888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Semente / Tubo polínico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6311900" y="4652964"/>
            <a:ext cx="3816350" cy="36988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Vasos condutores  / Raiz, caule e folha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5016501" y="6308725"/>
            <a:ext cx="1357313" cy="338138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Clorofila A e B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76398" y="20570"/>
            <a:ext cx="11284676" cy="9983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666876" y="1143000"/>
            <a:ext cx="8786813" cy="6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3)  Nomenclaturas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Cormófitas: 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Plantas que possuem raiz, caule e folhas. (II, III e IV)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Traqueófitas: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Plantas que possuem vasos condutores de seiva. (II, III e IV)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Criptógamas: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Plantas que não possuem flores. (I, II e III)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Fanerógamas: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Plantas que possuem flores. (IV)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Sifonógamas: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Plantas que possuem tubo polínico. (III e IV)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Assifonógamas: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Plantas que  não possuem tubo polínico. (I e II)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Espermatófitas: 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Plantas que possuem sementes. (III e IV)</a:t>
            </a:r>
            <a:endParaRPr/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p4"/>
          <p:cNvGraphicFramePr/>
          <p:nvPr/>
        </p:nvGraphicFramePr>
        <p:xfrm>
          <a:off x="5167313" y="1428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{637F9F9E-2093-4F59-95F2-4E4A7D2C71DF}</a:tableStyleId>
              </a:tblPr>
              <a:tblGrid>
                <a:gridCol w="2000275"/>
                <a:gridCol w="2000275"/>
              </a:tblGrid>
              <a:tr h="25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Briófitas: I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Gimnospermas: III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</a:tr>
              <a:tr h="25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Pteridófitas: II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Angiospermas: IV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4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76398" y="20570"/>
            <a:ext cx="11284676" cy="9983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666876" y="1143001"/>
            <a:ext cx="8786813" cy="264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4)  Ciclo Haplodiplobionte</a:t>
            </a:r>
            <a:endParaRPr b="1" i="0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Documents and Settings\Claudia Frederico\Desktop\Moderna\powerpoints\U4\Figura_13-1_7.jpg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1188" y="1782764"/>
            <a:ext cx="5357812" cy="507523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6738939" y="2143126"/>
            <a:ext cx="3786187" cy="1323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Esporófito sempre 2n (diplóide)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Gametófito sempre n (haplóide)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Esporos produzidos por meiose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Gametas produzidos por mitose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6738939" y="1571625"/>
            <a:ext cx="3786187" cy="4000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comum a todas as plantas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576398" y="20571"/>
            <a:ext cx="11284676" cy="879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666876" y="1143001"/>
            <a:ext cx="8786813" cy="326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5)  Briófitas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Primeiro grupo de plantas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representantes: Musgos, Hepáticas e Antóceros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Documents and Settings\Claudia Frederico\Desktop\Moderna\powerpoints\U4\Figura_13-3_1.jp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26" y="2714626"/>
            <a:ext cx="1928813" cy="366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ocuments and Settings\Claudia Frederico\Desktop\Moderna\powerpoints\U4\Figura_13-3_2.jpg" id="143" name="Google Shape;1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750" y="2643189"/>
            <a:ext cx="1500188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8667750" y="6286500"/>
            <a:ext cx="14287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Musgo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810375" y="6286500"/>
            <a:ext cx="14287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Antócero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2095501" y="3000376"/>
            <a:ext cx="4429125" cy="307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 Avasculares    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Ausência de vasos condutores de seiva 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(xilema e floema).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Obs.: O transporte de água e nutrientes se dá por difusão, o que limita o crescimento das briófitas.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1666876" y="1143001"/>
            <a:ext cx="8786813" cy="264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5)  Briófitas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Documents and Settings\Claudia Frederico\Desktop\Moderna\powerpoints\U4\Figura_13-3_2.jp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50" y="2000250"/>
            <a:ext cx="1785938" cy="43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8739188" y="6286500"/>
            <a:ext cx="14287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Musgo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2095500" y="1785939"/>
            <a:ext cx="4929188" cy="277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II)  Ausência de raiz, caule e folhas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Apresentam as seguintes estruturas: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Rizóide: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fixação e absorção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Caulóide: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absorção e sustentação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Filóide: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fotossíntese e trocas gasosas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7524751" y="3786189"/>
            <a:ext cx="1000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Filóide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7524751" y="4429125"/>
            <a:ext cx="10001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Caulóide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7524751" y="5857875"/>
            <a:ext cx="10001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Rizóide</a:t>
            </a:r>
            <a:endParaRPr/>
          </a:p>
        </p:txBody>
      </p:sp>
      <p:cxnSp>
        <p:nvCxnSpPr>
          <p:cNvPr id="162" name="Google Shape;162;p7"/>
          <p:cNvCxnSpPr>
            <a:stCxn id="161" idx="3"/>
          </p:cNvCxnSpPr>
          <p:nvPr/>
        </p:nvCxnSpPr>
        <p:spPr>
          <a:xfrm flipH="1" rot="10800000">
            <a:off x="8524876" y="6001419"/>
            <a:ext cx="642900" cy="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7"/>
          <p:cNvCxnSpPr/>
          <p:nvPr/>
        </p:nvCxnSpPr>
        <p:spPr>
          <a:xfrm flipH="1" rot="10800000">
            <a:off x="8524875" y="4572001"/>
            <a:ext cx="571500" cy="41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7"/>
          <p:cNvCxnSpPr/>
          <p:nvPr/>
        </p:nvCxnSpPr>
        <p:spPr>
          <a:xfrm flipH="1" rot="10800000">
            <a:off x="8453438" y="3857626"/>
            <a:ext cx="500062" cy="1127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76398" y="20571"/>
            <a:ext cx="11284676" cy="8652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1666876" y="1143001"/>
            <a:ext cx="8786813" cy="264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5)  Briófitas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Documents and Settings\Claudia Frederico\Desktop\Moderna\powerpoints\U4\Figura_13-3_2.jp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50" y="2000250"/>
            <a:ext cx="1785938" cy="43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8739188" y="6286500"/>
            <a:ext cx="14287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Musgo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2095501" y="1785939"/>
            <a:ext cx="5929313" cy="430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III)  Vivem em habitats úmidos e sombreados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Dependência da água para reprodução: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gameta masculino flagelado, anterozóide, precisa 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água para chegar até a oosfera.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Ausência de cutícula protetora nos filóides</a:t>
            </a:r>
            <a:endParaRPr/>
          </a:p>
          <a:p>
            <a:pPr indent="-387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 luz solar, as briófitas podem ressecar 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facilmente.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i35.tinypic.com/2hnw35t.png"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312" y="1656432"/>
            <a:ext cx="842962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524000" y="908720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1666876" y="980158"/>
            <a:ext cx="8786813" cy="264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5)  Briófitas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1809750" y="1408782"/>
            <a:ext cx="5214938" cy="692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Reprodução sexuada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1666876" y="1143001"/>
            <a:ext cx="8786813" cy="264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5)  Briófitas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809750" y="1785938"/>
            <a:ext cx="8643938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Observações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romanU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esporófito é clorofilado e dependente do gametófito.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romanU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a liberação dos esporos o esporófito, degenera-se.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romanU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esporófito sempre está presente sobre o gametófito feminino.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10"/>
          <p:cNvGraphicFramePr/>
          <p:nvPr/>
        </p:nvGraphicFramePr>
        <p:xfrm>
          <a:off x="3167063" y="4000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{5B2F8651-BF28-47F9-A71B-F46BF7B9BE0D}</a:tableStyleId>
              </a:tblPr>
              <a:tblGrid>
                <a:gridCol w="2857525"/>
                <a:gridCol w="2857525"/>
              </a:tblGrid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Gametófito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Esporófito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Haplóide (n)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Diplóide (2n)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sexuada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assexuada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Clorofilado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Aclorofilado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duradoura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temporária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9" name="Google Shape;199;p10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1666876" y="1143001"/>
            <a:ext cx="8786813" cy="264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5)  Briófitas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1809750" y="1785939"/>
            <a:ext cx="8643938" cy="2738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Importância das Briófitas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romanU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organismos pioneiros no processo de sucessão ecológica.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romanU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bioindicadores da qualidade do ar e do solo.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romanU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Criam micro habitats para várias espécies de microrganismos.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romanUcPeriod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organismos produtores de cadeias alimentares.</a:t>
            </a:r>
            <a:endParaRPr/>
          </a:p>
          <a:p>
            <a:pPr indent="-387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bp1.blogger.com/_pb8WCE0hW80/Rvll3ppM49I/AAAAAAAAACE/NjFiqv8O3yo/s320/musgo.jpg"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5" y="4286251"/>
            <a:ext cx="2857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l.yimg.com/g/images/spaceball.gif" id="210" name="Google Shape;2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2613" y="-1735138"/>
            <a:ext cx="4762500" cy="3571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l.yimg.com/g/images/spaceball.gif" id="211" name="Google Shape;2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2613" y="-1735138"/>
            <a:ext cx="4762500" cy="3571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farm1.static.flickr.com/104/315347083_400a1e08f7.jpg?v=0" id="212" name="Google Shape;2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4286251"/>
            <a:ext cx="2857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infoescola.com/imagens/a15fmusgo.jpg" id="213" name="Google Shape;2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67625" y="4286251"/>
            <a:ext cx="28575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natureflores.com.br/images/52470.jp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7626" y="928689"/>
            <a:ext cx="3000375" cy="224948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666876" y="1143000"/>
            <a:ext cx="8786813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6)  Pteridófitas</a:t>
            </a:r>
            <a:endParaRPr b="1" i="0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representantes: Samambaias e Avencas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2095500" y="2500314"/>
            <a:ext cx="8358188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UcParenR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Primeiras Traqueófitas</a:t>
            </a:r>
            <a:endParaRPr/>
          </a:p>
          <a:p>
            <a:pPr indent="-387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Presença de vasos condutores de seiva (xilema e floema)</a:t>
            </a:r>
            <a:endParaRPr/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a vantagem?</a:t>
            </a:r>
            <a:endParaRPr/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2" marL="1428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Maior porte físico.</a:t>
            </a:r>
            <a:endParaRPr/>
          </a:p>
          <a:p>
            <a:pPr indent="-514350" lvl="2" marL="1428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Exploração de hábitats mais variados.</a:t>
            </a:r>
            <a:endParaRPr/>
          </a:p>
          <a:p>
            <a:pPr indent="-514350" lvl="2" marL="1428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a sobrevivência no meio terrestre.</a:t>
            </a:r>
            <a:endParaRPr/>
          </a:p>
        </p:txBody>
      </p:sp>
      <p:pic>
        <p:nvPicPr>
          <p:cNvPr descr="http://3.bp.blogspot.com/_CxWe-s3fKfc/Rk-1zyNujWI/AAAAAAAAAMs/0rxEqWZmRMk/s400/avenca.JPG" id="225" name="Google Shape;22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4214813"/>
            <a:ext cx="2571750" cy="1928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2"/>
          <p:cNvSpPr txBox="1"/>
          <p:nvPr/>
        </p:nvSpPr>
        <p:spPr>
          <a:xfrm>
            <a:off x="8096251" y="6215064"/>
            <a:ext cx="2428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Avenca</a:t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7953376" y="3143250"/>
            <a:ext cx="24288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Samambaia</a:t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4200" y="857250"/>
            <a:ext cx="2463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1666876" y="1143001"/>
            <a:ext cx="8786813" cy="107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6)  Pteridófitas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1952626" y="1785939"/>
            <a:ext cx="8501063" cy="289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II)      Primeiras cormófitas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Presença de raiz, caule e folhas</a:t>
            </a:r>
            <a:endParaRPr/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a vantagem?</a:t>
            </a:r>
            <a:endParaRPr/>
          </a:p>
          <a:p>
            <a:pPr indent="-514350" lvl="1" marL="9715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2" marL="1428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Divisão de trabalho entre os órgãos da planta.</a:t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7524751" y="4929189"/>
            <a:ext cx="1357313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Raiz</a:t>
            </a: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6667501" y="2928939"/>
            <a:ext cx="1357313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Caule</a:t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7310438" y="1643064"/>
            <a:ext cx="13573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Folha</a:t>
            </a:r>
            <a:endParaRPr/>
          </a:p>
        </p:txBody>
      </p:sp>
      <p:cxnSp>
        <p:nvCxnSpPr>
          <p:cNvPr id="242" name="Google Shape;242;p13"/>
          <p:cNvCxnSpPr/>
          <p:nvPr/>
        </p:nvCxnSpPr>
        <p:spPr>
          <a:xfrm rot="-5400000">
            <a:off x="8810626" y="4500563"/>
            <a:ext cx="500062" cy="500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13"/>
          <p:cNvCxnSpPr>
            <a:stCxn id="240" idx="3"/>
          </p:cNvCxnSpPr>
          <p:nvPr/>
        </p:nvCxnSpPr>
        <p:spPr>
          <a:xfrm>
            <a:off x="8024814" y="3113883"/>
            <a:ext cx="714300" cy="10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13"/>
          <p:cNvCxnSpPr/>
          <p:nvPr/>
        </p:nvCxnSpPr>
        <p:spPr>
          <a:xfrm>
            <a:off x="8667750" y="1857375"/>
            <a:ext cx="357188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13"/>
          <p:cNvCxnSpPr/>
          <p:nvPr/>
        </p:nvCxnSpPr>
        <p:spPr>
          <a:xfrm flipH="1" rot="10800000">
            <a:off x="8810626" y="4652963"/>
            <a:ext cx="652463" cy="347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13"/>
          <p:cNvCxnSpPr>
            <a:stCxn id="240" idx="3"/>
          </p:cNvCxnSpPr>
          <p:nvPr/>
        </p:nvCxnSpPr>
        <p:spPr>
          <a:xfrm>
            <a:off x="8024814" y="3113882"/>
            <a:ext cx="642900" cy="48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13"/>
          <p:cNvCxnSpPr/>
          <p:nvPr/>
        </p:nvCxnSpPr>
        <p:spPr>
          <a:xfrm flipH="1" rot="10800000">
            <a:off x="8667750" y="1714501"/>
            <a:ext cx="357188" cy="1428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13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1666876" y="1143001"/>
            <a:ext cx="8786813" cy="107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6)  Pteridófitas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1952626" y="1785938"/>
            <a:ext cx="8501063" cy="178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Morfologia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Samambaia</a:t>
            </a:r>
            <a:endParaRPr/>
          </a:p>
          <a:p>
            <a:pPr indent="-387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4"/>
          <p:cNvCxnSpPr/>
          <p:nvPr/>
        </p:nvCxnSpPr>
        <p:spPr>
          <a:xfrm>
            <a:off x="8667750" y="1857375"/>
            <a:ext cx="357188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9" name="Google Shape;259;p14"/>
          <p:cNvGrpSpPr/>
          <p:nvPr/>
        </p:nvGrpSpPr>
        <p:grpSpPr>
          <a:xfrm>
            <a:off x="4310064" y="1143000"/>
            <a:ext cx="4929187" cy="5412819"/>
            <a:chOff x="5310191" y="857233"/>
            <a:chExt cx="3833809" cy="4370351"/>
          </a:xfrm>
        </p:grpSpPr>
        <p:pic>
          <p:nvPicPr>
            <p:cNvPr id="260" name="Google Shape;26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79466" y="857233"/>
              <a:ext cx="2464534" cy="4000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14"/>
            <p:cNvSpPr txBox="1"/>
            <p:nvPr/>
          </p:nvSpPr>
          <p:spPr>
            <a:xfrm>
              <a:off x="6000400" y="4929383"/>
              <a:ext cx="1358193" cy="298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Raiz</a:t>
              </a:r>
              <a:endParaRPr/>
            </a:p>
          </p:txBody>
        </p:sp>
        <p:sp>
          <p:nvSpPr>
            <p:cNvPr id="262" name="Google Shape;262;p14"/>
            <p:cNvSpPr txBox="1"/>
            <p:nvPr/>
          </p:nvSpPr>
          <p:spPr>
            <a:xfrm>
              <a:off x="5310191" y="3914230"/>
              <a:ext cx="1356958" cy="298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Caule</a:t>
              </a:r>
              <a:endParaRPr/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5643566" y="1722421"/>
              <a:ext cx="1356958" cy="298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Folha</a:t>
              </a:r>
              <a:endParaRPr/>
            </a:p>
          </p:txBody>
        </p:sp>
        <p:cxnSp>
          <p:nvCxnSpPr>
            <p:cNvPr id="264" name="Google Shape;264;p14"/>
            <p:cNvCxnSpPr/>
            <p:nvPr/>
          </p:nvCxnSpPr>
          <p:spPr>
            <a:xfrm rot="-5400000">
              <a:off x="7286426" y="4500547"/>
              <a:ext cx="501168" cy="5000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14"/>
            <p:cNvCxnSpPr>
              <a:stCxn id="262" idx="3"/>
            </p:cNvCxnSpPr>
            <p:nvPr/>
          </p:nvCxnSpPr>
          <p:spPr>
            <a:xfrm>
              <a:off x="6667149" y="4063331"/>
              <a:ext cx="921000" cy="13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14"/>
            <p:cNvCxnSpPr/>
            <p:nvPr/>
          </p:nvCxnSpPr>
          <p:spPr>
            <a:xfrm flipH="1" rot="10800000">
              <a:off x="7286979" y="4652523"/>
              <a:ext cx="651933" cy="3486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14"/>
            <p:cNvCxnSpPr>
              <a:stCxn id="262" idx="3"/>
            </p:cNvCxnSpPr>
            <p:nvPr/>
          </p:nvCxnSpPr>
          <p:spPr>
            <a:xfrm>
              <a:off x="6667149" y="4063331"/>
              <a:ext cx="1310100" cy="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68" name="Google Shape;268;p14"/>
          <p:cNvCxnSpPr/>
          <p:nvPr/>
        </p:nvCxnSpPr>
        <p:spPr>
          <a:xfrm flipH="1" rot="10800000">
            <a:off x="8739189" y="1500188"/>
            <a:ext cx="428625" cy="214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" name="Google Shape;269;p14"/>
          <p:cNvCxnSpPr/>
          <p:nvPr/>
        </p:nvCxnSpPr>
        <p:spPr>
          <a:xfrm flipH="1" rot="10800000">
            <a:off x="6524625" y="2143125"/>
            <a:ext cx="642938" cy="2857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" name="Google Shape;270;p14"/>
          <p:cNvCxnSpPr/>
          <p:nvPr/>
        </p:nvCxnSpPr>
        <p:spPr>
          <a:xfrm flipH="1" rot="-5400000">
            <a:off x="6310313" y="2643188"/>
            <a:ext cx="571500" cy="1428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1" name="Google Shape;271;p14"/>
          <p:cNvSpPr txBox="1"/>
          <p:nvPr/>
        </p:nvSpPr>
        <p:spPr>
          <a:xfrm>
            <a:off x="8667751" y="4714875"/>
            <a:ext cx="1744663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Folha jovem</a:t>
            </a:r>
            <a:endParaRPr/>
          </a:p>
        </p:txBody>
      </p:sp>
      <p:cxnSp>
        <p:nvCxnSpPr>
          <p:cNvPr id="272" name="Google Shape;272;p14"/>
          <p:cNvCxnSpPr>
            <a:endCxn id="271" idx="1"/>
          </p:cNvCxnSpPr>
          <p:nvPr/>
        </p:nvCxnSpPr>
        <p:spPr>
          <a:xfrm flipH="1" rot="10800000">
            <a:off x="8239051" y="4899819"/>
            <a:ext cx="428700" cy="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p14"/>
          <p:cNvSpPr txBox="1"/>
          <p:nvPr/>
        </p:nvSpPr>
        <p:spPr>
          <a:xfrm>
            <a:off x="8382001" y="1143000"/>
            <a:ext cx="1744663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Folha com soros</a:t>
            </a:r>
            <a:endParaRPr/>
          </a:p>
        </p:txBody>
      </p:sp>
      <p:pic>
        <p:nvPicPr>
          <p:cNvPr descr="http://farm2.static.flickr.com/1196/562809707_7dba2c9c52.jpg?v=0" id="274" name="Google Shape;2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57501"/>
            <a:ext cx="3214688" cy="24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14"/>
          <p:cNvCxnSpPr/>
          <p:nvPr/>
        </p:nvCxnSpPr>
        <p:spPr>
          <a:xfrm flipH="1" rot="-5400000">
            <a:off x="3345657" y="5179219"/>
            <a:ext cx="571500" cy="2143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" name="Google Shape;276;p14"/>
          <p:cNvCxnSpPr/>
          <p:nvPr/>
        </p:nvCxnSpPr>
        <p:spPr>
          <a:xfrm rot="5400000">
            <a:off x="3590926" y="5219701"/>
            <a:ext cx="509587" cy="214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p14"/>
          <p:cNvSpPr txBox="1"/>
          <p:nvPr/>
        </p:nvSpPr>
        <p:spPr>
          <a:xfrm>
            <a:off x="2881313" y="5500689"/>
            <a:ext cx="17446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Soros</a:t>
            </a:r>
            <a:endParaRPr/>
          </a:p>
        </p:txBody>
      </p:sp>
      <p:sp>
        <p:nvSpPr>
          <p:cNvPr id="278" name="Google Shape;278;p14"/>
          <p:cNvSpPr txBox="1"/>
          <p:nvPr/>
        </p:nvSpPr>
        <p:spPr>
          <a:xfrm>
            <a:off x="8453438" y="5286376"/>
            <a:ext cx="1071562" cy="9239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2751" y="1803400"/>
            <a:ext cx="6500813" cy="505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1666876" y="1143001"/>
            <a:ext cx="8786813" cy="107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6)  Pteridófitas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1952626" y="1785938"/>
            <a:ext cx="8501063" cy="104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Reprodução sexuada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4167189" y="4357689"/>
            <a:ext cx="642937" cy="42862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7810501" y="4143376"/>
            <a:ext cx="1571625" cy="500063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1666876" y="1143001"/>
            <a:ext cx="8786813" cy="107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6)  Pteridófitas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1881188" y="1785939"/>
            <a:ext cx="8572500" cy="197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Observações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esporófito no início é aclorofilado e dependente do gametófito.</a:t>
            </a:r>
            <a:endParaRPr/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esporófito ao se desenvolver suga as reservas nutritivas do gametófito.</a:t>
            </a:r>
            <a:endParaRPr/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gametófito degenera-se e o esporófito torna-se clorofilado.</a:t>
            </a:r>
            <a:endParaRPr/>
          </a:p>
          <a:p>
            <a:pPr indent="-3873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2" name="Google Shape;302;p16"/>
          <p:cNvGraphicFramePr/>
          <p:nvPr/>
        </p:nvGraphicFramePr>
        <p:xfrm>
          <a:off x="2809875" y="37861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{5B2F8651-BF28-47F9-A71B-F46BF7B9BE0D}</a:tableStyleId>
              </a:tblPr>
              <a:tblGrid>
                <a:gridCol w="3250425"/>
                <a:gridCol w="3250425"/>
              </a:tblGrid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Gametófito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Esporófito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Haplóide (n)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Diplóide (2n)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sexuada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assexuada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Clorofilado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u="none" cap="none" strike="noStrike"/>
                        <a:t>Inicialmente aclorofilado e depois torna-se clorofilado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temporária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Fase duradoura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3" name="Google Shape;303;p16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1666876" y="1143001"/>
            <a:ext cx="8786813" cy="107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6)  Pteridófitas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1881188" y="1785939"/>
            <a:ext cx="8572500" cy="289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Importância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1" marL="9715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Organismo produtor das cadeias alimentares</a:t>
            </a:r>
            <a:endParaRPr/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Ornamentação</a:t>
            </a:r>
            <a:endParaRPr/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Obtenção do xaxim (caule de samambaiaçu)</a:t>
            </a:r>
            <a:endParaRPr/>
          </a:p>
          <a:p>
            <a:pPr indent="-514350" lvl="1" marL="9715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Cultivo de orquídeas</a:t>
            </a:r>
            <a:endParaRPr/>
          </a:p>
          <a:p>
            <a:pPr indent="-514350" lvl="1" marL="9715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Risco de extinção do samambaiaçu (mata atlântica)</a:t>
            </a:r>
            <a:endParaRPr/>
          </a:p>
          <a:p>
            <a:pPr indent="-514350" lvl="1" marL="9715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Alternativa: coxim (feito com fibras do coco)</a:t>
            </a:r>
            <a:endParaRPr/>
          </a:p>
          <a:p>
            <a:pPr indent="-514350" lvl="0" marL="51435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ibot.sp.gov.br/educ_ambiental/plantas_extincao/samabaiacu.jpg" id="313" name="Google Shape;3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4500564"/>
            <a:ext cx="2071688" cy="207168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 txBox="1"/>
          <p:nvPr/>
        </p:nvSpPr>
        <p:spPr>
          <a:xfrm>
            <a:off x="2095500" y="6500814"/>
            <a:ext cx="207168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Samambaiaçu</a:t>
            </a:r>
            <a:endParaRPr/>
          </a:p>
        </p:txBody>
      </p:sp>
      <p:pic>
        <p:nvPicPr>
          <p:cNvPr descr="http://www.shoppinggarden.com.br/images/dicas/samambaia02.jpg" id="315" name="Google Shape;3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6314" y="3571875"/>
            <a:ext cx="1785937" cy="294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7"/>
          <p:cNvSpPr txBox="1"/>
          <p:nvPr/>
        </p:nvSpPr>
        <p:spPr>
          <a:xfrm>
            <a:off x="8382000" y="6488114"/>
            <a:ext cx="207168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Samambaia</a:t>
            </a:r>
            <a:endParaRPr/>
          </a:p>
        </p:txBody>
      </p:sp>
      <p:pic>
        <p:nvPicPr>
          <p:cNvPr descr="http://orquidea.base33.net/galeria/albums/userpics/10001/200807-(ML)-fibra_de_coco.JPG" id="317" name="Google Shape;3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4439" y="4500563"/>
            <a:ext cx="2714625" cy="203676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7"/>
          <p:cNvSpPr txBox="1"/>
          <p:nvPr/>
        </p:nvSpPr>
        <p:spPr>
          <a:xfrm>
            <a:off x="5381625" y="6488114"/>
            <a:ext cx="207168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Coxim</a:t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576398" y="20571"/>
            <a:ext cx="11284676" cy="8851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Reino Vegetal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2020-06-05T12:13:59Z</dcterms:created>
  <dc:creator>Bruno Barbosa</dc:creator>
</cp:coreProperties>
</file>