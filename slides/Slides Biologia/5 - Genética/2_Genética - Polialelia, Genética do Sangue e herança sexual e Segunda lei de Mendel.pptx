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361" r:id="rId3"/>
    <p:sldId id="362" r:id="rId4"/>
    <p:sldId id="363" r:id="rId5"/>
    <p:sldId id="364" r:id="rId6"/>
    <p:sldId id="365" r:id="rId7"/>
    <p:sldId id="367" r:id="rId8"/>
    <p:sldId id="368" r:id="rId9"/>
    <p:sldId id="369" r:id="rId10"/>
    <p:sldId id="370" r:id="rId11"/>
    <p:sldId id="383" r:id="rId12"/>
    <p:sldId id="371" r:id="rId13"/>
    <p:sldId id="372" r:id="rId14"/>
    <p:sldId id="374" r:id="rId15"/>
    <p:sldId id="377" r:id="rId16"/>
    <p:sldId id="378" r:id="rId17"/>
    <p:sldId id="379" r:id="rId18"/>
    <p:sldId id="380" r:id="rId19"/>
    <p:sldId id="381" r:id="rId20"/>
    <p:sldId id="382" r:id="rId21"/>
    <p:sldId id="3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9E6"/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76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61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06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42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6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7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1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48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62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33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04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80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ova técnica é a aposta para que edição genética fique mais segura e  precisa - Revista Galileu | Ciência">
            <a:extLst>
              <a:ext uri="{FF2B5EF4-FFF2-40B4-BE49-F238E27FC236}">
                <a16:creationId xmlns:a16="http://schemas.microsoft.com/office/drawing/2014/main" id="{01F69A42-9159-441A-ABAD-28B68B0C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82583"/>
            <a:ext cx="12192000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Genética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2000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6500" b="1" dirty="0" err="1"/>
              <a:t>Polialelia</a:t>
            </a:r>
            <a:endParaRPr lang="pt-BR" sz="6500" b="1" dirty="0"/>
          </a:p>
          <a:p>
            <a:pPr>
              <a:lnSpc>
                <a:spcPct val="120000"/>
              </a:lnSpc>
            </a:pPr>
            <a:r>
              <a:rPr lang="pt-BR" sz="6500" b="1" dirty="0"/>
              <a:t>Genética do Sangue</a:t>
            </a:r>
          </a:p>
          <a:p>
            <a:pPr>
              <a:lnSpc>
                <a:spcPct val="120000"/>
              </a:lnSpc>
            </a:pPr>
            <a:r>
              <a:rPr lang="pt-BR" sz="6500" b="1" dirty="0"/>
              <a:t>Herança Sexual</a:t>
            </a:r>
          </a:p>
          <a:p>
            <a:pPr>
              <a:lnSpc>
                <a:spcPct val="120000"/>
              </a:lnSpc>
            </a:pPr>
            <a:r>
              <a:rPr lang="pt-BR" sz="6500" b="1" dirty="0"/>
              <a:t>Segunda Lei de Mendel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1ª Lei Mendel – </a:t>
            </a:r>
            <a:r>
              <a:rPr lang="pt-BR" sz="3500" b="1" dirty="0" err="1">
                <a:solidFill>
                  <a:schemeClr val="bg1"/>
                </a:solidFill>
              </a:rPr>
              <a:t>Polialelia</a:t>
            </a: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“Alelos Múltiplos”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1 característica </a:t>
            </a:r>
            <a:r>
              <a:rPr lang="pt-BR" sz="2200" dirty="0">
                <a:sym typeface="Wingdings" panose="05000000000000000000" pitchFamily="2" charset="2"/>
              </a:rPr>
              <a:t> 1 gene  mais de 2 alelos diferentes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OBS: organismos diploides sempre irão carregar 2 cópias do gene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ym typeface="Wingdings" panose="05000000000000000000" pitchFamily="2" charset="2"/>
              </a:rPr>
              <a:t>Exs</a:t>
            </a:r>
            <a:r>
              <a:rPr lang="pt-BR" sz="2200" dirty="0">
                <a:sym typeface="Wingdings" panose="05000000000000000000" pitchFamily="2" charset="2"/>
              </a:rPr>
              <a:t>: coloração coelhos e sistema ABO (sangue)</a:t>
            </a:r>
            <a:endParaRPr lang="pt-BR" sz="1800" dirty="0"/>
          </a:p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1026" name="Picture 2" descr="Polialelia e Sistema ABO para os Tipos Sanguíneos">
            <a:extLst>
              <a:ext uri="{FF2B5EF4-FFF2-40B4-BE49-F238E27FC236}">
                <a16:creationId xmlns:a16="http://schemas.microsoft.com/office/drawing/2014/main" id="{55180413-0347-4593-95ED-1B5386968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759" y="3217050"/>
            <a:ext cx="4516483" cy="330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86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Sistema ABO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Caso de </a:t>
            </a:r>
            <a:r>
              <a:rPr lang="pt-BR" sz="2200" dirty="0" err="1"/>
              <a:t>polialelia</a:t>
            </a:r>
            <a:r>
              <a:rPr lang="pt-BR" sz="2200" dirty="0"/>
              <a:t> da tipagem sanguínea</a:t>
            </a:r>
          </a:p>
          <a:p>
            <a:pPr marL="0" indent="0" algn="ctr">
              <a:buNone/>
            </a:pPr>
            <a:r>
              <a:rPr lang="pt-BR" sz="2200" dirty="0"/>
              <a:t>I</a:t>
            </a:r>
            <a:r>
              <a:rPr lang="pt-BR" sz="2200" baseline="30000" dirty="0"/>
              <a:t>A</a:t>
            </a:r>
            <a:r>
              <a:rPr lang="pt-BR" sz="2200" dirty="0"/>
              <a:t> = I</a:t>
            </a:r>
            <a:r>
              <a:rPr lang="pt-BR" sz="2200" baseline="30000" dirty="0"/>
              <a:t>B</a:t>
            </a:r>
            <a:r>
              <a:rPr lang="pt-BR" sz="2200" dirty="0"/>
              <a:t> &gt; i</a:t>
            </a:r>
            <a:endParaRPr lang="pt-BR" sz="1800" dirty="0"/>
          </a:p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57D0AB-61DB-4AF6-94FD-0608F780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161" y="2436881"/>
            <a:ext cx="70294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0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Sistema ABO - Toda Matéria">
            <a:extLst>
              <a:ext uri="{FF2B5EF4-FFF2-40B4-BE49-F238E27FC236}">
                <a16:creationId xmlns:a16="http://schemas.microsoft.com/office/drawing/2014/main" id="{1410F9FF-EBB4-40C8-920A-1B76B1490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880" y="3425708"/>
            <a:ext cx="4389120" cy="343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Sistema ABO</a:t>
            </a:r>
          </a:p>
        </p:txBody>
      </p:sp>
      <p:pic>
        <p:nvPicPr>
          <p:cNvPr id="2050" name="Picture 2" descr="Sistema ABO: tabela, tipos sanguíneos, exercícios - Brasil Escola">
            <a:extLst>
              <a:ext uri="{FF2B5EF4-FFF2-40B4-BE49-F238E27FC236}">
                <a16:creationId xmlns:a16="http://schemas.microsoft.com/office/drawing/2014/main" id="{41199850-E09E-4EE4-98E7-49259BDC8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180" y="1346132"/>
            <a:ext cx="57150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2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Sistema ABO – Tipagem Sanguínea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766CC9-19A4-482F-9444-D1C5532F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972" y="2711631"/>
            <a:ext cx="3371850" cy="31242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7867F8-79C4-487B-8E47-ED40B9BDA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376" y="2740206"/>
            <a:ext cx="3181350" cy="30670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FB61CB-938D-4737-927C-65E44D645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787" y="1794000"/>
            <a:ext cx="34004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9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Sistema Rh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Caso de dominância completa</a:t>
            </a:r>
          </a:p>
          <a:p>
            <a:pPr marL="0" indent="0" algn="ctr">
              <a:buNone/>
            </a:pPr>
            <a:r>
              <a:rPr lang="pt-BR" sz="2200" dirty="0"/>
              <a:t>R &gt; r</a:t>
            </a:r>
            <a:endParaRPr lang="pt-BR" sz="1800" dirty="0"/>
          </a:p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1026" name="Picture 2" descr="Herança dos grupos sanguíneos - Brasil Escola">
            <a:extLst>
              <a:ext uri="{FF2B5EF4-FFF2-40B4-BE49-F238E27FC236}">
                <a16:creationId xmlns:a16="http://schemas.microsoft.com/office/drawing/2014/main" id="{56EF5CA1-A573-4E84-A397-5F3356337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238" y="2617069"/>
            <a:ext cx="7434243" cy="162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68B0C2-99BD-49F8-9EC4-6FC7899A9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635" y="4559546"/>
            <a:ext cx="2199866" cy="1870982"/>
          </a:xfrm>
          <a:prstGeom prst="rect">
            <a:avLst/>
          </a:prstGeom>
        </p:spPr>
      </p:pic>
      <p:pic>
        <p:nvPicPr>
          <p:cNvPr id="1028" name="Picture 4" descr="BIOLOGANDO: Grupos Sanguíneos - Sistema ABO e Fator Rh">
            <a:extLst>
              <a:ext uri="{FF2B5EF4-FFF2-40B4-BE49-F238E27FC236}">
                <a16:creationId xmlns:a16="http://schemas.microsoft.com/office/drawing/2014/main" id="{592237FD-E36E-4231-90B2-5EB5121C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971" y="4331456"/>
            <a:ext cx="3543776" cy="23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D0184A6-CCAA-462F-B7C3-DA3144349BCE}"/>
              </a:ext>
            </a:extLst>
          </p:cNvPr>
          <p:cNvSpPr txBox="1"/>
          <p:nvPr/>
        </p:nvSpPr>
        <p:spPr>
          <a:xfrm>
            <a:off x="3997233" y="5171871"/>
            <a:ext cx="2442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Doador Universal: O-</a:t>
            </a:r>
          </a:p>
          <a:p>
            <a:r>
              <a:rPr lang="pt-BR" dirty="0"/>
              <a:t>Receptor Universal: AB+</a:t>
            </a:r>
          </a:p>
        </p:txBody>
      </p:sp>
    </p:spTree>
    <p:extLst>
      <p:ext uri="{BB962C8B-B14F-4D97-AF65-F5344CB8AC3E}">
        <p14:creationId xmlns:p14="http://schemas.microsoft.com/office/powerpoint/2010/main" val="218731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Eritroblastose Fetal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05" y="1541990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/>
              <a:t>Doença Hemolítica do R.N.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/>
              <a:t>Pai RH+, mãe RH-, filho RH+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/>
              <a:t>Anticorpos </a:t>
            </a:r>
            <a:r>
              <a:rPr lang="pt-BR" sz="1800" dirty="0" err="1"/>
              <a:t>anti-RH</a:t>
            </a:r>
            <a:r>
              <a:rPr lang="pt-BR" sz="1800" dirty="0"/>
              <a:t> da mãe atacam o sangue do filho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/>
              <a:t>OBS1: o primeiro filho nunca é afetado pois a mãe não está imunizada ainda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/>
              <a:t>Caso haja o parto sem soro </a:t>
            </a:r>
            <a:r>
              <a:rPr lang="pt-BR" sz="1800" dirty="0" err="1"/>
              <a:t>anti-Rh</a:t>
            </a:r>
            <a:r>
              <a:rPr lang="pt-BR" sz="1800" dirty="0"/>
              <a:t> a mãe passará a ser imunizada e todos os próximos filhos + serão afetados</a:t>
            </a:r>
          </a:p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pic>
        <p:nvPicPr>
          <p:cNvPr id="2050" name="Picture 2" descr="Eritroblastose Fetal: causas, sintomas, prevenção, tratamento ...">
            <a:extLst>
              <a:ext uri="{FF2B5EF4-FFF2-40B4-BE49-F238E27FC236}">
                <a16:creationId xmlns:a16="http://schemas.microsoft.com/office/drawing/2014/main" id="{EFA565B6-3AAC-478B-BF1B-0855227C6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674" y="3505504"/>
            <a:ext cx="5425440" cy="325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87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Sexual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41" y="1515863"/>
            <a:ext cx="11208929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Padrão de herança de genes relacionados aos cromossomos sexuais ou a efeitos causados por eles.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Os cromossomos sexuais são parcialmente homólogos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/>
              <a:t>Regiões homólogas = genes nos dois cromossomos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/>
              <a:t>Regiões heterólogas = genes em apenas um dos cromossomos (ligadas ao sexo)</a:t>
            </a:r>
          </a:p>
          <a:p>
            <a:pPr lvl="1"/>
            <a:endParaRPr lang="pt-BR" dirty="0"/>
          </a:p>
        </p:txBody>
      </p:sp>
      <p:pic>
        <p:nvPicPr>
          <p:cNvPr id="5" name="Imagem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78F64567-389B-4196-AFCF-F48C8D037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080" y="3429000"/>
            <a:ext cx="4188822" cy="306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6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Ligada ao 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1533281"/>
            <a:ext cx="11913325" cy="521586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Gene que determina a característica está no cromossomo X em região heteróloga ao Y, ou seja, o cromossomo Y não possui o gene.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Cuidado: não são características/genes exclusivos de fêmeas pois machos também possuem cromossomo X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/>
              <a:t>Fêmeas possuem 2 cópias do X (XX)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/>
              <a:t>Machos possuem 1 cópia apenas (XY) </a:t>
            </a:r>
            <a:r>
              <a:rPr lang="pt-BR" sz="2000" dirty="0">
                <a:sym typeface="Wingdings" panose="05000000000000000000" pitchFamily="2" charset="2"/>
              </a:rPr>
              <a:t> </a:t>
            </a:r>
            <a:r>
              <a:rPr lang="pt-BR" sz="2000" dirty="0" err="1">
                <a:sym typeface="Wingdings" panose="05000000000000000000" pitchFamily="2" charset="2"/>
              </a:rPr>
              <a:t>hemizigose</a:t>
            </a:r>
            <a:endParaRPr lang="pt-BR" sz="20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ym typeface="Wingdings" panose="05000000000000000000" pitchFamily="2" charset="2"/>
              </a:rPr>
              <a:t>Podem ser dominantes ou recessivas, mas as recessivas são mais importantes. As dominantes basta compreender o padrão de herança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ym typeface="Wingdings" panose="05000000000000000000" pitchFamily="2" charset="2"/>
              </a:rPr>
              <a:t>Fêmeas e Machos basta 1 cópia do alelo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ym typeface="Wingdings" panose="05000000000000000000" pitchFamily="2" charset="2"/>
              </a:rPr>
              <a:t>Macho afetado terá TODAS as filhas fêmeas também afetadas pois ele só tem o alelo dominante para passar pra elas (pros filhos machos ele passa o Y)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As recessivas temos que compreender o padrão de herança e também alguns exemplos: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 err="1"/>
              <a:t>Daltonia</a:t>
            </a:r>
            <a:endParaRPr lang="pt-BR" sz="20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/>
              <a:t>Hemofilia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/>
              <a:t>Distrofia muscular de </a:t>
            </a:r>
            <a:r>
              <a:rPr lang="pt-BR" sz="2000" dirty="0" err="1"/>
              <a:t>Duchenne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3114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Ligada ao X recessiva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19" y="1533281"/>
            <a:ext cx="11016343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/>
              <a:t>Basta 1 cópia do alelo para o macho manifestar (</a:t>
            </a:r>
            <a:r>
              <a:rPr lang="pt-BR" sz="2400" dirty="0" err="1"/>
              <a:t>hemizigose</a:t>
            </a:r>
            <a:r>
              <a:rPr lang="pt-BR" sz="2400" dirty="0"/>
              <a:t>) (</a:t>
            </a:r>
            <a:r>
              <a:rPr lang="pt-BR" sz="2400" dirty="0" err="1"/>
              <a:t>X</a:t>
            </a:r>
            <a:r>
              <a:rPr lang="pt-BR" sz="2400" baseline="30000" dirty="0" err="1"/>
              <a:t>a</a:t>
            </a:r>
            <a:r>
              <a:rPr lang="pt-BR" sz="2400" dirty="0" err="1"/>
              <a:t>Y</a:t>
            </a:r>
            <a:r>
              <a:rPr lang="pt-BR" sz="2400" dirty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/>
              <a:t>Nas fêmeas só se manifesta em homozigose (</a:t>
            </a:r>
            <a:r>
              <a:rPr lang="pt-BR" sz="2400" dirty="0" err="1"/>
              <a:t>X</a:t>
            </a:r>
            <a:r>
              <a:rPr lang="pt-BR" sz="2400" baseline="30000" dirty="0" err="1"/>
              <a:t>a</a:t>
            </a:r>
            <a:r>
              <a:rPr lang="pt-BR" sz="2400" dirty="0" err="1"/>
              <a:t>X</a:t>
            </a:r>
            <a:r>
              <a:rPr lang="pt-BR" sz="2400" baseline="30000" dirty="0" err="1"/>
              <a:t>a</a:t>
            </a:r>
            <a:r>
              <a:rPr lang="pt-BR" sz="2400" dirty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/>
              <a:t>Mais comum em machos (justamente por precisarem de apenas 1 cópia)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400" dirty="0" err="1"/>
              <a:t>Ex</a:t>
            </a:r>
            <a:r>
              <a:rPr lang="pt-BR" sz="2400" dirty="0"/>
              <a:t>: Daltonismo                                                                   Hemofilia</a:t>
            </a:r>
          </a:p>
        </p:txBody>
      </p:sp>
      <p:pic>
        <p:nvPicPr>
          <p:cNvPr id="1026" name="Picture 2" descr="Daltonismo: Genética">
            <a:extLst>
              <a:ext uri="{FF2B5EF4-FFF2-40B4-BE49-F238E27FC236}">
                <a16:creationId xmlns:a16="http://schemas.microsoft.com/office/drawing/2014/main" id="{C5FDE5F9-0283-4C0C-87F4-FDCC3992E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9" y="3486394"/>
            <a:ext cx="41624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emofilia | BioPrata">
            <a:extLst>
              <a:ext uri="{FF2B5EF4-FFF2-40B4-BE49-F238E27FC236}">
                <a16:creationId xmlns:a16="http://schemas.microsoft.com/office/drawing/2014/main" id="{D462D7B6-C866-4F11-A131-B8873B2E9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16" y="3486394"/>
            <a:ext cx="3567249" cy="169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88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Coloração de Gatos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533281"/>
            <a:ext cx="11443063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Herança ligada ao X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X</a:t>
            </a:r>
            <a:r>
              <a:rPr lang="pt-BR" sz="2200" baseline="30000" dirty="0"/>
              <a:t>A </a:t>
            </a:r>
            <a:r>
              <a:rPr lang="pt-BR" sz="2200" dirty="0"/>
              <a:t>= pelo malhado branco e amarelo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X</a:t>
            </a:r>
            <a:r>
              <a:rPr lang="pt-BR" sz="2200" baseline="30000" dirty="0"/>
              <a:t>P</a:t>
            </a:r>
            <a:r>
              <a:rPr lang="pt-BR" sz="2200" dirty="0"/>
              <a:t> = pelo malhado branco e preto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Machos são XY então só podem ser branco e amarelo OU branco e preto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Fêmeas podem ter as 3 cores por serem XX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OBS: existem machos com síndrome de </a:t>
            </a:r>
            <a:r>
              <a:rPr lang="pt-BR" sz="2200" dirty="0" err="1"/>
              <a:t>klinefelter</a:t>
            </a:r>
            <a:r>
              <a:rPr lang="pt-BR" sz="2200" dirty="0"/>
              <a:t> (XXY) que podem ter 3 cores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3144C6-1329-4239-B082-284E20E6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592" y="4197531"/>
            <a:ext cx="388543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33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Ligada ao 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533281"/>
            <a:ext cx="11521440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Gene que determina a característica está no cromossomo Y em região heteróloga ao X, ou seja, o cromossomo X não possui o gene.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O gene circula apenas nos machos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Heranças Holândricas / Restritas ao Sexo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Homem afetado tem todos os filhos homens afetados, que terão seus filhos homens também afetados e assim por diante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gene SRY </a:t>
            </a:r>
            <a:r>
              <a:rPr lang="pt-BR" sz="2200" dirty="0">
                <a:sym typeface="Wingdings" panose="05000000000000000000" pitchFamily="2" charset="2"/>
              </a:rPr>
              <a:t> determina a formação do sexo masculino</a:t>
            </a:r>
            <a:endParaRPr lang="pt-BR" sz="2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6D5709-D117-4F23-B70D-B5CCEA1BE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472" y="3972856"/>
            <a:ext cx="4012496" cy="219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1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autossômica influenciada pelo Sexo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26" y="1533281"/>
            <a:ext cx="11704320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Autossômica (FORA dos cromossomos sexuais)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Hormônios sexuais influenciam na expressão da característica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Manifestação diferencial nos sexos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calvície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/>
              <a:t>Alelo C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/>
              <a:t>Homens = “Dominante” (CC e </a:t>
            </a:r>
            <a:r>
              <a:rPr lang="pt-BR" sz="2200" dirty="0" err="1"/>
              <a:t>Cc</a:t>
            </a:r>
            <a:r>
              <a:rPr lang="pt-BR" sz="2200" dirty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200" dirty="0"/>
              <a:t>Fêmeas = “Recessivo” (CC) </a:t>
            </a:r>
            <a:r>
              <a:rPr lang="pt-BR" sz="2200" dirty="0">
                <a:sym typeface="Wingdings" panose="05000000000000000000" pitchFamily="2" charset="2"/>
              </a:rPr>
              <a:t> apenas em homozigose, ou seja, se a fêmea ter os dois genes C que causam a calvície</a:t>
            </a:r>
            <a:endParaRPr lang="pt-BR" sz="2200" dirty="0"/>
          </a:p>
        </p:txBody>
      </p:sp>
      <p:pic>
        <p:nvPicPr>
          <p:cNvPr id="5" name="Imagem 4" descr="Uma imagem contendo screenshot&#10;&#10;Descrição gerada automaticamente">
            <a:extLst>
              <a:ext uri="{FF2B5EF4-FFF2-40B4-BE49-F238E27FC236}">
                <a16:creationId xmlns:a16="http://schemas.microsoft.com/office/drawing/2014/main" id="{0FFF2CA1-B8BB-4CE5-AB53-12922523E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51" y="4543560"/>
            <a:ext cx="3982006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89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Herança autossômica restrita ao sexo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59" y="1489738"/>
            <a:ext cx="11574689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Autossômica (FORA dos cromossomos sexuais)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Só se manifesta em um dos sexos por conta dos hormônios sexuais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/>
              <a:t>Gene está presente nos dois sexos porém só se manifesta em um deles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Hipertricose auricular (pelos na orelha) se manifesta apenas em machos, mas as fêmeas também tem o gene</a:t>
            </a:r>
          </a:p>
        </p:txBody>
      </p:sp>
    </p:spTree>
    <p:extLst>
      <p:ext uri="{BB962C8B-B14F-4D97-AF65-F5344CB8AC3E}">
        <p14:creationId xmlns:p14="http://schemas.microsoft.com/office/powerpoint/2010/main" val="3745216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Segunda Lei de Mendel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533281"/>
            <a:ext cx="11608526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Dois ou mais pares de alelos segregam-se independentemente durante a formação dos gametas, os quais se recombinam ao acaso.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É quando trabalhamos com mais de uma característica diferente e esses genes estão em cromossomos não homólogos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Ex</a:t>
            </a:r>
            <a:r>
              <a:rPr lang="pt-BR" sz="2200" dirty="0">
                <a:solidFill>
                  <a:srgbClr val="000000"/>
                </a:solidFill>
              </a:rPr>
              <a:t>: cor e textura das ervilhas</a:t>
            </a:r>
            <a:endParaRPr lang="pt-BR" sz="2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5C1C8F-2858-4DD5-B2C6-21438F22518B}"/>
              </a:ext>
            </a:extLst>
          </p:cNvPr>
          <p:cNvSpPr txBox="1"/>
          <p:nvPr/>
        </p:nvSpPr>
        <p:spPr>
          <a:xfrm>
            <a:off x="2211978" y="3679547"/>
            <a:ext cx="2970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Amarela (pura) x Verde (pura)</a:t>
            </a:r>
          </a:p>
          <a:p>
            <a:pPr algn="ctr"/>
            <a:r>
              <a:rPr lang="pt-BR" dirty="0"/>
              <a:t>=</a:t>
            </a:r>
          </a:p>
          <a:p>
            <a:pPr algn="ctr"/>
            <a:r>
              <a:rPr lang="pt-BR" dirty="0"/>
              <a:t>Amarela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D81800-4E33-4B35-8D41-71BEC6F904CB}"/>
              </a:ext>
            </a:extLst>
          </p:cNvPr>
          <p:cNvSpPr txBox="1"/>
          <p:nvPr/>
        </p:nvSpPr>
        <p:spPr>
          <a:xfrm>
            <a:off x="6749832" y="3679547"/>
            <a:ext cx="2664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Lisa (pura) x Rugosa (pura)</a:t>
            </a:r>
          </a:p>
          <a:p>
            <a:pPr algn="ctr"/>
            <a:r>
              <a:rPr lang="pt-BR" dirty="0"/>
              <a:t>=</a:t>
            </a:r>
          </a:p>
          <a:p>
            <a:pPr algn="ctr"/>
            <a:r>
              <a:rPr lang="pt-BR" dirty="0"/>
              <a:t>Lisa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FD9329-DB28-4DD9-A378-BD7D1AE6A072}"/>
              </a:ext>
            </a:extLst>
          </p:cNvPr>
          <p:cNvSpPr txBox="1"/>
          <p:nvPr/>
        </p:nvSpPr>
        <p:spPr>
          <a:xfrm>
            <a:off x="3316976" y="5408022"/>
            <a:ext cx="5522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Ou seja, as características dominantes são Amarela e Lisa</a:t>
            </a:r>
          </a:p>
        </p:txBody>
      </p:sp>
    </p:spTree>
    <p:extLst>
      <p:ext uri="{BB962C8B-B14F-4D97-AF65-F5344CB8AC3E}">
        <p14:creationId xmlns:p14="http://schemas.microsoft.com/office/powerpoint/2010/main" val="817584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Segunda Lei de Mendel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39" y="1533281"/>
            <a:ext cx="11634651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Dois ou mais pares de alelos segregam-se independentemente durante a formação dos gametas, os quais se recombinam ao acaso.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É quando trabalhamos com mais de uma característica diferente e esses genes estão em cromossomos não homólogos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Ex</a:t>
            </a:r>
            <a:r>
              <a:rPr lang="pt-BR" sz="2200" dirty="0">
                <a:solidFill>
                  <a:srgbClr val="000000"/>
                </a:solidFill>
              </a:rPr>
              <a:t>: cor e textura das ervilhas</a:t>
            </a:r>
            <a:endParaRPr lang="pt-BR" sz="2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5C1C8F-2858-4DD5-B2C6-21438F22518B}"/>
              </a:ext>
            </a:extLst>
          </p:cNvPr>
          <p:cNvSpPr txBox="1"/>
          <p:nvPr/>
        </p:nvSpPr>
        <p:spPr>
          <a:xfrm>
            <a:off x="2308617" y="3416002"/>
            <a:ext cx="2970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Amarela (pura) x Verde (pura)</a:t>
            </a:r>
          </a:p>
          <a:p>
            <a:pPr algn="ctr"/>
            <a:r>
              <a:rPr lang="pt-BR" dirty="0"/>
              <a:t>=</a:t>
            </a:r>
          </a:p>
          <a:p>
            <a:pPr algn="ctr"/>
            <a:r>
              <a:rPr lang="pt-BR" dirty="0"/>
              <a:t>Amarela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D81800-4E33-4B35-8D41-71BEC6F904CB}"/>
              </a:ext>
            </a:extLst>
          </p:cNvPr>
          <p:cNvSpPr txBox="1"/>
          <p:nvPr/>
        </p:nvSpPr>
        <p:spPr>
          <a:xfrm>
            <a:off x="6742473" y="3307403"/>
            <a:ext cx="2664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Lisa (pura) x Rugosa (pura)</a:t>
            </a:r>
          </a:p>
          <a:p>
            <a:pPr algn="ctr"/>
            <a:r>
              <a:rPr lang="pt-BR" dirty="0"/>
              <a:t>=</a:t>
            </a:r>
          </a:p>
          <a:p>
            <a:pPr algn="ctr"/>
            <a:r>
              <a:rPr lang="pt-BR" dirty="0"/>
              <a:t>Lisa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FD9329-DB28-4DD9-A378-BD7D1AE6A072}"/>
              </a:ext>
            </a:extLst>
          </p:cNvPr>
          <p:cNvSpPr txBox="1"/>
          <p:nvPr/>
        </p:nvSpPr>
        <p:spPr>
          <a:xfrm>
            <a:off x="539932" y="4417881"/>
            <a:ext cx="11408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Ou seja, as características dominantes são Amarela e Lisa porém uma ervilha pode ser amarela e lisa ao mesmo tempo, assim como pode ser verde e lisa ou amarela e rugosa ou verde e lisa</a:t>
            </a:r>
          </a:p>
        </p:txBody>
      </p:sp>
      <p:pic>
        <p:nvPicPr>
          <p:cNvPr id="9" name="Imagem 8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8BB81478-7E31-4466-9121-71AED5C40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045" y="5087925"/>
            <a:ext cx="7048248" cy="147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16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423" y="20570"/>
            <a:ext cx="8917578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Mas antes...quantos gametas são formados?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74" y="1533281"/>
            <a:ext cx="11643360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Saber determinar os gametas produzidos por um indivíduo é fundamental para fazermos quadros de </a:t>
            </a:r>
            <a:r>
              <a:rPr lang="pt-BR" sz="2000" dirty="0" err="1">
                <a:solidFill>
                  <a:srgbClr val="000000"/>
                </a:solidFill>
              </a:rPr>
              <a:t>Punnett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Quando trabalhamos com apenas 1 gene é mais fácil, por exemplo, um organismo heterozigoto (Aa) produz metade dos seus gametas com ‘A’ e a outra metade com ‘a’. Um organismo AA produzirá todos os seus gametas com ‘A’.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Mas como seriam os gametas de um organismo </a:t>
            </a:r>
            <a:r>
              <a:rPr lang="pt-BR" sz="2000" dirty="0" err="1">
                <a:solidFill>
                  <a:srgbClr val="000000"/>
                </a:solidFill>
              </a:rPr>
              <a:t>AaBb</a:t>
            </a:r>
            <a:r>
              <a:rPr lang="pt-BR" sz="2000" dirty="0">
                <a:solidFill>
                  <a:srgbClr val="000000"/>
                </a:solidFill>
              </a:rPr>
              <a:t>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Para sabermos quantos gametas diferentes um organismo produz utilizamos a fórmula:</a:t>
            </a:r>
          </a:p>
          <a:p>
            <a:pPr marL="0" indent="0" algn="ctr">
              <a:buNone/>
            </a:pPr>
            <a:r>
              <a:rPr lang="pt-BR" sz="2400" dirty="0">
                <a:solidFill>
                  <a:srgbClr val="000000"/>
                </a:solidFill>
              </a:rPr>
              <a:t>Gametas diferentes = 2</a:t>
            </a:r>
            <a:r>
              <a:rPr lang="pt-BR" sz="2400" baseline="30000" dirty="0">
                <a:solidFill>
                  <a:srgbClr val="000000"/>
                </a:solidFill>
              </a:rPr>
              <a:t>n</a:t>
            </a:r>
          </a:p>
          <a:p>
            <a:pPr marL="0" indent="0" algn="ctr">
              <a:buNone/>
            </a:pPr>
            <a:endParaRPr lang="pt-BR" sz="2400" baseline="300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 err="1"/>
              <a:t>Exs</a:t>
            </a:r>
            <a:r>
              <a:rPr lang="pt-BR" sz="1800" dirty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/>
              <a:t>Aa = 2</a:t>
            </a:r>
            <a:r>
              <a:rPr lang="pt-BR" sz="1800" baseline="30000" dirty="0"/>
              <a:t>n</a:t>
            </a:r>
            <a:r>
              <a:rPr lang="pt-BR" sz="1800" dirty="0"/>
              <a:t> = 2</a:t>
            </a:r>
            <a:r>
              <a:rPr lang="pt-BR" sz="1800" baseline="30000" dirty="0"/>
              <a:t>1</a:t>
            </a:r>
            <a:r>
              <a:rPr lang="pt-BR" sz="1800" dirty="0"/>
              <a:t> = 2 </a:t>
            </a:r>
            <a:r>
              <a:rPr lang="pt-BR" sz="1800" dirty="0">
                <a:sym typeface="Wingdings" panose="05000000000000000000" pitchFamily="2" charset="2"/>
              </a:rPr>
              <a:t> 2 gametas diferentes: 50% ‘A’ e 50% ‘a’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AA = 2</a:t>
            </a:r>
            <a:r>
              <a:rPr lang="pt-BR" sz="1800" baseline="30000" dirty="0">
                <a:sym typeface="Wingdings" panose="05000000000000000000" pitchFamily="2" charset="2"/>
              </a:rPr>
              <a:t>n</a:t>
            </a:r>
            <a:r>
              <a:rPr lang="pt-BR" sz="1800" dirty="0">
                <a:sym typeface="Wingdings" panose="05000000000000000000" pitchFamily="2" charset="2"/>
              </a:rPr>
              <a:t> = 2</a:t>
            </a:r>
            <a:r>
              <a:rPr lang="pt-BR" sz="1800" baseline="30000" dirty="0">
                <a:sym typeface="Wingdings" panose="05000000000000000000" pitchFamily="2" charset="2"/>
              </a:rPr>
              <a:t>0</a:t>
            </a:r>
            <a:r>
              <a:rPr lang="pt-BR" sz="1800" dirty="0">
                <a:sym typeface="Wingdings" panose="05000000000000000000" pitchFamily="2" charset="2"/>
              </a:rPr>
              <a:t> = 1  1 gameta diferente: 100% ‘A’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 err="1"/>
              <a:t>AaBb</a:t>
            </a:r>
            <a:r>
              <a:rPr lang="pt-BR" sz="1800" dirty="0"/>
              <a:t> = 2</a:t>
            </a:r>
            <a:r>
              <a:rPr lang="pt-BR" sz="1800" baseline="30000" dirty="0"/>
              <a:t>n</a:t>
            </a:r>
            <a:r>
              <a:rPr lang="pt-BR" sz="1800" dirty="0"/>
              <a:t> = 2</a:t>
            </a:r>
            <a:r>
              <a:rPr lang="pt-BR" sz="1800" baseline="30000" dirty="0"/>
              <a:t>2</a:t>
            </a:r>
            <a:r>
              <a:rPr lang="pt-BR" sz="1800" dirty="0"/>
              <a:t> = 4 </a:t>
            </a:r>
            <a:r>
              <a:rPr lang="pt-BR" sz="1800" dirty="0">
                <a:sym typeface="Wingdings" panose="05000000000000000000" pitchFamily="2" charset="2"/>
              </a:rPr>
              <a:t> 4 gametas diferentes: 25% ‘AB’, 25% ‘</a:t>
            </a:r>
            <a:r>
              <a:rPr lang="pt-BR" sz="1800" dirty="0" err="1">
                <a:sym typeface="Wingdings" panose="05000000000000000000" pitchFamily="2" charset="2"/>
              </a:rPr>
              <a:t>Ab</a:t>
            </a:r>
            <a:r>
              <a:rPr lang="pt-BR" sz="1800" dirty="0">
                <a:sym typeface="Wingdings" panose="05000000000000000000" pitchFamily="2" charset="2"/>
              </a:rPr>
              <a:t>’, 25% ‘</a:t>
            </a:r>
            <a:r>
              <a:rPr lang="pt-BR" sz="1800" dirty="0" err="1">
                <a:sym typeface="Wingdings" panose="05000000000000000000" pitchFamily="2" charset="2"/>
              </a:rPr>
              <a:t>aB</a:t>
            </a:r>
            <a:r>
              <a:rPr lang="pt-BR" sz="1800" dirty="0">
                <a:sym typeface="Wingdings" panose="05000000000000000000" pitchFamily="2" charset="2"/>
              </a:rPr>
              <a:t>’, 25% ‘</a:t>
            </a:r>
            <a:r>
              <a:rPr lang="pt-BR" sz="1800" dirty="0" err="1">
                <a:sym typeface="Wingdings" panose="05000000000000000000" pitchFamily="2" charset="2"/>
              </a:rPr>
              <a:t>ab</a:t>
            </a:r>
            <a:r>
              <a:rPr lang="pt-BR" sz="1800" dirty="0">
                <a:sym typeface="Wingdings" panose="05000000000000000000" pitchFamily="2" charset="2"/>
              </a:rPr>
              <a:t>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 err="1">
                <a:sym typeface="Wingdings" panose="05000000000000000000" pitchFamily="2" charset="2"/>
              </a:rPr>
              <a:t>AABb</a:t>
            </a:r>
            <a:r>
              <a:rPr lang="pt-BR" sz="1800" dirty="0">
                <a:sym typeface="Wingdings" panose="05000000000000000000" pitchFamily="2" charset="2"/>
              </a:rPr>
              <a:t> = 2</a:t>
            </a:r>
            <a:r>
              <a:rPr lang="pt-BR" sz="1800" baseline="30000" dirty="0">
                <a:sym typeface="Wingdings" panose="05000000000000000000" pitchFamily="2" charset="2"/>
              </a:rPr>
              <a:t>n</a:t>
            </a:r>
            <a:r>
              <a:rPr lang="pt-BR" sz="1800" dirty="0">
                <a:sym typeface="Wingdings" panose="05000000000000000000" pitchFamily="2" charset="2"/>
              </a:rPr>
              <a:t> = 2</a:t>
            </a:r>
            <a:r>
              <a:rPr lang="pt-BR" sz="1800" baseline="30000" dirty="0">
                <a:sym typeface="Wingdings" panose="05000000000000000000" pitchFamily="2" charset="2"/>
              </a:rPr>
              <a:t>1</a:t>
            </a:r>
            <a:r>
              <a:rPr lang="pt-BR" sz="1800" dirty="0">
                <a:sym typeface="Wingdings" panose="05000000000000000000" pitchFamily="2" charset="2"/>
              </a:rPr>
              <a:t> = 2  2 gametas diferentes: 50% ‘AB’ e 50% ‘</a:t>
            </a:r>
            <a:r>
              <a:rPr lang="pt-BR" sz="1800" dirty="0" err="1">
                <a:sym typeface="Wingdings" panose="05000000000000000000" pitchFamily="2" charset="2"/>
              </a:rPr>
              <a:t>Ab</a:t>
            </a:r>
            <a:r>
              <a:rPr lang="pt-BR" sz="1800" dirty="0">
                <a:sym typeface="Wingdings" panose="05000000000000000000" pitchFamily="2" charset="2"/>
              </a:rPr>
              <a:t>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1800" dirty="0" err="1"/>
              <a:t>AaBbCcDdEe</a:t>
            </a:r>
            <a:r>
              <a:rPr lang="pt-BR" sz="1800" dirty="0"/>
              <a:t> = 2</a:t>
            </a:r>
            <a:r>
              <a:rPr lang="pt-BR" sz="1800" baseline="30000" dirty="0"/>
              <a:t>n</a:t>
            </a:r>
            <a:r>
              <a:rPr lang="pt-BR" sz="1800" dirty="0"/>
              <a:t> = 2</a:t>
            </a:r>
            <a:r>
              <a:rPr lang="pt-BR" sz="1800" baseline="30000" dirty="0"/>
              <a:t>5 </a:t>
            </a:r>
            <a:r>
              <a:rPr lang="pt-BR" sz="1800" dirty="0"/>
              <a:t>= 32 </a:t>
            </a:r>
            <a:r>
              <a:rPr lang="pt-BR" sz="1800" dirty="0">
                <a:sym typeface="Wingdings" panose="05000000000000000000" pitchFamily="2" charset="2"/>
              </a:rPr>
              <a:t> 32 gametas diferentes</a:t>
            </a:r>
            <a:endParaRPr lang="pt-BR" sz="1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A405E0-E779-4E2F-BF32-6488B587B5BA}"/>
              </a:ext>
            </a:extLst>
          </p:cNvPr>
          <p:cNvSpPr txBox="1"/>
          <p:nvPr/>
        </p:nvSpPr>
        <p:spPr>
          <a:xfrm>
            <a:off x="8011532" y="4052340"/>
            <a:ext cx="2402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 = genes em </a:t>
            </a:r>
            <a:r>
              <a:rPr lang="pt-BR" sz="1600" dirty="0" err="1"/>
              <a:t>heterozigose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7634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E como formar os gametas?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533281"/>
            <a:ext cx="11347269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Vamos pegar um alelo do primeiro gene e combinar com todos os alelos do outro gene (um por vez) e depois fazemos o mesmo com o segundo alelo do primeiro gene.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 err="1">
                <a:solidFill>
                  <a:srgbClr val="000000"/>
                </a:solidFill>
              </a:rPr>
              <a:t>Ex</a:t>
            </a:r>
            <a:r>
              <a:rPr lang="pt-BR" sz="2200" dirty="0">
                <a:solidFill>
                  <a:srgbClr val="000000"/>
                </a:solidFill>
              </a:rPr>
              <a:t>: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endParaRPr lang="pt-BR" sz="2200" dirty="0">
              <a:solidFill>
                <a:srgbClr val="000000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Primeiro alelo do primeiro gene = ‘A’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Vamos combinar este alelo com os dois alelos do segundo gene, um de cada vez, ou seja, ‘AB’ e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Já temos 2 gametas, sabemos que são 4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Agora pegamos o segundo alelo do primeiro gene = ‘a’ e fazemos o mesmo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Vamos combinar ele com os dois alelos do segundo gene, um de cada vez, ou seja,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 e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0000"/>
                </a:solidFill>
              </a:rPr>
              <a:t>Então temos os 4 gametas = ‘AB’,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’,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 e ‘</a:t>
            </a:r>
            <a:r>
              <a:rPr lang="pt-BR" sz="2000" dirty="0" err="1">
                <a:solidFill>
                  <a:srgbClr val="000000"/>
                </a:solidFill>
              </a:rPr>
              <a:t>ab</a:t>
            </a:r>
            <a:r>
              <a:rPr lang="pt-BR" sz="2000" dirty="0">
                <a:solidFill>
                  <a:srgbClr val="000000"/>
                </a:solidFill>
              </a:rPr>
              <a:t>’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24CB48-3820-4831-AA4D-C727E169F51A}"/>
              </a:ext>
            </a:extLst>
          </p:cNvPr>
          <p:cNvSpPr txBox="1"/>
          <p:nvPr/>
        </p:nvSpPr>
        <p:spPr>
          <a:xfrm>
            <a:off x="6611379" y="5184082"/>
            <a:ext cx="1058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err="1"/>
              <a:t>AaBb</a:t>
            </a:r>
            <a:endParaRPr lang="pt-BR" sz="3200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5343294-727E-4225-889F-00CF0EF0C93C}"/>
              </a:ext>
            </a:extLst>
          </p:cNvPr>
          <p:cNvCxnSpPr/>
          <p:nvPr/>
        </p:nvCxnSpPr>
        <p:spPr>
          <a:xfrm>
            <a:off x="6802967" y="5768857"/>
            <a:ext cx="0" cy="684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9DE2D19-8857-4262-A0BB-2D75DF084F3D}"/>
              </a:ext>
            </a:extLst>
          </p:cNvPr>
          <p:cNvCxnSpPr/>
          <p:nvPr/>
        </p:nvCxnSpPr>
        <p:spPr>
          <a:xfrm>
            <a:off x="6802968" y="6453051"/>
            <a:ext cx="461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B975875-9641-4A0C-B099-E4495681247D}"/>
              </a:ext>
            </a:extLst>
          </p:cNvPr>
          <p:cNvCxnSpPr/>
          <p:nvPr/>
        </p:nvCxnSpPr>
        <p:spPr>
          <a:xfrm>
            <a:off x="7264520" y="5768857"/>
            <a:ext cx="0" cy="684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02F982D-0C8C-47C9-B1AF-BC9EC4C6ED8B}"/>
              </a:ext>
            </a:extLst>
          </p:cNvPr>
          <p:cNvCxnSpPr/>
          <p:nvPr/>
        </p:nvCxnSpPr>
        <p:spPr>
          <a:xfrm flipV="1">
            <a:off x="6802967" y="4563291"/>
            <a:ext cx="0" cy="6207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0FE6F34-61BF-4D1F-A921-796CC7CFB1E5}"/>
              </a:ext>
            </a:extLst>
          </p:cNvPr>
          <p:cNvCxnSpPr/>
          <p:nvPr/>
        </p:nvCxnSpPr>
        <p:spPr>
          <a:xfrm>
            <a:off x="6802967" y="4563291"/>
            <a:ext cx="6689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55675B0-FA56-4CBD-8393-8A9DCBCF71F5}"/>
              </a:ext>
            </a:extLst>
          </p:cNvPr>
          <p:cNvCxnSpPr/>
          <p:nvPr/>
        </p:nvCxnSpPr>
        <p:spPr>
          <a:xfrm>
            <a:off x="7471955" y="4563291"/>
            <a:ext cx="0" cy="6207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852835A-DBCA-4E28-BC71-BE301F563BDB}"/>
              </a:ext>
            </a:extLst>
          </p:cNvPr>
          <p:cNvCxnSpPr/>
          <p:nvPr/>
        </p:nvCxnSpPr>
        <p:spPr>
          <a:xfrm flipV="1">
            <a:off x="7001692" y="4859383"/>
            <a:ext cx="0" cy="40059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73666D8-7DA7-4632-960D-0DB2253CABD6}"/>
              </a:ext>
            </a:extLst>
          </p:cNvPr>
          <p:cNvCxnSpPr/>
          <p:nvPr/>
        </p:nvCxnSpPr>
        <p:spPr>
          <a:xfrm>
            <a:off x="7001692" y="4859382"/>
            <a:ext cx="26282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A933680-483C-48A8-BF2E-8E2D25EE690F}"/>
              </a:ext>
            </a:extLst>
          </p:cNvPr>
          <p:cNvCxnSpPr/>
          <p:nvPr/>
        </p:nvCxnSpPr>
        <p:spPr>
          <a:xfrm>
            <a:off x="7264520" y="4859383"/>
            <a:ext cx="0" cy="32469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E6A3672-2558-4E4C-9DB8-F15D45E18E5C}"/>
              </a:ext>
            </a:extLst>
          </p:cNvPr>
          <p:cNvCxnSpPr/>
          <p:nvPr/>
        </p:nvCxnSpPr>
        <p:spPr>
          <a:xfrm>
            <a:off x="7001692" y="5768856"/>
            <a:ext cx="0" cy="422938"/>
          </a:xfrm>
          <a:prstGeom prst="line">
            <a:avLst/>
          </a:prstGeom>
          <a:ln>
            <a:solidFill>
              <a:srgbClr val="FF89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BE89669-269A-4050-AFD1-F39C2EFCEA70}"/>
              </a:ext>
            </a:extLst>
          </p:cNvPr>
          <p:cNvCxnSpPr/>
          <p:nvPr/>
        </p:nvCxnSpPr>
        <p:spPr>
          <a:xfrm>
            <a:off x="7001693" y="6191794"/>
            <a:ext cx="470263" cy="0"/>
          </a:xfrm>
          <a:prstGeom prst="line">
            <a:avLst/>
          </a:prstGeom>
          <a:ln>
            <a:solidFill>
              <a:srgbClr val="FF89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C1E3EBC9-653A-439B-AB89-EDF18E63712A}"/>
              </a:ext>
            </a:extLst>
          </p:cNvPr>
          <p:cNvCxnSpPr/>
          <p:nvPr/>
        </p:nvCxnSpPr>
        <p:spPr>
          <a:xfrm flipV="1">
            <a:off x="7471955" y="5768856"/>
            <a:ext cx="0" cy="422938"/>
          </a:xfrm>
          <a:prstGeom prst="line">
            <a:avLst/>
          </a:prstGeom>
          <a:ln>
            <a:solidFill>
              <a:srgbClr val="FF89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394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91018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463" y="20570"/>
            <a:ext cx="8978538" cy="910182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Segunda Lei de Mendel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039AC67-3C38-4E1C-BB3D-71B3809D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4" y="951322"/>
            <a:ext cx="8401050" cy="579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33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Segunda Lei e o Quadro de </a:t>
            </a:r>
            <a:r>
              <a:rPr lang="pt-BR" sz="3500" b="1" dirty="0" err="1">
                <a:solidFill>
                  <a:schemeClr val="bg1"/>
                </a:solidFill>
              </a:rPr>
              <a:t>Punnett</a:t>
            </a:r>
            <a:endParaRPr lang="pt-BR" sz="35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048" y="1533281"/>
            <a:ext cx="8814072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Forma 1 = Quadro de 16 posições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Cruzamento = </a:t>
            </a:r>
            <a:r>
              <a:rPr lang="pt-BR" sz="1800" dirty="0" err="1">
                <a:solidFill>
                  <a:srgbClr val="000000"/>
                </a:solidFill>
              </a:rPr>
              <a:t>VvRr</a:t>
            </a:r>
            <a:r>
              <a:rPr lang="pt-BR" sz="1800" dirty="0">
                <a:solidFill>
                  <a:srgbClr val="000000"/>
                </a:solidFill>
              </a:rPr>
              <a:t> x </a:t>
            </a:r>
            <a:r>
              <a:rPr lang="pt-BR" sz="1800" dirty="0" err="1">
                <a:solidFill>
                  <a:srgbClr val="000000"/>
                </a:solidFill>
              </a:rPr>
              <a:t>VvRr</a:t>
            </a:r>
            <a:endParaRPr lang="pt-BR" sz="18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000000"/>
                </a:solidFill>
              </a:rPr>
              <a:t>Gametas: VR; </a:t>
            </a:r>
            <a:r>
              <a:rPr lang="pt-BR" sz="1800" dirty="0" err="1">
                <a:solidFill>
                  <a:srgbClr val="000000"/>
                </a:solidFill>
              </a:rPr>
              <a:t>Vr</a:t>
            </a:r>
            <a:r>
              <a:rPr lang="pt-BR" sz="1800" dirty="0">
                <a:solidFill>
                  <a:srgbClr val="000000"/>
                </a:solidFill>
              </a:rPr>
              <a:t>; </a:t>
            </a:r>
            <a:r>
              <a:rPr lang="pt-BR" sz="1800" dirty="0" err="1">
                <a:solidFill>
                  <a:srgbClr val="000000"/>
                </a:solidFill>
              </a:rPr>
              <a:t>vR</a:t>
            </a:r>
            <a:r>
              <a:rPr lang="pt-BR" sz="1800" dirty="0">
                <a:solidFill>
                  <a:srgbClr val="000000"/>
                </a:solidFill>
              </a:rPr>
              <a:t>; </a:t>
            </a:r>
            <a:r>
              <a:rPr lang="pt-BR" sz="1800" dirty="0" err="1">
                <a:solidFill>
                  <a:srgbClr val="000000"/>
                </a:solidFill>
              </a:rPr>
              <a:t>vr</a:t>
            </a:r>
            <a:r>
              <a:rPr lang="pt-BR" sz="1800" dirty="0">
                <a:solidFill>
                  <a:srgbClr val="000000"/>
                </a:solidFill>
              </a:rPr>
              <a:t> (para cada indivíduo)</a:t>
            </a:r>
            <a:endParaRPr lang="pt-BR" sz="1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0BF307-E67C-440F-9321-D55095530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18" y="3739652"/>
            <a:ext cx="3514725" cy="28098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19DFB9-942F-4A41-AF98-715355AE5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397" y="4739776"/>
            <a:ext cx="1095375" cy="8096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10259A7-6E6D-4A8E-A068-38A87B43C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034" y="3812178"/>
            <a:ext cx="3552825" cy="280035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B7AD2A-39CD-40FA-91FA-67E016EBA3EC}"/>
              </a:ext>
            </a:extLst>
          </p:cNvPr>
          <p:cNvSpPr txBox="1"/>
          <p:nvPr/>
        </p:nvSpPr>
        <p:spPr>
          <a:xfrm>
            <a:off x="6863126" y="1420071"/>
            <a:ext cx="156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Amarelo e Liso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DC2E05-8947-4069-B142-E862AD674AD0}"/>
              </a:ext>
            </a:extLst>
          </p:cNvPr>
          <p:cNvSpPr txBox="1"/>
          <p:nvPr/>
        </p:nvSpPr>
        <p:spPr>
          <a:xfrm>
            <a:off x="8304647" y="139365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(V_R_)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2524F6C-2FED-4F9D-8B42-FC0DFAC159EF}"/>
              </a:ext>
            </a:extLst>
          </p:cNvPr>
          <p:cNvSpPr txBox="1"/>
          <p:nvPr/>
        </p:nvSpPr>
        <p:spPr>
          <a:xfrm>
            <a:off x="6537716" y="1962629"/>
            <a:ext cx="188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Amarelo e Rugoso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131CE0B-6342-4948-9CD3-F2103312AE3E}"/>
              </a:ext>
            </a:extLst>
          </p:cNvPr>
          <p:cNvSpPr txBox="1"/>
          <p:nvPr/>
        </p:nvSpPr>
        <p:spPr>
          <a:xfrm>
            <a:off x="8304647" y="1937449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</a:t>
            </a:r>
            <a:r>
              <a:rPr lang="pt-BR" dirty="0" err="1"/>
              <a:t>V_rr</a:t>
            </a:r>
            <a:r>
              <a:rPr lang="pt-BR" dirty="0"/>
              <a:t>)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B4D4604-5D4F-44B5-B264-56CFA99B07AD}"/>
              </a:ext>
            </a:extLst>
          </p:cNvPr>
          <p:cNvSpPr txBox="1"/>
          <p:nvPr/>
        </p:nvSpPr>
        <p:spPr>
          <a:xfrm>
            <a:off x="6985947" y="2574673"/>
            <a:ext cx="131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Verde e Liso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0486EC0-56E2-44E9-B018-041DD98691F4}"/>
              </a:ext>
            </a:extLst>
          </p:cNvPr>
          <p:cNvSpPr txBox="1"/>
          <p:nvPr/>
        </p:nvSpPr>
        <p:spPr>
          <a:xfrm>
            <a:off x="8304646" y="2549493"/>
            <a:ext cx="77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</a:t>
            </a:r>
            <a:r>
              <a:rPr lang="pt-BR" dirty="0" err="1"/>
              <a:t>vvR</a:t>
            </a:r>
            <a:r>
              <a:rPr lang="pt-BR" dirty="0"/>
              <a:t>_)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998CC8C-5C71-4690-8D20-7272F0528788}"/>
              </a:ext>
            </a:extLst>
          </p:cNvPr>
          <p:cNvSpPr txBox="1"/>
          <p:nvPr/>
        </p:nvSpPr>
        <p:spPr>
          <a:xfrm>
            <a:off x="6805025" y="3075017"/>
            <a:ext cx="164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Verde e Rugoso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48CCCA-2A2B-4A9F-BC59-91DC67D48F8D}"/>
              </a:ext>
            </a:extLst>
          </p:cNvPr>
          <p:cNvSpPr txBox="1"/>
          <p:nvPr/>
        </p:nvSpPr>
        <p:spPr>
          <a:xfrm>
            <a:off x="8392254" y="3049837"/>
            <a:ext cx="695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</a:t>
            </a:r>
            <a:r>
              <a:rPr lang="pt-BR" dirty="0" err="1"/>
              <a:t>vvrr</a:t>
            </a:r>
            <a:r>
              <a:rPr lang="pt-BR" dirty="0"/>
              <a:t>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A6C2200-B62E-4986-B819-E3D773B5B691}"/>
              </a:ext>
            </a:extLst>
          </p:cNvPr>
          <p:cNvSpPr txBox="1"/>
          <p:nvPr/>
        </p:nvSpPr>
        <p:spPr>
          <a:xfrm>
            <a:off x="9328358" y="1397676"/>
            <a:ext cx="6254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9/16</a:t>
            </a:r>
          </a:p>
          <a:p>
            <a:endParaRPr lang="pt-BR" dirty="0"/>
          </a:p>
          <a:p>
            <a:r>
              <a:rPr lang="pt-BR" dirty="0"/>
              <a:t>3/16</a:t>
            </a:r>
          </a:p>
          <a:p>
            <a:endParaRPr lang="pt-BR" dirty="0"/>
          </a:p>
          <a:p>
            <a:r>
              <a:rPr lang="pt-BR" dirty="0"/>
              <a:t>3/16</a:t>
            </a:r>
          </a:p>
          <a:p>
            <a:endParaRPr lang="pt-BR" dirty="0"/>
          </a:p>
          <a:p>
            <a:r>
              <a:rPr lang="pt-BR" dirty="0"/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19818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5" grpId="0"/>
      <p:bldP spid="27" grpId="0"/>
      <p:bldP spid="29" grpId="0"/>
      <p:bldP spid="31" grpId="0"/>
      <p:bldP spid="33" grpId="0"/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4001" cy="1325563"/>
          </a:xfrm>
        </p:spPr>
        <p:txBody>
          <a:bodyPr>
            <a:normAutofit/>
          </a:bodyPr>
          <a:lstStyle/>
          <a:p>
            <a:pPr algn="ctr"/>
            <a:r>
              <a:rPr lang="pt-BR" sz="3500" b="1" dirty="0">
                <a:solidFill>
                  <a:schemeClr val="bg1"/>
                </a:solidFill>
              </a:rPr>
              <a:t>Outra forma de fazer...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46" y="1533281"/>
            <a:ext cx="11373394" cy="521586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Em vez de fazer um grande quadro de </a:t>
            </a:r>
            <a:r>
              <a:rPr lang="pt-BR" sz="2200" dirty="0" err="1">
                <a:solidFill>
                  <a:srgbClr val="000000"/>
                </a:solidFill>
              </a:rPr>
              <a:t>punnett</a:t>
            </a:r>
            <a:r>
              <a:rPr lang="pt-BR" sz="2200" dirty="0">
                <a:solidFill>
                  <a:srgbClr val="000000"/>
                </a:solidFill>
              </a:rPr>
              <a:t>, que pode gerar confusão, podemos fazer 2 pequenos quadros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Ex: queremos cruzar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r>
              <a:rPr lang="pt-BR" sz="2200" dirty="0">
                <a:solidFill>
                  <a:srgbClr val="000000"/>
                </a:solidFill>
              </a:rPr>
              <a:t> x </a:t>
            </a:r>
            <a:r>
              <a:rPr lang="pt-BR" sz="2200" dirty="0" err="1">
                <a:solidFill>
                  <a:srgbClr val="000000"/>
                </a:solidFill>
              </a:rPr>
              <a:t>AaBb</a:t>
            </a:r>
            <a:endParaRPr lang="pt-BR" sz="2200" dirty="0">
              <a:solidFill>
                <a:srgbClr val="00000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000000"/>
                </a:solidFill>
              </a:rPr>
              <a:t>Primeiro cruzamos o gene A e depois o gene B e multiplicamos os resultados de acordo com o que queremos</a:t>
            </a:r>
            <a:endParaRPr lang="pt-BR" sz="2200" dirty="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D895CA6-3EC2-44DC-BB7E-99E69CDA33E6}"/>
              </a:ext>
            </a:extLst>
          </p:cNvPr>
          <p:cNvCxnSpPr>
            <a:cxnSpLocks/>
          </p:cNvCxnSpPr>
          <p:nvPr/>
        </p:nvCxnSpPr>
        <p:spPr>
          <a:xfrm>
            <a:off x="3061063" y="3619778"/>
            <a:ext cx="0" cy="2151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C16E559-A36B-4AB6-829E-8DEEA837A26D}"/>
              </a:ext>
            </a:extLst>
          </p:cNvPr>
          <p:cNvCxnSpPr>
            <a:cxnSpLocks/>
          </p:cNvCxnSpPr>
          <p:nvPr/>
        </p:nvCxnSpPr>
        <p:spPr>
          <a:xfrm>
            <a:off x="4084320" y="3619778"/>
            <a:ext cx="0" cy="2151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C6EB3105-BA2D-4810-9621-CF6C1D80DD0B}"/>
              </a:ext>
            </a:extLst>
          </p:cNvPr>
          <p:cNvCxnSpPr>
            <a:cxnSpLocks/>
          </p:cNvCxnSpPr>
          <p:nvPr/>
        </p:nvCxnSpPr>
        <p:spPr>
          <a:xfrm flipH="1">
            <a:off x="2011679" y="4403548"/>
            <a:ext cx="30044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47F0470-E79A-41C9-8D69-7B4B38AF721D}"/>
              </a:ext>
            </a:extLst>
          </p:cNvPr>
          <p:cNvCxnSpPr>
            <a:cxnSpLocks/>
          </p:cNvCxnSpPr>
          <p:nvPr/>
        </p:nvCxnSpPr>
        <p:spPr>
          <a:xfrm flipH="1">
            <a:off x="2011679" y="5156840"/>
            <a:ext cx="30044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7C2A772E-EFBA-4F16-BAEB-2145ED13BF23}"/>
              </a:ext>
            </a:extLst>
          </p:cNvPr>
          <p:cNvSpPr/>
          <p:nvPr/>
        </p:nvSpPr>
        <p:spPr>
          <a:xfrm>
            <a:off x="2203268" y="4505603"/>
            <a:ext cx="575652" cy="549185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95D85FF-04D7-4467-82E0-B2E907B986BC}"/>
              </a:ext>
            </a:extLst>
          </p:cNvPr>
          <p:cNvSpPr/>
          <p:nvPr/>
        </p:nvSpPr>
        <p:spPr>
          <a:xfrm>
            <a:off x="2203268" y="5221608"/>
            <a:ext cx="575653" cy="54918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D1C8A15-ECC0-4BA8-A1C5-176AB461BF0A}"/>
              </a:ext>
            </a:extLst>
          </p:cNvPr>
          <p:cNvSpPr/>
          <p:nvPr/>
        </p:nvSpPr>
        <p:spPr>
          <a:xfrm>
            <a:off x="3343207" y="3681002"/>
            <a:ext cx="575654" cy="54918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B66C381-47C2-47EC-A080-618598A4F746}"/>
              </a:ext>
            </a:extLst>
          </p:cNvPr>
          <p:cNvSpPr/>
          <p:nvPr/>
        </p:nvSpPr>
        <p:spPr>
          <a:xfrm>
            <a:off x="4245429" y="3664950"/>
            <a:ext cx="609600" cy="58157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EC13470-E8A6-4342-ACB4-FF6C6F51BD91}"/>
              </a:ext>
            </a:extLst>
          </p:cNvPr>
          <p:cNvSpPr/>
          <p:nvPr/>
        </p:nvSpPr>
        <p:spPr>
          <a:xfrm>
            <a:off x="3226523" y="4484915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AA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102B59B-871A-4B7C-83BF-F71CF8346867}"/>
              </a:ext>
            </a:extLst>
          </p:cNvPr>
          <p:cNvSpPr/>
          <p:nvPr/>
        </p:nvSpPr>
        <p:spPr>
          <a:xfrm>
            <a:off x="3226523" y="5221609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Aa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31D23B5C-CE63-4E37-8EF4-99BD7F92CA78}"/>
              </a:ext>
            </a:extLst>
          </p:cNvPr>
          <p:cNvSpPr/>
          <p:nvPr/>
        </p:nvSpPr>
        <p:spPr>
          <a:xfrm>
            <a:off x="4241962" y="4497713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Aa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558652D2-35B9-4D83-85B2-C8152695B5B5}"/>
              </a:ext>
            </a:extLst>
          </p:cNvPr>
          <p:cNvSpPr/>
          <p:nvPr/>
        </p:nvSpPr>
        <p:spPr>
          <a:xfrm>
            <a:off x="4282444" y="5225152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aa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7C77E63-B2F3-4186-8AEE-2D31910DAAB2}"/>
              </a:ext>
            </a:extLst>
          </p:cNvPr>
          <p:cNvCxnSpPr>
            <a:cxnSpLocks/>
          </p:cNvCxnSpPr>
          <p:nvPr/>
        </p:nvCxnSpPr>
        <p:spPr>
          <a:xfrm>
            <a:off x="6665969" y="3644266"/>
            <a:ext cx="0" cy="2151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A553322-3437-478E-BF51-A6AF82A3AE26}"/>
              </a:ext>
            </a:extLst>
          </p:cNvPr>
          <p:cNvCxnSpPr>
            <a:cxnSpLocks/>
          </p:cNvCxnSpPr>
          <p:nvPr/>
        </p:nvCxnSpPr>
        <p:spPr>
          <a:xfrm>
            <a:off x="7689226" y="3644266"/>
            <a:ext cx="0" cy="21510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71CBBD2-EAAF-485D-A235-46AF4FCF9F9B}"/>
              </a:ext>
            </a:extLst>
          </p:cNvPr>
          <p:cNvCxnSpPr>
            <a:cxnSpLocks/>
          </p:cNvCxnSpPr>
          <p:nvPr/>
        </p:nvCxnSpPr>
        <p:spPr>
          <a:xfrm flipH="1">
            <a:off x="5616585" y="4428036"/>
            <a:ext cx="30044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31DBEDAD-5FC0-4E8D-8B6F-09D654EEF87A}"/>
              </a:ext>
            </a:extLst>
          </p:cNvPr>
          <p:cNvCxnSpPr>
            <a:cxnSpLocks/>
          </p:cNvCxnSpPr>
          <p:nvPr/>
        </p:nvCxnSpPr>
        <p:spPr>
          <a:xfrm flipH="1">
            <a:off x="5616585" y="5181328"/>
            <a:ext cx="30044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255CE4A8-519C-41D8-A6DE-BA1203A15157}"/>
              </a:ext>
            </a:extLst>
          </p:cNvPr>
          <p:cNvSpPr/>
          <p:nvPr/>
        </p:nvSpPr>
        <p:spPr>
          <a:xfrm>
            <a:off x="5808174" y="4530091"/>
            <a:ext cx="575652" cy="549185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8BDFF99-A737-474D-B355-B8516008E159}"/>
              </a:ext>
            </a:extLst>
          </p:cNvPr>
          <p:cNvSpPr/>
          <p:nvPr/>
        </p:nvSpPr>
        <p:spPr>
          <a:xfrm>
            <a:off x="5808174" y="5246096"/>
            <a:ext cx="575653" cy="54918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4DD50B4-89A4-4307-B45F-2269650E0490}"/>
              </a:ext>
            </a:extLst>
          </p:cNvPr>
          <p:cNvSpPr/>
          <p:nvPr/>
        </p:nvSpPr>
        <p:spPr>
          <a:xfrm>
            <a:off x="6948113" y="3705490"/>
            <a:ext cx="575654" cy="549187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5B9288EE-4024-4ED6-B67F-861971E599A7}"/>
              </a:ext>
            </a:extLst>
          </p:cNvPr>
          <p:cNvSpPr/>
          <p:nvPr/>
        </p:nvSpPr>
        <p:spPr>
          <a:xfrm>
            <a:off x="7850335" y="3689438"/>
            <a:ext cx="609600" cy="581573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8BEE4BB2-A10E-436E-806A-757B18BB514A}"/>
              </a:ext>
            </a:extLst>
          </p:cNvPr>
          <p:cNvSpPr/>
          <p:nvPr/>
        </p:nvSpPr>
        <p:spPr>
          <a:xfrm>
            <a:off x="6831429" y="4509403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BB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5E8B92BC-09D1-4095-8D03-1B6C52616529}"/>
              </a:ext>
            </a:extLst>
          </p:cNvPr>
          <p:cNvSpPr/>
          <p:nvPr/>
        </p:nvSpPr>
        <p:spPr>
          <a:xfrm>
            <a:off x="6831429" y="5246097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Bb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D7C0A953-88F7-4C6A-A2BA-74761C8F4D6B}"/>
              </a:ext>
            </a:extLst>
          </p:cNvPr>
          <p:cNvSpPr/>
          <p:nvPr/>
        </p:nvSpPr>
        <p:spPr>
          <a:xfrm>
            <a:off x="7846868" y="4522201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Bb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06E81E3-3753-40BE-9E00-3A08242A8A47}"/>
              </a:ext>
            </a:extLst>
          </p:cNvPr>
          <p:cNvSpPr/>
          <p:nvPr/>
        </p:nvSpPr>
        <p:spPr>
          <a:xfrm>
            <a:off x="7887350" y="5249640"/>
            <a:ext cx="672738" cy="59436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bb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2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3270</TotalTime>
  <Words>1333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Tema do Office</vt:lpstr>
      <vt:lpstr>Genética</vt:lpstr>
      <vt:lpstr>1ª Lei Mendel – Polialelia</vt:lpstr>
      <vt:lpstr>Sistema ABO</vt:lpstr>
      <vt:lpstr>Sistema ABO</vt:lpstr>
      <vt:lpstr>Sistema ABO – Tipagem Sanguínea</vt:lpstr>
      <vt:lpstr>Sistema Rh</vt:lpstr>
      <vt:lpstr>Eritroblastose Fetal</vt:lpstr>
      <vt:lpstr>Herança Sexual</vt:lpstr>
      <vt:lpstr>Herança Ligada ao X</vt:lpstr>
      <vt:lpstr>Herança Ligada ao X recessiva</vt:lpstr>
      <vt:lpstr>Coloração de Gatos</vt:lpstr>
      <vt:lpstr>Herança Ligada ao Y</vt:lpstr>
      <vt:lpstr>Herança autossômica influenciada pelo Sexo</vt:lpstr>
      <vt:lpstr>Herança autossômica restrita ao sexo</vt:lpstr>
      <vt:lpstr>Segunda Lei de Mendel</vt:lpstr>
      <vt:lpstr>Segunda Lei de Mendel</vt:lpstr>
      <vt:lpstr>Mas antes...quantos gametas são formados?</vt:lpstr>
      <vt:lpstr>E como formar os gametas?</vt:lpstr>
      <vt:lpstr>Segunda Lei de Mendel</vt:lpstr>
      <vt:lpstr>Segunda Lei e o Quadro de Punnett</vt:lpstr>
      <vt:lpstr>Outra forma de fazer...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106</cp:revision>
  <dcterms:created xsi:type="dcterms:W3CDTF">2020-06-05T12:13:59Z</dcterms:created>
  <dcterms:modified xsi:type="dcterms:W3CDTF">2021-05-10T20:17:33Z</dcterms:modified>
</cp:coreProperties>
</file>