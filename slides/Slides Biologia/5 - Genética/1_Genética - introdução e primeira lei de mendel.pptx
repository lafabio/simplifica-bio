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3"/>
  </p:sldMasterIdLst>
  <p:notesMasterIdLst>
    <p:notesMasterId r:id="rId4"/>
  </p:notesMasterIdLst>
  <p:sldIdLst>
    <p:sldId id="256" r:id="rId5"/>
    <p:sldId id="257" r:id="rId6"/>
    <p:sldId id="258" r:id="rId7"/>
    <p:sldId id="259" r:id="rId8"/>
    <p:sldId id="260" r:id="rId9"/>
    <p:sldId id="261" r:id="rId10"/>
    <p:sldId id="262" r:id="rId11"/>
    <p:sldId id="263" r:id="rId12"/>
    <p:sldId id="264" r:id="rId13"/>
    <p:sldId id="265" r:id="rId14"/>
    <p:sldId id="266" r:id="rId15"/>
    <p:sldId id="267" r:id="rId16"/>
    <p:sldId id="268" r:id="rId17"/>
    <p:sldId id="269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77" r:id="rId26"/>
  </p:sldIdLst>
  <p:sldSz cy="6858000" cx="12192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http://customooxmlschemas.google.com/">
      <go:slidesCustomData xmlns:go="http://customooxmlschemas.google.com/" r:id="rId27" roundtripDataSignature="AMtx7mhWI3cO8ZBX+kRDNAqAPu7e+FpMY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6.xml"/><Relationship Id="rId22" Type="http://schemas.openxmlformats.org/officeDocument/2006/relationships/slide" Target="slides/slide18.xml"/><Relationship Id="rId21" Type="http://schemas.openxmlformats.org/officeDocument/2006/relationships/slide" Target="slides/slide17.xml"/><Relationship Id="rId24" Type="http://schemas.openxmlformats.org/officeDocument/2006/relationships/slide" Target="slides/slide20.xml"/><Relationship Id="rId23" Type="http://schemas.openxmlformats.org/officeDocument/2006/relationships/slide" Target="slides/slide19.xml"/><Relationship Id="rId1" Type="http://schemas.openxmlformats.org/officeDocument/2006/relationships/theme" Target="theme/theme1.xml"/><Relationship Id="rId2" Type="http://schemas.openxmlformats.org/officeDocument/2006/relationships/presProps" Target="presProps.xml"/><Relationship Id="rId3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9" Type="http://schemas.openxmlformats.org/officeDocument/2006/relationships/slide" Target="slides/slide5.xml"/><Relationship Id="rId26" Type="http://schemas.openxmlformats.org/officeDocument/2006/relationships/slide" Target="slides/slide22.xml"/><Relationship Id="rId25" Type="http://schemas.openxmlformats.org/officeDocument/2006/relationships/slide" Target="slides/slide21.xml"/><Relationship Id="rId27" Type="http://customschemas.google.com/relationships/presentationmetadata" Target="metadata"/><Relationship Id="rId5" Type="http://schemas.openxmlformats.org/officeDocument/2006/relationships/slide" Target="slides/slide1.xml"/><Relationship Id="rId6" Type="http://schemas.openxmlformats.org/officeDocument/2006/relationships/slide" Target="slides/slide2.xml"/><Relationship Id="rId7" Type="http://schemas.openxmlformats.org/officeDocument/2006/relationships/slide" Target="slides/slide3.xml"/><Relationship Id="rId8" Type="http://schemas.openxmlformats.org/officeDocument/2006/relationships/slide" Target="slides/slide4.xml"/><Relationship Id="rId11" Type="http://schemas.openxmlformats.org/officeDocument/2006/relationships/slide" Target="slides/slide7.xml"/><Relationship Id="rId10" Type="http://schemas.openxmlformats.org/officeDocument/2006/relationships/slide" Target="slides/slide6.xml"/><Relationship Id="rId13" Type="http://schemas.openxmlformats.org/officeDocument/2006/relationships/slide" Target="slides/slide9.xml"/><Relationship Id="rId12" Type="http://schemas.openxmlformats.org/officeDocument/2006/relationships/slide" Target="slides/slide8.xml"/><Relationship Id="rId15" Type="http://schemas.openxmlformats.org/officeDocument/2006/relationships/slide" Target="slides/slide11.xml"/><Relationship Id="rId14" Type="http://schemas.openxmlformats.org/officeDocument/2006/relationships/slide" Target="slides/slide10.xml"/><Relationship Id="rId17" Type="http://schemas.openxmlformats.org/officeDocument/2006/relationships/slide" Target="slides/slide13.xml"/><Relationship Id="rId16" Type="http://schemas.openxmlformats.org/officeDocument/2006/relationships/slide" Target="slides/slide12.xml"/><Relationship Id="rId19" Type="http://schemas.openxmlformats.org/officeDocument/2006/relationships/slide" Target="slides/slide15.xml"/><Relationship Id="rId18" Type="http://schemas.openxmlformats.org/officeDocument/2006/relationships/slide" Target="slides/slide14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9" name="Google Shape;89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6" name="Google Shape;96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3" name="Google Shape;103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0" name="Google Shape;110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0" name="Google Shape;120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4" name="Google Shape;134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2" name="Shape 1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3" name="Google Shape;15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54" name="Google Shape;15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0" name="Google Shape;190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5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97" name="Google Shape;197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p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3" name="Google Shape;213;p1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8" name="Google Shape;228;p1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5" name="Shape 2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Google Shape;236;p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7" name="Google Shape;237;p1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5" name="Shape 2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Google Shape;256;p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57" name="Google Shape;257;p1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0" name="Shape 2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1" name="Google Shape;291;p1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92" name="Google Shape;292;p1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4" name="Shape 3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1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26" name="Google Shape;326;p1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p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6" name="Google Shape;346;p1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6" name="Shape 3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7" name="Google Shape;367;p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68" name="Google Shape;368;p1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3" name="Shape 3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4" name="Google Shape;374;p1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5" name="Google Shape;375;p1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1" name="Shape 3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2" name="Google Shape;382;p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3" name="Google Shape;383;p2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9" name="Shape 3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0" name="Google Shape;390;p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1" name="Google Shape;391;p2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99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0" name="Google Shape;400;p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01" name="Google Shape;401;p2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lide de Título" type="title">
  <p:cSld name="TITLE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4"/>
          <p:cNvSpPr txBox="1"/>
          <p:nvPr>
            <p:ph type="ctrTitle"/>
          </p:nvPr>
        </p:nvSpPr>
        <p:spPr>
          <a:xfrm>
            <a:off x="1524000" y="1122363"/>
            <a:ext cx="9144000" cy="2387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4"/>
          <p:cNvSpPr txBox="1"/>
          <p:nvPr>
            <p:ph idx="1" type="subTitle"/>
          </p:nvPr>
        </p:nvSpPr>
        <p:spPr>
          <a:xfrm>
            <a:off x="1524000" y="3602038"/>
            <a:ext cx="9144000" cy="16557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sz="2400"/>
            </a:lvl1pPr>
            <a:lvl2pPr lvl="1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sz="2000"/>
            </a:lvl2pPr>
            <a:lvl3pPr lvl="2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3pPr>
            <a:lvl4pPr lvl="3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4pPr>
            <a:lvl5pPr lvl="4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5pPr>
            <a:lvl6pPr lvl="5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6pPr>
            <a:lvl7pPr lvl="6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7pPr>
            <a:lvl8pPr lvl="7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8pPr>
            <a:lvl9pPr lvl="8" algn="ctr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9pPr>
          </a:lstStyle>
          <a:p/>
        </p:txBody>
      </p:sp>
      <p:sp>
        <p:nvSpPr>
          <p:cNvPr id="14" name="Google Shape;14;p2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2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2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Conteúdo" type="obj">
  <p:cSld name="OBJECT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25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25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0" name="Google Shape;20;p25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25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25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beçalho da Seção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26"/>
          <p:cNvSpPr txBox="1"/>
          <p:nvPr>
            <p:ph type="title"/>
          </p:nvPr>
        </p:nvSpPr>
        <p:spPr>
          <a:xfrm>
            <a:off x="831850" y="1709738"/>
            <a:ext cx="10515600" cy="285273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26"/>
          <p:cNvSpPr txBox="1"/>
          <p:nvPr>
            <p:ph idx="1" type="body"/>
          </p:nvPr>
        </p:nvSpPr>
        <p:spPr>
          <a:xfrm>
            <a:off x="831850" y="4589463"/>
            <a:ext cx="105156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 sz="2400">
                <a:solidFill>
                  <a:srgbClr val="888888"/>
                </a:solidFill>
              </a:defRPr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26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26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26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Duas Partes de Conteúdo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27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27"/>
          <p:cNvSpPr txBox="1"/>
          <p:nvPr>
            <p:ph idx="1" type="body"/>
          </p:nvPr>
        </p:nvSpPr>
        <p:spPr>
          <a:xfrm>
            <a:off x="838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27"/>
          <p:cNvSpPr txBox="1"/>
          <p:nvPr>
            <p:ph idx="2" type="body"/>
          </p:nvPr>
        </p:nvSpPr>
        <p:spPr>
          <a:xfrm>
            <a:off x="6172200" y="1825625"/>
            <a:ext cx="5181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27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27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27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ação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28"/>
          <p:cNvSpPr txBox="1"/>
          <p:nvPr>
            <p:ph type="title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28"/>
          <p:cNvSpPr txBox="1"/>
          <p:nvPr>
            <p:ph idx="1" type="body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39" name="Google Shape;39;p28"/>
          <p:cNvSpPr txBox="1"/>
          <p:nvPr>
            <p:ph idx="2" type="body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28"/>
          <p:cNvSpPr txBox="1"/>
          <p:nvPr>
            <p:ph idx="3" type="body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1" name="Google Shape;41;p28"/>
          <p:cNvSpPr txBox="1"/>
          <p:nvPr>
            <p:ph idx="4" type="body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28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28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28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omente Título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29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29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29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29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Em Branco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30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30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30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údo com Legenda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31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31"/>
          <p:cNvSpPr txBox="1"/>
          <p:nvPr>
            <p:ph idx="1" type="body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2pPr>
            <a:lvl3pPr indent="-3810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4pPr>
            <a:lvl5pPr indent="-355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5pPr>
            <a:lvl6pPr indent="-355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31"/>
          <p:cNvSpPr txBox="1"/>
          <p:nvPr>
            <p:ph idx="2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58" name="Google Shape;58;p31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31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31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Imagem com Legenda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32"/>
          <p:cNvSpPr txBox="1"/>
          <p:nvPr>
            <p:ph type="title"/>
          </p:nvPr>
        </p:nvSpPr>
        <p:spPr>
          <a:xfrm>
            <a:off x="839788" y="457200"/>
            <a:ext cx="3932237" cy="16002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Calibri"/>
              <a:buNone/>
              <a:defRPr sz="32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32"/>
          <p:cNvSpPr/>
          <p:nvPr>
            <p:ph idx="2" type="pic"/>
          </p:nvPr>
        </p:nvSpPr>
        <p:spPr>
          <a:xfrm>
            <a:off x="5183188" y="987425"/>
            <a:ext cx="6172200" cy="487362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None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None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None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64" name="Google Shape;64;p32"/>
          <p:cNvSpPr txBox="1"/>
          <p:nvPr>
            <p:ph idx="1" type="body"/>
          </p:nvPr>
        </p:nvSpPr>
        <p:spPr>
          <a:xfrm>
            <a:off x="839788" y="2057400"/>
            <a:ext cx="3932237" cy="38115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sz="1600"/>
            </a:lvl1pPr>
            <a:lvl2pPr indent="-2286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2pPr>
            <a:lvl3pPr indent="-2286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3pPr>
            <a:lvl4pPr indent="-2286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4pPr>
            <a:lvl5pPr indent="-2286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5pPr>
            <a:lvl6pPr indent="-2286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6pPr>
            <a:lvl7pPr indent="-2286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7pPr>
            <a:lvl8pPr indent="-2286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8pPr>
            <a:lvl9pPr indent="-2286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9pPr>
          </a:lstStyle>
          <a:p/>
        </p:txBody>
      </p:sp>
      <p:sp>
        <p:nvSpPr>
          <p:cNvPr id="65" name="Google Shape;65;p32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32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32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ítulo e Texto Vertical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3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33"/>
          <p:cNvSpPr txBox="1"/>
          <p:nvPr>
            <p:ph idx="1" type="body"/>
          </p:nvPr>
        </p:nvSpPr>
        <p:spPr>
          <a:xfrm rot="5400000">
            <a:off x="3920331" y="-1256506"/>
            <a:ext cx="4351338" cy="10515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3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3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3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exto e Título Vertical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34"/>
          <p:cNvSpPr txBox="1"/>
          <p:nvPr>
            <p:ph type="title"/>
          </p:nvPr>
        </p:nvSpPr>
        <p:spPr>
          <a:xfrm rot="5400000">
            <a:off x="7133431" y="1956594"/>
            <a:ext cx="5811838" cy="262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34"/>
          <p:cNvSpPr txBox="1"/>
          <p:nvPr>
            <p:ph idx="1" type="body"/>
          </p:nvPr>
        </p:nvSpPr>
        <p:spPr>
          <a:xfrm rot="5400000">
            <a:off x="1799431" y="-596106"/>
            <a:ext cx="5811838" cy="7734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34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34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34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23"/>
          <p:cNvSpPr txBox="1"/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23"/>
          <p:cNvSpPr txBox="1"/>
          <p:nvPr>
            <p:ph idx="1" type="body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marR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•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81000" lvl="1" marL="914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55600" lvl="2" marL="1371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42900" lvl="3" marL="1828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42900" lvl="4" marL="22860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42900" lvl="5" marL="27432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42900" lvl="6" marL="32004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42900" lvl="7" marL="36576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42900" lvl="8" marL="4114800" marR="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23"/>
          <p:cNvSpPr txBox="1"/>
          <p:nvPr>
            <p:ph idx="10" type="dt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23"/>
          <p:cNvSpPr txBox="1"/>
          <p:nvPr>
            <p:ph idx="11" type="ftr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23"/>
          <p:cNvSpPr txBox="1"/>
          <p:nvPr>
            <p:ph idx="12" type="sldNum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pt-BR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2.jpg"/><Relationship Id="rId5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6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jp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4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Nova técnica é a aposta para que edição genética fique mais segura e  precisa - Revista Galileu | Ciência"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ctrTitle"/>
          </p:nvPr>
        </p:nvSpPr>
        <p:spPr>
          <a:xfrm>
            <a:off x="0" y="1682583"/>
            <a:ext cx="12192000" cy="987029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Genética</a:t>
            </a:r>
            <a:endParaRPr/>
          </a:p>
        </p:txBody>
      </p:sp>
      <p:sp>
        <p:nvSpPr>
          <p:cNvPr id="86" name="Google Shape;86;p1"/>
          <p:cNvSpPr txBox="1"/>
          <p:nvPr/>
        </p:nvSpPr>
        <p:spPr>
          <a:xfrm>
            <a:off x="0" y="2561814"/>
            <a:ext cx="12192000" cy="1331645"/>
          </a:xfrm>
          <a:prstGeom prst="rect">
            <a:avLst/>
          </a:prstGeom>
          <a:solidFill>
            <a:schemeClr val="accent6"/>
          </a:solidFill>
          <a:ln>
            <a:noFill/>
          </a:ln>
        </p:spPr>
        <p:txBody>
          <a:bodyPr anchorCtr="0" anchor="b" bIns="34275" lIns="68575" spcFirstLastPara="1" rIns="68575" wrap="square" tIns="34275">
            <a:normAutofit fontScale="85000" lnSpcReduction="20000"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0" i="0" sz="60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2325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Conceitos Básicos</a:t>
            </a:r>
            <a:endParaRPr/>
          </a:p>
          <a:p>
            <a:pPr indent="0" lvl="0" marL="0" marR="0" rtl="0" algn="ctr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rPr b="1" i="0" lang="pt-BR" sz="2325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Primeira Lei de Mendel</a:t>
            </a:r>
            <a:endParaRPr/>
          </a:p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ct val="100000"/>
              <a:buFont typeface="Calibri"/>
              <a:buNone/>
            </a:pPr>
            <a:r>
              <a:t/>
            </a:r>
            <a:endParaRPr b="1" i="0" sz="45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2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2" name="Google Shape;92;p2"/>
          <p:cNvSpPr txBox="1"/>
          <p:nvPr>
            <p:ph type="title"/>
          </p:nvPr>
        </p:nvSpPr>
        <p:spPr>
          <a:xfrm>
            <a:off x="2152650" y="20570"/>
            <a:ext cx="78867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6000"/>
              <a:buFont typeface="Calibri"/>
              <a:buNone/>
            </a:pPr>
            <a:r>
              <a:rPr b="1" lang="pt-BR" sz="6000">
                <a:solidFill>
                  <a:schemeClr val="lt1"/>
                </a:solidFill>
              </a:rPr>
              <a:t>O que é um Gene?</a:t>
            </a:r>
            <a:endParaRPr/>
          </a:p>
        </p:txBody>
      </p:sp>
      <p:sp>
        <p:nvSpPr>
          <p:cNvPr id="93" name="Google Shape;93;p2"/>
          <p:cNvSpPr txBox="1"/>
          <p:nvPr>
            <p:ph idx="1" type="body"/>
          </p:nvPr>
        </p:nvSpPr>
        <p:spPr>
          <a:xfrm>
            <a:off x="478971" y="1686288"/>
            <a:ext cx="11234057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 fontScale="92500" lnSpcReduction="10000"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/>
              <a:t>Segmento de DNA que codifica um RNA, mas na genética nos interessam os genes em que o RNA codifica a produção de uma proteína que está relacionada com uma certa característica</a:t>
            </a:r>
            <a:endParaRPr/>
          </a:p>
          <a:p>
            <a:pPr indent="-6413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/>
              <a:t>Ex: gene do albinismo, gene da fenilcetonúria, gene do daltonismo, da hemofilia, etc...</a:t>
            </a:r>
            <a:endParaRPr/>
          </a:p>
          <a:p>
            <a:pPr indent="-6413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/>
              <a:t>Ex: (DNA) ATTAGTA 🡪 (RNA) UAAUCAU 🡪 Melanina</a:t>
            </a:r>
            <a:endParaRPr/>
          </a:p>
          <a:p>
            <a:pPr indent="-64135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ct val="100000"/>
              <a:buFont typeface="Noto Sans Symbols"/>
              <a:buChar char="⮚"/>
            </a:pPr>
            <a:r>
              <a:rPr lang="pt-BR"/>
              <a:t>Genes que ocupam o mesmo local no cromossomos são chamados de genes alelos e eles podem ser dominantes ou recessivos</a:t>
            </a:r>
            <a:endParaRPr/>
          </a:p>
          <a:p>
            <a:pPr indent="-8763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ct val="1000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3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99" name="Google Shape;99;p3"/>
          <p:cNvSpPr txBox="1"/>
          <p:nvPr>
            <p:ph type="title"/>
          </p:nvPr>
        </p:nvSpPr>
        <p:spPr>
          <a:xfrm>
            <a:off x="1593669" y="20570"/>
            <a:ext cx="914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Mas o que diferencia um alelo dominante de um alelo recessivo?</a:t>
            </a:r>
            <a:endParaRPr/>
          </a:p>
        </p:txBody>
      </p:sp>
      <p:sp>
        <p:nvSpPr>
          <p:cNvPr id="100" name="Google Shape;100;p3"/>
          <p:cNvSpPr txBox="1"/>
          <p:nvPr>
            <p:ph idx="1" type="body"/>
          </p:nvPr>
        </p:nvSpPr>
        <p:spPr>
          <a:xfrm>
            <a:off x="357051" y="1585737"/>
            <a:ext cx="1135597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Eles são diferentes nas suas sequências de bases nitrogenadas (mutação)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Alterando as bases há alteração na sequência de aminoácidos produzidos por aquele genes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Alterando a sequência de aminoácidos há alteração na proteína formada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Assim temos o alelo dominante e o alelo recessivo!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p4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06" name="Google Shape;106;p4"/>
          <p:cNvSpPr txBox="1"/>
          <p:nvPr>
            <p:ph type="title"/>
          </p:nvPr>
        </p:nvSpPr>
        <p:spPr>
          <a:xfrm>
            <a:off x="1593669" y="20570"/>
            <a:ext cx="9144000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Mas o que diferencia um alelo dominante de um alelo recessivo?</a:t>
            </a:r>
            <a:endParaRPr/>
          </a:p>
        </p:txBody>
      </p:sp>
      <p:sp>
        <p:nvSpPr>
          <p:cNvPr id="107" name="Google Shape;107;p4"/>
          <p:cNvSpPr txBox="1"/>
          <p:nvPr>
            <p:ph idx="1" type="body"/>
          </p:nvPr>
        </p:nvSpPr>
        <p:spPr>
          <a:xfrm>
            <a:off x="357051" y="1585737"/>
            <a:ext cx="11355978" cy="435133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O alelo dominante se manifesta em homozigose dominante (quando o organismo é ‘AA’) e heterozigose (quando o organismo é ‘Aa’)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O alelo recessivo se manifesta apenas em homozigose recessiva (quando o organismo é ‘aa’)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Características dominantes são codificadas por um alelo dominante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Noto Sans Symbols"/>
              <a:buChar char="⮚"/>
            </a:pPr>
            <a:r>
              <a:rPr lang="pt-BR"/>
              <a:t>Características recessivas são codificadas por um alelo recessivo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1" name="Shape 1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" name="Google Shape;112;p5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13" name="Google Shape;113;p5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Alguns Conceitos</a:t>
            </a:r>
            <a:endParaRPr/>
          </a:p>
        </p:txBody>
      </p:sp>
      <p:sp>
        <p:nvSpPr>
          <p:cNvPr id="114" name="Google Shape;114;p5"/>
          <p:cNvSpPr txBox="1"/>
          <p:nvPr>
            <p:ph idx="1" type="body"/>
          </p:nvPr>
        </p:nvSpPr>
        <p:spPr>
          <a:xfrm>
            <a:off x="303804" y="1541990"/>
            <a:ext cx="7089773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1" lang="pt-BR" sz="2200"/>
              <a:t>Genótipo</a:t>
            </a:r>
            <a:r>
              <a:rPr lang="pt-BR" sz="2200"/>
              <a:t> = carga genética para a característica (AA; Aa; aa)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1" lang="pt-BR" sz="2200"/>
              <a:t>Fenótipo</a:t>
            </a:r>
            <a:r>
              <a:rPr lang="pt-BR" sz="2200"/>
              <a:t> = resultado da característica ex: albino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pt-BR" sz="1800"/>
              <a:t>Fenótipo = Genótipo + Ambiente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pt-BR" sz="1800"/>
              <a:t>Ex: Coelhos himalaios, que possuem as extremidades do corpo com pelo preto para absorver mais calor nessas regiões mais frias e que podemos, inclusive, induzir a formação de pelos pretos:</a:t>
            </a:r>
            <a:endParaRPr/>
          </a:p>
          <a:p>
            <a:pPr indent="-889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Alguns genótipos determinam uma escala de fenótipos e o ambiente determina qual o ponto = norma de reação / expressividade variável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pt-BR" sz="1800"/>
              <a:t>Ex: braquidactilia (dedos curtos) possuem uma variedade de fenótipos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id="115" name="Google Shape;115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7676912" y="1439635"/>
            <a:ext cx="2761615" cy="2202180"/>
          </a:xfrm>
          <a:prstGeom prst="rect">
            <a:avLst/>
          </a:prstGeom>
          <a:noFill/>
          <a:ln>
            <a:noFill/>
          </a:ln>
        </p:spPr>
      </p:pic>
      <p:pic>
        <p:nvPicPr>
          <p:cNvPr id="116" name="Google Shape;116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8160204" y="3822384"/>
            <a:ext cx="1619250" cy="1285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117" name="Google Shape;117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8160204" y="5172212"/>
            <a:ext cx="1619250" cy="12858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6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00" u="none" cap="none" strike="noStrik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23" name="Google Shape;123;p6"/>
          <p:cNvSpPr txBox="1"/>
          <p:nvPr>
            <p:ph type="title"/>
          </p:nvPr>
        </p:nvSpPr>
        <p:spPr>
          <a:xfrm>
            <a:off x="1776549" y="20570"/>
            <a:ext cx="889145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Genética Mendeliana</a:t>
            </a:r>
            <a:endParaRPr/>
          </a:p>
        </p:txBody>
      </p:sp>
      <p:sp>
        <p:nvSpPr>
          <p:cNvPr id="124" name="Google Shape;124;p6"/>
          <p:cNvSpPr txBox="1"/>
          <p:nvPr>
            <p:ph idx="1" type="body"/>
          </p:nvPr>
        </p:nvSpPr>
        <p:spPr>
          <a:xfrm>
            <a:off x="322217" y="1533281"/>
            <a:ext cx="11416937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1" lang="pt-BR" sz="2200"/>
              <a:t>1º Lei de Mendel: </a:t>
            </a:r>
            <a:r>
              <a:rPr lang="pt-BR" sz="2200"/>
              <a:t>“Cada característica é determinada por um par de fatores que se separam na formação dos gametas, indo apenas um dos fatores do par para cada gameta, que é, portanto, puro”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Mono-hibridismo</a:t>
            </a:r>
            <a:endParaRPr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Quando trabalhamos com 1 gene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25" name="Google Shape;125;p6"/>
          <p:cNvSpPr/>
          <p:nvPr/>
        </p:nvSpPr>
        <p:spPr>
          <a:xfrm>
            <a:off x="5468984" y="3605349"/>
            <a:ext cx="1018903" cy="1045028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2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cxnSp>
        <p:nvCxnSpPr>
          <p:cNvPr id="126" name="Google Shape;126;p6"/>
          <p:cNvCxnSpPr/>
          <p:nvPr/>
        </p:nvCxnSpPr>
        <p:spPr>
          <a:xfrm flipH="1">
            <a:off x="5016137" y="4650378"/>
            <a:ext cx="452846" cy="62701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27" name="Google Shape;127;p6"/>
          <p:cNvCxnSpPr/>
          <p:nvPr/>
        </p:nvCxnSpPr>
        <p:spPr>
          <a:xfrm>
            <a:off x="6487886" y="4650378"/>
            <a:ext cx="400594" cy="62701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28" name="Google Shape;128;p6"/>
          <p:cNvSpPr/>
          <p:nvPr/>
        </p:nvSpPr>
        <p:spPr>
          <a:xfrm>
            <a:off x="4310743" y="5564778"/>
            <a:ext cx="705394" cy="75764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29" name="Google Shape;129;p6"/>
          <p:cNvSpPr/>
          <p:nvPr/>
        </p:nvSpPr>
        <p:spPr>
          <a:xfrm>
            <a:off x="6823168" y="5564777"/>
            <a:ext cx="705394" cy="757645"/>
          </a:xfrm>
          <a:prstGeom prst="ellipse">
            <a:avLst/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30" name="Google Shape;130;p6"/>
          <p:cNvSpPr txBox="1"/>
          <p:nvPr/>
        </p:nvSpPr>
        <p:spPr>
          <a:xfrm>
            <a:off x="2437892" y="5758932"/>
            <a:ext cx="110600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pt-BR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GAMETAS</a:t>
            </a:r>
            <a:endParaRPr/>
          </a:p>
        </p:txBody>
      </p:sp>
      <p:sp>
        <p:nvSpPr>
          <p:cNvPr id="131" name="Google Shape;131;p6"/>
          <p:cNvSpPr txBox="1"/>
          <p:nvPr/>
        </p:nvSpPr>
        <p:spPr>
          <a:xfrm>
            <a:off x="2102613" y="3956546"/>
            <a:ext cx="242784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Genótipo do Organismo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5" name="Shape 1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Google Shape;136;p7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37" name="Google Shape;137;p7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1ª Lei Mendel – Dominância Completa</a:t>
            </a:r>
            <a:endParaRPr/>
          </a:p>
        </p:txBody>
      </p:sp>
      <p:sp>
        <p:nvSpPr>
          <p:cNvPr id="138" name="Google Shape;138;p7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1" lang="pt-BR" sz="2200"/>
              <a:t>1 gene 🡪 2 alelos 🡪 3 genótipos 🡪 2 fenótipos</a:t>
            </a:r>
            <a:endParaRPr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AA e Aa 🡪 mesmo fenótipo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139" name="Google Shape;139;p7"/>
          <p:cNvSpPr/>
          <p:nvPr/>
        </p:nvSpPr>
        <p:spPr>
          <a:xfrm>
            <a:off x="4040777" y="2706188"/>
            <a:ext cx="757646" cy="72281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40" name="Google Shape;140;p7"/>
          <p:cNvSpPr/>
          <p:nvPr/>
        </p:nvSpPr>
        <p:spPr>
          <a:xfrm>
            <a:off x="5938747" y="2706188"/>
            <a:ext cx="757646" cy="722812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41" name="Google Shape;141;p7"/>
          <p:cNvSpPr/>
          <p:nvPr/>
        </p:nvSpPr>
        <p:spPr>
          <a:xfrm>
            <a:off x="4924697" y="3947160"/>
            <a:ext cx="757646" cy="72281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42" name="Google Shape;142;p7"/>
          <p:cNvSpPr/>
          <p:nvPr/>
        </p:nvSpPr>
        <p:spPr>
          <a:xfrm>
            <a:off x="3178628" y="5292634"/>
            <a:ext cx="757646" cy="72281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43" name="Google Shape;143;p7"/>
          <p:cNvSpPr/>
          <p:nvPr/>
        </p:nvSpPr>
        <p:spPr>
          <a:xfrm>
            <a:off x="4545874" y="5292634"/>
            <a:ext cx="757646" cy="72281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44" name="Google Shape;144;p7"/>
          <p:cNvSpPr/>
          <p:nvPr/>
        </p:nvSpPr>
        <p:spPr>
          <a:xfrm>
            <a:off x="5913120" y="5292634"/>
            <a:ext cx="757646" cy="72281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45" name="Google Shape;145;p7"/>
          <p:cNvSpPr/>
          <p:nvPr/>
        </p:nvSpPr>
        <p:spPr>
          <a:xfrm>
            <a:off x="7280366" y="5292634"/>
            <a:ext cx="757646" cy="722812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46" name="Google Shape;146;p7"/>
          <p:cNvSpPr txBox="1"/>
          <p:nvPr/>
        </p:nvSpPr>
        <p:spPr>
          <a:xfrm>
            <a:off x="1889759" y="2532082"/>
            <a:ext cx="143821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Parental Pura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(homozigota)</a:t>
            </a:r>
            <a:endParaRPr/>
          </a:p>
        </p:txBody>
      </p:sp>
      <p:sp>
        <p:nvSpPr>
          <p:cNvPr id="147" name="Google Shape;147;p7"/>
          <p:cNvSpPr txBox="1"/>
          <p:nvPr/>
        </p:nvSpPr>
        <p:spPr>
          <a:xfrm>
            <a:off x="1889759" y="3733293"/>
            <a:ext cx="152753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 Híbrida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(Heterozigota)</a:t>
            </a:r>
            <a:endParaRPr/>
          </a:p>
        </p:txBody>
      </p:sp>
      <p:sp>
        <p:nvSpPr>
          <p:cNvPr id="148" name="Google Shape;148;p7"/>
          <p:cNvSpPr txBox="1"/>
          <p:nvPr/>
        </p:nvSpPr>
        <p:spPr>
          <a:xfrm>
            <a:off x="1805262" y="5292635"/>
            <a:ext cx="9602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F2</a:t>
            </a:r>
            <a:endParaRPr/>
          </a:p>
        </p:txBody>
      </p:sp>
      <p:sp>
        <p:nvSpPr>
          <p:cNvPr id="149" name="Google Shape;149;p7"/>
          <p:cNvSpPr/>
          <p:nvPr/>
        </p:nvSpPr>
        <p:spPr>
          <a:xfrm>
            <a:off x="4911385" y="2610394"/>
            <a:ext cx="914400" cy="914400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0" name="Google Shape;150;p7"/>
          <p:cNvSpPr/>
          <p:nvPr/>
        </p:nvSpPr>
        <p:spPr>
          <a:xfrm rot="-8005598">
            <a:off x="5633519" y="3574706"/>
            <a:ext cx="839566" cy="698117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1" name="Google Shape;151;p7"/>
          <p:cNvSpPr txBox="1"/>
          <p:nvPr/>
        </p:nvSpPr>
        <p:spPr>
          <a:xfrm>
            <a:off x="8237474" y="5290458"/>
            <a:ext cx="2454198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Amarelas para 1 verde</a:t>
            </a:r>
            <a:endParaRPr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5" name="Shape 1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6" name="Google Shape;156;p8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7" name="Google Shape;157;p8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Quadro de Punnett</a:t>
            </a:r>
            <a:endParaRPr b="1" sz="3500">
              <a:solidFill>
                <a:schemeClr val="lt1"/>
              </a:solidFill>
            </a:endParaRPr>
          </a:p>
        </p:txBody>
      </p:sp>
      <p:sp>
        <p:nvSpPr>
          <p:cNvPr id="158" name="Google Shape;158;p8"/>
          <p:cNvSpPr/>
          <p:nvPr/>
        </p:nvSpPr>
        <p:spPr>
          <a:xfrm>
            <a:off x="2521132" y="1465217"/>
            <a:ext cx="757646" cy="72281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59" name="Google Shape;159;p8"/>
          <p:cNvSpPr/>
          <p:nvPr/>
        </p:nvSpPr>
        <p:spPr>
          <a:xfrm>
            <a:off x="4284618" y="1465217"/>
            <a:ext cx="757646" cy="722812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60" name="Google Shape;160;p8"/>
          <p:cNvSpPr/>
          <p:nvPr/>
        </p:nvSpPr>
        <p:spPr>
          <a:xfrm>
            <a:off x="3324498" y="1366701"/>
            <a:ext cx="914400" cy="914400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cxnSp>
        <p:nvCxnSpPr>
          <p:cNvPr id="161" name="Google Shape;161;p8"/>
          <p:cNvCxnSpPr/>
          <p:nvPr/>
        </p:nvCxnSpPr>
        <p:spPr>
          <a:xfrm flipH="1">
            <a:off x="2220686" y="2281102"/>
            <a:ext cx="300446" cy="54918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2" name="Google Shape;162;p8"/>
          <p:cNvCxnSpPr/>
          <p:nvPr/>
        </p:nvCxnSpPr>
        <p:spPr>
          <a:xfrm>
            <a:off x="2978331" y="2351314"/>
            <a:ext cx="139338" cy="47897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3" name="Google Shape;163;p8"/>
          <p:cNvCxnSpPr/>
          <p:nvPr/>
        </p:nvCxnSpPr>
        <p:spPr>
          <a:xfrm flipH="1">
            <a:off x="4284619" y="2351314"/>
            <a:ext cx="156753" cy="47897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64" name="Google Shape;164;p8"/>
          <p:cNvCxnSpPr/>
          <p:nvPr/>
        </p:nvCxnSpPr>
        <p:spPr>
          <a:xfrm>
            <a:off x="4833258" y="2351314"/>
            <a:ext cx="209007" cy="47897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65" name="Google Shape;165;p8"/>
          <p:cNvSpPr/>
          <p:nvPr/>
        </p:nvSpPr>
        <p:spPr>
          <a:xfrm>
            <a:off x="1945480" y="2925537"/>
            <a:ext cx="575652" cy="54918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66" name="Google Shape;166;p8"/>
          <p:cNvSpPr/>
          <p:nvPr/>
        </p:nvSpPr>
        <p:spPr>
          <a:xfrm>
            <a:off x="5042264" y="2949486"/>
            <a:ext cx="609600" cy="58157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67" name="Google Shape;167;p8"/>
          <p:cNvSpPr/>
          <p:nvPr/>
        </p:nvSpPr>
        <p:spPr>
          <a:xfrm>
            <a:off x="4087787" y="2964182"/>
            <a:ext cx="575654" cy="5491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68" name="Google Shape;168;p8"/>
          <p:cNvSpPr/>
          <p:nvPr/>
        </p:nvSpPr>
        <p:spPr>
          <a:xfrm>
            <a:off x="2933901" y="2946764"/>
            <a:ext cx="575653" cy="54918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cxnSp>
        <p:nvCxnSpPr>
          <p:cNvPr id="169" name="Google Shape;169;p8"/>
          <p:cNvCxnSpPr/>
          <p:nvPr/>
        </p:nvCxnSpPr>
        <p:spPr>
          <a:xfrm>
            <a:off x="4367349" y="3933286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0" name="Google Shape;170;p8"/>
          <p:cNvCxnSpPr/>
          <p:nvPr/>
        </p:nvCxnSpPr>
        <p:spPr>
          <a:xfrm>
            <a:off x="5390606" y="3933286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1" name="Google Shape;171;p8"/>
          <p:cNvCxnSpPr/>
          <p:nvPr/>
        </p:nvCxnSpPr>
        <p:spPr>
          <a:xfrm rot="10800000">
            <a:off x="3317965" y="4717056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72" name="Google Shape;172;p8"/>
          <p:cNvCxnSpPr/>
          <p:nvPr/>
        </p:nvCxnSpPr>
        <p:spPr>
          <a:xfrm rot="10800000">
            <a:off x="3317965" y="5470348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73" name="Google Shape;173;p8"/>
          <p:cNvSpPr/>
          <p:nvPr/>
        </p:nvSpPr>
        <p:spPr>
          <a:xfrm>
            <a:off x="3509554" y="4819111"/>
            <a:ext cx="575652" cy="54918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74" name="Google Shape;174;p8"/>
          <p:cNvSpPr/>
          <p:nvPr/>
        </p:nvSpPr>
        <p:spPr>
          <a:xfrm>
            <a:off x="3509554" y="5535116"/>
            <a:ext cx="575653" cy="54918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75" name="Google Shape;175;p8"/>
          <p:cNvSpPr/>
          <p:nvPr/>
        </p:nvSpPr>
        <p:spPr>
          <a:xfrm>
            <a:off x="4649493" y="3994510"/>
            <a:ext cx="575654" cy="5491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76" name="Google Shape;176;p8"/>
          <p:cNvSpPr/>
          <p:nvPr/>
        </p:nvSpPr>
        <p:spPr>
          <a:xfrm>
            <a:off x="5551715" y="3978458"/>
            <a:ext cx="609600" cy="58157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177" name="Google Shape;177;p8"/>
          <p:cNvSpPr/>
          <p:nvPr/>
        </p:nvSpPr>
        <p:spPr>
          <a:xfrm>
            <a:off x="4532809" y="4798423"/>
            <a:ext cx="672738" cy="594361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78" name="Google Shape;178;p8"/>
          <p:cNvSpPr/>
          <p:nvPr/>
        </p:nvSpPr>
        <p:spPr>
          <a:xfrm>
            <a:off x="4532809" y="5535117"/>
            <a:ext cx="672738" cy="594361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79" name="Google Shape;179;p8"/>
          <p:cNvSpPr/>
          <p:nvPr/>
        </p:nvSpPr>
        <p:spPr>
          <a:xfrm>
            <a:off x="5548248" y="4811221"/>
            <a:ext cx="672738" cy="594361"/>
          </a:xfrm>
          <a:prstGeom prst="ellipse">
            <a:avLst/>
          </a:prstGeom>
          <a:solidFill>
            <a:schemeClr val="accent4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180" name="Google Shape;180;p8"/>
          <p:cNvSpPr/>
          <p:nvPr/>
        </p:nvSpPr>
        <p:spPr>
          <a:xfrm>
            <a:off x="5588730" y="5538660"/>
            <a:ext cx="672738" cy="594361"/>
          </a:xfrm>
          <a:prstGeom prst="ellipse">
            <a:avLst/>
          </a:prstGeom>
          <a:solidFill>
            <a:schemeClr val="accent6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cxnSp>
        <p:nvCxnSpPr>
          <p:cNvPr id="181" name="Google Shape;181;p8"/>
          <p:cNvCxnSpPr/>
          <p:nvPr/>
        </p:nvCxnSpPr>
        <p:spPr>
          <a:xfrm>
            <a:off x="2220686" y="3648891"/>
            <a:ext cx="0" cy="146304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2" name="Google Shape;182;p8"/>
          <p:cNvCxnSpPr/>
          <p:nvPr/>
        </p:nvCxnSpPr>
        <p:spPr>
          <a:xfrm>
            <a:off x="2220686" y="5111931"/>
            <a:ext cx="105809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3" name="Google Shape;183;p8"/>
          <p:cNvCxnSpPr/>
          <p:nvPr/>
        </p:nvCxnSpPr>
        <p:spPr>
          <a:xfrm>
            <a:off x="3117669" y="3648892"/>
            <a:ext cx="0" cy="2299063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184" name="Google Shape;184;p8"/>
          <p:cNvCxnSpPr/>
          <p:nvPr/>
        </p:nvCxnSpPr>
        <p:spPr>
          <a:xfrm>
            <a:off x="3117669" y="5947954"/>
            <a:ext cx="287382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5" name="Google Shape;185;p8"/>
          <p:cNvCxnSpPr/>
          <p:nvPr/>
        </p:nvCxnSpPr>
        <p:spPr>
          <a:xfrm>
            <a:off x="4532810" y="3648892"/>
            <a:ext cx="222071" cy="21771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cxnSp>
        <p:nvCxnSpPr>
          <p:cNvPr id="186" name="Google Shape;186;p8"/>
          <p:cNvCxnSpPr/>
          <p:nvPr/>
        </p:nvCxnSpPr>
        <p:spPr>
          <a:xfrm>
            <a:off x="5548249" y="3648892"/>
            <a:ext cx="199409" cy="217715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187" name="Google Shape;187;p8"/>
          <p:cNvSpPr txBox="1"/>
          <p:nvPr/>
        </p:nvSpPr>
        <p:spPr>
          <a:xfrm>
            <a:off x="7371807" y="3341782"/>
            <a:ext cx="2281650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Proporção Genotípica: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AA : 2 Aa : 1 aa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Proporção Fenotípica: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Amarelos : 1 Verde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9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3" name="Google Shape;193;p9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Cuidado</a:t>
            </a:r>
            <a:endParaRPr/>
          </a:p>
        </p:txBody>
      </p:sp>
      <p:sp>
        <p:nvSpPr>
          <p:cNvPr id="194" name="Google Shape;194;p9"/>
          <p:cNvSpPr txBox="1"/>
          <p:nvPr>
            <p:ph idx="1" type="body"/>
          </p:nvPr>
        </p:nvSpPr>
        <p:spPr>
          <a:xfrm>
            <a:off x="409303" y="1533281"/>
            <a:ext cx="11033760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O fenótipo dominante sempre é mais comum nas populações?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O fenótipo recessivo sempre é mais raro nas populações?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pt-BR"/>
              <a:t>NÃO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Ex: Polidactilia é uma herança codificada por um alelo dominante e não é o mais comum, mas ter 5 dedos nas mãos, que seria o fenótipo recessivo é o mais comum</a:t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p10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0" name="Google Shape;200;p10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Cruzamento teste</a:t>
            </a:r>
            <a:endParaRPr/>
          </a:p>
        </p:txBody>
      </p:sp>
      <p:sp>
        <p:nvSpPr>
          <p:cNvPr id="201" name="Google Shape;201;p10"/>
          <p:cNvSpPr txBox="1"/>
          <p:nvPr>
            <p:ph idx="1" type="body"/>
          </p:nvPr>
        </p:nvSpPr>
        <p:spPr>
          <a:xfrm>
            <a:off x="461553" y="1533281"/>
            <a:ext cx="11321143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1" lang="pt-BR" sz="2200"/>
              <a:t>Cruzamento utilizado quando queremos determinar se um organismo com fenótipo dominante é homozigoto ou heterozigoto</a:t>
            </a:r>
            <a:endParaRPr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Cruzamos o indivíduo com fenótipo dominante com outro com fenótipo recessivo e analisamos a prole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Se na prole houver pelo menos 1 filhote com fenótipo recessivo então o progenitor com fenótipo dominante é heterozigoto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Ex: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202" name="Google Shape;202;p10"/>
          <p:cNvSpPr/>
          <p:nvPr/>
        </p:nvSpPr>
        <p:spPr>
          <a:xfrm>
            <a:off x="4423955" y="4043246"/>
            <a:ext cx="1445623" cy="69668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Macho Preto</a:t>
            </a:r>
            <a:endParaRPr/>
          </a:p>
        </p:txBody>
      </p:sp>
      <p:sp>
        <p:nvSpPr>
          <p:cNvPr id="203" name="Google Shape;203;p10"/>
          <p:cNvSpPr txBox="1"/>
          <p:nvPr/>
        </p:nvSpPr>
        <p:spPr>
          <a:xfrm>
            <a:off x="1748940" y="4141213"/>
            <a:ext cx="193527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Preto = dominante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Branco = recessivo</a:t>
            </a:r>
            <a:endParaRPr/>
          </a:p>
        </p:txBody>
      </p:sp>
      <p:sp>
        <p:nvSpPr>
          <p:cNvPr id="204" name="Google Shape;204;p10"/>
          <p:cNvSpPr/>
          <p:nvPr/>
        </p:nvSpPr>
        <p:spPr>
          <a:xfrm>
            <a:off x="6152119" y="3934389"/>
            <a:ext cx="914400" cy="914400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5" name="Google Shape;205;p10"/>
          <p:cNvSpPr/>
          <p:nvPr/>
        </p:nvSpPr>
        <p:spPr>
          <a:xfrm>
            <a:off x="7349062" y="4043246"/>
            <a:ext cx="1445623" cy="69668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Fêmea Branca (aa)</a:t>
            </a:r>
            <a:endParaRPr/>
          </a:p>
        </p:txBody>
      </p:sp>
      <p:sp>
        <p:nvSpPr>
          <p:cNvPr id="206" name="Google Shape;206;p10"/>
          <p:cNvSpPr/>
          <p:nvPr/>
        </p:nvSpPr>
        <p:spPr>
          <a:xfrm rot="-5400000">
            <a:off x="6422572" y="3338794"/>
            <a:ext cx="461554" cy="3762103"/>
          </a:xfrm>
          <a:prstGeom prst="rightBrace">
            <a:avLst>
              <a:gd fmla="val 8333" name="adj1"/>
              <a:gd fmla="val 50000" name="adj2"/>
            </a:avLst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07" name="Google Shape;207;p10"/>
          <p:cNvSpPr/>
          <p:nvPr/>
        </p:nvSpPr>
        <p:spPr>
          <a:xfrm>
            <a:off x="4950823" y="5505051"/>
            <a:ext cx="1445623" cy="69668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Filhotes Pretos (Aa)</a:t>
            </a:r>
            <a:endParaRPr/>
          </a:p>
        </p:txBody>
      </p:sp>
      <p:sp>
        <p:nvSpPr>
          <p:cNvPr id="208" name="Google Shape;208;p10"/>
          <p:cNvSpPr/>
          <p:nvPr/>
        </p:nvSpPr>
        <p:spPr>
          <a:xfrm>
            <a:off x="6818811" y="5505051"/>
            <a:ext cx="1445623" cy="696686"/>
          </a:xfrm>
          <a:prstGeom prst="roundRect">
            <a:avLst>
              <a:gd fmla="val 16667" name="adj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lt1"/>
                </a:solidFill>
                <a:latin typeface="Calibri"/>
                <a:ea typeface="Calibri"/>
                <a:cs typeface="Calibri"/>
                <a:sym typeface="Calibri"/>
              </a:rPr>
              <a:t>Filhotes Brancos (aa)</a:t>
            </a:r>
            <a:endParaRPr/>
          </a:p>
        </p:txBody>
      </p:sp>
      <p:cxnSp>
        <p:nvCxnSpPr>
          <p:cNvPr id="209" name="Google Shape;209;p10"/>
          <p:cNvCxnSpPr/>
          <p:nvPr/>
        </p:nvCxnSpPr>
        <p:spPr>
          <a:xfrm flipH="1">
            <a:off x="3553098" y="4848790"/>
            <a:ext cx="870857" cy="846617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10" name="Google Shape;210;p10"/>
          <p:cNvSpPr txBox="1"/>
          <p:nvPr/>
        </p:nvSpPr>
        <p:spPr>
          <a:xfrm>
            <a:off x="3026229" y="5695406"/>
            <a:ext cx="42832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11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11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Probabilidade e Genética</a:t>
            </a:r>
            <a:endParaRPr/>
          </a:p>
        </p:txBody>
      </p:sp>
      <p:sp>
        <p:nvSpPr>
          <p:cNvPr id="217" name="Google Shape;217;p11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0" lvl="0" marL="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b="1" sz="22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b="1" lang="pt-BR" sz="2200"/>
              <a:t>P = </a:t>
            </a:r>
            <a:r>
              <a:rPr lang="pt-BR" sz="2200"/>
              <a:t>Eventos Desejados (Quero)</a:t>
            </a:r>
            <a:endParaRPr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0" lvl="0" marL="0" rtl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t/>
            </a:r>
            <a:endParaRPr sz="2200"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Ex: Qual a chance de, ao jogar uma moeda, o resultado ser “cara”?</a:t>
            </a:r>
            <a:endParaRPr/>
          </a:p>
          <a:p>
            <a:pPr indent="0" lvl="0" marL="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None/>
            </a:pPr>
            <a:r>
              <a:rPr lang="pt-BR" sz="2200"/>
              <a:t>	P = 1 / 2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218" name="Google Shape;218;p11"/>
          <p:cNvCxnSpPr/>
          <p:nvPr/>
        </p:nvCxnSpPr>
        <p:spPr>
          <a:xfrm>
            <a:off x="4711338" y="2360023"/>
            <a:ext cx="3178629" cy="2484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19" name="Google Shape;219;p11"/>
          <p:cNvSpPr txBox="1"/>
          <p:nvPr/>
        </p:nvSpPr>
        <p:spPr>
          <a:xfrm>
            <a:off x="4802390" y="2360024"/>
            <a:ext cx="3087577" cy="43088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22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Eventos Possíveis (Tenho)</a:t>
            </a:r>
            <a:endParaRPr/>
          </a:p>
        </p:txBody>
      </p:sp>
      <p:cxnSp>
        <p:nvCxnSpPr>
          <p:cNvPr id="220" name="Google Shape;220;p11"/>
          <p:cNvCxnSpPr/>
          <p:nvPr/>
        </p:nvCxnSpPr>
        <p:spPr>
          <a:xfrm>
            <a:off x="3143794" y="4040777"/>
            <a:ext cx="0" cy="661852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1" name="Google Shape;221;p11"/>
          <p:cNvCxnSpPr/>
          <p:nvPr/>
        </p:nvCxnSpPr>
        <p:spPr>
          <a:xfrm>
            <a:off x="3143795" y="4702629"/>
            <a:ext cx="888275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2" name="Google Shape;222;p11"/>
          <p:cNvSpPr txBox="1"/>
          <p:nvPr/>
        </p:nvSpPr>
        <p:spPr>
          <a:xfrm>
            <a:off x="4103466" y="4521620"/>
            <a:ext cx="212083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Apenas 1 lado é cara</a:t>
            </a:r>
            <a:endParaRPr/>
          </a:p>
        </p:txBody>
      </p:sp>
      <p:cxnSp>
        <p:nvCxnSpPr>
          <p:cNvPr id="223" name="Google Shape;223;p11"/>
          <p:cNvCxnSpPr/>
          <p:nvPr/>
        </p:nvCxnSpPr>
        <p:spPr>
          <a:xfrm>
            <a:off x="3518263" y="4040777"/>
            <a:ext cx="0" cy="391886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24" name="Google Shape;224;p11"/>
          <p:cNvCxnSpPr/>
          <p:nvPr/>
        </p:nvCxnSpPr>
        <p:spPr>
          <a:xfrm>
            <a:off x="3518263" y="4432663"/>
            <a:ext cx="513806" cy="0"/>
          </a:xfrm>
          <a:prstGeom prst="straightConnector1">
            <a:avLst/>
          </a:prstGeom>
          <a:noFill/>
          <a:ln cap="flat" cmpd="sng" w="9525">
            <a:solidFill>
              <a:schemeClr val="accent1"/>
            </a:solidFill>
            <a:prstDash val="solid"/>
            <a:miter lim="800000"/>
            <a:headEnd len="sm" w="sm" type="none"/>
            <a:tailEnd len="med" w="med" type="triangle"/>
          </a:ln>
        </p:spPr>
      </p:cxnSp>
      <p:sp>
        <p:nvSpPr>
          <p:cNvPr id="225" name="Google Shape;225;p11"/>
          <p:cNvSpPr txBox="1"/>
          <p:nvPr/>
        </p:nvSpPr>
        <p:spPr>
          <a:xfrm>
            <a:off x="4103466" y="4236720"/>
            <a:ext cx="344671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Existem 2 lados possíveis de “cair”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12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1" name="Google Shape;231;p12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Probabilidade e Genética – Eventos Independentes</a:t>
            </a:r>
            <a:endParaRPr/>
          </a:p>
        </p:txBody>
      </p:sp>
      <p:sp>
        <p:nvSpPr>
          <p:cNvPr id="232" name="Google Shape;232;p12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Quando um resultado não é afetado pelo anterior “</a:t>
            </a:r>
            <a:r>
              <a:rPr b="1" lang="pt-BR" sz="2200"/>
              <a:t>Regra do E</a:t>
            </a:r>
            <a:r>
              <a:rPr lang="pt-BR" sz="2200"/>
              <a:t>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Multiplicamos as probabilidades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Ex: ao lançar duas moedas qual a chance de cair duas faces cara?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Aplicação simples na genética: Aa x Aa qual a chance de nascer indivíduo ‘aa’ fêmea?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P (aa) = 1 / 4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P (fêmea) = 1 / 2</a:t>
            </a:r>
            <a:endParaRPr/>
          </a:p>
        </p:txBody>
      </p:sp>
      <p:sp>
        <p:nvSpPr>
          <p:cNvPr id="233" name="Google Shape;233;p12"/>
          <p:cNvSpPr txBox="1"/>
          <p:nvPr/>
        </p:nvSpPr>
        <p:spPr>
          <a:xfrm>
            <a:off x="4206239" y="2939534"/>
            <a:ext cx="3108030" cy="175432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(cara) = 1 / 2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 P (cara) = 1 / 2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1/4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34" name="Google Shape;234;p12"/>
          <p:cNvSpPr txBox="1"/>
          <p:nvPr/>
        </p:nvSpPr>
        <p:spPr>
          <a:xfrm>
            <a:off x="5599611" y="5730781"/>
            <a:ext cx="2239716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= 1 / 4 x 1 / 2 =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/ 8</a:t>
            </a:r>
            <a:endParaRPr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8" name="Shape 2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Google Shape;239;p13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40" name="Google Shape;240;p13"/>
          <p:cNvSpPr txBox="1"/>
          <p:nvPr>
            <p:ph type="title"/>
          </p:nvPr>
        </p:nvSpPr>
        <p:spPr>
          <a:xfrm>
            <a:off x="1853929" y="20570"/>
            <a:ext cx="8814072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Probabilidade e Genética – Eventos Mutuamente exclusivos</a:t>
            </a:r>
            <a:endParaRPr/>
          </a:p>
        </p:txBody>
      </p:sp>
      <p:sp>
        <p:nvSpPr>
          <p:cNvPr id="241" name="Google Shape;241;p13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Quando um resultado é afetado por outro “Regra do OU”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Somamos as probabilidades</a:t>
            </a:r>
            <a:endParaRPr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Aplicação simples na genética: Qual a chance de um casal heterozigoto para o albinismo ter um filho albino OU portador do gene do albinismo?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</p:txBody>
      </p:sp>
      <p:cxnSp>
        <p:nvCxnSpPr>
          <p:cNvPr id="242" name="Google Shape;242;p13"/>
          <p:cNvCxnSpPr/>
          <p:nvPr/>
        </p:nvCxnSpPr>
        <p:spPr>
          <a:xfrm>
            <a:off x="3418115" y="3463024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3" name="Google Shape;243;p13"/>
          <p:cNvCxnSpPr/>
          <p:nvPr/>
        </p:nvCxnSpPr>
        <p:spPr>
          <a:xfrm>
            <a:off x="4441372" y="3463024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4" name="Google Shape;244;p13"/>
          <p:cNvCxnSpPr/>
          <p:nvPr/>
        </p:nvCxnSpPr>
        <p:spPr>
          <a:xfrm rot="10800000">
            <a:off x="2368731" y="4246794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45" name="Google Shape;245;p13"/>
          <p:cNvCxnSpPr/>
          <p:nvPr/>
        </p:nvCxnSpPr>
        <p:spPr>
          <a:xfrm rot="10800000">
            <a:off x="2368731" y="5000086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46" name="Google Shape;246;p13"/>
          <p:cNvSpPr/>
          <p:nvPr/>
        </p:nvSpPr>
        <p:spPr>
          <a:xfrm>
            <a:off x="2560320" y="4348849"/>
            <a:ext cx="575652" cy="54918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47" name="Google Shape;247;p13"/>
          <p:cNvSpPr/>
          <p:nvPr/>
        </p:nvSpPr>
        <p:spPr>
          <a:xfrm>
            <a:off x="2560320" y="5064854"/>
            <a:ext cx="575653" cy="54918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48" name="Google Shape;248;p13"/>
          <p:cNvSpPr/>
          <p:nvPr/>
        </p:nvSpPr>
        <p:spPr>
          <a:xfrm>
            <a:off x="3700259" y="3524248"/>
            <a:ext cx="575654" cy="5491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49" name="Google Shape;249;p13"/>
          <p:cNvSpPr/>
          <p:nvPr/>
        </p:nvSpPr>
        <p:spPr>
          <a:xfrm>
            <a:off x="4602481" y="3508196"/>
            <a:ext cx="609600" cy="58157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50" name="Google Shape;250;p13"/>
          <p:cNvSpPr/>
          <p:nvPr/>
        </p:nvSpPr>
        <p:spPr>
          <a:xfrm>
            <a:off x="3583575" y="4328161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251" name="Google Shape;251;p13"/>
          <p:cNvSpPr/>
          <p:nvPr/>
        </p:nvSpPr>
        <p:spPr>
          <a:xfrm>
            <a:off x="3583575" y="5064855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252" name="Google Shape;252;p13"/>
          <p:cNvSpPr/>
          <p:nvPr/>
        </p:nvSpPr>
        <p:spPr>
          <a:xfrm>
            <a:off x="4599014" y="4340959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253" name="Google Shape;253;p13"/>
          <p:cNvSpPr/>
          <p:nvPr/>
        </p:nvSpPr>
        <p:spPr>
          <a:xfrm>
            <a:off x="4639496" y="5068398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254" name="Google Shape;254;p13"/>
          <p:cNvSpPr txBox="1"/>
          <p:nvPr/>
        </p:nvSpPr>
        <p:spPr>
          <a:xfrm>
            <a:off x="6296297" y="3640183"/>
            <a:ext cx="4160498" cy="147732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(albino) = 1 /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(portador) = 2 / 4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P(albino ou portador) = 1 / 4 + 2 / 4 = </a:t>
            </a:r>
            <a:r>
              <a:rPr b="1"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3 / 4</a:t>
            </a:r>
            <a:endParaRPr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8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4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60" name="Google Shape;260;p14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Teste</a:t>
            </a:r>
            <a:endParaRPr/>
          </a:p>
        </p:txBody>
      </p:sp>
      <p:sp>
        <p:nvSpPr>
          <p:cNvPr id="261" name="Google Shape;261;p14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Indivíduo 1 = AaBb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Indivíduo 2 = AaBb</a:t>
            </a:r>
            <a:endParaRPr sz="22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Qual a chance de: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pt-BR" sz="1800"/>
              <a:t>Nascer um organismo AaBb?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</p:txBody>
      </p:sp>
      <p:cxnSp>
        <p:nvCxnSpPr>
          <p:cNvPr id="262" name="Google Shape;262;p14"/>
          <p:cNvCxnSpPr/>
          <p:nvPr/>
        </p:nvCxnSpPr>
        <p:spPr>
          <a:xfrm>
            <a:off x="3061063" y="3619778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3" name="Google Shape;263;p14"/>
          <p:cNvCxnSpPr/>
          <p:nvPr/>
        </p:nvCxnSpPr>
        <p:spPr>
          <a:xfrm>
            <a:off x="4084320" y="3619778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4" name="Google Shape;264;p14"/>
          <p:cNvCxnSpPr/>
          <p:nvPr/>
        </p:nvCxnSpPr>
        <p:spPr>
          <a:xfrm rot="10800000">
            <a:off x="2011679" y="4403548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65" name="Google Shape;265;p14"/>
          <p:cNvCxnSpPr/>
          <p:nvPr/>
        </p:nvCxnSpPr>
        <p:spPr>
          <a:xfrm rot="10800000">
            <a:off x="2011679" y="5156840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66" name="Google Shape;266;p14"/>
          <p:cNvSpPr/>
          <p:nvPr/>
        </p:nvSpPr>
        <p:spPr>
          <a:xfrm>
            <a:off x="2203268" y="4505603"/>
            <a:ext cx="575652" cy="54918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67" name="Google Shape;267;p14"/>
          <p:cNvSpPr/>
          <p:nvPr/>
        </p:nvSpPr>
        <p:spPr>
          <a:xfrm>
            <a:off x="2203268" y="5221608"/>
            <a:ext cx="575653" cy="54918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68" name="Google Shape;268;p14"/>
          <p:cNvSpPr/>
          <p:nvPr/>
        </p:nvSpPr>
        <p:spPr>
          <a:xfrm>
            <a:off x="3343207" y="3681002"/>
            <a:ext cx="575654" cy="5491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69" name="Google Shape;269;p14"/>
          <p:cNvSpPr/>
          <p:nvPr/>
        </p:nvSpPr>
        <p:spPr>
          <a:xfrm>
            <a:off x="4245429" y="3664950"/>
            <a:ext cx="609600" cy="58157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270" name="Google Shape;270;p14"/>
          <p:cNvSpPr/>
          <p:nvPr/>
        </p:nvSpPr>
        <p:spPr>
          <a:xfrm>
            <a:off x="3226523" y="4484915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271" name="Google Shape;271;p14"/>
          <p:cNvSpPr/>
          <p:nvPr/>
        </p:nvSpPr>
        <p:spPr>
          <a:xfrm>
            <a:off x="3226523" y="5221609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272" name="Google Shape;272;p14"/>
          <p:cNvSpPr/>
          <p:nvPr/>
        </p:nvSpPr>
        <p:spPr>
          <a:xfrm>
            <a:off x="4241962" y="4497713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273" name="Google Shape;273;p14"/>
          <p:cNvSpPr/>
          <p:nvPr/>
        </p:nvSpPr>
        <p:spPr>
          <a:xfrm>
            <a:off x="4282444" y="5225152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274" name="Google Shape;274;p14"/>
          <p:cNvSpPr txBox="1"/>
          <p:nvPr/>
        </p:nvSpPr>
        <p:spPr>
          <a:xfrm>
            <a:off x="2621280" y="6174377"/>
            <a:ext cx="1391728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(Aa) = 1 / 2</a:t>
            </a:r>
            <a:endParaRPr/>
          </a:p>
        </p:txBody>
      </p:sp>
      <p:cxnSp>
        <p:nvCxnSpPr>
          <p:cNvPr id="275" name="Google Shape;275;p14"/>
          <p:cNvCxnSpPr/>
          <p:nvPr/>
        </p:nvCxnSpPr>
        <p:spPr>
          <a:xfrm>
            <a:off x="6665969" y="3644266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6" name="Google Shape;276;p14"/>
          <p:cNvCxnSpPr/>
          <p:nvPr/>
        </p:nvCxnSpPr>
        <p:spPr>
          <a:xfrm>
            <a:off x="7689226" y="3644266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7" name="Google Shape;277;p14"/>
          <p:cNvCxnSpPr/>
          <p:nvPr/>
        </p:nvCxnSpPr>
        <p:spPr>
          <a:xfrm rot="10800000">
            <a:off x="5616585" y="4428036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78" name="Google Shape;278;p14"/>
          <p:cNvCxnSpPr/>
          <p:nvPr/>
        </p:nvCxnSpPr>
        <p:spPr>
          <a:xfrm rot="10800000">
            <a:off x="5616585" y="5181328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279" name="Google Shape;279;p14"/>
          <p:cNvSpPr/>
          <p:nvPr/>
        </p:nvSpPr>
        <p:spPr>
          <a:xfrm>
            <a:off x="5808174" y="4530091"/>
            <a:ext cx="575652" cy="54918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80" name="Google Shape;280;p14"/>
          <p:cNvSpPr/>
          <p:nvPr/>
        </p:nvSpPr>
        <p:spPr>
          <a:xfrm>
            <a:off x="5808174" y="5246096"/>
            <a:ext cx="575653" cy="54918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81" name="Google Shape;281;p14"/>
          <p:cNvSpPr/>
          <p:nvPr/>
        </p:nvSpPr>
        <p:spPr>
          <a:xfrm>
            <a:off x="6948113" y="3705490"/>
            <a:ext cx="575654" cy="5491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82" name="Google Shape;282;p14"/>
          <p:cNvSpPr/>
          <p:nvPr/>
        </p:nvSpPr>
        <p:spPr>
          <a:xfrm>
            <a:off x="7850335" y="3689438"/>
            <a:ext cx="609600" cy="58157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283" name="Google Shape;283;p14"/>
          <p:cNvSpPr/>
          <p:nvPr/>
        </p:nvSpPr>
        <p:spPr>
          <a:xfrm>
            <a:off x="6831429" y="4509403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/>
          </a:p>
        </p:txBody>
      </p:sp>
      <p:sp>
        <p:nvSpPr>
          <p:cNvPr id="284" name="Google Shape;284;p14"/>
          <p:cNvSpPr/>
          <p:nvPr/>
        </p:nvSpPr>
        <p:spPr>
          <a:xfrm>
            <a:off x="6831429" y="5246097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5" name="Google Shape;285;p14"/>
          <p:cNvSpPr/>
          <p:nvPr/>
        </p:nvSpPr>
        <p:spPr>
          <a:xfrm>
            <a:off x="7846868" y="4522201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6" name="Google Shape;286;p14"/>
          <p:cNvSpPr/>
          <p:nvPr/>
        </p:nvSpPr>
        <p:spPr>
          <a:xfrm>
            <a:off x="7887350" y="5249640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87" name="Google Shape;287;p14"/>
          <p:cNvSpPr txBox="1"/>
          <p:nvPr/>
        </p:nvSpPr>
        <p:spPr>
          <a:xfrm>
            <a:off x="6601094" y="6174377"/>
            <a:ext cx="139493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(Bb) = 1 / 2</a:t>
            </a:r>
            <a:endParaRPr/>
          </a:p>
        </p:txBody>
      </p:sp>
      <p:sp>
        <p:nvSpPr>
          <p:cNvPr id="288" name="Google Shape;288;p14"/>
          <p:cNvSpPr txBox="1"/>
          <p:nvPr/>
        </p:nvSpPr>
        <p:spPr>
          <a:xfrm>
            <a:off x="5066213" y="6174377"/>
            <a:ext cx="4571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x</a:t>
            </a:r>
            <a:endParaRPr/>
          </a:p>
        </p:txBody>
      </p:sp>
      <p:sp>
        <p:nvSpPr>
          <p:cNvPr id="289" name="Google Shape;289;p14"/>
          <p:cNvSpPr txBox="1"/>
          <p:nvPr/>
        </p:nvSpPr>
        <p:spPr>
          <a:xfrm>
            <a:off x="8533521" y="6174377"/>
            <a:ext cx="782587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 1 / 4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93" name="Shape 2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4" name="Google Shape;294;p15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95" name="Google Shape;295;p15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Teste 2</a:t>
            </a:r>
            <a:endParaRPr/>
          </a:p>
        </p:txBody>
      </p:sp>
      <p:sp>
        <p:nvSpPr>
          <p:cNvPr id="296" name="Google Shape;296;p15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Indivíduo 1 = AaBb</a:t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Indivíduo 2 = AaBb</a:t>
            </a:r>
            <a:endParaRPr sz="2200"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  <a:p>
            <a:pPr indent="-2286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Qual a chance de:</a:t>
            </a:r>
            <a:endParaRPr/>
          </a:p>
          <a:p>
            <a:pPr indent="-2286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Noto Sans Symbols"/>
              <a:buChar char="⮚"/>
            </a:pPr>
            <a:r>
              <a:rPr lang="pt-BR" sz="1800"/>
              <a:t>Nascer um organismo AABB OU aabb?</a:t>
            </a:r>
            <a:endParaRPr/>
          </a:p>
          <a:p>
            <a:pPr indent="-88900" lvl="0" marL="22860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sz="2200"/>
          </a:p>
        </p:txBody>
      </p:sp>
      <p:cxnSp>
        <p:nvCxnSpPr>
          <p:cNvPr id="297" name="Google Shape;297;p15"/>
          <p:cNvCxnSpPr/>
          <p:nvPr/>
        </p:nvCxnSpPr>
        <p:spPr>
          <a:xfrm>
            <a:off x="3061063" y="3619778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8" name="Google Shape;298;p15"/>
          <p:cNvCxnSpPr/>
          <p:nvPr/>
        </p:nvCxnSpPr>
        <p:spPr>
          <a:xfrm>
            <a:off x="4084320" y="3619778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299" name="Google Shape;299;p15"/>
          <p:cNvCxnSpPr/>
          <p:nvPr/>
        </p:nvCxnSpPr>
        <p:spPr>
          <a:xfrm rot="10800000">
            <a:off x="2011679" y="4403548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00" name="Google Shape;300;p15"/>
          <p:cNvCxnSpPr/>
          <p:nvPr/>
        </p:nvCxnSpPr>
        <p:spPr>
          <a:xfrm rot="10800000">
            <a:off x="2011679" y="5156840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01" name="Google Shape;301;p15"/>
          <p:cNvSpPr/>
          <p:nvPr/>
        </p:nvSpPr>
        <p:spPr>
          <a:xfrm>
            <a:off x="2203268" y="4505603"/>
            <a:ext cx="575652" cy="54918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02" name="Google Shape;302;p15"/>
          <p:cNvSpPr/>
          <p:nvPr/>
        </p:nvSpPr>
        <p:spPr>
          <a:xfrm>
            <a:off x="2203268" y="5221608"/>
            <a:ext cx="575653" cy="54918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03" name="Google Shape;303;p15"/>
          <p:cNvSpPr/>
          <p:nvPr/>
        </p:nvSpPr>
        <p:spPr>
          <a:xfrm>
            <a:off x="3343207" y="3681002"/>
            <a:ext cx="575654" cy="5491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04" name="Google Shape;304;p15"/>
          <p:cNvSpPr/>
          <p:nvPr/>
        </p:nvSpPr>
        <p:spPr>
          <a:xfrm>
            <a:off x="4245429" y="3664950"/>
            <a:ext cx="609600" cy="58157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05" name="Google Shape;305;p15"/>
          <p:cNvSpPr/>
          <p:nvPr/>
        </p:nvSpPr>
        <p:spPr>
          <a:xfrm>
            <a:off x="3226523" y="4484915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306" name="Google Shape;306;p15"/>
          <p:cNvSpPr/>
          <p:nvPr/>
        </p:nvSpPr>
        <p:spPr>
          <a:xfrm>
            <a:off x="3226523" y="5221609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307" name="Google Shape;307;p15"/>
          <p:cNvSpPr/>
          <p:nvPr/>
        </p:nvSpPr>
        <p:spPr>
          <a:xfrm>
            <a:off x="4241962" y="4497713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308" name="Google Shape;308;p15"/>
          <p:cNvSpPr/>
          <p:nvPr/>
        </p:nvSpPr>
        <p:spPr>
          <a:xfrm>
            <a:off x="4282444" y="5225152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cxnSp>
        <p:nvCxnSpPr>
          <p:cNvPr id="309" name="Google Shape;309;p15"/>
          <p:cNvCxnSpPr/>
          <p:nvPr/>
        </p:nvCxnSpPr>
        <p:spPr>
          <a:xfrm>
            <a:off x="6665969" y="3644266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0" name="Google Shape;310;p15"/>
          <p:cNvCxnSpPr/>
          <p:nvPr/>
        </p:nvCxnSpPr>
        <p:spPr>
          <a:xfrm>
            <a:off x="7689226" y="3644266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1" name="Google Shape;311;p15"/>
          <p:cNvCxnSpPr/>
          <p:nvPr/>
        </p:nvCxnSpPr>
        <p:spPr>
          <a:xfrm rot="10800000">
            <a:off x="5616585" y="4428036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12" name="Google Shape;312;p15"/>
          <p:cNvCxnSpPr/>
          <p:nvPr/>
        </p:nvCxnSpPr>
        <p:spPr>
          <a:xfrm rot="10800000">
            <a:off x="5616585" y="5181328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13" name="Google Shape;313;p15"/>
          <p:cNvSpPr/>
          <p:nvPr/>
        </p:nvSpPr>
        <p:spPr>
          <a:xfrm>
            <a:off x="5808174" y="4530091"/>
            <a:ext cx="575652" cy="54918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14" name="Google Shape;314;p15"/>
          <p:cNvSpPr/>
          <p:nvPr/>
        </p:nvSpPr>
        <p:spPr>
          <a:xfrm>
            <a:off x="5808174" y="5246096"/>
            <a:ext cx="575653" cy="54918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15" name="Google Shape;315;p15"/>
          <p:cNvSpPr/>
          <p:nvPr/>
        </p:nvSpPr>
        <p:spPr>
          <a:xfrm>
            <a:off x="6948113" y="3705490"/>
            <a:ext cx="575654" cy="5491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16" name="Google Shape;316;p15"/>
          <p:cNvSpPr/>
          <p:nvPr/>
        </p:nvSpPr>
        <p:spPr>
          <a:xfrm>
            <a:off x="7850335" y="3689438"/>
            <a:ext cx="609600" cy="58157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</a:t>
            </a:r>
            <a:endParaRPr/>
          </a:p>
        </p:txBody>
      </p:sp>
      <p:sp>
        <p:nvSpPr>
          <p:cNvPr id="317" name="Google Shape;317;p15"/>
          <p:cNvSpPr/>
          <p:nvPr/>
        </p:nvSpPr>
        <p:spPr>
          <a:xfrm>
            <a:off x="6831429" y="4509403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/>
          </a:p>
        </p:txBody>
      </p:sp>
      <p:sp>
        <p:nvSpPr>
          <p:cNvPr id="318" name="Google Shape;318;p15"/>
          <p:cNvSpPr/>
          <p:nvPr/>
        </p:nvSpPr>
        <p:spPr>
          <a:xfrm>
            <a:off x="6831429" y="5246097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19" name="Google Shape;319;p15"/>
          <p:cNvSpPr/>
          <p:nvPr/>
        </p:nvSpPr>
        <p:spPr>
          <a:xfrm>
            <a:off x="7846868" y="4522201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0" name="Google Shape;320;p15"/>
          <p:cNvSpPr/>
          <p:nvPr/>
        </p:nvSpPr>
        <p:spPr>
          <a:xfrm>
            <a:off x="7887350" y="5249640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1" name="Google Shape;321;p15"/>
          <p:cNvSpPr txBox="1"/>
          <p:nvPr/>
        </p:nvSpPr>
        <p:spPr>
          <a:xfrm>
            <a:off x="1854927" y="6165669"/>
            <a:ext cx="2855269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(AABB) = 1/4  x 1/4  = 1/16</a:t>
            </a:r>
            <a:endParaRPr/>
          </a:p>
        </p:txBody>
      </p:sp>
      <p:sp>
        <p:nvSpPr>
          <p:cNvPr id="322" name="Google Shape;322;p15"/>
          <p:cNvSpPr txBox="1"/>
          <p:nvPr/>
        </p:nvSpPr>
        <p:spPr>
          <a:xfrm>
            <a:off x="4742389" y="6165669"/>
            <a:ext cx="280397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 (aabb) = 1/4  x 1/4  = 1/16</a:t>
            </a:r>
            <a:endParaRPr/>
          </a:p>
        </p:txBody>
      </p:sp>
      <p:sp>
        <p:nvSpPr>
          <p:cNvPr id="323" name="Google Shape;323;p15"/>
          <p:cNvSpPr txBox="1"/>
          <p:nvPr/>
        </p:nvSpPr>
        <p:spPr>
          <a:xfrm>
            <a:off x="8026688" y="1481506"/>
            <a:ext cx="1832553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P(AABB ou aabb)</a:t>
            </a:r>
            <a:endParaRPr/>
          </a:p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=</a:t>
            </a:r>
            <a:endParaRPr/>
          </a:p>
          <a:p>
            <a:pPr indent="0" lvl="0" marL="0" marR="0" rtl="0" algn="just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1/16 + 1/16 = 1/8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16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29" name="Google Shape;329;p16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1ª Lei Mendel – Dominância Incompleta</a:t>
            </a:r>
            <a:endParaRPr/>
          </a:p>
        </p:txBody>
      </p:sp>
      <p:sp>
        <p:nvSpPr>
          <p:cNvPr id="330" name="Google Shape;330;p16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1 gene 🡪 2 alelos 🡪 3 genótipos 🡪 3 fenótipos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b="1" lang="pt-BR" sz="2200"/>
              <a:t>Obs: </a:t>
            </a:r>
            <a:r>
              <a:rPr lang="pt-BR" sz="2200"/>
              <a:t>heterozigoto forma um fenótipo intermediário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Ex: flor maravilha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331" name="Google Shape;331;p16"/>
          <p:cNvSpPr/>
          <p:nvPr/>
        </p:nvSpPr>
        <p:spPr>
          <a:xfrm>
            <a:off x="4017105" y="3176451"/>
            <a:ext cx="757646" cy="72281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VV</a:t>
            </a:r>
            <a:endParaRPr/>
          </a:p>
        </p:txBody>
      </p:sp>
      <p:sp>
        <p:nvSpPr>
          <p:cNvPr id="332" name="Google Shape;332;p16"/>
          <p:cNvSpPr/>
          <p:nvPr/>
        </p:nvSpPr>
        <p:spPr>
          <a:xfrm>
            <a:off x="5915075" y="3176451"/>
            <a:ext cx="757646" cy="72281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/>
          </a:p>
        </p:txBody>
      </p:sp>
      <p:sp>
        <p:nvSpPr>
          <p:cNvPr id="333" name="Google Shape;333;p16"/>
          <p:cNvSpPr/>
          <p:nvPr/>
        </p:nvSpPr>
        <p:spPr>
          <a:xfrm>
            <a:off x="4901025" y="4417423"/>
            <a:ext cx="757646" cy="722812"/>
          </a:xfrm>
          <a:prstGeom prst="ellipse">
            <a:avLst/>
          </a:prstGeom>
          <a:solidFill>
            <a:srgbClr val="FF89E6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VB</a:t>
            </a:r>
            <a:endParaRPr/>
          </a:p>
        </p:txBody>
      </p:sp>
      <p:sp>
        <p:nvSpPr>
          <p:cNvPr id="334" name="Google Shape;334;p16"/>
          <p:cNvSpPr/>
          <p:nvPr/>
        </p:nvSpPr>
        <p:spPr>
          <a:xfrm>
            <a:off x="3154956" y="5762897"/>
            <a:ext cx="757646" cy="722812"/>
          </a:xfrm>
          <a:prstGeom prst="ellipse">
            <a:avLst/>
          </a:prstGeom>
          <a:solidFill>
            <a:srgbClr val="FF0000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VV</a:t>
            </a:r>
            <a:endParaRPr/>
          </a:p>
        </p:txBody>
      </p:sp>
      <p:sp>
        <p:nvSpPr>
          <p:cNvPr id="335" name="Google Shape;335;p16"/>
          <p:cNvSpPr/>
          <p:nvPr/>
        </p:nvSpPr>
        <p:spPr>
          <a:xfrm>
            <a:off x="4522202" y="5762897"/>
            <a:ext cx="757646" cy="722812"/>
          </a:xfrm>
          <a:prstGeom prst="ellipse">
            <a:avLst/>
          </a:prstGeom>
          <a:solidFill>
            <a:srgbClr val="FF89E6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VB</a:t>
            </a:r>
            <a:endParaRPr/>
          </a:p>
        </p:txBody>
      </p:sp>
      <p:sp>
        <p:nvSpPr>
          <p:cNvPr id="336" name="Google Shape;336;p16"/>
          <p:cNvSpPr/>
          <p:nvPr/>
        </p:nvSpPr>
        <p:spPr>
          <a:xfrm>
            <a:off x="5889448" y="5762897"/>
            <a:ext cx="757646" cy="722812"/>
          </a:xfrm>
          <a:prstGeom prst="ellipse">
            <a:avLst/>
          </a:prstGeom>
          <a:solidFill>
            <a:srgbClr val="FF89E6"/>
          </a:solidFill>
          <a:ln cap="flat" cmpd="sng" w="12700">
            <a:solidFill>
              <a:srgbClr val="BA8C00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VB</a:t>
            </a:r>
            <a:endParaRPr/>
          </a:p>
        </p:txBody>
      </p:sp>
      <p:sp>
        <p:nvSpPr>
          <p:cNvPr id="337" name="Google Shape;337;p16"/>
          <p:cNvSpPr/>
          <p:nvPr/>
        </p:nvSpPr>
        <p:spPr>
          <a:xfrm>
            <a:off x="7256694" y="5762897"/>
            <a:ext cx="757646" cy="722812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rgbClr val="517E33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BB</a:t>
            </a:r>
            <a:endParaRPr/>
          </a:p>
        </p:txBody>
      </p:sp>
      <p:sp>
        <p:nvSpPr>
          <p:cNvPr id="338" name="Google Shape;338;p16"/>
          <p:cNvSpPr txBox="1"/>
          <p:nvPr/>
        </p:nvSpPr>
        <p:spPr>
          <a:xfrm>
            <a:off x="1866087" y="3002345"/>
            <a:ext cx="143821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Parental Pura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(homozigota)</a:t>
            </a:r>
            <a:endParaRPr/>
          </a:p>
        </p:txBody>
      </p:sp>
      <p:sp>
        <p:nvSpPr>
          <p:cNvPr id="339" name="Google Shape;339;p16"/>
          <p:cNvSpPr txBox="1"/>
          <p:nvPr/>
        </p:nvSpPr>
        <p:spPr>
          <a:xfrm>
            <a:off x="1866087" y="4203556"/>
            <a:ext cx="1527534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F1 Híbrida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(Heterozigota)</a:t>
            </a:r>
            <a:endParaRPr/>
          </a:p>
        </p:txBody>
      </p:sp>
      <p:sp>
        <p:nvSpPr>
          <p:cNvPr id="340" name="Google Shape;340;p16"/>
          <p:cNvSpPr txBox="1"/>
          <p:nvPr/>
        </p:nvSpPr>
        <p:spPr>
          <a:xfrm>
            <a:off x="1781590" y="5762898"/>
            <a:ext cx="960263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Geração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F2</a:t>
            </a:r>
            <a:endParaRPr/>
          </a:p>
        </p:txBody>
      </p:sp>
      <p:sp>
        <p:nvSpPr>
          <p:cNvPr id="341" name="Google Shape;341;p16"/>
          <p:cNvSpPr/>
          <p:nvPr/>
        </p:nvSpPr>
        <p:spPr>
          <a:xfrm>
            <a:off x="4887713" y="3080657"/>
            <a:ext cx="914400" cy="914400"/>
          </a:xfrm>
          <a:prstGeom prst="mathMultiply">
            <a:avLst>
              <a:gd fmla="val 23520" name="adj1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2" name="Google Shape;342;p16"/>
          <p:cNvSpPr/>
          <p:nvPr/>
        </p:nvSpPr>
        <p:spPr>
          <a:xfrm rot="-8005598">
            <a:off x="5609847" y="4044969"/>
            <a:ext cx="839566" cy="698117"/>
          </a:xfrm>
          <a:prstGeom prst="curvedUpArrow">
            <a:avLst>
              <a:gd fmla="val 25000" name="adj1"/>
              <a:gd fmla="val 50000" name="adj2"/>
              <a:gd fmla="val 25000" name="adj3"/>
            </a:avLst>
          </a:prstGeom>
          <a:solidFill>
            <a:schemeClr val="accent1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3" name="Google Shape;343;p16"/>
          <p:cNvSpPr txBox="1"/>
          <p:nvPr/>
        </p:nvSpPr>
        <p:spPr>
          <a:xfrm>
            <a:off x="7264688" y="2891527"/>
            <a:ext cx="3220433" cy="1200329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RESULTADO: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P.F. = 1 Verm : 2 Rosas : 1 branco</a:t>
            </a:r>
            <a:endParaRPr/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P.G. = 1 VV : 2 VB : 1 BB</a:t>
            </a:r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17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49" name="Google Shape;349;p17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1ª Lei Mendel – Alelos Mortais</a:t>
            </a:r>
            <a:endParaRPr/>
          </a:p>
        </p:txBody>
      </p:sp>
      <p:sp>
        <p:nvSpPr>
          <p:cNvPr id="350" name="Google Shape;350;p17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Quando um alelo é letal em homozigose (normalmente é o dominante)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Indivíduos que morrem não entram no cálculo de probabilidade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Ex: Em ratos a cor amarela é dominante em relação a cor cinza, porém o alelo ‘A’ é letal e os embriões não são viáveis quando em homozigose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Ao cruzar dois ratos amarelos, qual a chance de nascer um rato cinza?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cxnSp>
        <p:nvCxnSpPr>
          <p:cNvPr id="351" name="Google Shape;351;p17"/>
          <p:cNvCxnSpPr/>
          <p:nvPr/>
        </p:nvCxnSpPr>
        <p:spPr>
          <a:xfrm>
            <a:off x="3435532" y="4249211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2" name="Google Shape;352;p17"/>
          <p:cNvCxnSpPr/>
          <p:nvPr/>
        </p:nvCxnSpPr>
        <p:spPr>
          <a:xfrm>
            <a:off x="4458789" y="4249211"/>
            <a:ext cx="0" cy="2151017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3" name="Google Shape;353;p17"/>
          <p:cNvCxnSpPr/>
          <p:nvPr/>
        </p:nvCxnSpPr>
        <p:spPr>
          <a:xfrm rot="10800000">
            <a:off x="2386148" y="5032981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cxnSp>
        <p:nvCxnSpPr>
          <p:cNvPr id="354" name="Google Shape;354;p17"/>
          <p:cNvCxnSpPr/>
          <p:nvPr/>
        </p:nvCxnSpPr>
        <p:spPr>
          <a:xfrm rot="10800000">
            <a:off x="2386148" y="5786273"/>
            <a:ext cx="3004458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355" name="Google Shape;355;p17"/>
          <p:cNvSpPr/>
          <p:nvPr/>
        </p:nvSpPr>
        <p:spPr>
          <a:xfrm>
            <a:off x="2577737" y="5135036"/>
            <a:ext cx="575652" cy="549185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56" name="Google Shape;356;p17"/>
          <p:cNvSpPr/>
          <p:nvPr/>
        </p:nvSpPr>
        <p:spPr>
          <a:xfrm>
            <a:off x="2577737" y="5851041"/>
            <a:ext cx="575653" cy="549186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57" name="Google Shape;357;p17"/>
          <p:cNvSpPr/>
          <p:nvPr/>
        </p:nvSpPr>
        <p:spPr>
          <a:xfrm>
            <a:off x="3717676" y="4310435"/>
            <a:ext cx="575654" cy="549187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58" name="Google Shape;358;p17"/>
          <p:cNvSpPr/>
          <p:nvPr/>
        </p:nvSpPr>
        <p:spPr>
          <a:xfrm>
            <a:off x="4619898" y="4294383"/>
            <a:ext cx="609600" cy="581573"/>
          </a:xfrm>
          <a:prstGeom prst="ellipse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</a:t>
            </a:r>
            <a:endParaRPr/>
          </a:p>
        </p:txBody>
      </p:sp>
      <p:sp>
        <p:nvSpPr>
          <p:cNvPr id="359" name="Google Shape;359;p17"/>
          <p:cNvSpPr/>
          <p:nvPr/>
        </p:nvSpPr>
        <p:spPr>
          <a:xfrm>
            <a:off x="3600992" y="5114348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360" name="Google Shape;360;p17"/>
          <p:cNvSpPr/>
          <p:nvPr/>
        </p:nvSpPr>
        <p:spPr>
          <a:xfrm>
            <a:off x="3600992" y="5851042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361" name="Google Shape;361;p17"/>
          <p:cNvSpPr/>
          <p:nvPr/>
        </p:nvSpPr>
        <p:spPr>
          <a:xfrm>
            <a:off x="4616431" y="5127146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362" name="Google Shape;362;p17"/>
          <p:cNvSpPr/>
          <p:nvPr/>
        </p:nvSpPr>
        <p:spPr>
          <a:xfrm>
            <a:off x="4656913" y="5854585"/>
            <a:ext cx="672738" cy="594361"/>
          </a:xfrm>
          <a:prstGeom prst="ellipse">
            <a:avLst/>
          </a:prstGeom>
          <a:solidFill>
            <a:schemeClr val="lt1"/>
          </a:solidFill>
          <a:ln cap="flat" cmpd="sng" w="127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</a:t>
            </a:r>
            <a:endParaRPr/>
          </a:p>
        </p:txBody>
      </p:sp>
      <p:sp>
        <p:nvSpPr>
          <p:cNvPr id="363" name="Google Shape;363;p17"/>
          <p:cNvSpPr txBox="1"/>
          <p:nvPr/>
        </p:nvSpPr>
        <p:spPr>
          <a:xfrm>
            <a:off x="5468984" y="3587931"/>
            <a:ext cx="877163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Aa x Aa</a:t>
            </a:r>
            <a:endParaRPr/>
          </a:p>
        </p:txBody>
      </p:sp>
      <p:sp>
        <p:nvSpPr>
          <p:cNvPr id="364" name="Google Shape;364;p17"/>
          <p:cNvSpPr/>
          <p:nvPr/>
        </p:nvSpPr>
        <p:spPr>
          <a:xfrm>
            <a:off x="3600993" y="5114348"/>
            <a:ext cx="700143" cy="603613"/>
          </a:xfrm>
          <a:prstGeom prst="mathMultiply">
            <a:avLst>
              <a:gd fmla="val 23520" name="adj1"/>
            </a:avLst>
          </a:prstGeom>
          <a:solidFill>
            <a:schemeClr val="accent1">
              <a:alpha val="51764"/>
            </a:schemeClr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5" name="Google Shape;365;p17"/>
          <p:cNvSpPr txBox="1"/>
          <p:nvPr/>
        </p:nvSpPr>
        <p:spPr>
          <a:xfrm>
            <a:off x="6740435" y="4476206"/>
            <a:ext cx="614271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1 / 3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9" name="Shape 3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" name="Google Shape;370;p18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1" name="Google Shape;371;p18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1ª Lei Mendel – Codominância</a:t>
            </a:r>
            <a:endParaRPr/>
          </a:p>
        </p:txBody>
      </p:sp>
      <p:sp>
        <p:nvSpPr>
          <p:cNvPr id="372" name="Google Shape;372;p18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Os alelos afetam o fenótipo de maneiras diferentes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Ex: tipagem sanguínea MN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Alelo M 🡪 produz proteína M no sangue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Alelo N 🡪 produz proteína N no sangue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Os heterozigotos (MN) possuem as duas proteínas ao mesmo tempo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O fenótipo MN não é intermediário e sim apresenta os dois fenótipos ao mesmo tempo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É como se no caso da flor ela fosse vermelha e branca ao mesmo tempo</a:t>
            </a:r>
            <a:endParaRPr sz="1800"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6" name="Shape 3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7" name="Google Shape;377;p19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78" name="Google Shape;378;p19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OBS: Pleiotropia</a:t>
            </a:r>
            <a:endParaRPr/>
          </a:p>
        </p:txBody>
      </p:sp>
      <p:sp>
        <p:nvSpPr>
          <p:cNvPr id="379" name="Google Shape;379;p19"/>
          <p:cNvSpPr txBox="1"/>
          <p:nvPr>
            <p:ph idx="1" type="body"/>
          </p:nvPr>
        </p:nvSpPr>
        <p:spPr>
          <a:xfrm>
            <a:off x="538933" y="1533281"/>
            <a:ext cx="11156677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Quando 1 gene condiciona vários fenótipos distintos ou seja, condiciona várias características distintas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Ex1: Fenilcetonúria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pt-BR" sz="2000"/>
              <a:t>Não produção da enzima que degrada a fenilalanina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pt-BR" sz="2000"/>
              <a:t>Acúmulo de fenilalanina acarreta em várias características: convulsões, déficit cognitivo, urina com odor característico</a:t>
            </a:r>
            <a:endParaRPr/>
          </a:p>
          <a:p>
            <a:pPr indent="-2286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Ex2: Anemia falciforme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pt-BR" sz="2000"/>
              <a:t>Substituição do ácido glutâmico por valina na posição 6 da cadeia beta da hemoglobina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pt-BR" sz="2000"/>
              <a:t>Hemácias com formato de foice</a:t>
            </a:r>
            <a:endParaRPr/>
          </a:p>
          <a:p>
            <a:pPr indent="-228600" lvl="1" marL="685800" rtl="0" algn="just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Noto Sans Symbols"/>
              <a:buChar char="⮚"/>
            </a:pPr>
            <a:r>
              <a:rPr lang="pt-BR" sz="2000"/>
              <a:t>Obstrução de vasos sanguíneos, dificuldades de transporte de oxigênio, dores, lesões em órgãos</a:t>
            </a:r>
            <a:endParaRPr/>
          </a:p>
          <a:p>
            <a:pPr indent="0" lvl="0" marL="0" rtl="0" algn="l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t/>
            </a:r>
            <a:endParaRPr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Anemia falciforme: O que é? Tem cura? Como tratar?Vuelo Pharma" id="380" name="Google Shape;380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085805" y="5135880"/>
            <a:ext cx="2386692" cy="143201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4" name="Shape 3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5" name="Google Shape;385;p20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86" name="Google Shape;386;p20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Heredogramas</a:t>
            </a:r>
            <a:endParaRPr/>
          </a:p>
        </p:txBody>
      </p:sp>
      <p:sp>
        <p:nvSpPr>
          <p:cNvPr id="387" name="Google Shape;387;p20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2286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Char char="⮚"/>
            </a:pPr>
            <a:r>
              <a:rPr lang="pt-BR" sz="2200"/>
              <a:t>Representações gráficas de genealogia de uma ou mais famílias</a:t>
            </a:r>
            <a:endParaRPr sz="1800"/>
          </a:p>
          <a:p>
            <a:pPr indent="-88900" lvl="0" marL="228600" rtl="0" algn="just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1" sz="22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Heredogramas" id="388" name="Google Shape;388;p20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050302" y="2251438"/>
            <a:ext cx="4248150" cy="32956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92" name="Shape 3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3" name="Google Shape;393;p21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94" name="Google Shape;394;p21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Análise de Heredogramas</a:t>
            </a:r>
            <a:endParaRPr/>
          </a:p>
        </p:txBody>
      </p:sp>
      <p:sp>
        <p:nvSpPr>
          <p:cNvPr id="395" name="Google Shape;395;p21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89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1" sz="22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pic>
        <p:nvPicPr>
          <p:cNvPr descr="Heredogramas ou Genealogias: as representações da Genética" id="396" name="Google Shape;396;p2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471862" y="2572266"/>
            <a:ext cx="5248275" cy="2724150"/>
          </a:xfrm>
          <a:prstGeom prst="rect">
            <a:avLst/>
          </a:prstGeom>
          <a:noFill/>
          <a:ln>
            <a:noFill/>
          </a:ln>
        </p:spPr>
      </p:pic>
      <p:sp>
        <p:nvSpPr>
          <p:cNvPr id="397" name="Google Shape;397;p21"/>
          <p:cNvSpPr txBox="1"/>
          <p:nvPr/>
        </p:nvSpPr>
        <p:spPr>
          <a:xfrm>
            <a:off x="2063931" y="1682594"/>
            <a:ext cx="41578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característica é dominante ou recessiva?</a:t>
            </a:r>
            <a:endParaRPr/>
          </a:p>
        </p:txBody>
      </p:sp>
      <p:sp>
        <p:nvSpPr>
          <p:cNvPr id="398" name="Google Shape;398;p21"/>
          <p:cNvSpPr txBox="1"/>
          <p:nvPr/>
        </p:nvSpPr>
        <p:spPr>
          <a:xfrm>
            <a:off x="2063931" y="5966069"/>
            <a:ext cx="3218702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Dominante como visto no casal I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2" name="Shape 4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3" name="Google Shape;403;p22"/>
          <p:cNvSpPr/>
          <p:nvPr/>
        </p:nvSpPr>
        <p:spPr>
          <a:xfrm>
            <a:off x="0" y="1"/>
            <a:ext cx="12192000" cy="1325563"/>
          </a:xfrm>
          <a:prstGeom prst="rect">
            <a:avLst/>
          </a:prstGeom>
          <a:solidFill>
            <a:srgbClr val="02B606"/>
          </a:solidFill>
          <a:ln cap="flat" cmpd="sng" w="12700">
            <a:solidFill>
              <a:srgbClr val="31538F"/>
            </a:solidFill>
            <a:prstDash val="solid"/>
            <a:miter lim="800000"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04" name="Google Shape;404;p22"/>
          <p:cNvSpPr txBox="1"/>
          <p:nvPr>
            <p:ph type="title"/>
          </p:nvPr>
        </p:nvSpPr>
        <p:spPr>
          <a:xfrm>
            <a:off x="1524000" y="20570"/>
            <a:ext cx="9144001" cy="1325563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/>
          <a:p>
            <a:pPr indent="0" lvl="0" marL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500"/>
              <a:buFont typeface="Calibri"/>
              <a:buNone/>
            </a:pPr>
            <a:r>
              <a:rPr b="1" lang="pt-BR" sz="3500">
                <a:solidFill>
                  <a:schemeClr val="lt1"/>
                </a:solidFill>
              </a:rPr>
              <a:t>Análise de Heredogramas</a:t>
            </a:r>
            <a:endParaRPr/>
          </a:p>
        </p:txBody>
      </p:sp>
      <p:sp>
        <p:nvSpPr>
          <p:cNvPr id="405" name="Google Shape;405;p22"/>
          <p:cNvSpPr txBox="1"/>
          <p:nvPr>
            <p:ph idx="1" type="body"/>
          </p:nvPr>
        </p:nvSpPr>
        <p:spPr>
          <a:xfrm>
            <a:off x="1671048" y="1533281"/>
            <a:ext cx="8814072" cy="5215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/>
          <a:p>
            <a:pPr indent="-88900" lvl="0" marL="228600" rtl="0" algn="just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200"/>
              <a:buFont typeface="Noto Sans Symbols"/>
              <a:buNone/>
            </a:pPr>
            <a:r>
              <a:t/>
            </a:r>
            <a:endParaRPr b="1" sz="2200"/>
          </a:p>
          <a:p>
            <a:pPr indent="-76200" lvl="1" marL="685800" rtl="0" algn="l">
              <a:lnSpc>
                <a:spcPct val="90000"/>
              </a:lnSpc>
              <a:spcBef>
                <a:spcPts val="50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</a:pPr>
            <a:r>
              <a:t/>
            </a:r>
            <a:endParaRPr/>
          </a:p>
        </p:txBody>
      </p:sp>
      <p:sp>
        <p:nvSpPr>
          <p:cNvPr id="406" name="Google Shape;406;p22"/>
          <p:cNvSpPr txBox="1"/>
          <p:nvPr/>
        </p:nvSpPr>
        <p:spPr>
          <a:xfrm>
            <a:off x="2063931" y="1682594"/>
            <a:ext cx="4157870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A característica é dominante ou recessiva?</a:t>
            </a:r>
            <a:endParaRPr/>
          </a:p>
        </p:txBody>
      </p:sp>
      <p:sp>
        <p:nvSpPr>
          <p:cNvPr id="407" name="Google Shape;407;p22"/>
          <p:cNvSpPr txBox="1"/>
          <p:nvPr/>
        </p:nvSpPr>
        <p:spPr>
          <a:xfrm>
            <a:off x="2063931" y="5966069"/>
            <a:ext cx="3068404" cy="36933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pt-BR" sz="180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Recessiva como visto no casal I</a:t>
            </a:r>
            <a:endParaRPr/>
          </a:p>
        </p:txBody>
      </p:sp>
      <p:pic>
        <p:nvPicPr>
          <p:cNvPr descr="Heredograma - Só Biologia" id="408" name="Google Shape;408;p2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4429124" y="2507551"/>
            <a:ext cx="3333750" cy="27527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theme/theme1.xml><?xml version="1.0" encoding="utf-8"?>
<a:theme xmlns:a="http://schemas.openxmlformats.org/drawingml/2006/main" xmlns:r="http://schemas.openxmlformats.org/officeDocument/2006/relationships" name="Tema do Office">
  <a:themeElements>
    <a:clrScheme name="Tema do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2020-06-05T12:13:59Z</dcterms:created>
  <dc:creator>Bruno Barbosa</dc:creator>
</cp:coreProperties>
</file>