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385" r:id="rId3"/>
    <p:sldId id="386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7" r:id="rId12"/>
    <p:sldId id="398" r:id="rId13"/>
    <p:sldId id="403" r:id="rId14"/>
    <p:sldId id="404" r:id="rId15"/>
    <p:sldId id="405" r:id="rId16"/>
    <p:sldId id="40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9E6"/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76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61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06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42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6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7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1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48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62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33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04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80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ova técnica é a aposta para que edição genética fique mais segura e  precisa - Revista Galileu | Ciência">
            <a:extLst>
              <a:ext uri="{FF2B5EF4-FFF2-40B4-BE49-F238E27FC236}">
                <a16:creationId xmlns:a16="http://schemas.microsoft.com/office/drawing/2014/main" id="{01F69A42-9159-441A-ABAD-28B68B0C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2583"/>
            <a:ext cx="12192000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Genética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2000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6500" b="1" dirty="0"/>
              <a:t>Interação Gênica</a:t>
            </a:r>
          </a:p>
          <a:p>
            <a:pPr>
              <a:lnSpc>
                <a:spcPct val="120000"/>
              </a:lnSpc>
            </a:pPr>
            <a:r>
              <a:rPr lang="pt-BR" sz="6500" b="1" dirty="0"/>
              <a:t>Genética de Populações</a:t>
            </a:r>
          </a:p>
          <a:p>
            <a:pPr>
              <a:lnSpc>
                <a:spcPct val="120000"/>
              </a:lnSpc>
            </a:pPr>
            <a:r>
              <a:rPr lang="pt-BR" sz="6500" b="1" dirty="0" err="1"/>
              <a:t>Linkage</a:t>
            </a:r>
            <a:endParaRPr lang="pt-BR" sz="6500" b="1" dirty="0"/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Interação Gênica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4" y="1533281"/>
            <a:ext cx="11303726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É o contrário da Pleiotropia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Na interação gênica temos 2 ou mais genes codificando a mesma característica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Pode ser: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Sem </a:t>
            </a:r>
            <a:r>
              <a:rPr lang="pt-BR" sz="2200" dirty="0" err="1">
                <a:solidFill>
                  <a:srgbClr val="000000"/>
                </a:solidFill>
              </a:rPr>
              <a:t>epistasia</a:t>
            </a:r>
            <a:r>
              <a:rPr lang="pt-BR" sz="2200" dirty="0">
                <a:solidFill>
                  <a:srgbClr val="000000"/>
                </a:solidFill>
              </a:rPr>
              <a:t> (genes complementares)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Epistasia</a:t>
            </a:r>
            <a:r>
              <a:rPr lang="pt-BR" sz="2200" dirty="0">
                <a:solidFill>
                  <a:srgbClr val="000000"/>
                </a:solidFill>
              </a:rPr>
              <a:t> (Dominante, recessiva ou duplo recessiva)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95606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Interação Gênica – Genes Complementares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63" y="1533281"/>
            <a:ext cx="11156179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É quando um gene não inibe a ação do outro, ou seja, temos 2 genes gerando 4 fenótipos distintos de acordo com a combinação dos genes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Ex: cristas de galinhas</a:t>
            </a:r>
            <a:endParaRPr lang="pt-BR" sz="2200" dirty="0"/>
          </a:p>
        </p:txBody>
      </p:sp>
      <p:pic>
        <p:nvPicPr>
          <p:cNvPr id="1026" name="Picture 2" descr="GENÉTICA. - ppt video online carregar">
            <a:extLst>
              <a:ext uri="{FF2B5EF4-FFF2-40B4-BE49-F238E27FC236}">
                <a16:creationId xmlns:a16="http://schemas.microsoft.com/office/drawing/2014/main" id="{52CE62B1-7D5C-4D93-80E5-9345F25C4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05743"/>
            <a:ext cx="57912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93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Interação Gênica - </a:t>
            </a:r>
            <a:r>
              <a:rPr lang="pt-BR" sz="3500" b="1" dirty="0" err="1">
                <a:solidFill>
                  <a:schemeClr val="bg1"/>
                </a:solidFill>
              </a:rPr>
              <a:t>Epistasia</a:t>
            </a: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1" y="1533281"/>
            <a:ext cx="11355978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Na </a:t>
            </a:r>
            <a:r>
              <a:rPr lang="pt-BR" sz="2400" dirty="0" err="1">
                <a:solidFill>
                  <a:srgbClr val="000000"/>
                </a:solidFill>
              </a:rPr>
              <a:t>epistasia</a:t>
            </a:r>
            <a:r>
              <a:rPr lang="pt-BR" sz="2400" dirty="0">
                <a:solidFill>
                  <a:srgbClr val="000000"/>
                </a:solidFill>
              </a:rPr>
              <a:t> temos dois genes determinando uma mesma característica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Um genótipo (epistático) é capaz de inibir outro (hipostático)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Assim em uma </a:t>
            </a:r>
            <a:r>
              <a:rPr lang="pt-BR" sz="2400" dirty="0" err="1">
                <a:solidFill>
                  <a:srgbClr val="000000"/>
                </a:solidFill>
              </a:rPr>
              <a:t>epistasia</a:t>
            </a:r>
            <a:r>
              <a:rPr lang="pt-BR" sz="2400" dirty="0">
                <a:solidFill>
                  <a:srgbClr val="000000"/>
                </a:solidFill>
              </a:rPr>
              <a:t> não teremos 4 fenótipos distintos e sim 2 ou 3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Podem ser: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Dominante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Recessiva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Duplo recessiva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77549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 err="1">
                <a:solidFill>
                  <a:schemeClr val="bg1"/>
                </a:solidFill>
              </a:rPr>
              <a:t>Epistasia</a:t>
            </a:r>
            <a:r>
              <a:rPr lang="pt-BR" sz="3500" b="1" dirty="0">
                <a:solidFill>
                  <a:schemeClr val="bg1"/>
                </a:solidFill>
              </a:rPr>
              <a:t> Dominante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03" y="1533281"/>
            <a:ext cx="11225348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O genótipo dominante de um gene impede a ação do outro gene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Exemplo: coloração de cavalos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W:</a:t>
            </a:r>
            <a:endParaRPr lang="pt-BR" sz="1400" dirty="0">
              <a:solidFill>
                <a:srgbClr val="00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W_ = branco (albino)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ww</a:t>
            </a:r>
            <a:r>
              <a:rPr lang="pt-BR" sz="2000" dirty="0">
                <a:solidFill>
                  <a:srgbClr val="000000"/>
                </a:solidFill>
              </a:rPr>
              <a:t> = permite pigmentação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B: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B_ = preto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bb</a:t>
            </a:r>
            <a:r>
              <a:rPr lang="pt-BR" sz="2000" dirty="0">
                <a:solidFill>
                  <a:srgbClr val="000000"/>
                </a:solidFill>
              </a:rPr>
              <a:t> = marrom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Perceba que o gene B só vai ter seu fenótipo aparente se o gene ‘W’ estiver recessivo, então é uma </a:t>
            </a:r>
            <a:r>
              <a:rPr lang="pt-BR" sz="2400" dirty="0" err="1">
                <a:solidFill>
                  <a:srgbClr val="000000"/>
                </a:solidFill>
              </a:rPr>
              <a:t>epistasia</a:t>
            </a:r>
            <a:r>
              <a:rPr lang="pt-BR" sz="2400" dirty="0">
                <a:solidFill>
                  <a:srgbClr val="000000"/>
                </a:solidFill>
              </a:rPr>
              <a:t> dominante!</a:t>
            </a:r>
          </a:p>
          <a:p>
            <a:pPr marL="0" indent="0" algn="ctr">
              <a:buNone/>
            </a:pPr>
            <a:r>
              <a:rPr lang="pt-BR" dirty="0" err="1">
                <a:solidFill>
                  <a:srgbClr val="000000"/>
                </a:solidFill>
              </a:rPr>
              <a:t>WwBb</a:t>
            </a:r>
            <a:r>
              <a:rPr lang="pt-BR" dirty="0">
                <a:solidFill>
                  <a:srgbClr val="000000"/>
                </a:solidFill>
              </a:rPr>
              <a:t> x </a:t>
            </a:r>
            <a:r>
              <a:rPr lang="pt-BR" dirty="0" err="1">
                <a:solidFill>
                  <a:srgbClr val="000000"/>
                </a:solidFill>
              </a:rPr>
              <a:t>WwBb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pt-BR" sz="2400" dirty="0">
                <a:solidFill>
                  <a:srgbClr val="000000"/>
                </a:solidFill>
              </a:rPr>
              <a:t>12 brancos: 3 pretos: 1 marrom</a:t>
            </a:r>
          </a:p>
        </p:txBody>
      </p:sp>
    </p:spTree>
    <p:extLst>
      <p:ext uri="{BB962C8B-B14F-4D97-AF65-F5344CB8AC3E}">
        <p14:creationId xmlns:p14="http://schemas.microsoft.com/office/powerpoint/2010/main" val="320145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 err="1">
                <a:solidFill>
                  <a:schemeClr val="bg1"/>
                </a:solidFill>
              </a:rPr>
              <a:t>Epistasia</a:t>
            </a:r>
            <a:r>
              <a:rPr lang="pt-BR" sz="3500" b="1" dirty="0">
                <a:solidFill>
                  <a:schemeClr val="bg1"/>
                </a:solidFill>
              </a:rPr>
              <a:t> Recessiva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533281"/>
            <a:ext cx="11216640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O genótipo recessivo de um gene impede a ação do outro gene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Exemplo: coloração de labradores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E:</a:t>
            </a:r>
            <a:endParaRPr lang="pt-BR" sz="1400" dirty="0">
              <a:solidFill>
                <a:srgbClr val="00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E_ = permite pigmentação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ee</a:t>
            </a:r>
            <a:r>
              <a:rPr lang="pt-BR" sz="2000" dirty="0">
                <a:solidFill>
                  <a:srgbClr val="000000"/>
                </a:solidFill>
              </a:rPr>
              <a:t> = impede pigmentação (dourado)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B: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B_ = preto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bb</a:t>
            </a:r>
            <a:r>
              <a:rPr lang="pt-BR" sz="2000" dirty="0">
                <a:solidFill>
                  <a:srgbClr val="000000"/>
                </a:solidFill>
              </a:rPr>
              <a:t> = marrom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Perceba que o gene B só vai ter seu fenótipo aparente se o gene ‘E’ estiver dominante, então é uma </a:t>
            </a:r>
            <a:r>
              <a:rPr lang="pt-BR" sz="2400" dirty="0" err="1">
                <a:solidFill>
                  <a:srgbClr val="000000"/>
                </a:solidFill>
              </a:rPr>
              <a:t>epistasia</a:t>
            </a:r>
            <a:r>
              <a:rPr lang="pt-BR" sz="2400" dirty="0">
                <a:solidFill>
                  <a:srgbClr val="000000"/>
                </a:solidFill>
              </a:rPr>
              <a:t> recessiva!</a:t>
            </a:r>
          </a:p>
          <a:p>
            <a:pPr marL="0" indent="0" algn="ctr">
              <a:buNone/>
            </a:pPr>
            <a:r>
              <a:rPr lang="pt-BR" dirty="0" err="1">
                <a:solidFill>
                  <a:srgbClr val="000000"/>
                </a:solidFill>
              </a:rPr>
              <a:t>EeBb</a:t>
            </a:r>
            <a:r>
              <a:rPr lang="pt-BR" dirty="0">
                <a:solidFill>
                  <a:srgbClr val="000000"/>
                </a:solidFill>
              </a:rPr>
              <a:t> x </a:t>
            </a:r>
            <a:r>
              <a:rPr lang="pt-BR" dirty="0" err="1">
                <a:solidFill>
                  <a:srgbClr val="000000"/>
                </a:solidFill>
              </a:rPr>
              <a:t>EeBb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pt-BR" sz="2400" dirty="0">
                <a:solidFill>
                  <a:srgbClr val="000000"/>
                </a:solidFill>
              </a:rPr>
              <a:t>9 pretos: 4 dourados: 3 marrons</a:t>
            </a:r>
          </a:p>
        </p:txBody>
      </p:sp>
    </p:spTree>
    <p:extLst>
      <p:ext uri="{BB962C8B-B14F-4D97-AF65-F5344CB8AC3E}">
        <p14:creationId xmlns:p14="http://schemas.microsoft.com/office/powerpoint/2010/main" val="146710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 err="1">
                <a:solidFill>
                  <a:schemeClr val="bg1"/>
                </a:solidFill>
              </a:rPr>
              <a:t>Epistasia</a:t>
            </a:r>
            <a:r>
              <a:rPr lang="pt-BR" sz="3500" b="1" dirty="0">
                <a:solidFill>
                  <a:schemeClr val="bg1"/>
                </a:solidFill>
              </a:rPr>
              <a:t> Duplo Recessiva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73" y="1533281"/>
            <a:ext cx="11477897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Qualquer genótipo recessivo gera um mesmo fenótipo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 err="1">
                <a:solidFill>
                  <a:srgbClr val="000000"/>
                </a:solidFill>
              </a:rPr>
              <a:t>Ex</a:t>
            </a:r>
            <a:r>
              <a:rPr lang="pt-BR" sz="2400" dirty="0">
                <a:solidFill>
                  <a:srgbClr val="000000"/>
                </a:solidFill>
              </a:rPr>
              <a:t>: surdez humana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E: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E_ = formação normal da cóclea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ee</a:t>
            </a:r>
            <a:r>
              <a:rPr lang="pt-BR" sz="2000" dirty="0">
                <a:solidFill>
                  <a:srgbClr val="000000"/>
                </a:solidFill>
              </a:rPr>
              <a:t> = sem cóclea = surdo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000000"/>
                </a:solidFill>
              </a:rPr>
              <a:t>Gene D: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D_ = formação normal do nervo auditivo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rgbClr val="000000"/>
                </a:solidFill>
              </a:rPr>
              <a:t>dd</a:t>
            </a:r>
            <a:r>
              <a:rPr lang="pt-BR" sz="2000" dirty="0">
                <a:solidFill>
                  <a:srgbClr val="000000"/>
                </a:solidFill>
              </a:rPr>
              <a:t> = sem nervo auditivo = surdo</a:t>
            </a:r>
          </a:p>
          <a:p>
            <a:pPr marL="0" indent="0" algn="just">
              <a:buNone/>
            </a:pPr>
            <a:endParaRPr lang="pt-BR" sz="24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pt-BR" sz="2400" dirty="0" err="1">
                <a:solidFill>
                  <a:srgbClr val="000000"/>
                </a:solidFill>
              </a:rPr>
              <a:t>EeDd</a:t>
            </a:r>
            <a:r>
              <a:rPr lang="pt-BR" sz="2400" dirty="0">
                <a:solidFill>
                  <a:srgbClr val="000000"/>
                </a:solidFill>
              </a:rPr>
              <a:t> x </a:t>
            </a:r>
            <a:r>
              <a:rPr lang="pt-BR" sz="2400" dirty="0" err="1">
                <a:solidFill>
                  <a:srgbClr val="000000"/>
                </a:solidFill>
              </a:rPr>
              <a:t>EeDd</a:t>
            </a:r>
            <a:endParaRPr lang="pt-BR" sz="24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pt-BR" sz="2400" dirty="0">
                <a:solidFill>
                  <a:srgbClr val="000000"/>
                </a:solidFill>
              </a:rPr>
              <a:t>9 normais : 7 surdos</a:t>
            </a:r>
          </a:p>
        </p:txBody>
      </p:sp>
    </p:spTree>
    <p:extLst>
      <p:ext uri="{BB962C8B-B14F-4D97-AF65-F5344CB8AC3E}">
        <p14:creationId xmlns:p14="http://schemas.microsoft.com/office/powerpoint/2010/main" val="160474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Genética – Heranças Poligênicas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533281"/>
            <a:ext cx="11547566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Herança quantitativa / Multifatorial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Apresentam variação contínua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Há variação aditiva codificada por alelos aditivos e não aditivos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Quanto mais alelos aditivos, mais “forte” o fenótipo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Alelo aditivo = letra maiúscula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Alelo não aditivo = letra minúscula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Ex</a:t>
            </a:r>
            <a:r>
              <a:rPr lang="pt-BR" sz="2200" dirty="0">
                <a:solidFill>
                  <a:srgbClr val="000000"/>
                </a:solidFill>
              </a:rPr>
              <a:t>: altura e cor de pele; peso de frutos; altura de plantas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Distribuição dos fenótipos segue uma “curva normal”</a:t>
            </a:r>
          </a:p>
        </p:txBody>
      </p:sp>
      <p:pic>
        <p:nvPicPr>
          <p:cNvPr id="4" name="Picture 21">
            <a:extLst>
              <a:ext uri="{FF2B5EF4-FFF2-40B4-BE49-F238E27FC236}">
                <a16:creationId xmlns:a16="http://schemas.microsoft.com/office/drawing/2014/main" id="{663D250E-E1C2-408C-AAD0-CA286AB2B9B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570" y="3178418"/>
            <a:ext cx="2435224" cy="2928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029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Genética – Heranças Poligênicas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7" y="1533281"/>
            <a:ext cx="9980023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Exemplo: cor de pele humana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45F0B8-82DA-4150-BC4F-71E0F83E2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84" y="2120401"/>
            <a:ext cx="45720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1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Genética – Heranças Poligênicas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533281"/>
            <a:ext cx="11155680" cy="52158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rgbClr val="000000"/>
                </a:solidFill>
              </a:rPr>
              <a:t>Nº classes fenotípicas </a:t>
            </a:r>
            <a:r>
              <a:rPr lang="pt-BR" sz="2200" dirty="0">
                <a:solidFill>
                  <a:srgbClr val="000000"/>
                </a:solidFill>
              </a:rPr>
              <a:t>= número de alelos + 1. Por exemplo: Se uma característica é determinada pelos alelos A/a, B/b, que possuem efeitos aditivos sobre os outros, teremos 5 fenótipos</a:t>
            </a:r>
            <a:endParaRPr lang="pt-BR" sz="2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sz="2200" dirty="0">
              <a:solidFill>
                <a:srgbClr val="00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3484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Genética de Populações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03" y="1533281"/>
            <a:ext cx="11260183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Estuda as frequências dos alelos em populações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Ferramenta para estudo de microevolução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Princípios postulados por </a:t>
            </a:r>
            <a:r>
              <a:rPr lang="pt-BR" sz="2200" dirty="0" err="1">
                <a:solidFill>
                  <a:srgbClr val="000000"/>
                </a:solidFill>
              </a:rPr>
              <a:t>Hardy</a:t>
            </a:r>
            <a:r>
              <a:rPr lang="pt-BR" sz="2200" dirty="0">
                <a:solidFill>
                  <a:srgbClr val="000000"/>
                </a:solidFill>
              </a:rPr>
              <a:t> e Weinberg, que criaram o Princípio / Equilíbrio de </a:t>
            </a:r>
            <a:r>
              <a:rPr lang="pt-BR" sz="2200" dirty="0" err="1">
                <a:solidFill>
                  <a:srgbClr val="000000"/>
                </a:solidFill>
              </a:rPr>
              <a:t>Hardy</a:t>
            </a:r>
            <a:r>
              <a:rPr lang="pt-BR" sz="2200" dirty="0">
                <a:solidFill>
                  <a:srgbClr val="000000"/>
                </a:solidFill>
              </a:rPr>
              <a:t> Weinberg, que diz que uma população está em equilíbrio (e suas frequências alélicas se mantem constantes) quando: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Não há mutações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Não há migrações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Não há seleção natural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Os cruzamentos entre os indivíduos ocorrem ao acaso (não há seleção sexual)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Populações são infinitamente grandes (</a:t>
            </a:r>
            <a:r>
              <a:rPr lang="pt-BR" sz="1800" dirty="0" err="1">
                <a:solidFill>
                  <a:srgbClr val="000000"/>
                </a:solidFill>
              </a:rPr>
              <a:t>panmíticas</a:t>
            </a:r>
            <a:r>
              <a:rPr lang="pt-BR" sz="1800" dirty="0">
                <a:solidFill>
                  <a:srgbClr val="000000"/>
                </a:solidFill>
              </a:rPr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Nessas condições a população fica em equilíbrio gênico (sem alteração das frequências alélicas) e consequentemente </a:t>
            </a:r>
            <a:r>
              <a:rPr lang="pt-BR" sz="2200" b="1" dirty="0">
                <a:solidFill>
                  <a:srgbClr val="000000"/>
                </a:solidFill>
              </a:rPr>
              <a:t>não está evoluindo</a:t>
            </a:r>
          </a:p>
        </p:txBody>
      </p:sp>
    </p:spTree>
    <p:extLst>
      <p:ext uri="{BB962C8B-B14F-4D97-AF65-F5344CB8AC3E}">
        <p14:creationId xmlns:p14="http://schemas.microsoft.com/office/powerpoint/2010/main" val="96214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Genética de Populações - Cálculos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49" y="1533281"/>
            <a:ext cx="7402285" cy="52158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rgbClr val="000000"/>
                </a:solidFill>
              </a:rPr>
              <a:t>f (genótipo) = indivíduos com o Genótipo / quant. Indivíduos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rgbClr val="000000"/>
                </a:solidFill>
              </a:rPr>
              <a:t>f (alelo) = quant. Alelo / total de alelos na população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rgbClr val="000000"/>
                </a:solidFill>
              </a:rPr>
              <a:t>f (A) + f(a) = 1</a:t>
            </a:r>
          </a:p>
          <a:p>
            <a:pPr marL="0" indent="0" algn="just">
              <a:buNone/>
            </a:pPr>
            <a:endParaRPr lang="pt-BR" sz="22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pt-BR" sz="2200" dirty="0">
                <a:solidFill>
                  <a:srgbClr val="000000"/>
                </a:solidFill>
              </a:rPr>
              <a:t>f (AA) + f (Aa) + f(aa) = 1 OU p² + 2pq + q² = 1</a:t>
            </a:r>
          </a:p>
          <a:p>
            <a:pPr marL="0" indent="0" algn="just">
              <a:buNone/>
            </a:pPr>
            <a:endParaRPr lang="pt-BR" sz="22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pt-BR" sz="22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endParaRPr lang="pt-BR" sz="22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pt-BR" sz="2200" dirty="0">
                <a:solidFill>
                  <a:srgbClr val="000000"/>
                </a:solidFill>
              </a:rPr>
              <a:t>OBS: f = frequência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5B4587-88E2-49DD-B775-5FEFD04021EE}"/>
              </a:ext>
            </a:extLst>
          </p:cNvPr>
          <p:cNvSpPr txBox="1"/>
          <p:nvPr/>
        </p:nvSpPr>
        <p:spPr>
          <a:xfrm>
            <a:off x="7924800" y="2063931"/>
            <a:ext cx="41191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Exemplo: população de 100 indivíduos. Destes 50 são Aa, 40 são AA e 10 são aa</a:t>
            </a:r>
          </a:p>
          <a:p>
            <a:endParaRPr lang="pt-BR" dirty="0"/>
          </a:p>
          <a:p>
            <a:r>
              <a:rPr lang="pt-BR" dirty="0"/>
              <a:t>A f(a) = quant. a / total de alelos</a:t>
            </a:r>
          </a:p>
          <a:p>
            <a:endParaRPr lang="pt-BR" dirty="0"/>
          </a:p>
          <a:p>
            <a:r>
              <a:rPr lang="pt-BR" dirty="0"/>
              <a:t>A quantidade de (a) é 20 (cada indivíduo ‘aa’ tem 2 ‘a’ + 50 (cada indivíduo ‘Aa’ tem 1 ‘a’) totalizando 70 alelos.</a:t>
            </a:r>
          </a:p>
          <a:p>
            <a:endParaRPr lang="pt-BR" dirty="0"/>
          </a:p>
          <a:p>
            <a:r>
              <a:rPr lang="pt-BR" dirty="0"/>
              <a:t>O total de alelos na população é 200 (são 100 indivíduos e cada um tem 2 alelos.</a:t>
            </a:r>
          </a:p>
          <a:p>
            <a:endParaRPr lang="pt-BR" dirty="0"/>
          </a:p>
          <a:p>
            <a:r>
              <a:rPr lang="pt-BR" dirty="0"/>
              <a:t>Assim a conta fica:</a:t>
            </a:r>
          </a:p>
          <a:p>
            <a:r>
              <a:rPr lang="pt-BR" dirty="0"/>
              <a:t>F(a) = 70 / 200 = 0,35</a:t>
            </a:r>
          </a:p>
        </p:txBody>
      </p:sp>
    </p:spTree>
    <p:extLst>
      <p:ext uri="{BB962C8B-B14F-4D97-AF65-F5344CB8AC3E}">
        <p14:creationId xmlns:p14="http://schemas.microsoft.com/office/powerpoint/2010/main" val="3781877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 err="1">
                <a:solidFill>
                  <a:schemeClr val="bg1"/>
                </a:solidFill>
              </a:rPr>
              <a:t>Linkage</a:t>
            </a: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25" y="1533281"/>
            <a:ext cx="11329851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Genes Ligados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É quando os genes estão no mesmo cromossomo. Quando isso ocorre eles podem acabar migrando juntos para os gametas, então a formação aleatória de gametas da segunda lei de </a:t>
            </a:r>
            <a:r>
              <a:rPr lang="pt-BR" sz="2200" dirty="0" err="1">
                <a:solidFill>
                  <a:srgbClr val="000000"/>
                </a:solidFill>
              </a:rPr>
              <a:t>mendel</a:t>
            </a:r>
            <a:r>
              <a:rPr lang="pt-BR" sz="2200" dirty="0">
                <a:solidFill>
                  <a:srgbClr val="000000"/>
                </a:solidFill>
              </a:rPr>
              <a:t> não ocorre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Quanto mais próximos os genes, maiores as chances de eles migrarem juntos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A distância entre os genes é a chance de haver recombinação (crossing-over) trocando os genes de lugar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FCFD7E8-D259-4948-A106-747566E65622}"/>
              </a:ext>
            </a:extLst>
          </p:cNvPr>
          <p:cNvSpPr/>
          <p:nvPr/>
        </p:nvSpPr>
        <p:spPr>
          <a:xfrm>
            <a:off x="5503818" y="4502331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EDB5B5-9269-4F49-833D-6ACCE75A7444}"/>
              </a:ext>
            </a:extLst>
          </p:cNvPr>
          <p:cNvSpPr/>
          <p:nvPr/>
        </p:nvSpPr>
        <p:spPr>
          <a:xfrm>
            <a:off x="5564777" y="4737464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73091D-C9A3-446E-BF80-CFAC138A4E5E}"/>
              </a:ext>
            </a:extLst>
          </p:cNvPr>
          <p:cNvSpPr/>
          <p:nvPr/>
        </p:nvSpPr>
        <p:spPr>
          <a:xfrm>
            <a:off x="5569132" y="5390607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0344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8154C7C-84FF-4792-A929-D3F949408F4C}"/>
              </a:ext>
            </a:extLst>
          </p:cNvPr>
          <p:cNvSpPr/>
          <p:nvPr/>
        </p:nvSpPr>
        <p:spPr>
          <a:xfrm>
            <a:off x="5368835" y="2141820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1367DBE-BDC3-4EC9-8756-8552F0E20CE7}"/>
              </a:ext>
            </a:extLst>
          </p:cNvPr>
          <p:cNvSpPr/>
          <p:nvPr/>
        </p:nvSpPr>
        <p:spPr>
          <a:xfrm>
            <a:off x="4097384" y="2146662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 err="1">
                <a:solidFill>
                  <a:schemeClr val="bg1"/>
                </a:solidFill>
              </a:rPr>
              <a:t>Linkage</a:t>
            </a: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Um organismo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r>
              <a:rPr lang="pt-BR" sz="2200" dirty="0">
                <a:solidFill>
                  <a:srgbClr val="000000"/>
                </a:solidFill>
              </a:rPr>
              <a:t> na visão da segunda lei de </a:t>
            </a:r>
            <a:r>
              <a:rPr lang="pt-BR" sz="2200" dirty="0" err="1">
                <a:solidFill>
                  <a:srgbClr val="000000"/>
                </a:solidFill>
              </a:rPr>
              <a:t>mendel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Formaria 4 tipos de gametas: AB,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r>
              <a:rPr lang="pt-BR" sz="2200" dirty="0">
                <a:solidFill>
                  <a:srgbClr val="000000"/>
                </a:solidFill>
              </a:rPr>
              <a:t>,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r>
              <a:rPr lang="pt-BR" sz="2200" dirty="0">
                <a:solidFill>
                  <a:srgbClr val="000000"/>
                </a:solidFill>
              </a:rPr>
              <a:t> e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endParaRPr lang="pt-BR" sz="2200" dirty="0">
              <a:solidFill>
                <a:srgbClr val="000000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FCFD7E8-D259-4948-A106-747566E65622}"/>
              </a:ext>
            </a:extLst>
          </p:cNvPr>
          <p:cNvSpPr/>
          <p:nvPr/>
        </p:nvSpPr>
        <p:spPr>
          <a:xfrm>
            <a:off x="6453052" y="2124403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EDB5B5-9269-4F49-833D-6ACCE75A7444}"/>
              </a:ext>
            </a:extLst>
          </p:cNvPr>
          <p:cNvSpPr/>
          <p:nvPr/>
        </p:nvSpPr>
        <p:spPr>
          <a:xfrm>
            <a:off x="4154487" y="2451463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73091D-C9A3-446E-BF80-CFAC138A4E5E}"/>
              </a:ext>
            </a:extLst>
          </p:cNvPr>
          <p:cNvSpPr/>
          <p:nvPr/>
        </p:nvSpPr>
        <p:spPr>
          <a:xfrm>
            <a:off x="5429796" y="2451462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EB19B42-5B2B-4C8B-85B1-8DF710806555}"/>
              </a:ext>
            </a:extLst>
          </p:cNvPr>
          <p:cNvSpPr/>
          <p:nvPr/>
        </p:nvSpPr>
        <p:spPr>
          <a:xfrm>
            <a:off x="3082835" y="2146662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9135C4E-296F-44F9-8BD0-7B7EDB343CC8}"/>
              </a:ext>
            </a:extLst>
          </p:cNvPr>
          <p:cNvSpPr/>
          <p:nvPr/>
        </p:nvSpPr>
        <p:spPr>
          <a:xfrm>
            <a:off x="3152005" y="2451464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0EDC820-DDAB-46A1-9F5E-AC95AD9CC6A6}"/>
              </a:ext>
            </a:extLst>
          </p:cNvPr>
          <p:cNvSpPr/>
          <p:nvPr/>
        </p:nvSpPr>
        <p:spPr>
          <a:xfrm>
            <a:off x="6514011" y="2451461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22600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EB19B42-5B2B-4C8B-85B1-8DF710806555}"/>
              </a:ext>
            </a:extLst>
          </p:cNvPr>
          <p:cNvSpPr/>
          <p:nvPr/>
        </p:nvSpPr>
        <p:spPr>
          <a:xfrm>
            <a:off x="3082835" y="2146662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1367DBE-BDC3-4EC9-8756-8552F0E20CE7}"/>
              </a:ext>
            </a:extLst>
          </p:cNvPr>
          <p:cNvSpPr/>
          <p:nvPr/>
        </p:nvSpPr>
        <p:spPr>
          <a:xfrm>
            <a:off x="4097384" y="2146662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Mas e se os genes A e B são ligados?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Então eles estariam no mesmo cromossomo! Um organismo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r>
              <a:rPr lang="pt-BR" sz="2200" dirty="0">
                <a:solidFill>
                  <a:srgbClr val="000000"/>
                </a:solidFill>
              </a:rPr>
              <a:t> seria: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CIS: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TRANS: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EDB5B5-9269-4F49-833D-6ACCE75A7444}"/>
              </a:ext>
            </a:extLst>
          </p:cNvPr>
          <p:cNvSpPr/>
          <p:nvPr/>
        </p:nvSpPr>
        <p:spPr>
          <a:xfrm>
            <a:off x="4154487" y="2451463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73091D-C9A3-446E-BF80-CFAC138A4E5E}"/>
              </a:ext>
            </a:extLst>
          </p:cNvPr>
          <p:cNvSpPr/>
          <p:nvPr/>
        </p:nvSpPr>
        <p:spPr>
          <a:xfrm>
            <a:off x="3145973" y="3064845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9135C4E-296F-44F9-8BD0-7B7EDB343CC8}"/>
              </a:ext>
            </a:extLst>
          </p:cNvPr>
          <p:cNvSpPr/>
          <p:nvPr/>
        </p:nvSpPr>
        <p:spPr>
          <a:xfrm>
            <a:off x="3152005" y="2451464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0EDC820-DDAB-46A1-9F5E-AC95AD9CC6A6}"/>
              </a:ext>
            </a:extLst>
          </p:cNvPr>
          <p:cNvSpPr/>
          <p:nvPr/>
        </p:nvSpPr>
        <p:spPr>
          <a:xfrm>
            <a:off x="4167052" y="3064845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FA9128F-CDE8-46C5-8345-4A5FA5031716}"/>
              </a:ext>
            </a:extLst>
          </p:cNvPr>
          <p:cNvSpPr/>
          <p:nvPr/>
        </p:nvSpPr>
        <p:spPr>
          <a:xfrm>
            <a:off x="3085013" y="4637314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25BB959-9465-4D01-8F4D-04BF82859B8C}"/>
              </a:ext>
            </a:extLst>
          </p:cNvPr>
          <p:cNvSpPr/>
          <p:nvPr/>
        </p:nvSpPr>
        <p:spPr>
          <a:xfrm>
            <a:off x="4099562" y="4637314"/>
            <a:ext cx="592183" cy="2185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5CBB3CF-CCD9-4F72-945B-819C2B647B8F}"/>
              </a:ext>
            </a:extLst>
          </p:cNvPr>
          <p:cNvSpPr/>
          <p:nvPr/>
        </p:nvSpPr>
        <p:spPr>
          <a:xfrm>
            <a:off x="4156665" y="4942115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B91CEFE-C2E9-4CD3-9C7D-A95C3D8D1286}"/>
              </a:ext>
            </a:extLst>
          </p:cNvPr>
          <p:cNvSpPr/>
          <p:nvPr/>
        </p:nvSpPr>
        <p:spPr>
          <a:xfrm>
            <a:off x="4154487" y="5521235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B94074A-34CF-4C66-844A-BB6D47D001F1}"/>
              </a:ext>
            </a:extLst>
          </p:cNvPr>
          <p:cNvSpPr/>
          <p:nvPr/>
        </p:nvSpPr>
        <p:spPr>
          <a:xfrm>
            <a:off x="3154183" y="4942116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592154E-6ED5-45B3-97C0-854E17CB0B27}"/>
              </a:ext>
            </a:extLst>
          </p:cNvPr>
          <p:cNvSpPr/>
          <p:nvPr/>
        </p:nvSpPr>
        <p:spPr>
          <a:xfrm>
            <a:off x="3154183" y="5546787"/>
            <a:ext cx="470263" cy="41801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036A57A-DA2B-4FFB-9156-59074067C3D3}"/>
              </a:ext>
            </a:extLst>
          </p:cNvPr>
          <p:cNvSpPr txBox="1"/>
          <p:nvPr/>
        </p:nvSpPr>
        <p:spPr>
          <a:xfrm>
            <a:off x="5451566" y="2869473"/>
            <a:ext cx="19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Dominantes juntos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D160489-4346-47C0-A06C-D22D8AEA085C}"/>
              </a:ext>
            </a:extLst>
          </p:cNvPr>
          <p:cNvSpPr txBox="1"/>
          <p:nvPr/>
        </p:nvSpPr>
        <p:spPr>
          <a:xfrm>
            <a:off x="5451567" y="3238805"/>
            <a:ext cx="18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Recessivos juntos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F187EA-AB47-406B-AB22-F05AB265E8F7}"/>
              </a:ext>
            </a:extLst>
          </p:cNvPr>
          <p:cNvSpPr txBox="1"/>
          <p:nvPr/>
        </p:nvSpPr>
        <p:spPr>
          <a:xfrm>
            <a:off x="5365251" y="5177454"/>
            <a:ext cx="2642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Dominante com Recessivo</a:t>
            </a:r>
          </a:p>
        </p:txBody>
      </p:sp>
    </p:spTree>
    <p:extLst>
      <p:ext uri="{BB962C8B-B14F-4D97-AF65-F5344CB8AC3E}">
        <p14:creationId xmlns:p14="http://schemas.microsoft.com/office/powerpoint/2010/main" val="3045989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E como ficariam seus gametas?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4" y="1533281"/>
            <a:ext cx="11277600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Depende da distância entre os genes pois temos que considerar a chance de ocorrer permutação entre os cromossomos!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Ex</a:t>
            </a:r>
            <a:r>
              <a:rPr lang="pt-BR" sz="2200" dirty="0">
                <a:solidFill>
                  <a:srgbClr val="000000"/>
                </a:solidFill>
              </a:rPr>
              <a:t>: se não houvesse recombinação, um organismo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r>
              <a:rPr lang="pt-BR" sz="2200" dirty="0">
                <a:solidFill>
                  <a:srgbClr val="000000"/>
                </a:solidFill>
              </a:rPr>
              <a:t> em que A e B são genes ligados em disposição CIS teria seus gametas: 50% AB e 50%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Ex2: se a taxa de recombinação fosse de 20% então teríamos: 40% AB, 40%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r>
              <a:rPr lang="pt-BR" sz="2200" dirty="0">
                <a:solidFill>
                  <a:srgbClr val="000000"/>
                </a:solidFill>
              </a:rPr>
              <a:t>, 10% </a:t>
            </a:r>
            <a:r>
              <a:rPr lang="pt-BR" sz="2200" dirty="0" err="1">
                <a:solidFill>
                  <a:srgbClr val="000000"/>
                </a:solidFill>
              </a:rPr>
              <a:t>Ab</a:t>
            </a:r>
            <a:r>
              <a:rPr lang="pt-BR" sz="2200" dirty="0">
                <a:solidFill>
                  <a:srgbClr val="000000"/>
                </a:solidFill>
              </a:rPr>
              <a:t> e 10% </a:t>
            </a:r>
            <a:r>
              <a:rPr lang="pt-BR" sz="2200" dirty="0" err="1">
                <a:solidFill>
                  <a:srgbClr val="000000"/>
                </a:solidFill>
              </a:rPr>
              <a:t>aB.</a:t>
            </a:r>
            <a:r>
              <a:rPr lang="pt-BR" sz="2200" dirty="0">
                <a:solidFill>
                  <a:srgbClr val="000000"/>
                </a:solidFill>
              </a:rPr>
              <a:t> Observe abaixo:</a:t>
            </a:r>
          </a:p>
        </p:txBody>
      </p:sp>
    </p:spTree>
    <p:extLst>
      <p:ext uri="{BB962C8B-B14F-4D97-AF65-F5344CB8AC3E}">
        <p14:creationId xmlns:p14="http://schemas.microsoft.com/office/powerpoint/2010/main" val="1208064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3279</TotalTime>
  <Words>976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Tema do Office</vt:lpstr>
      <vt:lpstr>Genética</vt:lpstr>
      <vt:lpstr>Interação Gênica</vt:lpstr>
      <vt:lpstr>Interação Gênica – Genes Complementares</vt:lpstr>
      <vt:lpstr>Interação Gênica - Epistasia</vt:lpstr>
      <vt:lpstr>Epistasia Dominante</vt:lpstr>
      <vt:lpstr>Epistasia Recessiva</vt:lpstr>
      <vt:lpstr>Epistasia Duplo Recessiva</vt:lpstr>
      <vt:lpstr>Genética – Heranças Poligênicas</vt:lpstr>
      <vt:lpstr>Genética – Heranças Poligênicas</vt:lpstr>
      <vt:lpstr>Genética – Heranças Poligênicas</vt:lpstr>
      <vt:lpstr>Genética de Populações</vt:lpstr>
      <vt:lpstr>Genética de Populações - Cálculos</vt:lpstr>
      <vt:lpstr>Linkage</vt:lpstr>
      <vt:lpstr>Linkage</vt:lpstr>
      <vt:lpstr>Mas e se os genes A e B são ligados?</vt:lpstr>
      <vt:lpstr>E como ficariam seus gametas?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109</cp:revision>
  <dcterms:created xsi:type="dcterms:W3CDTF">2020-06-05T12:13:59Z</dcterms:created>
  <dcterms:modified xsi:type="dcterms:W3CDTF">2021-05-10T20:25:55Z</dcterms:modified>
</cp:coreProperties>
</file>