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316" r:id="rId2"/>
    <p:sldId id="258" r:id="rId3"/>
    <p:sldId id="262" r:id="rId4"/>
    <p:sldId id="263" r:id="rId5"/>
    <p:sldId id="266" r:id="rId6"/>
    <p:sldId id="261" r:id="rId7"/>
    <p:sldId id="260" r:id="rId8"/>
    <p:sldId id="267" r:id="rId9"/>
    <p:sldId id="268" r:id="rId10"/>
    <p:sldId id="270" r:id="rId11"/>
    <p:sldId id="271" r:id="rId12"/>
    <p:sldId id="269" r:id="rId13"/>
    <p:sldId id="274" r:id="rId14"/>
    <p:sldId id="275" r:id="rId15"/>
    <p:sldId id="276" r:id="rId16"/>
    <p:sldId id="277" r:id="rId17"/>
    <p:sldId id="279" r:id="rId18"/>
    <p:sldId id="278" r:id="rId19"/>
    <p:sldId id="280" r:id="rId20"/>
    <p:sldId id="281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58D1-667F-4B47-894F-F5843460E4F8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B9BDF-4EC6-4AA0-9559-E66382EE67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78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8196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6FB0A-ACC1-44C7-A463-9F09D6238EA9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Imagem de Slide 1">
            <a:extLst>
              <a:ext uri="{FF2B5EF4-FFF2-40B4-BE49-F238E27FC236}">
                <a16:creationId xmlns:a16="http://schemas.microsoft.com/office/drawing/2014/main" id="{DAB4E7CA-3862-4263-9EC2-37E18034C8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Espaço Reservado para Anotações 2">
            <a:extLst>
              <a:ext uri="{FF2B5EF4-FFF2-40B4-BE49-F238E27FC236}">
                <a16:creationId xmlns:a16="http://schemas.microsoft.com/office/drawing/2014/main" id="{84F06B00-D4B0-45AE-9CB5-B0DFA21A52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148" name="Espaço Reservado para Número de Slide 3">
            <a:extLst>
              <a:ext uri="{FF2B5EF4-FFF2-40B4-BE49-F238E27FC236}">
                <a16:creationId xmlns:a16="http://schemas.microsoft.com/office/drawing/2014/main" id="{01751CFD-D4F9-4CBC-963A-9D120A7F8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DFC373-F84B-4DF4-A2C0-465420F55EF3}" type="slidenum">
              <a:rPr lang="pt-BR" altLang="pt-BR"/>
              <a:pPr>
                <a:spcBef>
                  <a:spcPct val="0"/>
                </a:spcBef>
              </a:pPr>
              <a:t>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>
            <a:extLst>
              <a:ext uri="{FF2B5EF4-FFF2-40B4-BE49-F238E27FC236}">
                <a16:creationId xmlns:a16="http://schemas.microsoft.com/office/drawing/2014/main" id="{56637F71-7E4D-4F20-9B31-8075207F13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Espaço Reservado para Anotações 2">
            <a:extLst>
              <a:ext uri="{FF2B5EF4-FFF2-40B4-BE49-F238E27FC236}">
                <a16:creationId xmlns:a16="http://schemas.microsoft.com/office/drawing/2014/main" id="{46AC40C0-ED0C-4797-9DAF-F5B14321F0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8196" name="Espaço Reservado para Número de Slide 3">
            <a:extLst>
              <a:ext uri="{FF2B5EF4-FFF2-40B4-BE49-F238E27FC236}">
                <a16:creationId xmlns:a16="http://schemas.microsoft.com/office/drawing/2014/main" id="{F9B02EAE-DD65-4CDE-B2F1-117C3F7150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1FEE5C-56FD-4FF1-A133-367258556E19}" type="slidenum">
              <a:rPr lang="pt-BR" altLang="pt-BR"/>
              <a:pPr>
                <a:spcBef>
                  <a:spcPct val="0"/>
                </a:spcBef>
              </a:pPr>
              <a:t>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Imagem de Slide 1">
            <a:extLst>
              <a:ext uri="{FF2B5EF4-FFF2-40B4-BE49-F238E27FC236}">
                <a16:creationId xmlns:a16="http://schemas.microsoft.com/office/drawing/2014/main" id="{5005075E-9B49-4300-8228-BD33CD99AC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Espaço Reservado para Anotações 2">
            <a:extLst>
              <a:ext uri="{FF2B5EF4-FFF2-40B4-BE49-F238E27FC236}">
                <a16:creationId xmlns:a16="http://schemas.microsoft.com/office/drawing/2014/main" id="{B858F4D5-1D60-4A46-9084-526113155A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0244" name="Espaço Reservado para Número de Slide 3">
            <a:extLst>
              <a:ext uri="{FF2B5EF4-FFF2-40B4-BE49-F238E27FC236}">
                <a16:creationId xmlns:a16="http://schemas.microsoft.com/office/drawing/2014/main" id="{AD390501-1103-406C-A454-AC9ADE8A5E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419BFA8-40AF-47D1-8FB5-7D11398FA046}" type="slidenum">
              <a:rPr lang="pt-BR" altLang="pt-BR"/>
              <a:pPr>
                <a:spcBef>
                  <a:spcPct val="0"/>
                </a:spcBef>
              </a:pPr>
              <a:t>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Imagem de Slide 1">
            <a:extLst>
              <a:ext uri="{FF2B5EF4-FFF2-40B4-BE49-F238E27FC236}">
                <a16:creationId xmlns:a16="http://schemas.microsoft.com/office/drawing/2014/main" id="{D879F6BD-B201-4377-9584-C24DC8A740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Espaço Reservado para Anotações 2">
            <a:extLst>
              <a:ext uri="{FF2B5EF4-FFF2-40B4-BE49-F238E27FC236}">
                <a16:creationId xmlns:a16="http://schemas.microsoft.com/office/drawing/2014/main" id="{0FC207D6-8C50-4239-8FFD-7480C49FEB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2292" name="Espaço Reservado para Número de Slide 3">
            <a:extLst>
              <a:ext uri="{FF2B5EF4-FFF2-40B4-BE49-F238E27FC236}">
                <a16:creationId xmlns:a16="http://schemas.microsoft.com/office/drawing/2014/main" id="{5D80D2E8-316F-4DBB-9DF0-CB40FBDB8B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15FF55-ABFB-4226-AB43-F55125C5C1BC}" type="slidenum">
              <a:rPr lang="pt-BR" altLang="pt-BR"/>
              <a:pPr>
                <a:spcBef>
                  <a:spcPct val="0"/>
                </a:spcBef>
              </a:pPr>
              <a:t>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Imagem de Slide 1">
            <a:extLst>
              <a:ext uri="{FF2B5EF4-FFF2-40B4-BE49-F238E27FC236}">
                <a16:creationId xmlns:a16="http://schemas.microsoft.com/office/drawing/2014/main" id="{179E8237-6591-48E3-8CA8-4B04F35F78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Espaço Reservado para Anotações 2">
            <a:extLst>
              <a:ext uri="{FF2B5EF4-FFF2-40B4-BE49-F238E27FC236}">
                <a16:creationId xmlns:a16="http://schemas.microsoft.com/office/drawing/2014/main" id="{1320A3B2-6138-4931-A2E1-CF7D9DBE97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14340" name="Espaço Reservado para Número de Slide 3">
            <a:extLst>
              <a:ext uri="{FF2B5EF4-FFF2-40B4-BE49-F238E27FC236}">
                <a16:creationId xmlns:a16="http://schemas.microsoft.com/office/drawing/2014/main" id="{45868804-2F6B-42E6-B930-0A052C887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A164794-E6FF-42B2-B87E-D5AD34281645}" type="slidenum">
              <a:rPr lang="pt-BR" altLang="pt-BR"/>
              <a:pPr>
                <a:spcBef>
                  <a:spcPct val="0"/>
                </a:spcBef>
              </a:pPr>
              <a:t>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Imagem de Slide 1">
            <a:extLst>
              <a:ext uri="{FF2B5EF4-FFF2-40B4-BE49-F238E27FC236}">
                <a16:creationId xmlns:a16="http://schemas.microsoft.com/office/drawing/2014/main" id="{B98B8DD0-AFD2-43D2-8F5A-116C4265C1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Espaço Reservado para Anotações 2">
            <a:extLst>
              <a:ext uri="{FF2B5EF4-FFF2-40B4-BE49-F238E27FC236}">
                <a16:creationId xmlns:a16="http://schemas.microsoft.com/office/drawing/2014/main" id="{C93CDE61-DF85-47FA-B123-2826EC4D3A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0484" name="Espaço Reservado para Número de Slide 3">
            <a:extLst>
              <a:ext uri="{FF2B5EF4-FFF2-40B4-BE49-F238E27FC236}">
                <a16:creationId xmlns:a16="http://schemas.microsoft.com/office/drawing/2014/main" id="{A9633F4E-9E04-4019-A0F5-B49C71FCD0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EC1A02F-015D-4045-8BA4-7F28A38B978B}" type="slidenum">
              <a:rPr lang="pt-BR" altLang="pt-BR"/>
              <a:pPr>
                <a:spcBef>
                  <a:spcPct val="0"/>
                </a:spcBef>
              </a:pPr>
              <a:t>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Imagem de Slide 1">
            <a:extLst>
              <a:ext uri="{FF2B5EF4-FFF2-40B4-BE49-F238E27FC236}">
                <a16:creationId xmlns:a16="http://schemas.microsoft.com/office/drawing/2014/main" id="{04AA99C2-E598-4167-8600-B16A8889D9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ço Reservado para Anotações 2">
            <a:extLst>
              <a:ext uri="{FF2B5EF4-FFF2-40B4-BE49-F238E27FC236}">
                <a16:creationId xmlns:a16="http://schemas.microsoft.com/office/drawing/2014/main" id="{5B18A5C0-4BC0-407D-B048-CF9F5DEE04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2532" name="Espaço Reservado para Número de Slide 3">
            <a:extLst>
              <a:ext uri="{FF2B5EF4-FFF2-40B4-BE49-F238E27FC236}">
                <a16:creationId xmlns:a16="http://schemas.microsoft.com/office/drawing/2014/main" id="{442C060A-8F10-4786-9CB1-73B1AF2AF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DBA9CDE-8AD1-4A3C-8540-A97A2E205094}" type="slidenum">
              <a:rPr lang="pt-BR" altLang="pt-BR"/>
              <a:pPr>
                <a:spcBef>
                  <a:spcPct val="0"/>
                </a:spcBef>
              </a:pPr>
              <a:t>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Imagem de Slide 1">
            <a:extLst>
              <a:ext uri="{FF2B5EF4-FFF2-40B4-BE49-F238E27FC236}">
                <a16:creationId xmlns:a16="http://schemas.microsoft.com/office/drawing/2014/main" id="{86C2E4A4-2601-4A7A-831C-FB2ECC84B0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Espaço Reservado para Anotações 2">
            <a:extLst>
              <a:ext uri="{FF2B5EF4-FFF2-40B4-BE49-F238E27FC236}">
                <a16:creationId xmlns:a16="http://schemas.microsoft.com/office/drawing/2014/main" id="{02A35208-F845-40C1-BDCF-ADD1B43909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4580" name="Espaço Reservado para Número de Slide 3">
            <a:extLst>
              <a:ext uri="{FF2B5EF4-FFF2-40B4-BE49-F238E27FC236}">
                <a16:creationId xmlns:a16="http://schemas.microsoft.com/office/drawing/2014/main" id="{D041C57F-7FA8-4253-B5DA-C33904D97C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AE461F-C880-46CE-823E-BDE1DBA5FFF5}" type="slidenum">
              <a:rPr lang="pt-BR" altLang="pt-BR"/>
              <a:pPr>
                <a:spcBef>
                  <a:spcPct val="0"/>
                </a:spcBef>
              </a:pPr>
              <a:t>10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Imagem de Slide 1">
            <a:extLst>
              <a:ext uri="{FF2B5EF4-FFF2-40B4-BE49-F238E27FC236}">
                <a16:creationId xmlns:a16="http://schemas.microsoft.com/office/drawing/2014/main" id="{023E5B4D-46C7-4F12-ADAE-62C80351F8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Espaço Reservado para Anotações 2">
            <a:extLst>
              <a:ext uri="{FF2B5EF4-FFF2-40B4-BE49-F238E27FC236}">
                <a16:creationId xmlns:a16="http://schemas.microsoft.com/office/drawing/2014/main" id="{6D348BE4-C334-42C8-A5FB-69655EEB06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6628" name="Espaço Reservado para Número de Slide 3">
            <a:extLst>
              <a:ext uri="{FF2B5EF4-FFF2-40B4-BE49-F238E27FC236}">
                <a16:creationId xmlns:a16="http://schemas.microsoft.com/office/drawing/2014/main" id="{CC4209C2-2819-4210-B0D6-A8889A55F4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064F8D-D346-4EDF-8969-0B18076A86BB}" type="slidenum">
              <a:rPr lang="pt-BR" altLang="pt-BR"/>
              <a:pPr>
                <a:spcBef>
                  <a:spcPct val="0"/>
                </a:spcBef>
              </a:pPr>
              <a:t>11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Imagem de Slide 1">
            <a:extLst>
              <a:ext uri="{FF2B5EF4-FFF2-40B4-BE49-F238E27FC236}">
                <a16:creationId xmlns:a16="http://schemas.microsoft.com/office/drawing/2014/main" id="{724C96BD-9CB7-4830-8EC7-545528585F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Espaço Reservado para Anotações 2">
            <a:extLst>
              <a:ext uri="{FF2B5EF4-FFF2-40B4-BE49-F238E27FC236}">
                <a16:creationId xmlns:a16="http://schemas.microsoft.com/office/drawing/2014/main" id="{68DA2D91-78C8-4403-A5DE-FD8BFD3721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28676" name="Espaço Reservado para Número de Slide 3">
            <a:extLst>
              <a:ext uri="{FF2B5EF4-FFF2-40B4-BE49-F238E27FC236}">
                <a16:creationId xmlns:a16="http://schemas.microsoft.com/office/drawing/2014/main" id="{12D212E2-FB72-47AC-9F7D-990846B197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CA5419-C313-4CC5-83D2-A9B1407E3437}" type="slidenum">
              <a:rPr lang="pt-BR" altLang="pt-BR"/>
              <a:pPr>
                <a:spcBef>
                  <a:spcPct val="0"/>
                </a:spcBef>
              </a:pPr>
              <a:t>12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>
            <a:extLst>
              <a:ext uri="{FF2B5EF4-FFF2-40B4-BE49-F238E27FC236}">
                <a16:creationId xmlns:a16="http://schemas.microsoft.com/office/drawing/2014/main" id="{80606348-FF11-4A57-B68E-7B870077F7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ço Reservado para Anotações 2">
            <a:extLst>
              <a:ext uri="{FF2B5EF4-FFF2-40B4-BE49-F238E27FC236}">
                <a16:creationId xmlns:a16="http://schemas.microsoft.com/office/drawing/2014/main" id="{E5B26C1C-118C-4A32-B0BD-C66BDEF81C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0724" name="Espaço Reservado para Número de Slide 3">
            <a:extLst>
              <a:ext uri="{FF2B5EF4-FFF2-40B4-BE49-F238E27FC236}">
                <a16:creationId xmlns:a16="http://schemas.microsoft.com/office/drawing/2014/main" id="{A8DFEEDC-3B98-40A2-9AEF-C821568914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4EA061-C431-4708-8B24-E60BEA1EE97F}" type="slidenum">
              <a:rPr lang="pt-BR" altLang="pt-BR"/>
              <a:pPr>
                <a:spcBef>
                  <a:spcPct val="0"/>
                </a:spcBef>
              </a:pPr>
              <a:t>13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ço Reservado para Imagem de Slide 1">
            <a:extLst>
              <a:ext uri="{FF2B5EF4-FFF2-40B4-BE49-F238E27FC236}">
                <a16:creationId xmlns:a16="http://schemas.microsoft.com/office/drawing/2014/main" id="{2F8B8AE0-D799-474C-A88D-364BA7CB81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ço Reservado para Anotações 2">
            <a:extLst>
              <a:ext uri="{FF2B5EF4-FFF2-40B4-BE49-F238E27FC236}">
                <a16:creationId xmlns:a16="http://schemas.microsoft.com/office/drawing/2014/main" id="{B4026C7A-A60E-4111-903C-74ACDC558C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2772" name="Espaço Reservado para Número de Slide 3">
            <a:extLst>
              <a:ext uri="{FF2B5EF4-FFF2-40B4-BE49-F238E27FC236}">
                <a16:creationId xmlns:a16="http://schemas.microsoft.com/office/drawing/2014/main" id="{DA1D94FE-FD90-412C-BB2F-AE694379A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F02C04-6A4F-4D38-8D00-06EEAE300728}" type="slidenum">
              <a:rPr lang="pt-BR" altLang="pt-BR"/>
              <a:pPr>
                <a:spcBef>
                  <a:spcPct val="0"/>
                </a:spcBef>
              </a:pPr>
              <a:t>14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Imagem de Slide 1">
            <a:extLst>
              <a:ext uri="{FF2B5EF4-FFF2-40B4-BE49-F238E27FC236}">
                <a16:creationId xmlns:a16="http://schemas.microsoft.com/office/drawing/2014/main" id="{3525024F-8073-4C63-BD5C-7C2A75D8D0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ço Reservado para Anotações 2">
            <a:extLst>
              <a:ext uri="{FF2B5EF4-FFF2-40B4-BE49-F238E27FC236}">
                <a16:creationId xmlns:a16="http://schemas.microsoft.com/office/drawing/2014/main" id="{A9919004-9547-40D8-BF80-67F6D38A68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4820" name="Espaço Reservado para Número de Slide 3">
            <a:extLst>
              <a:ext uri="{FF2B5EF4-FFF2-40B4-BE49-F238E27FC236}">
                <a16:creationId xmlns:a16="http://schemas.microsoft.com/office/drawing/2014/main" id="{EE4523D5-DF52-45D6-A186-35FCE8D1C4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E8FB22-3D0E-44F9-937B-1D944F00AB04}" type="slidenum">
              <a:rPr lang="pt-BR" altLang="pt-BR"/>
              <a:pPr>
                <a:spcBef>
                  <a:spcPct val="0"/>
                </a:spcBef>
              </a:pPr>
              <a:t>15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ço Reservado para Imagem de Slide 1">
            <a:extLst>
              <a:ext uri="{FF2B5EF4-FFF2-40B4-BE49-F238E27FC236}">
                <a16:creationId xmlns:a16="http://schemas.microsoft.com/office/drawing/2014/main" id="{C204FB0E-5F12-4F27-B162-9B0D0F6F6A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Espaço Reservado para Anotações 2">
            <a:extLst>
              <a:ext uri="{FF2B5EF4-FFF2-40B4-BE49-F238E27FC236}">
                <a16:creationId xmlns:a16="http://schemas.microsoft.com/office/drawing/2014/main" id="{68786F6F-CBE0-4F83-BE86-8C6082C92E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6868" name="Espaço Reservado para Número de Slide 3">
            <a:extLst>
              <a:ext uri="{FF2B5EF4-FFF2-40B4-BE49-F238E27FC236}">
                <a16:creationId xmlns:a16="http://schemas.microsoft.com/office/drawing/2014/main" id="{171FDB8F-5EE2-4B57-BE7E-FEE5EE7A12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604B799-BECA-4C97-87DA-FF0B4D5DB260}" type="slidenum">
              <a:rPr lang="pt-BR" altLang="pt-BR"/>
              <a:pPr>
                <a:spcBef>
                  <a:spcPct val="0"/>
                </a:spcBef>
              </a:pPr>
              <a:t>16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ço Reservado para Imagem de Slide 1">
            <a:extLst>
              <a:ext uri="{FF2B5EF4-FFF2-40B4-BE49-F238E27FC236}">
                <a16:creationId xmlns:a16="http://schemas.microsoft.com/office/drawing/2014/main" id="{922E3A11-2309-44CE-9411-FDC94E9FA5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Espaço Reservado para Anotações 2">
            <a:extLst>
              <a:ext uri="{FF2B5EF4-FFF2-40B4-BE49-F238E27FC236}">
                <a16:creationId xmlns:a16="http://schemas.microsoft.com/office/drawing/2014/main" id="{94D8A0C9-A2F6-4618-915A-88C75ED2D9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8916" name="Espaço Reservado para Número de Slide 3">
            <a:extLst>
              <a:ext uri="{FF2B5EF4-FFF2-40B4-BE49-F238E27FC236}">
                <a16:creationId xmlns:a16="http://schemas.microsoft.com/office/drawing/2014/main" id="{D0FCDF55-BBAC-4446-B146-708686DA9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D12AADE-D457-4EA3-9826-8EF5A9B96F99}" type="slidenum">
              <a:rPr lang="pt-BR" altLang="pt-BR"/>
              <a:pPr>
                <a:spcBef>
                  <a:spcPct val="0"/>
                </a:spcBef>
              </a:pPr>
              <a:t>17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Imagem de Slide 1">
            <a:extLst>
              <a:ext uri="{FF2B5EF4-FFF2-40B4-BE49-F238E27FC236}">
                <a16:creationId xmlns:a16="http://schemas.microsoft.com/office/drawing/2014/main" id="{87CA4041-7563-4292-895E-8213E540E8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Espaço Reservado para Anotações 2">
            <a:extLst>
              <a:ext uri="{FF2B5EF4-FFF2-40B4-BE49-F238E27FC236}">
                <a16:creationId xmlns:a16="http://schemas.microsoft.com/office/drawing/2014/main" id="{7B3E136B-8F96-42FC-972E-88DDEF4EBEE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0964" name="Espaço Reservado para Número de Slide 3">
            <a:extLst>
              <a:ext uri="{FF2B5EF4-FFF2-40B4-BE49-F238E27FC236}">
                <a16:creationId xmlns:a16="http://schemas.microsoft.com/office/drawing/2014/main" id="{F297AB75-DB55-4531-B0CE-1EB122B065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2E52CE-F234-414A-BC1F-613DCD7012D3}" type="slidenum">
              <a:rPr lang="pt-BR" altLang="pt-BR"/>
              <a:pPr>
                <a:spcBef>
                  <a:spcPct val="0"/>
                </a:spcBef>
              </a:pPr>
              <a:t>18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>
            <a:extLst>
              <a:ext uri="{FF2B5EF4-FFF2-40B4-BE49-F238E27FC236}">
                <a16:creationId xmlns:a16="http://schemas.microsoft.com/office/drawing/2014/main" id="{F7CD75A1-6257-47C0-BBC3-F1A7BC0D08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Espaço Reservado para Anotações 2">
            <a:extLst>
              <a:ext uri="{FF2B5EF4-FFF2-40B4-BE49-F238E27FC236}">
                <a16:creationId xmlns:a16="http://schemas.microsoft.com/office/drawing/2014/main" id="{6700F42E-7580-4155-8B79-8CDB7A24AD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3012" name="Espaço Reservado para Número de Slide 3">
            <a:extLst>
              <a:ext uri="{FF2B5EF4-FFF2-40B4-BE49-F238E27FC236}">
                <a16:creationId xmlns:a16="http://schemas.microsoft.com/office/drawing/2014/main" id="{01A6E82B-6841-4960-9218-35A3DE63DF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677903-9508-49D9-B6E9-A4A926292872}" type="slidenum">
              <a:rPr lang="pt-BR" altLang="pt-BR"/>
              <a:pPr>
                <a:spcBef>
                  <a:spcPct val="0"/>
                </a:spcBef>
              </a:pPr>
              <a:t>19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ço Reservado para Imagem de Slide 1">
            <a:extLst>
              <a:ext uri="{FF2B5EF4-FFF2-40B4-BE49-F238E27FC236}">
                <a16:creationId xmlns:a16="http://schemas.microsoft.com/office/drawing/2014/main" id="{F0AD4A30-FB8E-4BFA-814D-51DFF21E9B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Espaço Reservado para Anotações 2">
            <a:extLst>
              <a:ext uri="{FF2B5EF4-FFF2-40B4-BE49-F238E27FC236}">
                <a16:creationId xmlns:a16="http://schemas.microsoft.com/office/drawing/2014/main" id="{75F6CE41-0F45-4723-9208-883CC597E99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5060" name="Espaço Reservado para Número de Slide 3">
            <a:extLst>
              <a:ext uri="{FF2B5EF4-FFF2-40B4-BE49-F238E27FC236}">
                <a16:creationId xmlns:a16="http://schemas.microsoft.com/office/drawing/2014/main" id="{831D7828-4F76-43F3-8F79-E59539B0F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514702-2C2D-4F04-BFBA-00E4E0E72AFE}" type="slidenum">
              <a:rPr lang="pt-BR" altLang="pt-BR"/>
              <a:pPr>
                <a:spcBef>
                  <a:spcPct val="0"/>
                </a:spcBef>
              </a:pPr>
              <a:t>20</a:t>
            </a:fld>
            <a:endParaRPr lang="pt-BR" alt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ço Reservado para Imagem de Slide 1">
            <a:extLst>
              <a:ext uri="{FF2B5EF4-FFF2-40B4-BE49-F238E27FC236}">
                <a16:creationId xmlns:a16="http://schemas.microsoft.com/office/drawing/2014/main" id="{5324B521-993C-4906-A277-84F64A24FE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Espaço Reservado para Anotações 2">
            <a:extLst>
              <a:ext uri="{FF2B5EF4-FFF2-40B4-BE49-F238E27FC236}">
                <a16:creationId xmlns:a16="http://schemas.microsoft.com/office/drawing/2014/main" id="{CB7B8F01-EF94-43B4-A1F5-53C440BD1C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47108" name="Espaço Reservado para Número de Slide 3">
            <a:extLst>
              <a:ext uri="{FF2B5EF4-FFF2-40B4-BE49-F238E27FC236}">
                <a16:creationId xmlns:a16="http://schemas.microsoft.com/office/drawing/2014/main" id="{811D241A-025D-43D3-BE2B-067A051B50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FF45217-BBD0-42AF-BA0F-D3E414454953}" type="slidenum">
              <a:rPr lang="pt-BR" altLang="pt-BR"/>
              <a:pPr>
                <a:spcBef>
                  <a:spcPct val="0"/>
                </a:spcBef>
              </a:pPr>
              <a:t>21</a:t>
            </a:fld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44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cologia - conceito, definições de ecologia, sua importância - InfoEscola">
            <a:extLst>
              <a:ext uri="{FF2B5EF4-FFF2-40B4-BE49-F238E27FC236}">
                <a16:creationId xmlns:a16="http://schemas.microsoft.com/office/drawing/2014/main" id="{F1DACA33-E2AC-4076-B7D4-7374C8682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244173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Problemas Ambientais I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Introdução</a:t>
            </a:r>
          </a:p>
          <a:p>
            <a:r>
              <a:rPr lang="pt-BR" sz="3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Lixo</a:t>
            </a: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609602" y="923122"/>
            <a:ext cx="10670975" cy="8106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1480" indent="-411480" algn="just">
              <a:buFontTx/>
              <a:buAutoNum type="arabi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Conceitos Prévios</a:t>
            </a:r>
          </a:p>
          <a:p>
            <a:pPr marL="411480" indent="-411480" algn="just">
              <a:buFontTx/>
              <a:buAutoNum type="arabi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buFont typeface="+mj-lt"/>
              <a:buAutoNum type="alphaLcParenR"/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Organismos Autótrofos</a:t>
            </a:r>
          </a:p>
          <a:p>
            <a:pPr marL="960120" lvl="1" indent="-411480" algn="just">
              <a:buFont typeface="+mj-lt"/>
              <a:buAutoNum type="alphaLcParenR"/>
              <a:defRPr/>
            </a:pPr>
            <a:endParaRPr lang="pt-BR" sz="216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r>
              <a:rPr lang="pt-BR" sz="2160" dirty="0">
                <a:cs typeface="Tahoma" pitchFamily="34" charset="0"/>
              </a:rPr>
              <a:t>	São organismos que possuem a capacidade de utilizar o CO2 como fonte de carbono para produzir matéria orgânica.</a:t>
            </a:r>
          </a:p>
          <a:p>
            <a:pPr marL="960120" lvl="1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411480" indent="-411480" algn="just">
              <a:defRPr/>
            </a:pPr>
            <a:r>
              <a:rPr lang="pt-BR" sz="216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		</a:t>
            </a:r>
            <a:r>
              <a:rPr lang="pt-BR" sz="2160" dirty="0">
                <a:cs typeface="Tahoma" pitchFamily="34" charset="0"/>
              </a:rPr>
              <a:t>Os organismos podem ser autótrofos de duas maneiras:</a:t>
            </a:r>
          </a:p>
          <a:p>
            <a:pPr marL="411480" indent="-411480" algn="just">
              <a:defRPr/>
            </a:pPr>
            <a:endParaRPr lang="pt-BR" sz="1200" dirty="0">
              <a:cs typeface="Tahoma" pitchFamily="34" charset="0"/>
            </a:endParaRPr>
          </a:p>
          <a:p>
            <a:pPr marL="411480" indent="-411480" algn="just">
              <a:defRPr/>
            </a:pPr>
            <a:r>
              <a:rPr lang="pt-BR" sz="2160" dirty="0">
                <a:cs typeface="Tahoma" pitchFamily="34" charset="0"/>
              </a:rPr>
              <a:t>		I) Realizando </a:t>
            </a:r>
            <a:r>
              <a:rPr lang="pt-BR" sz="2160" b="1" dirty="0">
                <a:solidFill>
                  <a:srgbClr val="00B050"/>
                </a:solidFill>
                <a:cs typeface="Tahoma" pitchFamily="34" charset="0"/>
              </a:rPr>
              <a:t>fotossíntese</a:t>
            </a:r>
          </a:p>
          <a:p>
            <a:pPr marL="1508760" lvl="2" indent="-411480" algn="just">
              <a:buFont typeface="Arial" pitchFamily="34" charset="0"/>
              <a:buChar char="•"/>
              <a:defRPr/>
            </a:pPr>
            <a:r>
              <a:rPr lang="pt-BR" sz="2160" dirty="0">
                <a:cs typeface="Tahoma" pitchFamily="34" charset="0"/>
              </a:rPr>
              <a:t>A fonte de energia necessária para converter o CO2 em matéria orgânica provém da luz.</a:t>
            </a:r>
          </a:p>
          <a:p>
            <a:pPr marL="1508760" lvl="2" indent="-411480" algn="just">
              <a:buFont typeface="Arial" pitchFamily="34" charset="0"/>
              <a:buChar char="•"/>
              <a:defRPr/>
            </a:pPr>
            <a:endParaRPr lang="pt-BR" sz="1200" dirty="0">
              <a:cs typeface="Tahoma" pitchFamily="34" charset="0"/>
            </a:endParaRPr>
          </a:p>
          <a:p>
            <a:pPr marL="411480" indent="-411480" algn="just">
              <a:defRPr/>
            </a:pPr>
            <a:r>
              <a:rPr lang="pt-BR" sz="2160" dirty="0">
                <a:cs typeface="Tahoma" pitchFamily="34" charset="0"/>
              </a:rPr>
              <a:t>		II) Realizando </a:t>
            </a:r>
            <a:r>
              <a:rPr lang="pt-BR" sz="2160" b="1" dirty="0" err="1">
                <a:solidFill>
                  <a:srgbClr val="FF0000"/>
                </a:solidFill>
                <a:cs typeface="Tahoma" pitchFamily="34" charset="0"/>
              </a:rPr>
              <a:t>quimiossíntese</a:t>
            </a:r>
            <a:endParaRPr lang="pt-BR" sz="2160" b="1" dirty="0">
              <a:solidFill>
                <a:srgbClr val="FF0000"/>
              </a:solidFill>
              <a:cs typeface="Tahoma" pitchFamily="34" charset="0"/>
            </a:endParaRPr>
          </a:p>
          <a:p>
            <a:pPr marL="1508760" lvl="2" indent="-411480" algn="just">
              <a:buFont typeface="Arial" pitchFamily="34" charset="0"/>
              <a:buChar char="•"/>
              <a:defRPr/>
            </a:pPr>
            <a:r>
              <a:rPr lang="pt-BR" sz="2160" dirty="0">
                <a:cs typeface="Tahoma" pitchFamily="34" charset="0"/>
              </a:rPr>
              <a:t>A energia necessária para converter o CO2 em matéria orgânica 	provém de reações  químicas.</a:t>
            </a:r>
          </a:p>
          <a:p>
            <a:pPr marL="411480" indent="-411480" algn="just">
              <a:defRPr/>
            </a:pPr>
            <a:r>
              <a:rPr lang="pt-BR" sz="2160" dirty="0">
                <a:cs typeface="Tahoma" pitchFamily="34" charset="0"/>
              </a:rPr>
              <a:t>		</a:t>
            </a:r>
          </a:p>
          <a:p>
            <a:pPr marL="411480" indent="-411480" algn="just">
              <a:defRPr/>
            </a:pPr>
            <a:endParaRPr lang="pt-BR" sz="2160" dirty="0">
              <a:solidFill>
                <a:schemeClr val="accent1">
                  <a:lumMod val="50000"/>
                </a:schemeClr>
              </a:solidFill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411480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marL="960120" lvl="1" indent="-411480" algn="just"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  <a:p>
            <a:pPr algn="just">
              <a:buBlip>
                <a:blip r:embed="rId3"/>
              </a:buBlip>
              <a:defRPr/>
            </a:pPr>
            <a:endParaRPr lang="pt-BR" sz="2160" dirty="0">
              <a:cs typeface="Tahoma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181350" y="3071814"/>
            <a:ext cx="5829300" cy="46991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11480" indent="-411480" algn="ctr">
              <a:defRPr/>
            </a:pPr>
            <a:r>
              <a:rPr lang="pt-BR" sz="2160" dirty="0">
                <a:latin typeface="Tahoma" pitchFamily="34" charset="0"/>
                <a:cs typeface="Tahoma" pitchFamily="34" charset="0"/>
              </a:rPr>
              <a:t>6CO</a:t>
            </a:r>
            <a:r>
              <a:rPr lang="pt-BR" sz="1440" dirty="0">
                <a:latin typeface="Tahoma" pitchFamily="34" charset="0"/>
                <a:cs typeface="Tahoma" pitchFamily="34" charset="0"/>
              </a:rPr>
              <a:t>2</a:t>
            </a:r>
            <a:r>
              <a:rPr lang="pt-BR" sz="2160" dirty="0">
                <a:latin typeface="Tahoma" pitchFamily="34" charset="0"/>
                <a:cs typeface="Tahoma" pitchFamily="34" charset="0"/>
              </a:rPr>
              <a:t> + 12H</a:t>
            </a:r>
            <a:r>
              <a:rPr lang="pt-BR" sz="1440" dirty="0">
                <a:latin typeface="Tahoma" pitchFamily="34" charset="0"/>
                <a:cs typeface="Tahoma" pitchFamily="34" charset="0"/>
              </a:rPr>
              <a:t>2</a:t>
            </a:r>
            <a:r>
              <a:rPr lang="pt-BR" sz="2160" dirty="0">
                <a:latin typeface="Tahoma" pitchFamily="34" charset="0"/>
                <a:cs typeface="Tahoma" pitchFamily="34" charset="0"/>
              </a:rPr>
              <a:t>O 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 C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6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H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12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O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6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 + 6H</a:t>
            </a:r>
            <a:r>
              <a:rPr lang="pt-BR" sz="1440" dirty="0">
                <a:latin typeface="Tahoma" pitchFamily="34" charset="0"/>
                <a:cs typeface="Tahoma" pitchFamily="34" charset="0"/>
                <a:sym typeface="Wingdings" pitchFamily="2" charset="2"/>
              </a:rPr>
              <a:t>2</a:t>
            </a:r>
            <a:r>
              <a:rPr lang="pt-BR" sz="2160" dirty="0">
                <a:latin typeface="Tahoma" pitchFamily="34" charset="0"/>
                <a:cs typeface="Tahoma" pitchFamily="34" charset="0"/>
                <a:sym typeface="Wingdings" pitchFamily="2" charset="2"/>
              </a:rPr>
              <a:t>O + 6O</a:t>
            </a:r>
            <a:r>
              <a:rPr lang="pt-BR" sz="1680" dirty="0">
                <a:latin typeface="Tahoma" pitchFamily="34" charset="0"/>
                <a:cs typeface="Tahoma" pitchFamily="34" charset="0"/>
                <a:sym typeface="Wingdings" pitchFamily="2" charset="2"/>
              </a:rPr>
              <a:t>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FA4284-4DCE-482F-883A-48807786707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32121BC-AF5E-4DE4-8214-AB45A8C0444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Impactos Ambientais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://t3.gstatic.com/images?q=tbn:_XebjIifx-cogM:http://professorananci.tripod.com/homerectus.gif&amp;t=1">
            <a:extLst>
              <a:ext uri="{FF2B5EF4-FFF2-40B4-BE49-F238E27FC236}">
                <a16:creationId xmlns:a16="http://schemas.microsoft.com/office/drawing/2014/main" id="{99AC57D3-A350-43CD-A692-BBC6455E2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8" y="4446588"/>
            <a:ext cx="4556125" cy="2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CaixaDeTexto 8">
            <a:extLst>
              <a:ext uri="{FF2B5EF4-FFF2-40B4-BE49-F238E27FC236}">
                <a16:creationId xmlns:a16="http://schemas.microsoft.com/office/drawing/2014/main" id="{674BA066-E67F-4F8E-A0CC-A77919C5A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CaixaDeTexto 6">
            <a:extLst>
              <a:ext uri="{FF2B5EF4-FFF2-40B4-BE49-F238E27FC236}">
                <a16:creationId xmlns:a16="http://schemas.microsoft.com/office/drawing/2014/main" id="{42F1990C-247E-462F-AB2C-9A4A5F5E2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1214438"/>
            <a:ext cx="8572500" cy="397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Definições</a:t>
            </a:r>
          </a:p>
          <a:p>
            <a:pPr marL="342900" indent="-342900" eaLnBrk="1" hangingPunct="1">
              <a:buFontTx/>
              <a:buAutoNum type="arabicParenR"/>
              <a:defRPr/>
            </a:pPr>
            <a:endParaRPr lang="pt-BR" sz="1200" dirty="0">
              <a:latin typeface="Calibri" pitchFamily="34" charset="0"/>
            </a:endParaRPr>
          </a:p>
          <a:p>
            <a:pPr marL="342900" indent="-342900" algn="just" eaLnBrk="1" hangingPunct="1">
              <a:buFont typeface="Wingdings" pitchFamily="2" charset="2"/>
              <a:buChar char="§"/>
              <a:defRPr/>
            </a:pPr>
            <a:r>
              <a:rPr lang="pt-BR" sz="3200" b="1" dirty="0">
                <a:latin typeface="+mn-lt"/>
                <a:ea typeface="Tahoma" pitchFamily="34" charset="0"/>
                <a:cs typeface="Tahoma" pitchFamily="34" charset="0"/>
              </a:rPr>
              <a:t>Impacto Ambiental</a:t>
            </a:r>
          </a:p>
          <a:p>
            <a:pPr marL="342900" indent="-342900" algn="just" eaLnBrk="1" hangingPunct="1">
              <a:buFont typeface="Wingdings" pitchFamily="2" charset="2"/>
              <a:buChar char="§"/>
              <a:defRPr/>
            </a:pPr>
            <a:endParaRPr lang="pt-BR" sz="1200" b="1" dirty="0">
              <a:latin typeface="+mn-lt"/>
              <a:ea typeface="Tahoma" pitchFamily="34" charset="0"/>
              <a:cs typeface="Tahoma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2500" b="1" dirty="0">
                <a:latin typeface="+mn-lt"/>
                <a:ea typeface="Tahoma" pitchFamily="34" charset="0"/>
                <a:cs typeface="Tahoma" pitchFamily="34" charset="0"/>
              </a:rPr>
              <a:t>	</a:t>
            </a:r>
            <a:r>
              <a:rPr lang="pt-BR" sz="2800" dirty="0">
                <a:latin typeface="+mn-lt"/>
                <a:ea typeface="Tahoma" pitchFamily="34" charset="0"/>
                <a:cs typeface="Tahoma" pitchFamily="34" charset="0"/>
              </a:rPr>
              <a:t>É </a:t>
            </a:r>
            <a:r>
              <a:rPr lang="pt-BR" sz="2800" dirty="0">
                <a:latin typeface="+mn-lt"/>
              </a:rPr>
              <a:t>um desequilíbrio provocado pelo choque da relação do homem com o meio ambiente surgiu a partir da evolução humana, ou seja, no momento em que o homem começou a evoluir em seu modo de vida.</a:t>
            </a:r>
            <a:br>
              <a:rPr lang="pt-BR" sz="2800" dirty="0">
                <a:latin typeface="+mn-lt"/>
              </a:rPr>
            </a:br>
            <a:r>
              <a:rPr lang="pt-BR" sz="2800" dirty="0">
                <a:latin typeface="+mn-lt"/>
              </a:rPr>
              <a:t> </a:t>
            </a:r>
          </a:p>
          <a:p>
            <a:pPr marL="800100" lvl="1" indent="-342900" algn="just" eaLnBrk="1" hangingPunct="1">
              <a:buFont typeface="Wingdings" pitchFamily="2" charset="2"/>
              <a:buChar char="§"/>
              <a:defRPr/>
            </a:pPr>
            <a:endParaRPr lang="pt-BR" sz="2400" b="1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552C56A-D221-467F-9379-2742EA79B013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C5853C1-378A-4216-A105-B95299F8532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Impactos Ambientais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8">
            <a:extLst>
              <a:ext uri="{FF2B5EF4-FFF2-40B4-BE49-F238E27FC236}">
                <a16:creationId xmlns:a16="http://schemas.microsoft.com/office/drawing/2014/main" id="{98DE9D31-E78E-411F-B2E5-A58290FFD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CaixaDeTexto 6">
            <a:extLst>
              <a:ext uri="{FF2B5EF4-FFF2-40B4-BE49-F238E27FC236}">
                <a16:creationId xmlns:a16="http://schemas.microsoft.com/office/drawing/2014/main" id="{E6758D41-C3E9-4F7F-9628-ACD1A28C3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1214438"/>
            <a:ext cx="8358187" cy="554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Definições</a:t>
            </a:r>
          </a:p>
          <a:p>
            <a:pPr marL="342900" indent="-342900" eaLnBrk="1" hangingPunct="1">
              <a:buFontTx/>
              <a:buAutoNum type="arabicParenR"/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algn="just" eaLnBrk="1" hangingPunct="1">
              <a:buFont typeface="Wingdings" pitchFamily="2" charset="2"/>
              <a:buChar char="§"/>
              <a:defRPr/>
            </a:pPr>
            <a:r>
              <a:rPr lang="pt-BR" sz="3200" b="1" dirty="0">
                <a:latin typeface="+mn-lt"/>
                <a:ea typeface="Tahoma" pitchFamily="34" charset="0"/>
                <a:cs typeface="Tahoma" pitchFamily="34" charset="0"/>
              </a:rPr>
              <a:t>Impacto Ambiental </a:t>
            </a:r>
          </a:p>
          <a:p>
            <a:pPr marL="342900" indent="-342900" algn="just" eaLnBrk="1" hangingPunct="1">
              <a:buFont typeface="Wingdings" pitchFamily="2" charset="2"/>
              <a:buChar char="§"/>
              <a:defRPr/>
            </a:pPr>
            <a:endParaRPr lang="pt-BR" sz="800" b="1" dirty="0">
              <a:latin typeface="+mn-lt"/>
              <a:ea typeface="Tahoma" pitchFamily="34" charset="0"/>
              <a:cs typeface="Tahoma" pitchFamily="34" charset="0"/>
            </a:endParaRPr>
          </a:p>
          <a:p>
            <a:pPr marL="342900" indent="-342900" algn="ctr" eaLnBrk="1" hangingPunct="1">
              <a:defRPr/>
            </a:pPr>
            <a:r>
              <a:rPr lang="pt-BR" sz="2800" b="1" dirty="0">
                <a:solidFill>
                  <a:srgbClr val="FF0000"/>
                </a:solidFill>
                <a:latin typeface="+mn-lt"/>
                <a:ea typeface="Tahoma" pitchFamily="34" charset="0"/>
                <a:cs typeface="Tahoma" pitchFamily="34" charset="0"/>
              </a:rPr>
              <a:t> </a:t>
            </a:r>
            <a:r>
              <a:rPr lang="pt-BR" sz="2800" b="1" dirty="0">
                <a:solidFill>
                  <a:srgbClr val="002060"/>
                </a:solidFill>
                <a:latin typeface="+mn-lt"/>
                <a:ea typeface="Tahoma" pitchFamily="34" charset="0"/>
                <a:cs typeface="Tahoma" pitchFamily="34" charset="0"/>
              </a:rPr>
              <a:t>Será sempre associado a atividade humana?</a:t>
            </a:r>
          </a:p>
          <a:p>
            <a:pPr marL="342900" indent="-342900" algn="just" eaLnBrk="1" hangingPunct="1">
              <a:buFont typeface="Wingdings" pitchFamily="2" charset="2"/>
              <a:buChar char="§"/>
              <a:defRPr/>
            </a:pPr>
            <a:endParaRPr lang="pt-BR" sz="900" b="1" dirty="0">
              <a:latin typeface="+mn-lt"/>
              <a:ea typeface="Tahoma" pitchFamily="34" charset="0"/>
              <a:cs typeface="Tahoma" pitchFamily="34" charset="0"/>
            </a:endParaRPr>
          </a:p>
          <a:p>
            <a:pPr marL="342900" indent="-342900" eaLnBrk="1" hangingPunct="1">
              <a:defRPr/>
            </a:pPr>
            <a:endParaRPr lang="pt-BR" sz="1600" b="1" dirty="0">
              <a:latin typeface="+mn-lt"/>
              <a:ea typeface="Tahoma" pitchFamily="34" charset="0"/>
              <a:cs typeface="Tahoma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3200" b="1" dirty="0">
                <a:latin typeface="+mn-lt"/>
                <a:ea typeface="Tahoma" pitchFamily="34" charset="0"/>
                <a:cs typeface="Tahoma" pitchFamily="34" charset="0"/>
              </a:rPr>
              <a:t>	Não!</a:t>
            </a:r>
            <a:r>
              <a:rPr lang="pt-BR" sz="2800" dirty="0">
                <a:latin typeface="+mn-lt"/>
                <a:ea typeface="Tahoma" pitchFamily="34" charset="0"/>
                <a:cs typeface="Tahoma" pitchFamily="34" charset="0"/>
              </a:rPr>
              <a:t> Pois impactos ambientais </a:t>
            </a:r>
            <a:r>
              <a:rPr lang="pt-BR" sz="2800" dirty="0">
                <a:latin typeface="+mn-lt"/>
              </a:rPr>
              <a:t>podem ser resultado de acidentes naturais: a explosão de um vulcão, o choque de um meteoro, um raio, etc. </a:t>
            </a:r>
          </a:p>
          <a:p>
            <a:pPr marL="342900" indent="-342900" algn="just" eaLnBrk="1" hangingPunct="1">
              <a:defRPr/>
            </a:pPr>
            <a:endParaRPr lang="pt-BR" sz="2800" dirty="0">
              <a:latin typeface="+mn-lt"/>
            </a:endParaRPr>
          </a:p>
          <a:p>
            <a:pPr marL="342900" indent="-342900" eaLnBrk="1" hangingPunct="1">
              <a:defRPr/>
            </a:pPr>
            <a:r>
              <a:rPr lang="pt-BR" sz="2800" dirty="0">
                <a:latin typeface="+mn-lt"/>
              </a:rPr>
              <a:t>	Mas devemos dar cada vez mais atenção aos impactos causados pela ação do homem.</a:t>
            </a:r>
            <a:br>
              <a:rPr lang="pt-BR" sz="2500" dirty="0">
                <a:latin typeface="+mn-lt"/>
              </a:rPr>
            </a:br>
            <a:r>
              <a:rPr lang="pt-BR" sz="2500" b="1" dirty="0">
                <a:latin typeface="+mn-lt"/>
              </a:rPr>
              <a:t> </a:t>
            </a:r>
          </a:p>
          <a:p>
            <a:pPr marL="800100" lvl="1" indent="-342900" algn="just" eaLnBrk="1" hangingPunct="1">
              <a:buFont typeface="Wingdings" pitchFamily="2" charset="2"/>
              <a:buChar char="§"/>
              <a:defRPr/>
            </a:pPr>
            <a:endParaRPr lang="pt-BR" sz="2400" b="1" dirty="0">
              <a:latin typeface="Calibri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976647B-842C-43DB-9ACF-D797679B36EA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71D738A-85AC-4FA5-B29D-4063E6033231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Impactos Ambientais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8">
            <a:extLst>
              <a:ext uri="{FF2B5EF4-FFF2-40B4-BE49-F238E27FC236}">
                <a16:creationId xmlns:a16="http://schemas.microsoft.com/office/drawing/2014/main" id="{119CB073-FFDA-4E84-B04B-8F53DAEC6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3077" name="CaixaDeTexto 6">
            <a:extLst>
              <a:ext uri="{FF2B5EF4-FFF2-40B4-BE49-F238E27FC236}">
                <a16:creationId xmlns:a16="http://schemas.microsoft.com/office/drawing/2014/main" id="{7EFEE7E5-BFDB-4E25-A047-E8F11CCD6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88" y="1214438"/>
            <a:ext cx="8501062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Definições</a:t>
            </a:r>
          </a:p>
          <a:p>
            <a:pPr marL="342900" indent="-342900" eaLnBrk="1" hangingPunct="1">
              <a:buFontTx/>
              <a:buAutoNum type="arabicParenR"/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eaLnBrk="1" hangingPunct="1">
              <a:buFont typeface="Wingdings" pitchFamily="2" charset="2"/>
              <a:buChar char="§"/>
              <a:defRPr/>
            </a:pPr>
            <a:r>
              <a:rPr lang="pt-BR" sz="3200" b="1" dirty="0">
                <a:latin typeface="+mn-lt"/>
                <a:ea typeface="Tahoma" pitchFamily="34" charset="0"/>
                <a:cs typeface="Tahoma" pitchFamily="34" charset="0"/>
              </a:rPr>
              <a:t>Desenvolvimento sustentável</a:t>
            </a:r>
          </a:p>
          <a:p>
            <a:pPr marL="342900" indent="-342900" eaLnBrk="1" hangingPunct="1">
              <a:defRPr/>
            </a:pPr>
            <a:r>
              <a:rPr lang="pt-BR" sz="1200" dirty="0">
                <a:latin typeface="Arial" charset="0"/>
              </a:rPr>
              <a:t>	</a:t>
            </a:r>
          </a:p>
          <a:p>
            <a:pPr marL="342900" indent="-342900" algn="just" eaLnBrk="1" hangingPunct="1">
              <a:defRPr/>
            </a:pPr>
            <a:r>
              <a:rPr lang="pt-BR" sz="3200" dirty="0">
                <a:latin typeface="+mn-lt"/>
              </a:rPr>
              <a:t>   </a:t>
            </a:r>
            <a:r>
              <a:rPr lang="pt-BR" sz="2800" dirty="0">
                <a:latin typeface="+mn-lt"/>
              </a:rPr>
              <a:t>É o desenvolvimento capaz de suprir as necessidades da geração atual, sem comprometer a capacidade de atender as necessidades das futuras gerações. </a:t>
            </a:r>
            <a:r>
              <a:rPr lang="pt-BR" sz="2800" dirty="0">
                <a:solidFill>
                  <a:schemeClr val="bg1"/>
                </a:solidFill>
                <a:latin typeface="Arial" charset="0"/>
              </a:rPr>
              <a:t>‘</a:t>
            </a:r>
            <a:br>
              <a:rPr lang="pt-BR" sz="2800" dirty="0">
                <a:solidFill>
                  <a:schemeClr val="bg1"/>
                </a:solidFill>
                <a:latin typeface="Arial" charset="0"/>
              </a:rPr>
            </a:br>
            <a:endParaRPr lang="pt-BR" sz="3200" b="1" dirty="0">
              <a:solidFill>
                <a:schemeClr val="bg1"/>
              </a:solidFill>
              <a:latin typeface="+mn-lt"/>
              <a:ea typeface="Tahoma" pitchFamily="34" charset="0"/>
              <a:cs typeface="Tahoma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2400" dirty="0">
                <a:latin typeface="+mn-lt"/>
              </a:rPr>
              <a:t>	</a:t>
            </a:r>
            <a:br>
              <a:rPr lang="pt-BR" sz="2400" dirty="0">
                <a:latin typeface="+mn-lt"/>
              </a:rPr>
            </a:br>
            <a:br>
              <a:rPr lang="pt-BR" sz="2500" dirty="0">
                <a:latin typeface="+mn-lt"/>
              </a:rPr>
            </a:br>
            <a:r>
              <a:rPr lang="pt-BR" sz="2500" b="1" dirty="0">
                <a:latin typeface="+mn-lt"/>
              </a:rPr>
              <a:t> </a:t>
            </a:r>
          </a:p>
          <a:p>
            <a:pPr marL="800100" lvl="1" indent="-342900" algn="just" eaLnBrk="1" hangingPunct="1">
              <a:buFont typeface="Wingdings" pitchFamily="2" charset="2"/>
              <a:buChar char="§"/>
              <a:defRPr/>
            </a:pPr>
            <a:endParaRPr lang="pt-BR" sz="2400" b="1" dirty="0">
              <a:latin typeface="Calibri" pitchFamily="34" charset="0"/>
            </a:endParaRPr>
          </a:p>
        </p:txBody>
      </p:sp>
      <p:sp>
        <p:nvSpPr>
          <p:cNvPr id="7" name="Retângulo com Canto Diagonal Aparado 6">
            <a:extLst>
              <a:ext uri="{FF2B5EF4-FFF2-40B4-BE49-F238E27FC236}">
                <a16:creationId xmlns:a16="http://schemas.microsoft.com/office/drawing/2014/main" id="{FFCE7EBF-F1CA-408A-BD67-97A6E1339388}"/>
              </a:ext>
            </a:extLst>
          </p:cNvPr>
          <p:cNvSpPr/>
          <p:nvPr/>
        </p:nvSpPr>
        <p:spPr>
          <a:xfrm>
            <a:off x="2238348" y="4643446"/>
            <a:ext cx="7715304" cy="1428760"/>
          </a:xfrm>
          <a:prstGeom prst="snip2DiagRect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pt-BR" sz="2400" b="1" dirty="0">
                <a:solidFill>
                  <a:schemeClr val="accent6">
                    <a:lumMod val="50000"/>
                  </a:schemeClr>
                </a:solidFill>
              </a:rPr>
              <a:t>O que é preciso para alcançá-lo? </a:t>
            </a:r>
            <a:r>
              <a:rPr lang="pt-BR" sz="2400" dirty="0">
                <a:solidFill>
                  <a:schemeClr val="tx1"/>
                </a:solidFill>
              </a:rPr>
              <a:t>Para ser alcançado, o desenvolvimento sustentável depende de </a:t>
            </a:r>
            <a:r>
              <a:rPr lang="pt-BR" sz="2400" b="1" dirty="0">
                <a:solidFill>
                  <a:schemeClr val="tx1"/>
                </a:solidFill>
              </a:rPr>
              <a:t>planejamento</a:t>
            </a:r>
            <a:r>
              <a:rPr lang="pt-BR" sz="2400" dirty="0">
                <a:solidFill>
                  <a:schemeClr val="tx1"/>
                </a:solidFill>
              </a:rPr>
              <a:t> e do reconhecimento de que os recursos naturais são finitos.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D96C54-D2ED-4607-85F2-645215AB36A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BED20F0-42DC-42C6-A30A-3C4D73CC2AA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Impactos Ambientais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8">
            <a:extLst>
              <a:ext uri="{FF2B5EF4-FFF2-40B4-BE49-F238E27FC236}">
                <a16:creationId xmlns:a16="http://schemas.microsoft.com/office/drawing/2014/main" id="{AF859F44-1BAF-4832-8423-8FEDAF508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11269" name="CaixaDeTexto 6">
            <a:extLst>
              <a:ext uri="{FF2B5EF4-FFF2-40B4-BE49-F238E27FC236}">
                <a16:creationId xmlns:a16="http://schemas.microsoft.com/office/drawing/2014/main" id="{C2D779B9-32E1-4657-899B-E487104FF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1143000"/>
            <a:ext cx="8786813" cy="430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O ponto “X” do problema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b="1" i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002060"/>
                </a:solidFill>
              </a:rPr>
              <a:t>A explosão demográfica mundial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400" b="1"/>
              <a:t>População atual do planeta: 7,1 bilhões de habitantes.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pt-BR" altLang="pt-BR" sz="800" b="1"/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400" b="1"/>
              <a:t>Média anual de crescimento: 2%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pt-BR" altLang="pt-BR" sz="800" b="1"/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400" b="1"/>
              <a:t>Se a média for mantida a população do planta dobrará em apenas 36 anos.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pt-BR" altLang="pt-BR" sz="2400" b="1"/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pt-BR" altLang="pt-BR" sz="2400" b="1"/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id="{751440FE-38B0-46FE-BA29-A6B9E6F5E525}"/>
              </a:ext>
            </a:extLst>
          </p:cNvPr>
          <p:cNvSpPr/>
          <p:nvPr/>
        </p:nvSpPr>
        <p:spPr>
          <a:xfrm>
            <a:off x="2095500" y="5000625"/>
            <a:ext cx="7858125" cy="121443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342900" indent="-342900" algn="ctr" eaLnBrk="1" hangingPunct="1">
              <a:defRPr/>
            </a:pPr>
            <a:r>
              <a:rPr lang="pt-BR" sz="2800" b="1" dirty="0"/>
              <a:t>Perigo! </a:t>
            </a:r>
            <a:r>
              <a:rPr lang="pt-BR" sz="2800" b="1" u="sng" dirty="0"/>
              <a:t>Capacidade máxima planetária de suporte</a:t>
            </a:r>
            <a:r>
              <a:rPr lang="pt-BR" sz="2800" b="1" dirty="0"/>
              <a:t> </a:t>
            </a:r>
          </a:p>
          <a:p>
            <a:pPr marL="342900" indent="-342900" algn="ctr" eaLnBrk="1" hangingPunct="1">
              <a:defRPr/>
            </a:pPr>
            <a:r>
              <a:rPr lang="pt-BR" sz="2800" b="1" dirty="0">
                <a:solidFill>
                  <a:schemeClr val="tx2">
                    <a:lumMod val="75000"/>
                  </a:schemeClr>
                </a:solidFill>
              </a:rPr>
              <a:t>12 bilhões de habitantes.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B33A81D-2769-4EF2-8AC6-572A499E13D2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24E941B-CF16-4069-90EE-EBEF1AA97F9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Impactos Ambientais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8">
            <a:extLst>
              <a:ext uri="{FF2B5EF4-FFF2-40B4-BE49-F238E27FC236}">
                <a16:creationId xmlns:a16="http://schemas.microsoft.com/office/drawing/2014/main" id="{07B9086E-5BCE-48AA-B102-76555F110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13317" name="CaixaDeTexto 6">
            <a:extLst>
              <a:ext uri="{FF2B5EF4-FFF2-40B4-BE49-F238E27FC236}">
                <a16:creationId xmlns:a16="http://schemas.microsoft.com/office/drawing/2014/main" id="{F5890A1C-725A-47FB-BF1B-0723C4E57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9296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O ponto “X” do problema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3200" b="1" i="1">
                <a:solidFill>
                  <a:srgbClr val="002060"/>
                </a:solidFill>
              </a:rPr>
              <a:t>A explosão demográfica mundial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pt-BR" altLang="pt-BR" sz="2400" b="1"/>
              <a:t>Previsões para meados do século XXI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pt-BR" altLang="pt-BR" sz="2400" b="1"/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b="1"/>
              <a:t>Combustíveis fósseis próximos do limite econômico.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b="1"/>
              <a:t>Terras agricultáveis em escassez, perda de solo devido à erosão e aos processos de urbanização.</a:t>
            </a:r>
          </a:p>
          <a:p>
            <a:pPr lvl="1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b="1"/>
              <a:t>Produção agrícola saturada.</a:t>
            </a:r>
          </a:p>
          <a:p>
            <a:pPr lvl="2" algn="just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pt-BR" altLang="pt-BR" b="1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BC10E6B-B660-4E09-9518-0D6814E20CB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2CD54196-F9FD-4EBD-BD58-783BB305F72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Impactos Ambientais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8">
            <a:extLst>
              <a:ext uri="{FF2B5EF4-FFF2-40B4-BE49-F238E27FC236}">
                <a16:creationId xmlns:a16="http://schemas.microsoft.com/office/drawing/2014/main" id="{73E56861-A358-4D37-B4C8-5017082DB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19461" name="CaixaDeTexto 6">
            <a:extLst>
              <a:ext uri="{FF2B5EF4-FFF2-40B4-BE49-F238E27FC236}">
                <a16:creationId xmlns:a16="http://schemas.microsoft.com/office/drawing/2014/main" id="{ACF37F80-7EDB-4E90-A057-95DA97635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929687" cy="589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0010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A questão do lixo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sz="3200" b="1" i="1">
                <a:solidFill>
                  <a:srgbClr val="002060"/>
                </a:solidFill>
              </a:rPr>
              <a:t>Produção de lixo por dia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pt-BR" altLang="pt-BR" sz="800" b="1" i="1">
              <a:solidFill>
                <a:srgbClr val="002060"/>
              </a:solidFill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 EUA: 607 mil toneladas/dia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 Brasil: 130 mil toneladas/dia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 Alemanha: 80 mil toneladas/dia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 Inglaterra: 70 mil toneladas/ dia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pt-BR" altLang="pt-BR" sz="800" i="1"/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002060"/>
                </a:solidFill>
              </a:rPr>
              <a:t>Produção de lixo por habitante/dia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pt-BR" altLang="pt-BR" sz="900" b="1" i="1"/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EUA: 1,8 kg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Brasil (São Paulo): 1,2 kg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Argélia: 0,27 kg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Congo: 0,6 kg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pt-BR" altLang="pt-BR" sz="2400" i="1"/>
              <a:t>Mundo: 0,7 kg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pt-BR" altLang="pt-BR" i="1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E9BDE3-59F5-47C7-8372-3E2A072AB78E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819BC2E-DF34-422F-A171-3ED5F575253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8">
            <a:extLst>
              <a:ext uri="{FF2B5EF4-FFF2-40B4-BE49-F238E27FC236}">
                <a16:creationId xmlns:a16="http://schemas.microsoft.com/office/drawing/2014/main" id="{0A5E3ABB-8869-40CA-A896-CEDDE9B70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21509" name="CaixaDeTexto 6">
            <a:extLst>
              <a:ext uri="{FF2B5EF4-FFF2-40B4-BE49-F238E27FC236}">
                <a16:creationId xmlns:a16="http://schemas.microsoft.com/office/drawing/2014/main" id="{C1161402-F480-4B67-B91D-7FCF3B199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92968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A questão do lixo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002060"/>
                </a:solidFill>
              </a:rPr>
              <a:t>	</a:t>
            </a:r>
            <a:r>
              <a:rPr lang="pt-BR" altLang="pt-BR" b="1">
                <a:solidFill>
                  <a:srgbClr val="002060"/>
                </a:solidFill>
              </a:rPr>
              <a:t>Lixo (Conceito): </a:t>
            </a:r>
            <a:r>
              <a:rPr lang="pt-BR" altLang="pt-BR"/>
              <a:t>É todo material descartado no meio ambiente, proveniente das atividades humanas.</a:t>
            </a:r>
            <a:endParaRPr lang="pt-BR" altLang="pt-BR" sz="2800"/>
          </a:p>
        </p:txBody>
      </p:sp>
      <p:pic>
        <p:nvPicPr>
          <p:cNvPr id="21510" name="Picture 4" descr="700-02670883">
            <a:extLst>
              <a:ext uri="{FF2B5EF4-FFF2-40B4-BE49-F238E27FC236}">
                <a16:creationId xmlns:a16="http://schemas.microsoft.com/office/drawing/2014/main" id="{34901C69-726D-49D3-9565-9B8369FC3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63" y="3571875"/>
            <a:ext cx="5929312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D43ADDDA-B70D-4493-9377-E94EAB725051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37DF7DB-C80A-45C7-A644-EF90BD2F41DF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8">
            <a:extLst>
              <a:ext uri="{FF2B5EF4-FFF2-40B4-BE49-F238E27FC236}">
                <a16:creationId xmlns:a16="http://schemas.microsoft.com/office/drawing/2014/main" id="{D45CB6A2-516B-4DC4-B553-0DF4EEC0C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BE1BC939-9BC7-4AAD-AFF5-2270C2857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643937" cy="2738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algn="just" eaLnBrk="1" hangingPunct="1">
              <a:defRPr/>
            </a:pPr>
            <a:endParaRPr lang="pt-BR" sz="800" b="1" i="1" dirty="0">
              <a:solidFill>
                <a:srgbClr val="FF0000"/>
              </a:solidFill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2800" b="1" dirty="0">
                <a:solidFill>
                  <a:srgbClr val="FF0000"/>
                </a:solidFill>
                <a:latin typeface="Calibri" pitchFamily="34" charset="0"/>
              </a:rPr>
              <a:t>	</a:t>
            </a:r>
            <a:r>
              <a:rPr lang="pt-BR" sz="3200" b="1" dirty="0">
                <a:solidFill>
                  <a:srgbClr val="002060"/>
                </a:solidFill>
                <a:latin typeface="Calibri" pitchFamily="34" charset="0"/>
              </a:rPr>
              <a:t>Principais problemas ambientais associados à destinação incorreta do lixo:</a:t>
            </a:r>
            <a:endParaRPr lang="pt-BR" sz="2800" b="1" dirty="0">
              <a:solidFill>
                <a:srgbClr val="002060"/>
              </a:solidFill>
              <a:latin typeface="Calibri" pitchFamily="34" charset="0"/>
            </a:endParaRPr>
          </a:p>
          <a:p>
            <a:pPr marL="342900" indent="-342900" eaLnBrk="1" hangingPunct="1">
              <a:defRPr/>
            </a:pPr>
            <a:endParaRPr lang="pt-BR" sz="800" dirty="0">
              <a:latin typeface="+mn-lt"/>
            </a:endParaRPr>
          </a:p>
          <a:p>
            <a:pPr eaLnBrk="1" hangingPunct="1">
              <a:defRPr/>
            </a:pPr>
            <a:endParaRPr lang="pt-BR" sz="3200" b="1" dirty="0">
              <a:latin typeface="Arial" charset="0"/>
            </a:endParaRPr>
          </a:p>
          <a:p>
            <a:pPr eaLnBrk="1" hangingPunct="1">
              <a:defRPr/>
            </a:pPr>
            <a:endParaRPr lang="pt-BR" sz="2800" dirty="0">
              <a:latin typeface="+mn-lt"/>
            </a:endParaRPr>
          </a:p>
        </p:txBody>
      </p:sp>
      <p:sp>
        <p:nvSpPr>
          <p:cNvPr id="7" name="Retângulo de cantos arredondados 6">
            <a:extLst>
              <a:ext uri="{FF2B5EF4-FFF2-40B4-BE49-F238E27FC236}">
                <a16:creationId xmlns:a16="http://schemas.microsoft.com/office/drawing/2014/main" id="{60427FE7-579D-4D25-9062-68E8EB702EC4}"/>
              </a:ext>
            </a:extLst>
          </p:cNvPr>
          <p:cNvSpPr/>
          <p:nvPr/>
        </p:nvSpPr>
        <p:spPr>
          <a:xfrm>
            <a:off x="1738313" y="3000375"/>
            <a:ext cx="8715375" cy="3643313"/>
          </a:xfrm>
          <a:prstGeom prst="roundRect">
            <a:avLst/>
          </a:prstGeom>
          <a:gradFill>
            <a:gsLst>
              <a:gs pos="0">
                <a:schemeClr val="accent6">
                  <a:tint val="50000"/>
                  <a:satMod val="300000"/>
                  <a:alpha val="23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Mau cheiro;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Proliferação de animais nocivos e transmissores de doenças (ratos, formigas, moscas e mosquitos);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O </a:t>
            </a:r>
            <a:r>
              <a:rPr lang="pt-BR" sz="2400" dirty="0" err="1"/>
              <a:t>chorume</a:t>
            </a:r>
            <a:r>
              <a:rPr lang="pt-BR" sz="2400" dirty="0"/>
              <a:t> produzido na decomposição contamina o solo e o lençol freático, rios e lagoas;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Sua queima libera gases nocivos aos seres vivos;</a:t>
            </a:r>
          </a:p>
          <a:p>
            <a:pPr algn="just" eaLnBrk="1" hangingPunct="1">
              <a:buFont typeface="Wingdings" pitchFamily="2" charset="2"/>
              <a:buChar char="ü"/>
              <a:defRPr/>
            </a:pPr>
            <a:r>
              <a:rPr lang="pt-BR" sz="2400" dirty="0"/>
              <a:t>  Morte de animais por </a:t>
            </a:r>
            <a:r>
              <a:rPr lang="pt-BR" sz="2400" dirty="0" err="1"/>
              <a:t>sufocamento</a:t>
            </a:r>
            <a:r>
              <a:rPr lang="pt-BR" sz="2400" dirty="0"/>
              <a:t> e/ou alteração das condições climáticas do habitat.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06A394-3E27-44DC-808C-A6787DEF53C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E847235-A0F6-44DB-860D-DA83469C404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aixaDeTexto 8">
            <a:extLst>
              <a:ext uri="{FF2B5EF4-FFF2-40B4-BE49-F238E27FC236}">
                <a16:creationId xmlns:a16="http://schemas.microsoft.com/office/drawing/2014/main" id="{3EF472C8-EB1B-45F5-8B51-EE85D6128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269FCA5E-E739-4A8E-82B7-9AE929BBF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643937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dirty="0">
                <a:latin typeface="+mn-lt"/>
              </a:rPr>
              <a:t>O </a:t>
            </a:r>
            <a:r>
              <a:rPr lang="pt-BR" sz="2800" b="1" dirty="0">
                <a:latin typeface="+mn-lt"/>
              </a:rPr>
              <a:t>lixo urbano </a:t>
            </a:r>
            <a:r>
              <a:rPr lang="pt-BR" sz="2800" dirty="0">
                <a:latin typeface="+mn-lt"/>
              </a:rPr>
              <a:t>é um dos maiores </a:t>
            </a:r>
            <a:r>
              <a:rPr lang="pt-BR" sz="2800" b="1" dirty="0">
                <a:latin typeface="+mn-lt"/>
              </a:rPr>
              <a:t>problemas ambientais </a:t>
            </a:r>
            <a:r>
              <a:rPr lang="pt-BR" sz="2800" dirty="0">
                <a:latin typeface="+mn-lt"/>
              </a:rPr>
              <a:t>da atualidade, pois os </a:t>
            </a:r>
            <a:r>
              <a:rPr lang="pt-BR" sz="2800" b="1" dirty="0">
                <a:latin typeface="+mn-lt"/>
              </a:rPr>
              <a:t>moldes de consumo </a:t>
            </a:r>
            <a:r>
              <a:rPr lang="pt-BR" sz="2800" dirty="0">
                <a:latin typeface="+mn-lt"/>
              </a:rPr>
              <a:t>adotados pela maioria das sociedades modernas provocam o </a:t>
            </a:r>
            <a:r>
              <a:rPr lang="pt-BR" sz="2800" b="1" dirty="0">
                <a:latin typeface="+mn-lt"/>
              </a:rPr>
              <a:t>aumento</a:t>
            </a:r>
            <a:r>
              <a:rPr lang="pt-BR" sz="2800" dirty="0">
                <a:latin typeface="+mn-lt"/>
              </a:rPr>
              <a:t> contínuo e exagerado na quantidade de lixo produzido.</a:t>
            </a: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CB4BFD8-F698-4E90-8AF7-F3C3F6F7D39D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F9801A3-59E3-45DA-8982-BB571FB4C796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aixaDeTexto 8">
            <a:extLst>
              <a:ext uri="{FF2B5EF4-FFF2-40B4-BE49-F238E27FC236}">
                <a16:creationId xmlns:a16="http://schemas.microsoft.com/office/drawing/2014/main" id="{CEEDEA8D-9AD9-4E2A-B1A0-B86A1794C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71563"/>
            <a:ext cx="88582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27653" name="CaixaDeTexto 6">
            <a:extLst>
              <a:ext uri="{FF2B5EF4-FFF2-40B4-BE49-F238E27FC236}">
                <a16:creationId xmlns:a16="http://schemas.microsoft.com/office/drawing/2014/main" id="{B00CCA56-36A1-4451-BA8D-8188AE68E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1143000"/>
            <a:ext cx="892968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FF0000"/>
                </a:solidFill>
              </a:rPr>
              <a:t>A questão do lixo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b="1" i="1">
                <a:solidFill>
                  <a:srgbClr val="002060"/>
                </a:solidFill>
              </a:rPr>
              <a:t>	</a:t>
            </a:r>
            <a:r>
              <a:rPr lang="pt-BR" altLang="pt-BR" b="1">
                <a:solidFill>
                  <a:srgbClr val="002060"/>
                </a:solidFill>
              </a:rPr>
              <a:t>Lixo (Conceito): </a:t>
            </a:r>
            <a:r>
              <a:rPr lang="pt-BR" altLang="pt-BR"/>
              <a:t>É todo material descartado no meio ambiente, proveniente das atividades humanas.</a:t>
            </a:r>
            <a:endParaRPr lang="pt-BR" altLang="pt-BR" sz="2800"/>
          </a:p>
        </p:txBody>
      </p:sp>
      <p:pic>
        <p:nvPicPr>
          <p:cNvPr id="27654" name="Picture 2">
            <a:extLst>
              <a:ext uri="{FF2B5EF4-FFF2-40B4-BE49-F238E27FC236}">
                <a16:creationId xmlns:a16="http://schemas.microsoft.com/office/drawing/2014/main" id="{B6EB788C-93FA-482A-9438-CEB6C5B6E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928813"/>
            <a:ext cx="8056562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2702FF73-0C00-427F-9ACA-E128029DCCF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5FFBF2D-935A-4D87-97E5-6AF4A84CD3E0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://meioambienteturma3302.pbworks.com/f/Lixo1-compostagem.jpg">
            <a:extLst>
              <a:ext uri="{FF2B5EF4-FFF2-40B4-BE49-F238E27FC236}">
                <a16:creationId xmlns:a16="http://schemas.microsoft.com/office/drawing/2014/main" id="{8FD89544-9449-4282-AB56-770115824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932238"/>
            <a:ext cx="3143250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CaixaDeTexto 8">
            <a:extLst>
              <a:ext uri="{FF2B5EF4-FFF2-40B4-BE49-F238E27FC236}">
                <a16:creationId xmlns:a16="http://schemas.microsoft.com/office/drawing/2014/main" id="{68F54782-A510-40CC-8CC3-1E4321B56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FC24DFB2-0052-4A1D-8F33-93FD41B80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 err="1">
                <a:solidFill>
                  <a:srgbClr val="0070C0"/>
                </a:solidFill>
                <a:latin typeface="+mn-lt"/>
              </a:rPr>
              <a:t>Compostagem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787CA84-A84F-4006-BF01-DD3CA68DF93F}"/>
              </a:ext>
            </a:extLst>
          </p:cNvPr>
          <p:cNvSpPr/>
          <p:nvPr/>
        </p:nvSpPr>
        <p:spPr>
          <a:xfrm>
            <a:off x="1881188" y="2143125"/>
            <a:ext cx="8358187" cy="26463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500" dirty="0">
                <a:latin typeface="+mn-lt"/>
              </a:rPr>
              <a:t>A </a:t>
            </a:r>
            <a:r>
              <a:rPr lang="pt-BR" sz="2500" dirty="0" err="1">
                <a:latin typeface="+mn-lt"/>
              </a:rPr>
              <a:t>compostagem</a:t>
            </a:r>
            <a:r>
              <a:rPr lang="pt-BR" sz="2500" dirty="0">
                <a:latin typeface="+mn-lt"/>
              </a:rPr>
              <a:t> é um processo biológico em que os microrganismos transformam a </a:t>
            </a:r>
            <a:r>
              <a:rPr lang="pt-BR" sz="2500" b="1" dirty="0">
                <a:latin typeface="+mn-lt"/>
              </a:rPr>
              <a:t>matéria orgânica</a:t>
            </a:r>
            <a:r>
              <a:rPr lang="pt-BR" sz="2500" dirty="0">
                <a:latin typeface="+mn-lt"/>
              </a:rPr>
              <a:t>, como estrume, folhas, papel e restos de comida, num material </a:t>
            </a:r>
            <a:r>
              <a:rPr lang="pt-BR" sz="2500" b="1" dirty="0">
                <a:latin typeface="+mn-lt"/>
              </a:rPr>
              <a:t>semelhante ao solo</a:t>
            </a:r>
            <a:r>
              <a:rPr lang="pt-BR" sz="2500" dirty="0">
                <a:latin typeface="+mn-lt"/>
              </a:rPr>
              <a:t>, a que se chama composto, e que pode ser utilizado como </a:t>
            </a:r>
            <a:r>
              <a:rPr lang="pt-BR" sz="2500" b="1" dirty="0">
                <a:latin typeface="+mn-lt"/>
              </a:rPr>
              <a:t>adubo</a:t>
            </a:r>
            <a:r>
              <a:rPr lang="pt-BR" sz="2500" dirty="0">
                <a:latin typeface="+mn-lt"/>
              </a:rPr>
              <a:t>.</a:t>
            </a: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7DA1B3C-4B61-4307-96D4-504C7B701DDF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C5CF716-6A37-457B-95F6-A2DB68CB5BEB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aixaDeTexto 8">
            <a:extLst>
              <a:ext uri="{FF2B5EF4-FFF2-40B4-BE49-F238E27FC236}">
                <a16:creationId xmlns:a16="http://schemas.microsoft.com/office/drawing/2014/main" id="{517392AC-9FD7-4D2E-B7E1-154999269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9C53B7C5-0134-4E12-BCAD-08D16A0FC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 err="1">
                <a:solidFill>
                  <a:srgbClr val="0070C0"/>
                </a:solidFill>
                <a:latin typeface="+mn-lt"/>
              </a:rPr>
              <a:t>Compostagem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31750" name="Retângulo 8">
            <a:extLst>
              <a:ext uri="{FF2B5EF4-FFF2-40B4-BE49-F238E27FC236}">
                <a16:creationId xmlns:a16="http://schemas.microsoft.com/office/drawing/2014/main" id="{477B3060-BC26-46B7-A858-A0E30B9E4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8" y="2143125"/>
            <a:ext cx="83581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br>
              <a:rPr lang="pt-BR" altLang="pt-BR" sz="1800">
                <a:latin typeface="Arial" panose="020B0604020202020204" pitchFamily="34" charset="0"/>
              </a:rPr>
            </a:br>
            <a:endParaRPr lang="pt-BR" altLang="pt-BR" sz="1800">
              <a:latin typeface="Arial" panose="020B0604020202020204" pitchFamily="34" charset="0"/>
            </a:endParaRPr>
          </a:p>
        </p:txBody>
      </p:sp>
      <p:pic>
        <p:nvPicPr>
          <p:cNvPr id="31751" name="Picture 4" descr="http://meioambiente.bicodocorvo.com.br/blog/wp-content/uploads/2010/01/062.jpg">
            <a:extLst>
              <a:ext uri="{FF2B5EF4-FFF2-40B4-BE49-F238E27FC236}">
                <a16:creationId xmlns:a16="http://schemas.microsoft.com/office/drawing/2014/main" id="{5D1ABC76-D43A-4337-809E-DD2D83EB9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2286000"/>
            <a:ext cx="2928938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Picture 6" descr="http://maisagronegocio.com/wp-content/uploads/2010/07/compostagem.jpg">
            <a:extLst>
              <a:ext uri="{FF2B5EF4-FFF2-40B4-BE49-F238E27FC236}">
                <a16:creationId xmlns:a16="http://schemas.microsoft.com/office/drawing/2014/main" id="{A051A764-D829-435A-8189-6CA32A805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8" y="4572000"/>
            <a:ext cx="3079750" cy="200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3" name="Picture 2" descr="http://www.hoteliernews.com.br/site/imagens/noticias/compostagem.jpg">
            <a:extLst>
              <a:ext uri="{FF2B5EF4-FFF2-40B4-BE49-F238E27FC236}">
                <a16:creationId xmlns:a16="http://schemas.microsoft.com/office/drawing/2014/main" id="{E3BF9378-A00E-4AD6-B3FD-677C186A9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2301875"/>
            <a:ext cx="4286250" cy="321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BEA85CD0-89D9-4650-B0BC-F95DA778429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0221DDE-A3FE-433D-BE1F-C8C7C216F94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aixaDeTexto 8">
            <a:extLst>
              <a:ext uri="{FF2B5EF4-FFF2-40B4-BE49-F238E27FC236}">
                <a16:creationId xmlns:a16="http://schemas.microsoft.com/office/drawing/2014/main" id="{87137185-5B00-431F-A76F-95F47E761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271C35C2-866B-4C4C-801C-15C367D27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>
                <a:solidFill>
                  <a:srgbClr val="0070C0"/>
                </a:solidFill>
                <a:latin typeface="+mn-lt"/>
              </a:rPr>
              <a:t>Reciclagem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45119D-5957-49A7-899E-FD75C06BA33A}"/>
              </a:ext>
            </a:extLst>
          </p:cNvPr>
          <p:cNvSpPr/>
          <p:nvPr/>
        </p:nvSpPr>
        <p:spPr>
          <a:xfrm>
            <a:off x="1881188" y="2143125"/>
            <a:ext cx="8358187" cy="51244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pt-BR" sz="2500" b="1" dirty="0">
              <a:solidFill>
                <a:srgbClr val="002060"/>
              </a:solidFill>
              <a:latin typeface="+mn-lt"/>
            </a:endParaRPr>
          </a:p>
          <a:p>
            <a:pPr algn="ctr" eaLnBrk="1" hangingPunct="1">
              <a:defRPr/>
            </a:pPr>
            <a:r>
              <a:rPr lang="pt-BR" sz="2500" b="1" dirty="0">
                <a:solidFill>
                  <a:srgbClr val="002060"/>
                </a:solidFill>
                <a:latin typeface="+mn-lt"/>
              </a:rPr>
              <a:t>A regra dos 3 </a:t>
            </a:r>
            <a:r>
              <a:rPr lang="pt-BR" sz="2500" b="1" dirty="0" err="1">
                <a:solidFill>
                  <a:srgbClr val="002060"/>
                </a:solidFill>
                <a:latin typeface="+mn-lt"/>
              </a:rPr>
              <a:t>R’s</a:t>
            </a:r>
            <a:endParaRPr lang="pt-BR" sz="2500" b="1" dirty="0">
              <a:solidFill>
                <a:srgbClr val="002060"/>
              </a:solidFill>
              <a:latin typeface="+mn-lt"/>
            </a:endParaRPr>
          </a:p>
          <a:p>
            <a:pPr algn="just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buFont typeface="+mj-lt"/>
              <a:buAutoNum type="romanUcPeriod"/>
              <a:defRPr/>
            </a:pPr>
            <a:r>
              <a:rPr lang="pt-BR" sz="2400" b="1" dirty="0">
                <a:latin typeface="+mn-lt"/>
              </a:rPr>
              <a:t>Reduzir</a:t>
            </a:r>
            <a:r>
              <a:rPr lang="pt-BR" sz="2400" dirty="0">
                <a:latin typeface="+mn-lt"/>
              </a:rPr>
              <a:t>: Sempre que possível devemos diminuir a nossa produção de resíduos, pois quanto menos produzirmos, menores serão os problemas para acondicionar, coletar, transportar e dar destino final.</a:t>
            </a:r>
          </a:p>
          <a:p>
            <a:pPr marL="514350" indent="-514350" algn="just" eaLnBrk="1" hangingPunct="1">
              <a:buFont typeface="+mj-lt"/>
              <a:buAutoNum type="romanUcPeriod"/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buFont typeface="+mj-lt"/>
              <a:buAutoNum type="romanUcPeriod"/>
              <a:defRPr/>
            </a:pPr>
            <a:r>
              <a:rPr lang="pt-BR" sz="2400" b="1" dirty="0">
                <a:latin typeface="+mn-lt"/>
              </a:rPr>
              <a:t>Reutilizar</a:t>
            </a:r>
            <a:r>
              <a:rPr lang="pt-BR" sz="2400" dirty="0">
                <a:latin typeface="+mn-lt"/>
              </a:rPr>
              <a:t>: Frequentemente podemos reutilizar materiais que no passado seriam simplesmente descartados.</a:t>
            </a:r>
          </a:p>
          <a:p>
            <a:pPr marL="514350" indent="-514350" algn="just" eaLnBrk="1" hangingPunct="1">
              <a:buFont typeface="+mj-lt"/>
              <a:buAutoNum type="romanUcPeriod"/>
              <a:defRPr/>
            </a:pPr>
            <a:endParaRPr lang="pt-BR" sz="800" dirty="0">
              <a:latin typeface="+mn-lt"/>
            </a:endParaRPr>
          </a:p>
          <a:p>
            <a:pPr marL="457200" indent="-457200" algn="just" eaLnBrk="1" hangingPunct="1">
              <a:buFont typeface="+mj-lt"/>
              <a:buAutoNum type="romanUcPeriod"/>
              <a:defRPr/>
            </a:pPr>
            <a:r>
              <a:rPr lang="pt-BR" sz="2400" b="1" dirty="0">
                <a:latin typeface="+mn-lt"/>
              </a:rPr>
              <a:t>Reciclar</a:t>
            </a:r>
            <a:r>
              <a:rPr lang="pt-BR" sz="2400" dirty="0">
                <a:latin typeface="+mn-lt"/>
              </a:rPr>
              <a:t>: Significa transformar resíduos em novos produtos. O resíduo é tratado como matéria prima, evitando sua extração. </a:t>
            </a:r>
          </a:p>
          <a:p>
            <a:pPr algn="just" eaLnBrk="1" hangingPunct="1">
              <a:defRPr/>
            </a:pPr>
            <a:endParaRPr lang="pt-BR" sz="2500" dirty="0">
              <a:latin typeface="+mn-lt"/>
            </a:endParaRP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pic>
        <p:nvPicPr>
          <p:cNvPr id="33799" name="Picture 2" descr="http://www.ib.usp.br/coletaseletiva/saudecoletiva/reciclar2.gif">
            <a:extLst>
              <a:ext uri="{FF2B5EF4-FFF2-40B4-BE49-F238E27FC236}">
                <a16:creationId xmlns:a16="http://schemas.microsoft.com/office/drawing/2014/main" id="{22F12F48-FAD8-4FF5-88D6-FBAA84F71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928688"/>
            <a:ext cx="18827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712C696-E171-4AC1-8404-D126F45B6845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493474C-D7EF-4BED-B0A9-0B901B3FB9F4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aixaDeTexto 8">
            <a:extLst>
              <a:ext uri="{FF2B5EF4-FFF2-40B4-BE49-F238E27FC236}">
                <a16:creationId xmlns:a16="http://schemas.microsoft.com/office/drawing/2014/main" id="{C0A21706-BB03-48E3-99C9-648DAE73A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19ABBBB5-ADD0-4452-8FAA-331182518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FFBBF43-452D-4360-80F7-2B52D0D05F30}"/>
              </a:ext>
            </a:extLst>
          </p:cNvPr>
          <p:cNvSpPr/>
          <p:nvPr/>
        </p:nvSpPr>
        <p:spPr>
          <a:xfrm>
            <a:off x="1881188" y="2143125"/>
            <a:ext cx="8358187" cy="1416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pt-BR" sz="2500" b="1" dirty="0">
              <a:solidFill>
                <a:srgbClr val="002060"/>
              </a:solidFill>
              <a:latin typeface="+mn-lt"/>
            </a:endParaRPr>
          </a:p>
          <a:p>
            <a:pPr algn="just" eaLnBrk="1" hangingPunct="1">
              <a:defRPr/>
            </a:pPr>
            <a:endParaRPr lang="pt-BR" sz="2500" dirty="0">
              <a:latin typeface="+mn-lt"/>
            </a:endParaRP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pic>
        <p:nvPicPr>
          <p:cNvPr id="35847" name="Picture 2" descr="http://www.ib.usp.br/coletaseletiva/saudecoletiva/reciclar2.gif">
            <a:extLst>
              <a:ext uri="{FF2B5EF4-FFF2-40B4-BE49-F238E27FC236}">
                <a16:creationId xmlns:a16="http://schemas.microsoft.com/office/drawing/2014/main" id="{18B9CE0C-6BAF-4D5D-852F-1252AA84F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928688"/>
            <a:ext cx="18827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2" descr="http://4.bp.blogspot.com/_9i0oGmDfb0Y/SwYH030ouhI/AAAAAAAAAe0/Z6IqNTTykRk/s1600/garrafa+de+pet+tipo+filtro+de+%C3%A1gua.jpg">
            <a:extLst>
              <a:ext uri="{FF2B5EF4-FFF2-40B4-BE49-F238E27FC236}">
                <a16:creationId xmlns:a16="http://schemas.microsoft.com/office/drawing/2014/main" id="{A33CF794-3D13-4860-B18B-BC7254B83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063" y="2857500"/>
            <a:ext cx="2786062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9" name="Picture 4" descr="http://ser.soebras.com.br/comunicacao/boletim-ser-soebras-numero-04-julho-2008/destaque-a-engenharia-e-o-desenvolvimento-sustentavel/images/vassoura-pet.jpg/pa_thumb/imagex466x350.jpeg">
            <a:extLst>
              <a:ext uri="{FF2B5EF4-FFF2-40B4-BE49-F238E27FC236}">
                <a16:creationId xmlns:a16="http://schemas.microsoft.com/office/drawing/2014/main" id="{B37F27BB-055B-48D8-BA2D-93F68C532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2357438"/>
            <a:ext cx="305276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0" name="Picture 6" descr="http://cacareco.net/wp-content/uploads/2009/01/luminariagarrafa2.jpg">
            <a:extLst>
              <a:ext uri="{FF2B5EF4-FFF2-40B4-BE49-F238E27FC236}">
                <a16:creationId xmlns:a16="http://schemas.microsoft.com/office/drawing/2014/main" id="{314E186E-E2C7-4807-A382-A03B43C32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4714875"/>
            <a:ext cx="3063875" cy="196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51" name="Picture 8" descr="http://www.comunidadesegura.org/files/images/Vestido_Pet.preview.JPG">
            <a:extLst>
              <a:ext uri="{FF2B5EF4-FFF2-40B4-BE49-F238E27FC236}">
                <a16:creationId xmlns:a16="http://schemas.microsoft.com/office/drawing/2014/main" id="{754A0810-5BA6-44FF-9D3D-3B263AC54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57500"/>
            <a:ext cx="2573338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657B4E27-2A60-461F-8841-1AF02A109EF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CCE9D4C-0D82-48FB-8219-327537E8249E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aixaDeTexto 8">
            <a:extLst>
              <a:ext uri="{FF2B5EF4-FFF2-40B4-BE49-F238E27FC236}">
                <a16:creationId xmlns:a16="http://schemas.microsoft.com/office/drawing/2014/main" id="{F1223F3A-4DEB-4FB6-8DEB-05831AAAFB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6A5F15DE-BDB9-46A4-98A7-DFC8C6D672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eaLnBrk="1" hangingPunct="1">
              <a:defRPr/>
            </a:pPr>
            <a:endParaRPr lang="pt-BR" sz="800" dirty="0">
              <a:latin typeface="Calibri" pitchFamily="34" charset="0"/>
            </a:endParaRP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>
                <a:solidFill>
                  <a:srgbClr val="0070C0"/>
                </a:solidFill>
                <a:latin typeface="+mn-lt"/>
              </a:rPr>
              <a:t>Destinação correta do lixo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DBCFA19-3823-4B52-A2F3-DEA15CF89760}"/>
              </a:ext>
            </a:extLst>
          </p:cNvPr>
          <p:cNvSpPr/>
          <p:nvPr/>
        </p:nvSpPr>
        <p:spPr>
          <a:xfrm>
            <a:off x="1881188" y="2143125"/>
            <a:ext cx="8358187" cy="15382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2500" b="1" dirty="0">
                <a:solidFill>
                  <a:srgbClr val="002060"/>
                </a:solidFill>
                <a:latin typeface="+mn-lt"/>
              </a:rPr>
              <a:t>Lixão: Não recomendado!</a:t>
            </a:r>
          </a:p>
          <a:p>
            <a:pPr algn="just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defRPr/>
            </a:pPr>
            <a:endParaRPr lang="pt-BR" sz="2500" dirty="0">
              <a:latin typeface="+mn-lt"/>
            </a:endParaRP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AAAD6F4-9A13-41F8-9622-CAB95B29724D}"/>
              </a:ext>
            </a:extLst>
          </p:cNvPr>
          <p:cNvSpPr/>
          <p:nvPr/>
        </p:nvSpPr>
        <p:spPr>
          <a:xfrm>
            <a:off x="1881188" y="2571750"/>
            <a:ext cx="8429625" cy="16922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600" dirty="0"/>
              <a:t>São locais onde o lixo é depositado, em grande quantidade, sobre a superfície do solo e a céu aberto, sem qualquer controle sobre os efeitos danosos ao ambiente e a população.</a:t>
            </a:r>
          </a:p>
        </p:txBody>
      </p:sp>
      <p:pic>
        <p:nvPicPr>
          <p:cNvPr id="69636" name="Picture 4" descr="http://www.ecodebate.com.br/foto/lixao1.jpg">
            <a:extLst>
              <a:ext uri="{FF2B5EF4-FFF2-40B4-BE49-F238E27FC236}">
                <a16:creationId xmlns:a16="http://schemas.microsoft.com/office/drawing/2014/main" id="{3F6EFBAA-8D7F-4E03-9647-E302F6C1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24628" y="4282394"/>
            <a:ext cx="3571900" cy="25756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897" name="Picture 2" descr=" ">
            <a:extLst>
              <a:ext uri="{FF2B5EF4-FFF2-40B4-BE49-F238E27FC236}">
                <a16:creationId xmlns:a16="http://schemas.microsoft.com/office/drawing/2014/main" id="{5F95F853-9DAB-4293-B96E-503D462EB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4357688"/>
            <a:ext cx="3660775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860D813B-C7EB-420F-AC0F-39A273FCD35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8416A61-DB7F-4CDD-9404-557440E44A2C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aixaDeTexto 8">
            <a:extLst>
              <a:ext uri="{FF2B5EF4-FFF2-40B4-BE49-F238E27FC236}">
                <a16:creationId xmlns:a16="http://schemas.microsoft.com/office/drawing/2014/main" id="{D9FDA598-FCF2-4D6D-86CF-37A1BB897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E98288FB-C869-4296-8D9D-E2350E8E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>
                <a:solidFill>
                  <a:srgbClr val="0070C0"/>
                </a:solidFill>
                <a:latin typeface="+mn-lt"/>
              </a:rPr>
              <a:t>Destinação correta do lixo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9D98E7B-5930-468D-84B1-42415417E1D6}"/>
              </a:ext>
            </a:extLst>
          </p:cNvPr>
          <p:cNvSpPr/>
          <p:nvPr/>
        </p:nvSpPr>
        <p:spPr>
          <a:xfrm>
            <a:off x="1881188" y="1785938"/>
            <a:ext cx="8358187" cy="1662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pt-BR" sz="800" b="1" dirty="0">
              <a:solidFill>
                <a:srgbClr val="002060"/>
              </a:solidFill>
              <a:latin typeface="+mn-lt"/>
            </a:endParaRPr>
          </a:p>
          <a:p>
            <a:pPr algn="ctr" eaLnBrk="1" hangingPunct="1">
              <a:defRPr/>
            </a:pPr>
            <a:r>
              <a:rPr lang="pt-BR" sz="2500" b="1" dirty="0">
                <a:solidFill>
                  <a:srgbClr val="002060"/>
                </a:solidFill>
                <a:latin typeface="+mn-lt"/>
              </a:rPr>
              <a:t>Aterro controlado: Não recomendado!</a:t>
            </a:r>
          </a:p>
          <a:p>
            <a:pPr algn="just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defRPr/>
            </a:pPr>
            <a:endParaRPr lang="pt-BR" sz="2500" dirty="0">
              <a:latin typeface="+mn-lt"/>
            </a:endParaRP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AC1F33A-2EBD-4EAE-B919-5EFA9A173C99}"/>
              </a:ext>
            </a:extLst>
          </p:cNvPr>
          <p:cNvSpPr/>
          <p:nvPr/>
        </p:nvSpPr>
        <p:spPr>
          <a:xfrm>
            <a:off x="1881188" y="2428875"/>
            <a:ext cx="8429625" cy="1384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800" dirty="0"/>
              <a:t>Consiste em um lixão coberto por terra, e depois por camadas sucessivas de terra e lixo, mas sem procedimentos de impermeabilização do solo.</a:t>
            </a:r>
          </a:p>
        </p:txBody>
      </p:sp>
      <p:pic>
        <p:nvPicPr>
          <p:cNvPr id="69638" name="Picture 6" descr=" ">
            <a:extLst>
              <a:ext uri="{FF2B5EF4-FFF2-40B4-BE49-F238E27FC236}">
                <a16:creationId xmlns:a16="http://schemas.microsoft.com/office/drawing/2014/main" id="{D9C85E1A-C84E-48F1-B4C9-7C9F78C79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3860235"/>
            <a:ext cx="4500562" cy="29977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9945" name="Picture 8" descr="http://www.ondaverde.sp.gov.br/images/noticias/t1695723875aterro-onda-verde.JPG">
            <a:extLst>
              <a:ext uri="{FF2B5EF4-FFF2-40B4-BE49-F238E27FC236}">
                <a16:creationId xmlns:a16="http://schemas.microsoft.com/office/drawing/2014/main" id="{E1DCD7ED-8B3E-4EB8-821D-BF6108FC6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313" y="4000500"/>
            <a:ext cx="4000500" cy="268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D27F9B55-4A98-482C-9E64-F80BAA47D538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52899C4-7940-400D-A1FB-A12E105208B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aixaDeTexto 8">
            <a:extLst>
              <a:ext uri="{FF2B5EF4-FFF2-40B4-BE49-F238E27FC236}">
                <a16:creationId xmlns:a16="http://schemas.microsoft.com/office/drawing/2014/main" id="{44775E18-072C-492C-BE91-9C5030647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1334833A-D122-41C6-ADC9-9E75F4899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>
                <a:solidFill>
                  <a:srgbClr val="0070C0"/>
                </a:solidFill>
                <a:latin typeface="+mn-lt"/>
              </a:rPr>
              <a:t>Destinação correta do lixo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A6D81AD-E9EE-4008-B89F-FEF0F6CD2319}"/>
              </a:ext>
            </a:extLst>
          </p:cNvPr>
          <p:cNvSpPr/>
          <p:nvPr/>
        </p:nvSpPr>
        <p:spPr>
          <a:xfrm>
            <a:off x="1881188" y="1785938"/>
            <a:ext cx="8358187" cy="1662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pt-BR" sz="800" b="1" dirty="0">
              <a:solidFill>
                <a:srgbClr val="002060"/>
              </a:solidFill>
              <a:latin typeface="+mn-lt"/>
            </a:endParaRPr>
          </a:p>
          <a:p>
            <a:pPr algn="ctr" eaLnBrk="1" hangingPunct="1">
              <a:defRPr/>
            </a:pPr>
            <a:r>
              <a:rPr lang="pt-BR" sz="2500" b="1" dirty="0">
                <a:solidFill>
                  <a:srgbClr val="002060"/>
                </a:solidFill>
                <a:latin typeface="+mn-lt"/>
              </a:rPr>
              <a:t>Aterro sanitário: </a:t>
            </a:r>
            <a:r>
              <a:rPr lang="pt-BR" sz="2500" b="1" dirty="0">
                <a:solidFill>
                  <a:srgbClr val="C00000"/>
                </a:solidFill>
                <a:latin typeface="+mn-lt"/>
              </a:rPr>
              <a:t>Recomendado!</a:t>
            </a:r>
          </a:p>
          <a:p>
            <a:pPr algn="just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defRPr/>
            </a:pPr>
            <a:endParaRPr lang="pt-BR" sz="2500" dirty="0">
              <a:latin typeface="+mn-lt"/>
            </a:endParaRP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87D8431-7A8C-431D-96A8-DDDAC442B0D1}"/>
              </a:ext>
            </a:extLst>
          </p:cNvPr>
          <p:cNvSpPr/>
          <p:nvPr/>
        </p:nvSpPr>
        <p:spPr>
          <a:xfrm>
            <a:off x="1881188" y="2428875"/>
            <a:ext cx="8429625" cy="1384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pt-BR" sz="2800" dirty="0"/>
              <a:t>Obra de engenharia que segue normas rígidas de segurança permite a confinação segura do lixo em termos de controle de poluição ambiental.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ABB2E09-2FEA-4445-8DF3-6D083E5A3173}"/>
              </a:ext>
            </a:extLst>
          </p:cNvPr>
          <p:cNvSpPr txBox="1"/>
          <p:nvPr/>
        </p:nvSpPr>
        <p:spPr>
          <a:xfrm>
            <a:off x="1809750" y="4143375"/>
            <a:ext cx="8643938" cy="27082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pt-BR" sz="2400" b="1" dirty="0">
                <a:solidFill>
                  <a:srgbClr val="FF0000"/>
                </a:solidFill>
                <a:latin typeface="Arial" charset="0"/>
              </a:rPr>
              <a:t>Vantagens:</a:t>
            </a:r>
          </a:p>
          <a:p>
            <a:pPr eaLnBrk="1" hangingPunct="1">
              <a:defRPr/>
            </a:pPr>
            <a:endParaRPr lang="pt-BR" sz="800" dirty="0">
              <a:latin typeface="Arial" charset="0"/>
            </a:endParaRP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 Reduz os riscos de contaminação do lençol freático;</a:t>
            </a:r>
          </a:p>
          <a:p>
            <a:pPr eaLnBrk="1" hangingPunct="1"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 Não permite a proliferação de vetores de doenças;</a:t>
            </a:r>
          </a:p>
          <a:p>
            <a:pPr marL="0" lvl="2" eaLnBrk="1" hangingPunct="1"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 Possibilidade de obtenção de metano para produção de energia;</a:t>
            </a:r>
          </a:p>
          <a:p>
            <a:pPr marL="0" lvl="2" eaLnBrk="1" hangingPunct="1"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 Reduz o mau cheiro;</a:t>
            </a:r>
          </a:p>
          <a:p>
            <a:pPr marL="0" lvl="2" eaLnBrk="1" hangingPunct="1">
              <a:buFont typeface="Wingdings" pitchFamily="2" charset="2"/>
              <a:buChar char="ü"/>
              <a:defRPr/>
            </a:pPr>
            <a:r>
              <a:rPr lang="pt-BR" sz="2400" dirty="0">
                <a:latin typeface="+mn-lt"/>
              </a:rPr>
              <a:t> Reduz a poluição visual.</a:t>
            </a:r>
          </a:p>
          <a:p>
            <a:pPr eaLnBrk="1" hangingPunct="1">
              <a:defRPr/>
            </a:pPr>
            <a:endParaRPr lang="pt-BR" dirty="0">
              <a:latin typeface="Arial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D616E33-05E2-45BC-AD05-895AB20DFCE0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FA6D993-920A-4189-9B73-C3ABBA4B9D4A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aixaDeTexto 8">
            <a:extLst>
              <a:ext uri="{FF2B5EF4-FFF2-40B4-BE49-F238E27FC236}">
                <a16:creationId xmlns:a16="http://schemas.microsoft.com/office/drawing/2014/main" id="{1D036187-2889-4F85-A61D-CF451E87D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8268E85F-5EF9-4D52-B1B8-62541EC29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>
                <a:solidFill>
                  <a:srgbClr val="0070C0"/>
                </a:solidFill>
                <a:latin typeface="+mn-lt"/>
              </a:rPr>
              <a:t>Destinação correta do lixo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9AEF38-2D89-4801-AAED-150DF67584D8}"/>
              </a:ext>
            </a:extLst>
          </p:cNvPr>
          <p:cNvSpPr/>
          <p:nvPr/>
        </p:nvSpPr>
        <p:spPr>
          <a:xfrm>
            <a:off x="1881188" y="1785938"/>
            <a:ext cx="8358187" cy="1662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pt-BR" sz="800" b="1" dirty="0">
              <a:solidFill>
                <a:srgbClr val="002060"/>
              </a:solidFill>
              <a:latin typeface="+mn-lt"/>
            </a:endParaRPr>
          </a:p>
          <a:p>
            <a:pPr algn="ctr" eaLnBrk="1" hangingPunct="1">
              <a:defRPr/>
            </a:pPr>
            <a:r>
              <a:rPr lang="pt-BR" sz="2500" b="1" dirty="0">
                <a:solidFill>
                  <a:srgbClr val="002060"/>
                </a:solidFill>
                <a:latin typeface="+mn-lt"/>
              </a:rPr>
              <a:t>Aterro sanitário: </a:t>
            </a:r>
            <a:r>
              <a:rPr lang="pt-BR" sz="2500" b="1" dirty="0">
                <a:solidFill>
                  <a:srgbClr val="C00000"/>
                </a:solidFill>
                <a:latin typeface="+mn-lt"/>
              </a:rPr>
              <a:t>Recomendado!</a:t>
            </a:r>
          </a:p>
          <a:p>
            <a:pPr algn="just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defRPr/>
            </a:pPr>
            <a:endParaRPr lang="pt-BR" sz="2500" dirty="0">
              <a:latin typeface="+mn-lt"/>
            </a:endParaRP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pic>
        <p:nvPicPr>
          <p:cNvPr id="44039" name="Picture 2" descr=" ">
            <a:extLst>
              <a:ext uri="{FF2B5EF4-FFF2-40B4-BE49-F238E27FC236}">
                <a16:creationId xmlns:a16="http://schemas.microsoft.com/office/drawing/2014/main" id="{E7A6F985-03C3-487B-A2CB-6A967E4BC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2000250"/>
            <a:ext cx="687863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0CB0D25-1949-4838-80B3-CAB31A9A236B}"/>
              </a:ext>
            </a:extLst>
          </p:cNvPr>
          <p:cNvSpPr/>
          <p:nvPr/>
        </p:nvSpPr>
        <p:spPr>
          <a:xfrm>
            <a:off x="0" y="2"/>
            <a:ext cx="12192000" cy="905690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A6A0847E-AF37-481E-A71C-9F8155DE8DD7}"/>
              </a:ext>
            </a:extLst>
          </p:cNvPr>
          <p:cNvSpPr txBox="1">
            <a:spLocks/>
          </p:cNvSpPr>
          <p:nvPr/>
        </p:nvSpPr>
        <p:spPr>
          <a:xfrm>
            <a:off x="576398" y="20571"/>
            <a:ext cx="11284676" cy="88512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LIXO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aixaDeTexto 8">
            <a:extLst>
              <a:ext uri="{FF2B5EF4-FFF2-40B4-BE49-F238E27FC236}">
                <a16:creationId xmlns:a16="http://schemas.microsoft.com/office/drawing/2014/main" id="{3A01AB09-896A-4027-8BB8-FD4E0FCA3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857250"/>
            <a:ext cx="8858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4101" name="CaixaDeTexto 6">
            <a:extLst>
              <a:ext uri="{FF2B5EF4-FFF2-40B4-BE49-F238E27FC236}">
                <a16:creationId xmlns:a16="http://schemas.microsoft.com/office/drawing/2014/main" id="{F601554C-0EE6-4B7B-890D-A99B99FFF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313" y="928688"/>
            <a:ext cx="8643937" cy="193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defRPr/>
            </a:pPr>
            <a:r>
              <a:rPr lang="pt-BR" sz="3200" b="1" i="1" dirty="0">
                <a:solidFill>
                  <a:srgbClr val="FF0000"/>
                </a:solidFill>
                <a:latin typeface="Calibri" pitchFamily="34" charset="0"/>
              </a:rPr>
              <a:t>A questão do lixo</a:t>
            </a:r>
          </a:p>
          <a:p>
            <a:pPr marL="342900" indent="-342900" algn="just" eaLnBrk="1" hangingPunct="1">
              <a:defRPr/>
            </a:pPr>
            <a:r>
              <a:rPr lang="pt-BR" sz="3200" b="1" i="1" dirty="0">
                <a:solidFill>
                  <a:srgbClr val="002060"/>
                </a:solidFill>
                <a:latin typeface="Calibri" pitchFamily="34" charset="0"/>
              </a:rPr>
              <a:t>	</a:t>
            </a:r>
            <a:r>
              <a:rPr lang="pt-BR" sz="2800" b="1" i="1" dirty="0">
                <a:solidFill>
                  <a:srgbClr val="002060"/>
                </a:solidFill>
                <a:latin typeface="+mn-lt"/>
              </a:rPr>
              <a:t>Alternativas e soluções: </a:t>
            </a:r>
            <a:r>
              <a:rPr lang="pt-BR" sz="2800" b="1" i="1" u="sng" dirty="0">
                <a:solidFill>
                  <a:srgbClr val="0070C0"/>
                </a:solidFill>
                <a:latin typeface="+mn-lt"/>
              </a:rPr>
              <a:t>Destinação correta do lixo</a:t>
            </a:r>
            <a:endParaRPr lang="pt-BR" sz="2800" u="sng" dirty="0">
              <a:solidFill>
                <a:srgbClr val="0070C0"/>
              </a:solidFill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eaLnBrk="1" hangingPunct="1">
              <a:defRPr/>
            </a:pPr>
            <a:endParaRPr lang="pt-BR" sz="2800" b="1" dirty="0">
              <a:latin typeface="+mn-lt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2A457A6-E750-4032-953C-97586B0ECB2F}"/>
              </a:ext>
            </a:extLst>
          </p:cNvPr>
          <p:cNvSpPr/>
          <p:nvPr/>
        </p:nvSpPr>
        <p:spPr>
          <a:xfrm>
            <a:off x="1881188" y="1785938"/>
            <a:ext cx="8358187" cy="166211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defRPr/>
            </a:pPr>
            <a:endParaRPr lang="pt-BR" sz="800" b="1" dirty="0">
              <a:solidFill>
                <a:srgbClr val="002060"/>
              </a:solidFill>
              <a:latin typeface="+mn-lt"/>
            </a:endParaRPr>
          </a:p>
          <a:p>
            <a:pPr algn="ctr" eaLnBrk="1" hangingPunct="1">
              <a:defRPr/>
            </a:pPr>
            <a:r>
              <a:rPr lang="pt-BR" sz="2500" b="1" dirty="0">
                <a:solidFill>
                  <a:srgbClr val="002060"/>
                </a:solidFill>
                <a:latin typeface="+mn-lt"/>
              </a:rPr>
              <a:t>Aterro sanitário: </a:t>
            </a:r>
            <a:r>
              <a:rPr lang="pt-BR" sz="2500" b="1" dirty="0">
                <a:solidFill>
                  <a:srgbClr val="C00000"/>
                </a:solidFill>
                <a:latin typeface="+mn-lt"/>
              </a:rPr>
              <a:t>Recomendado!</a:t>
            </a:r>
          </a:p>
          <a:p>
            <a:pPr algn="just" eaLnBrk="1" hangingPunct="1">
              <a:defRPr/>
            </a:pPr>
            <a:endParaRPr lang="pt-BR" sz="800" dirty="0">
              <a:latin typeface="+mn-lt"/>
            </a:endParaRPr>
          </a:p>
          <a:p>
            <a:pPr marL="514350" indent="-514350" algn="just" eaLnBrk="1" hangingPunct="1">
              <a:defRPr/>
            </a:pPr>
            <a:endParaRPr lang="pt-BR" sz="2500" dirty="0">
              <a:latin typeface="+mn-lt"/>
            </a:endParaRPr>
          </a:p>
          <a:p>
            <a:pPr algn="just" eaLnBrk="1" hangingPunct="1">
              <a:defRPr/>
            </a:pPr>
            <a:br>
              <a:rPr lang="pt-BR" dirty="0">
                <a:latin typeface="Arial" charset="0"/>
              </a:rPr>
            </a:br>
            <a:endParaRPr lang="pt-BR" dirty="0">
              <a:latin typeface="Arial" charset="0"/>
            </a:endParaRPr>
          </a:p>
        </p:txBody>
      </p:sp>
      <p:pic>
        <p:nvPicPr>
          <p:cNvPr id="46087" name="Picture 2" descr="http://1.bp.blogspot.com/_6l3MH6bMneA/S___icMuCII/AAAAAAAACv8/TdUPYMhgjLs/s1600/aterro_sanitario.jpg">
            <a:extLst>
              <a:ext uri="{FF2B5EF4-FFF2-40B4-BE49-F238E27FC236}">
                <a16:creationId xmlns:a16="http://schemas.microsoft.com/office/drawing/2014/main" id="{9150E29F-7CA1-4804-930D-6F5E2E4FD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85813"/>
            <a:ext cx="9144000" cy="607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534</TotalTime>
  <Words>1030</Words>
  <Application>Microsoft Office PowerPoint</Application>
  <PresentationFormat>Widescreen</PresentationFormat>
  <Paragraphs>218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Tahoma</vt:lpstr>
      <vt:lpstr>Wingdings</vt:lpstr>
      <vt:lpstr>Tema do Office</vt:lpstr>
      <vt:lpstr>Ecologia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35</cp:revision>
  <dcterms:created xsi:type="dcterms:W3CDTF">2020-06-05T12:13:59Z</dcterms:created>
  <dcterms:modified xsi:type="dcterms:W3CDTF">2021-05-15T01:49:31Z</dcterms:modified>
</cp:coreProperties>
</file>