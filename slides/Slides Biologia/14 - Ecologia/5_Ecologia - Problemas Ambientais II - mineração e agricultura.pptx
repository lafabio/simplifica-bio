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7"/>
  </p:notesMasterIdLst>
  <p:sldIdLst>
    <p:sldId id="355" r:id="rId2"/>
    <p:sldId id="296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7" r:id="rId13"/>
    <p:sldId id="298" r:id="rId14"/>
    <p:sldId id="299" r:id="rId15"/>
    <p:sldId id="300" r:id="rId16"/>
    <p:sldId id="301" r:id="rId17"/>
    <p:sldId id="303" r:id="rId18"/>
    <p:sldId id="309" r:id="rId19"/>
    <p:sldId id="307" r:id="rId20"/>
    <p:sldId id="308" r:id="rId21"/>
    <p:sldId id="304" r:id="rId22"/>
    <p:sldId id="306" r:id="rId23"/>
    <p:sldId id="310" r:id="rId24"/>
    <p:sldId id="311" r:id="rId25"/>
    <p:sldId id="312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B606"/>
    <a:srgbClr val="02A606"/>
    <a:srgbClr val="02D8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1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3F58D1-667F-4B47-894F-F5843460E4F8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DB9BDF-4EC6-4AA0-9559-E66382EE67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786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ço Reservado para Imagem de Slide 1">
            <a:extLst>
              <a:ext uri="{FF2B5EF4-FFF2-40B4-BE49-F238E27FC236}">
                <a16:creationId xmlns:a16="http://schemas.microsoft.com/office/drawing/2014/main" id="{6FCF0F94-29AC-465E-A998-F8D365D2E96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Espaço Reservado para Anotações 2">
            <a:extLst>
              <a:ext uri="{FF2B5EF4-FFF2-40B4-BE49-F238E27FC236}">
                <a16:creationId xmlns:a16="http://schemas.microsoft.com/office/drawing/2014/main" id="{C61F8899-E827-4316-B94F-42FC8566DAE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51204" name="Espaço Reservado para Número de Slide 3">
            <a:extLst>
              <a:ext uri="{FF2B5EF4-FFF2-40B4-BE49-F238E27FC236}">
                <a16:creationId xmlns:a16="http://schemas.microsoft.com/office/drawing/2014/main" id="{3683B1D0-C8D7-4E66-812C-CFD2567BC0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008354B-7AC6-4290-9DB1-7E48F1C79E6C}" type="slidenum">
              <a:rPr lang="pt-BR" altLang="pt-BR"/>
              <a:pPr>
                <a:spcBef>
                  <a:spcPct val="0"/>
                </a:spcBef>
              </a:pPr>
              <a:t>2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ço Reservado para Imagem de Slide 1">
            <a:extLst>
              <a:ext uri="{FF2B5EF4-FFF2-40B4-BE49-F238E27FC236}">
                <a16:creationId xmlns:a16="http://schemas.microsoft.com/office/drawing/2014/main" id="{3E6FC84F-7CF3-4273-98F2-039189FBEB1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Espaço Reservado para Anotações 2">
            <a:extLst>
              <a:ext uri="{FF2B5EF4-FFF2-40B4-BE49-F238E27FC236}">
                <a16:creationId xmlns:a16="http://schemas.microsoft.com/office/drawing/2014/main" id="{BB4FC1BA-AA92-4CBF-98B5-BF936E71F75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53252" name="Espaço Reservado para Número de Slide 3">
            <a:extLst>
              <a:ext uri="{FF2B5EF4-FFF2-40B4-BE49-F238E27FC236}">
                <a16:creationId xmlns:a16="http://schemas.microsoft.com/office/drawing/2014/main" id="{3700C957-3C61-4F41-9A7D-A52C0426DD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E762976-AAD2-4AE0-BC97-2F5DFF1DE003}" type="slidenum">
              <a:rPr lang="pt-BR" altLang="pt-BR"/>
              <a:pPr>
                <a:spcBef>
                  <a:spcPct val="0"/>
                </a:spcBef>
              </a:pPr>
              <a:t>3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ço Reservado para Imagem de Slide 1">
            <a:extLst>
              <a:ext uri="{FF2B5EF4-FFF2-40B4-BE49-F238E27FC236}">
                <a16:creationId xmlns:a16="http://schemas.microsoft.com/office/drawing/2014/main" id="{9FADFECC-534E-4F81-B75B-BD2BC6996F0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Espaço Reservado para Anotações 2">
            <a:extLst>
              <a:ext uri="{FF2B5EF4-FFF2-40B4-BE49-F238E27FC236}">
                <a16:creationId xmlns:a16="http://schemas.microsoft.com/office/drawing/2014/main" id="{8A8AA7BE-BFE3-4644-950A-DBBD98922EA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55300" name="Espaço Reservado para Número de Slide 3">
            <a:extLst>
              <a:ext uri="{FF2B5EF4-FFF2-40B4-BE49-F238E27FC236}">
                <a16:creationId xmlns:a16="http://schemas.microsoft.com/office/drawing/2014/main" id="{3F3F433B-2796-47FE-BB08-A9E6CBD4F7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09A860C-B7F1-4974-B60B-F0DB7DF4CC1C}" type="slidenum">
              <a:rPr lang="pt-BR" altLang="pt-BR"/>
              <a:pPr>
                <a:spcBef>
                  <a:spcPct val="0"/>
                </a:spcBef>
              </a:pPr>
              <a:t>4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ço Reservado para Imagem de Slide 1">
            <a:extLst>
              <a:ext uri="{FF2B5EF4-FFF2-40B4-BE49-F238E27FC236}">
                <a16:creationId xmlns:a16="http://schemas.microsoft.com/office/drawing/2014/main" id="{079FE959-A6C0-416C-9EB7-66302D3BD4F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Espaço Reservado para Anotações 2">
            <a:extLst>
              <a:ext uri="{FF2B5EF4-FFF2-40B4-BE49-F238E27FC236}">
                <a16:creationId xmlns:a16="http://schemas.microsoft.com/office/drawing/2014/main" id="{D2CB87C5-C63A-475D-AF84-53337CF34F1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57348" name="Espaço Reservado para Número de Slide 3">
            <a:extLst>
              <a:ext uri="{FF2B5EF4-FFF2-40B4-BE49-F238E27FC236}">
                <a16:creationId xmlns:a16="http://schemas.microsoft.com/office/drawing/2014/main" id="{C68B8E04-E0D7-435A-B628-BD144757FF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819E5FF-1D9D-485F-A721-95F39A9E5CBD}" type="slidenum">
              <a:rPr lang="pt-BR" altLang="pt-BR"/>
              <a:pPr>
                <a:spcBef>
                  <a:spcPct val="0"/>
                </a:spcBef>
              </a:pPr>
              <a:t>5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ço Reservado para Imagem de Slide 1">
            <a:extLst>
              <a:ext uri="{FF2B5EF4-FFF2-40B4-BE49-F238E27FC236}">
                <a16:creationId xmlns:a16="http://schemas.microsoft.com/office/drawing/2014/main" id="{C6895BAA-FD8A-41D7-80C9-3C08EBF31AD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Espaço Reservado para Anotações 2">
            <a:extLst>
              <a:ext uri="{FF2B5EF4-FFF2-40B4-BE49-F238E27FC236}">
                <a16:creationId xmlns:a16="http://schemas.microsoft.com/office/drawing/2014/main" id="{7C2BF97B-BED0-4F06-AAF9-362940C5A3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59396" name="Espaço Reservado para Número de Slide 3">
            <a:extLst>
              <a:ext uri="{FF2B5EF4-FFF2-40B4-BE49-F238E27FC236}">
                <a16:creationId xmlns:a16="http://schemas.microsoft.com/office/drawing/2014/main" id="{108670B3-65FA-4233-8F05-C7BC6C8181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8BF31CC-0F53-4930-9B93-05E6E1DE8A2B}" type="slidenum">
              <a:rPr lang="pt-BR" altLang="pt-BR"/>
              <a:pPr>
                <a:spcBef>
                  <a:spcPct val="0"/>
                </a:spcBef>
              </a:pPr>
              <a:t>6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ço Reservado para Imagem de Slide 1">
            <a:extLst>
              <a:ext uri="{FF2B5EF4-FFF2-40B4-BE49-F238E27FC236}">
                <a16:creationId xmlns:a16="http://schemas.microsoft.com/office/drawing/2014/main" id="{A7A77522-E171-4AC6-8DA2-A37295EA351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Espaço Reservado para Anotações 2">
            <a:extLst>
              <a:ext uri="{FF2B5EF4-FFF2-40B4-BE49-F238E27FC236}">
                <a16:creationId xmlns:a16="http://schemas.microsoft.com/office/drawing/2014/main" id="{AB527A7D-B8BB-49E5-9927-264F6215335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61444" name="Espaço Reservado para Número de Slide 3">
            <a:extLst>
              <a:ext uri="{FF2B5EF4-FFF2-40B4-BE49-F238E27FC236}">
                <a16:creationId xmlns:a16="http://schemas.microsoft.com/office/drawing/2014/main" id="{DA270CF3-5F8D-4C2A-A853-78BCFC81F0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0910521-6C23-4F51-B954-F7B102B1B29E}" type="slidenum">
              <a:rPr lang="pt-BR" altLang="pt-BR"/>
              <a:pPr>
                <a:spcBef>
                  <a:spcPct val="0"/>
                </a:spcBef>
              </a:pPr>
              <a:t>7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ço Reservado para Imagem de Slide 1">
            <a:extLst>
              <a:ext uri="{FF2B5EF4-FFF2-40B4-BE49-F238E27FC236}">
                <a16:creationId xmlns:a16="http://schemas.microsoft.com/office/drawing/2014/main" id="{5AB34D5D-F87F-4E7C-8E36-AF863FB3317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Espaço Reservado para Anotações 2">
            <a:extLst>
              <a:ext uri="{FF2B5EF4-FFF2-40B4-BE49-F238E27FC236}">
                <a16:creationId xmlns:a16="http://schemas.microsoft.com/office/drawing/2014/main" id="{8E002FDD-A0D5-409C-894D-F3FDFB5E35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63492" name="Espaço Reservado para Número de Slide 3">
            <a:extLst>
              <a:ext uri="{FF2B5EF4-FFF2-40B4-BE49-F238E27FC236}">
                <a16:creationId xmlns:a16="http://schemas.microsoft.com/office/drawing/2014/main" id="{C90D27BF-B2D7-4157-B400-712A1A8AE7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2926C9F-1AE4-4EC8-9E30-DE91F5A39B4B}" type="slidenum">
              <a:rPr lang="pt-BR" altLang="pt-BR"/>
              <a:pPr>
                <a:spcBef>
                  <a:spcPct val="0"/>
                </a:spcBef>
              </a:pPr>
              <a:t>8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ço Reservado para Imagem de Slide 1">
            <a:extLst>
              <a:ext uri="{FF2B5EF4-FFF2-40B4-BE49-F238E27FC236}">
                <a16:creationId xmlns:a16="http://schemas.microsoft.com/office/drawing/2014/main" id="{FE70673B-E3D8-4177-946E-EEBB6889F2D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Espaço Reservado para Anotações 2">
            <a:extLst>
              <a:ext uri="{FF2B5EF4-FFF2-40B4-BE49-F238E27FC236}">
                <a16:creationId xmlns:a16="http://schemas.microsoft.com/office/drawing/2014/main" id="{81E27735-07FD-4908-B118-AFFCD0085EC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65540" name="Espaço Reservado para Número de Slide 3">
            <a:extLst>
              <a:ext uri="{FF2B5EF4-FFF2-40B4-BE49-F238E27FC236}">
                <a16:creationId xmlns:a16="http://schemas.microsoft.com/office/drawing/2014/main" id="{C59EABDA-8050-45FB-BCD3-EEF179F8E3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DA3AD9E-995F-4D0C-9669-C0D6BB5910FE}" type="slidenum">
              <a:rPr lang="pt-BR" altLang="pt-BR"/>
              <a:pPr>
                <a:spcBef>
                  <a:spcPct val="0"/>
                </a:spcBef>
              </a:pPr>
              <a:t>9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ço Reservado para Imagem de Slide 1">
            <a:extLst>
              <a:ext uri="{FF2B5EF4-FFF2-40B4-BE49-F238E27FC236}">
                <a16:creationId xmlns:a16="http://schemas.microsoft.com/office/drawing/2014/main" id="{9DDD5E36-1C1E-4127-98EC-5A5AFCDB1B8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Espaço Reservado para Anotações 2">
            <a:extLst>
              <a:ext uri="{FF2B5EF4-FFF2-40B4-BE49-F238E27FC236}">
                <a16:creationId xmlns:a16="http://schemas.microsoft.com/office/drawing/2014/main" id="{22F6C2F1-D9E8-49EF-9204-9CC12B1D95A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67588" name="Espaço Reservado para Número de Slide 3">
            <a:extLst>
              <a:ext uri="{FF2B5EF4-FFF2-40B4-BE49-F238E27FC236}">
                <a16:creationId xmlns:a16="http://schemas.microsoft.com/office/drawing/2014/main" id="{79283BD3-022B-4196-B0FD-A2C471441D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916C177-2371-47A9-8189-F9187586115A}" type="slidenum">
              <a:rPr lang="pt-BR" altLang="pt-BR"/>
              <a:pPr>
                <a:spcBef>
                  <a:spcPct val="0"/>
                </a:spcBef>
              </a:pPr>
              <a:t>10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ço Reservado para Imagem de Slide 1">
            <a:extLst>
              <a:ext uri="{FF2B5EF4-FFF2-40B4-BE49-F238E27FC236}">
                <a16:creationId xmlns:a16="http://schemas.microsoft.com/office/drawing/2014/main" id="{9EEAF291-6F35-4B36-BC68-76B8E11DCD0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Espaço Reservado para Anotações 2">
            <a:extLst>
              <a:ext uri="{FF2B5EF4-FFF2-40B4-BE49-F238E27FC236}">
                <a16:creationId xmlns:a16="http://schemas.microsoft.com/office/drawing/2014/main" id="{B9FA16DC-CE0B-496A-A869-25ACA64ADD4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69636" name="Espaço Reservado para Número de Slide 3">
            <a:extLst>
              <a:ext uri="{FF2B5EF4-FFF2-40B4-BE49-F238E27FC236}">
                <a16:creationId xmlns:a16="http://schemas.microsoft.com/office/drawing/2014/main" id="{55AFC456-4CE7-4C20-8964-DCD64E19F5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566A0D2-8333-4E1E-82AF-4CC1E1D900D1}" type="slidenum">
              <a:rPr lang="pt-BR" altLang="pt-BR"/>
              <a:pPr>
                <a:spcBef>
                  <a:spcPct val="0"/>
                </a:spcBef>
              </a:pPr>
              <a:t>11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ço Reservado para Imagem de Slide 1">
            <a:extLst>
              <a:ext uri="{FF2B5EF4-FFF2-40B4-BE49-F238E27FC236}">
                <a16:creationId xmlns:a16="http://schemas.microsoft.com/office/drawing/2014/main" id="{E8D2B698-9387-4DF2-826E-5FD504BE890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Espaço Reservado para Anotações 2">
            <a:extLst>
              <a:ext uri="{FF2B5EF4-FFF2-40B4-BE49-F238E27FC236}">
                <a16:creationId xmlns:a16="http://schemas.microsoft.com/office/drawing/2014/main" id="{F875E414-8AFF-4FD6-8865-A3BF7FE1801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73732" name="Espaço Reservado para Número de Slide 3">
            <a:extLst>
              <a:ext uri="{FF2B5EF4-FFF2-40B4-BE49-F238E27FC236}">
                <a16:creationId xmlns:a16="http://schemas.microsoft.com/office/drawing/2014/main" id="{0A951A8D-05D8-458A-B4F6-7B121DE1EC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EF789F9-0F53-4E6A-B3FE-95FE63DCFFA3}" type="slidenum">
              <a:rPr lang="pt-BR" altLang="pt-BR"/>
              <a:pPr>
                <a:spcBef>
                  <a:spcPct val="0"/>
                </a:spcBef>
              </a:pPr>
              <a:t>12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ço Reservado para Imagem de Slide 1">
            <a:extLst>
              <a:ext uri="{FF2B5EF4-FFF2-40B4-BE49-F238E27FC236}">
                <a16:creationId xmlns:a16="http://schemas.microsoft.com/office/drawing/2014/main" id="{E6707467-ADC8-43FF-9323-303765EC8B8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Espaço Reservado para Anotações 2">
            <a:extLst>
              <a:ext uri="{FF2B5EF4-FFF2-40B4-BE49-F238E27FC236}">
                <a16:creationId xmlns:a16="http://schemas.microsoft.com/office/drawing/2014/main" id="{C66072F0-4575-456B-9CCD-7890257D7D0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75780" name="Espaço Reservado para Número de Slide 3">
            <a:extLst>
              <a:ext uri="{FF2B5EF4-FFF2-40B4-BE49-F238E27FC236}">
                <a16:creationId xmlns:a16="http://schemas.microsoft.com/office/drawing/2014/main" id="{B31C2434-46D0-4AAD-9925-4F9F709E55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CEE208D-DBF4-4D1F-8EE4-BE6CD1B5FFC7}" type="slidenum">
              <a:rPr lang="pt-BR" altLang="pt-BR"/>
              <a:pPr>
                <a:spcBef>
                  <a:spcPct val="0"/>
                </a:spcBef>
              </a:pPr>
              <a:t>13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ço Reservado para Imagem de Slide 1">
            <a:extLst>
              <a:ext uri="{FF2B5EF4-FFF2-40B4-BE49-F238E27FC236}">
                <a16:creationId xmlns:a16="http://schemas.microsoft.com/office/drawing/2014/main" id="{EDE96161-1553-4E23-A494-D091B3D174F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7" name="Espaço Reservado para Anotações 2">
            <a:extLst>
              <a:ext uri="{FF2B5EF4-FFF2-40B4-BE49-F238E27FC236}">
                <a16:creationId xmlns:a16="http://schemas.microsoft.com/office/drawing/2014/main" id="{BCE399A6-5EEE-4FD7-828B-5412893E1C4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77828" name="Espaço Reservado para Número de Slide 3">
            <a:extLst>
              <a:ext uri="{FF2B5EF4-FFF2-40B4-BE49-F238E27FC236}">
                <a16:creationId xmlns:a16="http://schemas.microsoft.com/office/drawing/2014/main" id="{20F12ABF-20B1-4D7B-B4D7-6B5E250B00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C382DF-A5B6-46FF-A083-A27A208E34B1}" type="slidenum">
              <a:rPr lang="pt-BR" altLang="pt-BR"/>
              <a:pPr>
                <a:spcBef>
                  <a:spcPct val="0"/>
                </a:spcBef>
              </a:pPr>
              <a:t>14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ço Reservado para Imagem de Slide 1">
            <a:extLst>
              <a:ext uri="{FF2B5EF4-FFF2-40B4-BE49-F238E27FC236}">
                <a16:creationId xmlns:a16="http://schemas.microsoft.com/office/drawing/2014/main" id="{340B72C5-DE37-43A5-BF79-FFD99F83BB4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9875" name="Espaço Reservado para Anotações 2">
            <a:extLst>
              <a:ext uri="{FF2B5EF4-FFF2-40B4-BE49-F238E27FC236}">
                <a16:creationId xmlns:a16="http://schemas.microsoft.com/office/drawing/2014/main" id="{ED58D40D-CF01-42F2-8588-C003FE3A7F9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79876" name="Espaço Reservado para Número de Slide 3">
            <a:extLst>
              <a:ext uri="{FF2B5EF4-FFF2-40B4-BE49-F238E27FC236}">
                <a16:creationId xmlns:a16="http://schemas.microsoft.com/office/drawing/2014/main" id="{EA90C35A-B5DD-4335-AC0C-B54AD418B7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174BB85-E5AE-474D-9CE0-80EC6D12BA38}" type="slidenum">
              <a:rPr lang="pt-BR" altLang="pt-BR"/>
              <a:pPr>
                <a:spcBef>
                  <a:spcPct val="0"/>
                </a:spcBef>
              </a:pPr>
              <a:t>15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ço Reservado para Imagem de Slide 1">
            <a:extLst>
              <a:ext uri="{FF2B5EF4-FFF2-40B4-BE49-F238E27FC236}">
                <a16:creationId xmlns:a16="http://schemas.microsoft.com/office/drawing/2014/main" id="{5C0E8DB4-9E89-4BA3-8CA6-114196B57EB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Espaço Reservado para Anotações 2">
            <a:extLst>
              <a:ext uri="{FF2B5EF4-FFF2-40B4-BE49-F238E27FC236}">
                <a16:creationId xmlns:a16="http://schemas.microsoft.com/office/drawing/2014/main" id="{C507D81A-DBDB-4FF3-80FC-597BB5ACDAD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81924" name="Espaço Reservado para Número de Slide 3">
            <a:extLst>
              <a:ext uri="{FF2B5EF4-FFF2-40B4-BE49-F238E27FC236}">
                <a16:creationId xmlns:a16="http://schemas.microsoft.com/office/drawing/2014/main" id="{A6F92DBB-5F08-42C0-A1B8-11A41C36D7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CDF744C-3D22-495C-8EDC-97EAC458888B}" type="slidenum">
              <a:rPr lang="pt-BR" altLang="pt-BR"/>
              <a:pPr>
                <a:spcBef>
                  <a:spcPct val="0"/>
                </a:spcBef>
              </a:pPr>
              <a:t>16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ço Reservado para Imagem de Slide 1">
            <a:extLst>
              <a:ext uri="{FF2B5EF4-FFF2-40B4-BE49-F238E27FC236}">
                <a16:creationId xmlns:a16="http://schemas.microsoft.com/office/drawing/2014/main" id="{D587C425-99A0-43A2-A18E-E9EDE3238A8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Espaço Reservado para Anotações 2">
            <a:extLst>
              <a:ext uri="{FF2B5EF4-FFF2-40B4-BE49-F238E27FC236}">
                <a16:creationId xmlns:a16="http://schemas.microsoft.com/office/drawing/2014/main" id="{15066B82-7D79-47A9-A5C1-C10A9600EE8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83972" name="Espaço Reservado para Número de Slide 3">
            <a:extLst>
              <a:ext uri="{FF2B5EF4-FFF2-40B4-BE49-F238E27FC236}">
                <a16:creationId xmlns:a16="http://schemas.microsoft.com/office/drawing/2014/main" id="{0A8F8021-87C7-41FF-A0D6-849371E947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FE69843-8B29-471A-B3A0-ED3EAD56919D}" type="slidenum">
              <a:rPr lang="pt-BR" altLang="pt-BR"/>
              <a:pPr>
                <a:spcBef>
                  <a:spcPct val="0"/>
                </a:spcBef>
              </a:pPr>
              <a:t>17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ço Reservado para Imagem de Slide 1">
            <a:extLst>
              <a:ext uri="{FF2B5EF4-FFF2-40B4-BE49-F238E27FC236}">
                <a16:creationId xmlns:a16="http://schemas.microsoft.com/office/drawing/2014/main" id="{F4BE6BE2-EBBC-4DF3-A5AA-B55B1F156E6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9" name="Espaço Reservado para Anotações 2">
            <a:extLst>
              <a:ext uri="{FF2B5EF4-FFF2-40B4-BE49-F238E27FC236}">
                <a16:creationId xmlns:a16="http://schemas.microsoft.com/office/drawing/2014/main" id="{846D4965-C89B-47DD-88E1-F0CE12A4308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86020" name="Espaço Reservado para Número de Slide 3">
            <a:extLst>
              <a:ext uri="{FF2B5EF4-FFF2-40B4-BE49-F238E27FC236}">
                <a16:creationId xmlns:a16="http://schemas.microsoft.com/office/drawing/2014/main" id="{432297D8-B7EA-40F0-BA1B-0BF7749467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623F473-A844-41A9-A507-825527BA3293}" type="slidenum">
              <a:rPr lang="pt-BR" altLang="pt-BR"/>
              <a:pPr>
                <a:spcBef>
                  <a:spcPct val="0"/>
                </a:spcBef>
              </a:pPr>
              <a:t>18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ço Reservado para Imagem de Slide 1">
            <a:extLst>
              <a:ext uri="{FF2B5EF4-FFF2-40B4-BE49-F238E27FC236}">
                <a16:creationId xmlns:a16="http://schemas.microsoft.com/office/drawing/2014/main" id="{C38CB73D-D4FF-4BB4-AC91-31A2273F1C9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7" name="Espaço Reservado para Anotações 2">
            <a:extLst>
              <a:ext uri="{FF2B5EF4-FFF2-40B4-BE49-F238E27FC236}">
                <a16:creationId xmlns:a16="http://schemas.microsoft.com/office/drawing/2014/main" id="{DB186B9B-36DD-4C8D-9B43-D0124193E74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88068" name="Espaço Reservado para Número de Slide 3">
            <a:extLst>
              <a:ext uri="{FF2B5EF4-FFF2-40B4-BE49-F238E27FC236}">
                <a16:creationId xmlns:a16="http://schemas.microsoft.com/office/drawing/2014/main" id="{88697F8B-FCB1-4E49-879E-8DC76EB35E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30E1CC7-66A2-4E3B-8508-7EDAE46D0DB7}" type="slidenum">
              <a:rPr lang="pt-BR" altLang="pt-BR"/>
              <a:pPr>
                <a:spcBef>
                  <a:spcPct val="0"/>
                </a:spcBef>
              </a:pPr>
              <a:t>19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ço Reservado para Imagem de Slide 1">
            <a:extLst>
              <a:ext uri="{FF2B5EF4-FFF2-40B4-BE49-F238E27FC236}">
                <a16:creationId xmlns:a16="http://schemas.microsoft.com/office/drawing/2014/main" id="{37ADF4CA-9F39-4C00-AD97-B5C86DD96BE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5" name="Espaço Reservado para Anotações 2">
            <a:extLst>
              <a:ext uri="{FF2B5EF4-FFF2-40B4-BE49-F238E27FC236}">
                <a16:creationId xmlns:a16="http://schemas.microsoft.com/office/drawing/2014/main" id="{96FF47A3-BA83-4D66-96AA-AB9D82D9D5B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90116" name="Espaço Reservado para Número de Slide 3">
            <a:extLst>
              <a:ext uri="{FF2B5EF4-FFF2-40B4-BE49-F238E27FC236}">
                <a16:creationId xmlns:a16="http://schemas.microsoft.com/office/drawing/2014/main" id="{00F6F512-2F85-4121-9CC6-32ABB42322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1D7D06A-861F-48AD-A16B-1759910BBC62}" type="slidenum">
              <a:rPr lang="pt-BR" altLang="pt-BR"/>
              <a:pPr>
                <a:spcBef>
                  <a:spcPct val="0"/>
                </a:spcBef>
              </a:pPr>
              <a:t>20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Espaço Reservado para Imagem de Slide 1">
            <a:extLst>
              <a:ext uri="{FF2B5EF4-FFF2-40B4-BE49-F238E27FC236}">
                <a16:creationId xmlns:a16="http://schemas.microsoft.com/office/drawing/2014/main" id="{22AD137B-0D29-4FBA-B559-2C9ABBBA4A9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3" name="Espaço Reservado para Anotações 2">
            <a:extLst>
              <a:ext uri="{FF2B5EF4-FFF2-40B4-BE49-F238E27FC236}">
                <a16:creationId xmlns:a16="http://schemas.microsoft.com/office/drawing/2014/main" id="{49A3E892-BF0A-4DAA-8C98-D4E325BF1E8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92164" name="Espaço Reservado para Número de Slide 3">
            <a:extLst>
              <a:ext uri="{FF2B5EF4-FFF2-40B4-BE49-F238E27FC236}">
                <a16:creationId xmlns:a16="http://schemas.microsoft.com/office/drawing/2014/main" id="{3A405EA5-EBE0-48F6-BC9B-06967A168C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6D3B574-EA03-47B5-9989-C038B7E5234C}" type="slidenum">
              <a:rPr lang="pt-BR" altLang="pt-BR"/>
              <a:pPr>
                <a:spcBef>
                  <a:spcPct val="0"/>
                </a:spcBef>
              </a:pPr>
              <a:t>21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Espaço Reservado para Imagem de Slide 1">
            <a:extLst>
              <a:ext uri="{FF2B5EF4-FFF2-40B4-BE49-F238E27FC236}">
                <a16:creationId xmlns:a16="http://schemas.microsoft.com/office/drawing/2014/main" id="{152A74CB-3723-4E2E-A700-DB7A69E9C55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4211" name="Espaço Reservado para Anotações 2">
            <a:extLst>
              <a:ext uri="{FF2B5EF4-FFF2-40B4-BE49-F238E27FC236}">
                <a16:creationId xmlns:a16="http://schemas.microsoft.com/office/drawing/2014/main" id="{BB6C57E4-D6D1-4471-83B8-9472789D74E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94212" name="Espaço Reservado para Número de Slide 3">
            <a:extLst>
              <a:ext uri="{FF2B5EF4-FFF2-40B4-BE49-F238E27FC236}">
                <a16:creationId xmlns:a16="http://schemas.microsoft.com/office/drawing/2014/main" id="{BD6DB529-8ACB-4262-A022-A7C2B17054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B8BC348-6EEE-45D2-954B-4F34AAB89069}" type="slidenum">
              <a:rPr lang="pt-BR" altLang="pt-BR"/>
              <a:pPr>
                <a:spcBef>
                  <a:spcPct val="0"/>
                </a:spcBef>
              </a:pPr>
              <a:t>22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Espaço Reservado para Imagem de Slide 1">
            <a:extLst>
              <a:ext uri="{FF2B5EF4-FFF2-40B4-BE49-F238E27FC236}">
                <a16:creationId xmlns:a16="http://schemas.microsoft.com/office/drawing/2014/main" id="{9BB2C571-B5DC-41B1-84D1-8CB954BF223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6259" name="Espaço Reservado para Anotações 2">
            <a:extLst>
              <a:ext uri="{FF2B5EF4-FFF2-40B4-BE49-F238E27FC236}">
                <a16:creationId xmlns:a16="http://schemas.microsoft.com/office/drawing/2014/main" id="{FA7972B4-6BC5-4160-A08E-B143346E6BD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96260" name="Espaço Reservado para Número de Slide 3">
            <a:extLst>
              <a:ext uri="{FF2B5EF4-FFF2-40B4-BE49-F238E27FC236}">
                <a16:creationId xmlns:a16="http://schemas.microsoft.com/office/drawing/2014/main" id="{342F23C1-8F8E-4484-AB6B-4EA63E5C97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A477541-862E-442F-AFB5-DC7955896D7A}" type="slidenum">
              <a:rPr lang="pt-BR" altLang="pt-BR"/>
              <a:pPr>
                <a:spcBef>
                  <a:spcPct val="0"/>
                </a:spcBef>
              </a:pPr>
              <a:t>23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Espaço Reservado para Imagem de Slide 1">
            <a:extLst>
              <a:ext uri="{FF2B5EF4-FFF2-40B4-BE49-F238E27FC236}">
                <a16:creationId xmlns:a16="http://schemas.microsoft.com/office/drawing/2014/main" id="{7A1B98C2-6EC2-4D2C-BB3E-9248D6F0F94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8307" name="Espaço Reservado para Anotações 2">
            <a:extLst>
              <a:ext uri="{FF2B5EF4-FFF2-40B4-BE49-F238E27FC236}">
                <a16:creationId xmlns:a16="http://schemas.microsoft.com/office/drawing/2014/main" id="{5DFCB55E-AA23-4751-A89C-EC445D69D42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98308" name="Espaço Reservado para Número de Slide 3">
            <a:extLst>
              <a:ext uri="{FF2B5EF4-FFF2-40B4-BE49-F238E27FC236}">
                <a16:creationId xmlns:a16="http://schemas.microsoft.com/office/drawing/2014/main" id="{6D4AA417-E87A-4999-AA40-7A3CAF1857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F98A151-69AA-4983-BFD1-9EF81EE3604B}" type="slidenum">
              <a:rPr lang="pt-BR" altLang="pt-BR"/>
              <a:pPr>
                <a:spcBef>
                  <a:spcPct val="0"/>
                </a:spcBef>
              </a:pPr>
              <a:t>24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Espaço Reservado para Imagem de Slide 1">
            <a:extLst>
              <a:ext uri="{FF2B5EF4-FFF2-40B4-BE49-F238E27FC236}">
                <a16:creationId xmlns:a16="http://schemas.microsoft.com/office/drawing/2014/main" id="{A14189FE-42BE-41C0-883B-4BB3409F14C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0355" name="Espaço Reservado para Anotações 2">
            <a:extLst>
              <a:ext uri="{FF2B5EF4-FFF2-40B4-BE49-F238E27FC236}">
                <a16:creationId xmlns:a16="http://schemas.microsoft.com/office/drawing/2014/main" id="{1D4170D8-EF6E-4A55-B0D9-90ADDED402A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100356" name="Espaço Reservado para Número de Slide 3">
            <a:extLst>
              <a:ext uri="{FF2B5EF4-FFF2-40B4-BE49-F238E27FC236}">
                <a16:creationId xmlns:a16="http://schemas.microsoft.com/office/drawing/2014/main" id="{033E9640-1C1D-4766-9FFD-FECDAE25AF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50ED474-F774-48E4-B725-3F8FCF73D7AA}" type="slidenum">
              <a:rPr lang="pt-BR" altLang="pt-BR"/>
              <a:pPr>
                <a:spcBef>
                  <a:spcPct val="0"/>
                </a:spcBef>
              </a:pPr>
              <a:t>25</a:t>
            </a:fld>
            <a:endParaRPr lang="pt-BR" alt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0596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236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580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70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0818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2215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5111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972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930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7951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6758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0654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Ecologia - conceito, definições de ecologia, sua importância - InfoEscola">
            <a:extLst>
              <a:ext uri="{FF2B5EF4-FFF2-40B4-BE49-F238E27FC236}">
                <a16:creationId xmlns:a16="http://schemas.microsoft.com/office/drawing/2014/main" id="{F1DACA33-E2AC-4076-B7D4-7374C8682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2435979C-8683-4775-A51B-7B69B8A51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00443"/>
            <a:ext cx="12192000" cy="1316038"/>
          </a:xfr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Ecologia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1B4C986-036F-4177-A597-967B1FA8B789}"/>
              </a:ext>
            </a:extLst>
          </p:cNvPr>
          <p:cNvSpPr txBox="1">
            <a:spLocks/>
          </p:cNvSpPr>
          <p:nvPr/>
        </p:nvSpPr>
        <p:spPr>
          <a:xfrm>
            <a:off x="0" y="2272751"/>
            <a:ext cx="12192000" cy="1244173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5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8000" dirty="0"/>
          </a:p>
          <a:p>
            <a:r>
              <a:rPr lang="pt-BR" sz="3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Problemas Ambientais II</a:t>
            </a:r>
          </a:p>
          <a:p>
            <a:r>
              <a:rPr lang="pt-BR" sz="3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Mineração</a:t>
            </a:r>
          </a:p>
          <a:p>
            <a:r>
              <a:rPr lang="pt-BR" sz="3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Agricultura</a:t>
            </a:r>
          </a:p>
        </p:txBody>
      </p:sp>
    </p:spTree>
    <p:extLst>
      <p:ext uri="{BB962C8B-B14F-4D97-AF65-F5344CB8AC3E}">
        <p14:creationId xmlns:p14="http://schemas.microsoft.com/office/powerpoint/2010/main" val="3082117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CaixaDeTexto 8">
            <a:extLst>
              <a:ext uri="{FF2B5EF4-FFF2-40B4-BE49-F238E27FC236}">
                <a16:creationId xmlns:a16="http://schemas.microsoft.com/office/drawing/2014/main" id="{0F5145FA-94F7-4401-8FC2-297255FE6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50181" name="CaixaDeTexto 6">
            <a:extLst>
              <a:ext uri="{FF2B5EF4-FFF2-40B4-BE49-F238E27FC236}">
                <a16:creationId xmlns:a16="http://schemas.microsoft.com/office/drawing/2014/main" id="{34A81429-B85C-4E32-98C4-2311FE42EA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143000"/>
            <a:ext cx="8715375" cy="557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0100" indent="-3429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b="1" i="1">
                <a:solidFill>
                  <a:srgbClr val="FF0000"/>
                </a:solidFill>
              </a:rPr>
              <a:t>Atividades Mineradoras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b="1" i="1">
                <a:solidFill>
                  <a:srgbClr val="002060"/>
                </a:solidFill>
              </a:rPr>
              <a:t>	Mineração (conceito)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800" b="1" i="1">
              <a:solidFill>
                <a:srgbClr val="002060"/>
              </a:solidFill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pt-BR" altLang="pt-BR" sz="2800"/>
              <a:t>	Mineração é um termo que abrange os processos e atividades industriais cujo objetivo é a extração de substâncias minerais a partir de depósitos ou massas minerais.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800"/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pt-BR" altLang="pt-BR" sz="2800"/>
              <a:t>	</a:t>
            </a:r>
            <a:r>
              <a:rPr lang="pt-BR" altLang="pt-BR" sz="2800" b="1"/>
              <a:t>São exemplos de atividades de mineração: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800"/>
          </a:p>
          <a:p>
            <a:pPr lvl="1" algn="just"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pt-BR" altLang="pt-BR"/>
              <a:t>	Extração de ferro, manganês, bauxita, ouro, prata,...</a:t>
            </a:r>
          </a:p>
          <a:p>
            <a:pPr lvl="1" algn="just"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pt-BR" altLang="pt-BR"/>
              <a:t>  Captação de água;</a:t>
            </a:r>
          </a:p>
          <a:p>
            <a:pPr lvl="1" algn="just"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pt-BR" altLang="pt-BR"/>
              <a:t>  Extração de calcário, granito e quartzo.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280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BED41BA-07C6-4E7B-854A-7C31619D3D34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7D2AA786-55BE-493E-9395-A35BAAD537D6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Mineração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CaixaDeTexto 8">
            <a:extLst>
              <a:ext uri="{FF2B5EF4-FFF2-40B4-BE49-F238E27FC236}">
                <a16:creationId xmlns:a16="http://schemas.microsoft.com/office/drawing/2014/main" id="{8539A86F-8D96-407E-82C5-7718F27111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52229" name="CaixaDeTexto 6">
            <a:extLst>
              <a:ext uri="{FF2B5EF4-FFF2-40B4-BE49-F238E27FC236}">
                <a16:creationId xmlns:a16="http://schemas.microsoft.com/office/drawing/2014/main" id="{61FEA973-8277-4CF9-8303-F5972F835B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143000"/>
            <a:ext cx="8715375" cy="273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b="1" i="1">
                <a:solidFill>
                  <a:srgbClr val="FF0000"/>
                </a:solidFill>
              </a:rPr>
              <a:t>Atividades Mineradoras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b="1" i="1">
                <a:solidFill>
                  <a:srgbClr val="002060"/>
                </a:solidFill>
              </a:rPr>
              <a:t>	Importância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800" b="1" i="1">
              <a:solidFill>
                <a:srgbClr val="002060"/>
              </a:solidFill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pt-BR" altLang="pt-BR" sz="2800"/>
              <a:t>	A atividade mineral é responsável, direta ou indiretamente pela produção de todos os bens de consumo e infra-estrutura da sociedade moderna.</a:t>
            </a:r>
          </a:p>
        </p:txBody>
      </p:sp>
      <p:pic>
        <p:nvPicPr>
          <p:cNvPr id="52230" name="Picture 2" descr="http://g1.globo.com/Noticias/Economia/foto/0,,16905766-EX,00.jpg">
            <a:extLst>
              <a:ext uri="{FF2B5EF4-FFF2-40B4-BE49-F238E27FC236}">
                <a16:creationId xmlns:a16="http://schemas.microsoft.com/office/drawing/2014/main" id="{47830A1E-D74C-44A1-9DBC-3B137DFE0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375" y="4241800"/>
            <a:ext cx="3570288" cy="22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31" name="Picture 4" descr="http://www.arcoweb.com.br/arquitetura/fotos/811/ft1.jpg">
            <a:extLst>
              <a:ext uri="{FF2B5EF4-FFF2-40B4-BE49-F238E27FC236}">
                <a16:creationId xmlns:a16="http://schemas.microsoft.com/office/drawing/2014/main" id="{B378922D-D465-432D-A5E5-767F1297E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0313" y="4214813"/>
            <a:ext cx="361315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AD300C7F-A4DE-4BC6-93F8-951354B6A4CC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11566C21-D395-412A-9785-551BB9458C0B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Mineração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CaixaDeTexto 8">
            <a:extLst>
              <a:ext uri="{FF2B5EF4-FFF2-40B4-BE49-F238E27FC236}">
                <a16:creationId xmlns:a16="http://schemas.microsoft.com/office/drawing/2014/main" id="{60FEECAA-3B68-4726-8471-7470045E95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4101" name="CaixaDeTexto 6">
            <a:extLst>
              <a:ext uri="{FF2B5EF4-FFF2-40B4-BE49-F238E27FC236}">
                <a16:creationId xmlns:a16="http://schemas.microsoft.com/office/drawing/2014/main" id="{B289A477-E30A-48B0-92CD-65A20D1DD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143000"/>
            <a:ext cx="8715375" cy="317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Atividades Mineradoras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Importância </a:t>
            </a:r>
          </a:p>
          <a:p>
            <a:pPr marL="342900" indent="-342900" eaLnBrk="1" hangingPunct="1">
              <a:defRPr/>
            </a:pPr>
            <a:endParaRPr lang="pt-BR" sz="800" b="1" i="1" dirty="0">
              <a:solidFill>
                <a:srgbClr val="002060"/>
              </a:solidFill>
              <a:latin typeface="Calibri" pitchFamily="34" charset="0"/>
            </a:endParaRPr>
          </a:p>
          <a:p>
            <a:pPr algn="just" eaLnBrk="1" hangingPunct="1">
              <a:defRPr/>
            </a:pPr>
            <a:r>
              <a:rPr lang="pt-BR" sz="2800" dirty="0">
                <a:latin typeface="+mn-lt"/>
              </a:rPr>
              <a:t>Bens minerais como calcário, fosfato e potássio são essenciais para possibilitar uma maior produtividade agrícola/hectare, contribuindo para a redução do desmatamento.</a:t>
            </a:r>
          </a:p>
        </p:txBody>
      </p:sp>
      <p:pic>
        <p:nvPicPr>
          <p:cNvPr id="54278" name="Picture 2" descr="http://www.dpv24.iciag.ufu.br/Silicio/Fontes%20de%20Si/Calagem%20sobre%20Palha%20guaira%2002.JPG">
            <a:extLst>
              <a:ext uri="{FF2B5EF4-FFF2-40B4-BE49-F238E27FC236}">
                <a16:creationId xmlns:a16="http://schemas.microsoft.com/office/drawing/2014/main" id="{7FA8D9C9-67C7-4168-BFF1-CCB0ABEB6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25" y="4549775"/>
            <a:ext cx="3078163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79" name="Picture 4" descr="http://img.alibaba.com/photo/109312930/NP_fertilizer_Nitrogen_Phosphorus.jpg">
            <a:extLst>
              <a:ext uri="{FF2B5EF4-FFF2-40B4-BE49-F238E27FC236}">
                <a16:creationId xmlns:a16="http://schemas.microsoft.com/office/drawing/2014/main" id="{9986C50E-0946-4816-9982-1873A67F4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25" y="4500563"/>
            <a:ext cx="3143250" cy="235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47A6AA74-6B7C-455B-8ECD-A4B67F80A7A2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F13E410A-4E4D-4A29-A89E-E1CF2006DDF6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Mineração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CaixaDeTexto 8">
            <a:extLst>
              <a:ext uri="{FF2B5EF4-FFF2-40B4-BE49-F238E27FC236}">
                <a16:creationId xmlns:a16="http://schemas.microsoft.com/office/drawing/2014/main" id="{81930FEA-8311-49C3-B944-0482D0DA63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4101" name="CaixaDeTexto 6">
            <a:extLst>
              <a:ext uri="{FF2B5EF4-FFF2-40B4-BE49-F238E27FC236}">
                <a16:creationId xmlns:a16="http://schemas.microsoft.com/office/drawing/2014/main" id="{41B2C696-2F9A-4F8D-8204-D1BFB1D32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143000"/>
            <a:ext cx="8715375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Atividades Mineradoras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Impactos sobre os recursos hídricos</a:t>
            </a:r>
            <a:endParaRPr lang="pt-BR" sz="2800" dirty="0">
              <a:latin typeface="+mn-lt"/>
            </a:endParaRPr>
          </a:p>
        </p:txBody>
      </p:sp>
      <p:pic>
        <p:nvPicPr>
          <p:cNvPr id="56326" name="Picture 2">
            <a:extLst>
              <a:ext uri="{FF2B5EF4-FFF2-40B4-BE49-F238E27FC236}">
                <a16:creationId xmlns:a16="http://schemas.microsoft.com/office/drawing/2014/main" id="{0D0D2D92-D398-463F-9205-BD02C3D94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313" y="3143250"/>
            <a:ext cx="86407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29AD2118-8E89-4644-8E18-BAF15956C40A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F9FA3B5-2973-49E4-B3B7-76B98AD5E16D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Mineração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CaixaDeTexto 8">
            <a:extLst>
              <a:ext uri="{FF2B5EF4-FFF2-40B4-BE49-F238E27FC236}">
                <a16:creationId xmlns:a16="http://schemas.microsoft.com/office/drawing/2014/main" id="{DB5C4923-7A18-4CB5-82A5-A364CE3B62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4101" name="CaixaDeTexto 6">
            <a:extLst>
              <a:ext uri="{FF2B5EF4-FFF2-40B4-BE49-F238E27FC236}">
                <a16:creationId xmlns:a16="http://schemas.microsoft.com/office/drawing/2014/main" id="{D5E9C543-5E3D-4392-AA43-A57C3594AF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0" y="928688"/>
            <a:ext cx="8429625" cy="1262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Atividades Mineradoras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4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Impactos sobre os recursos hídricos</a:t>
            </a:r>
            <a:endParaRPr lang="pt-BR" sz="2800" dirty="0">
              <a:latin typeface="+mn-lt"/>
            </a:endParaRPr>
          </a:p>
        </p:txBody>
      </p:sp>
      <p:pic>
        <p:nvPicPr>
          <p:cNvPr id="58374" name="Picture 2">
            <a:extLst>
              <a:ext uri="{FF2B5EF4-FFF2-40B4-BE49-F238E27FC236}">
                <a16:creationId xmlns:a16="http://schemas.microsoft.com/office/drawing/2014/main" id="{3646AD9A-81CC-47B6-B6FF-CA378569E2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5563" y="2162175"/>
            <a:ext cx="6929437" cy="469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52963143-85D0-4B2F-9321-77C158A7007C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211BDCB1-403E-4E41-8EE6-CC7E11C758C0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Mineração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CaixaDeTexto 8">
            <a:extLst>
              <a:ext uri="{FF2B5EF4-FFF2-40B4-BE49-F238E27FC236}">
                <a16:creationId xmlns:a16="http://schemas.microsoft.com/office/drawing/2014/main" id="{AE67900F-5173-4C01-A5F0-F141E572AF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4101" name="CaixaDeTexto 6">
            <a:extLst>
              <a:ext uri="{FF2B5EF4-FFF2-40B4-BE49-F238E27FC236}">
                <a16:creationId xmlns:a16="http://schemas.microsoft.com/office/drawing/2014/main" id="{37B1EE62-C6A8-49CD-8B8C-5DC65B441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0" y="928688"/>
            <a:ext cx="8429625" cy="1262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Atividades Mineradoras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4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Desmatamentos</a:t>
            </a:r>
            <a:endParaRPr lang="pt-BR" sz="2800" dirty="0">
              <a:latin typeface="+mn-lt"/>
            </a:endParaRPr>
          </a:p>
        </p:txBody>
      </p:sp>
      <p:pic>
        <p:nvPicPr>
          <p:cNvPr id="60422" name="Picture 2">
            <a:extLst>
              <a:ext uri="{FF2B5EF4-FFF2-40B4-BE49-F238E27FC236}">
                <a16:creationId xmlns:a16="http://schemas.microsoft.com/office/drawing/2014/main" id="{F7EFCB62-AC76-4259-BA42-5FE64E0A12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2357438"/>
            <a:ext cx="8532813" cy="450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894BC819-7E5D-4488-8FCF-5EB83E0EF3E2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B306761D-2143-4A6E-A539-51F02326BD23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Mineração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CaixaDeTexto 8">
            <a:extLst>
              <a:ext uri="{FF2B5EF4-FFF2-40B4-BE49-F238E27FC236}">
                <a16:creationId xmlns:a16="http://schemas.microsoft.com/office/drawing/2014/main" id="{FAEB24B8-FC96-4C08-B784-C8F4C64A3A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4101" name="CaixaDeTexto 6">
            <a:extLst>
              <a:ext uri="{FF2B5EF4-FFF2-40B4-BE49-F238E27FC236}">
                <a16:creationId xmlns:a16="http://schemas.microsoft.com/office/drawing/2014/main" id="{3909F7BF-2721-438F-9E43-F4CAA8CA79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0" y="928688"/>
            <a:ext cx="8429625" cy="1262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Atividades Mineradoras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4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Desmatamentos</a:t>
            </a:r>
            <a:endParaRPr lang="pt-BR" sz="2800" dirty="0">
              <a:latin typeface="+mn-lt"/>
            </a:endParaRPr>
          </a:p>
        </p:txBody>
      </p:sp>
      <p:pic>
        <p:nvPicPr>
          <p:cNvPr id="62470" name="Picture 2">
            <a:extLst>
              <a:ext uri="{FF2B5EF4-FFF2-40B4-BE49-F238E27FC236}">
                <a16:creationId xmlns:a16="http://schemas.microsoft.com/office/drawing/2014/main" id="{3C83DE38-82F8-4044-BE8B-8A988865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813" y="2109788"/>
            <a:ext cx="7286625" cy="4748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EFF40400-163B-4FDD-AB4C-B1702CCDDFA9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78C7206-7BA1-4134-83C8-FA39113BF8D5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Mineração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CaixaDeTexto 8">
            <a:extLst>
              <a:ext uri="{FF2B5EF4-FFF2-40B4-BE49-F238E27FC236}">
                <a16:creationId xmlns:a16="http://schemas.microsoft.com/office/drawing/2014/main" id="{C30D3B69-30D6-4927-B565-669A6472F8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4101" name="CaixaDeTexto 6">
            <a:extLst>
              <a:ext uri="{FF2B5EF4-FFF2-40B4-BE49-F238E27FC236}">
                <a16:creationId xmlns:a16="http://schemas.microsoft.com/office/drawing/2014/main" id="{D327F11A-B761-461E-AB24-DF5E3113BB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0" y="928688"/>
            <a:ext cx="8429625" cy="1262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Atividades Mineradoras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4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Alteração do relevo e da paisagem</a:t>
            </a:r>
            <a:endParaRPr lang="pt-BR" sz="2800" dirty="0">
              <a:latin typeface="+mn-lt"/>
            </a:endParaRPr>
          </a:p>
        </p:txBody>
      </p:sp>
      <p:pic>
        <p:nvPicPr>
          <p:cNvPr id="64518" name="Picture 2">
            <a:extLst>
              <a:ext uri="{FF2B5EF4-FFF2-40B4-BE49-F238E27FC236}">
                <a16:creationId xmlns:a16="http://schemas.microsoft.com/office/drawing/2014/main" id="{5595B49E-5A8B-41E6-93A8-086E37E819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2338388"/>
            <a:ext cx="8643938" cy="4519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AD24F8AB-26CB-43FB-9D98-7CDEF7A9990B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253C0937-C27E-4A26-B58F-381526F9262B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Mineração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CaixaDeTexto 8">
            <a:extLst>
              <a:ext uri="{FF2B5EF4-FFF2-40B4-BE49-F238E27FC236}">
                <a16:creationId xmlns:a16="http://schemas.microsoft.com/office/drawing/2014/main" id="{1729D584-AD43-4688-8361-E92C418E10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4101" name="CaixaDeTexto 6">
            <a:extLst>
              <a:ext uri="{FF2B5EF4-FFF2-40B4-BE49-F238E27FC236}">
                <a16:creationId xmlns:a16="http://schemas.microsoft.com/office/drawing/2014/main" id="{6E8DB5F4-3EED-4601-B036-58B784722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0" y="928688"/>
            <a:ext cx="8429625" cy="1262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Atividades Mineradoras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4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Alteração do relevo e da paisagem</a:t>
            </a:r>
            <a:endParaRPr lang="pt-BR" sz="2800" dirty="0">
              <a:latin typeface="+mn-lt"/>
            </a:endParaRPr>
          </a:p>
        </p:txBody>
      </p:sp>
      <p:pic>
        <p:nvPicPr>
          <p:cNvPr id="66566" name="Picture 3">
            <a:extLst>
              <a:ext uri="{FF2B5EF4-FFF2-40B4-BE49-F238E27FC236}">
                <a16:creationId xmlns:a16="http://schemas.microsoft.com/office/drawing/2014/main" id="{134BEC81-FEF2-4D50-9DB7-3BD28023D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0" y="2147888"/>
            <a:ext cx="7929563" cy="471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tângulo de cantos arredondados 8">
            <a:extLst>
              <a:ext uri="{FF2B5EF4-FFF2-40B4-BE49-F238E27FC236}">
                <a16:creationId xmlns:a16="http://schemas.microsoft.com/office/drawing/2014/main" id="{CEC765A7-0011-42B5-8230-1B70FB3992DC}"/>
              </a:ext>
            </a:extLst>
          </p:cNvPr>
          <p:cNvSpPr/>
          <p:nvPr/>
        </p:nvSpPr>
        <p:spPr>
          <a:xfrm>
            <a:off x="8024813" y="1000125"/>
            <a:ext cx="2214562" cy="92868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pt-BR" sz="2400" dirty="0"/>
              <a:t>Serra do curral 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40CF2BB-EDDF-493B-938D-3AC5A3CCB17A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599FF839-E63F-4676-BBCC-DC0E60BEFC83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Mineração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CaixaDeTexto 8">
            <a:extLst>
              <a:ext uri="{FF2B5EF4-FFF2-40B4-BE49-F238E27FC236}">
                <a16:creationId xmlns:a16="http://schemas.microsoft.com/office/drawing/2014/main" id="{0802002C-C5F3-4500-B0F2-B11A11C2DA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4101" name="CaixaDeTexto 6">
            <a:extLst>
              <a:ext uri="{FF2B5EF4-FFF2-40B4-BE49-F238E27FC236}">
                <a16:creationId xmlns:a16="http://schemas.microsoft.com/office/drawing/2014/main" id="{5C242576-59CB-4072-AC6D-93D6423C74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0" y="928688"/>
            <a:ext cx="8429625" cy="1754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Atividades Mineradoras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4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Destruição de habitats, espécies e redução da biodiversidade.</a:t>
            </a:r>
            <a:endParaRPr lang="pt-BR" sz="2800" dirty="0">
              <a:latin typeface="+mn-lt"/>
            </a:endParaRPr>
          </a:p>
        </p:txBody>
      </p:sp>
      <p:pic>
        <p:nvPicPr>
          <p:cNvPr id="68614" name="Picture 2" descr="http://4.bp.blogspot.com/_fEgmBvJqfyU/S8M_YIgufSI/AAAAAAAAAAo/Qo4EbwbE6bk/s640/desmatamento.jpg">
            <a:extLst>
              <a:ext uri="{FF2B5EF4-FFF2-40B4-BE49-F238E27FC236}">
                <a16:creationId xmlns:a16="http://schemas.microsoft.com/office/drawing/2014/main" id="{D78DB326-6A83-4519-A8F3-54C476C1F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3071813"/>
            <a:ext cx="4286250" cy="321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5" name="Picture 6" descr="http://www.diarioliberdade.org/archivos/imagenes/230710_mina.jpg">
            <a:extLst>
              <a:ext uri="{FF2B5EF4-FFF2-40B4-BE49-F238E27FC236}">
                <a16:creationId xmlns:a16="http://schemas.microsoft.com/office/drawing/2014/main" id="{EAD6B5B3-3328-4474-A8FC-3AA1F4A48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357438"/>
            <a:ext cx="428625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E33B8476-2B7A-4FF5-8A8E-2D5D5114C2E4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CE1D1C19-F4B5-4D80-A3CC-1338A9A5FE5A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Mineração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CaixaDeTexto 8">
            <a:extLst>
              <a:ext uri="{FF2B5EF4-FFF2-40B4-BE49-F238E27FC236}">
                <a16:creationId xmlns:a16="http://schemas.microsoft.com/office/drawing/2014/main" id="{56DAF03D-6EF6-4B76-81A1-E713C0E31A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72709" name="CaixaDeTexto 6">
            <a:extLst>
              <a:ext uri="{FF2B5EF4-FFF2-40B4-BE49-F238E27FC236}">
                <a16:creationId xmlns:a16="http://schemas.microsoft.com/office/drawing/2014/main" id="{4A8C7A1F-0A29-4A22-9115-B638435DAA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143000"/>
            <a:ext cx="8715375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b="1" i="1">
                <a:solidFill>
                  <a:srgbClr val="FF0000"/>
                </a:solidFill>
              </a:rPr>
              <a:t>Agricultura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2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b="1" i="1">
                <a:solidFill>
                  <a:srgbClr val="002060"/>
                </a:solidFill>
              </a:rPr>
              <a:t>	Conceito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800" b="1" i="1">
              <a:solidFill>
                <a:srgbClr val="002060"/>
              </a:solidFill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pt-BR" altLang="pt-BR" sz="2800"/>
              <a:t>	Agricultura é o conjunto de técnicas utilizadas para cultivar plantas com o objetivo de obter alimentos, fibras, energia, matéria-prima para roupas, construções, medicamentos, ferramentas, ou apenas para contemplação estética.</a:t>
            </a:r>
          </a:p>
        </p:txBody>
      </p:sp>
      <p:pic>
        <p:nvPicPr>
          <p:cNvPr id="72710" name="Picture 2" descr="http://www.africanidade.com/content_images/5/Agricultura1.jpg">
            <a:extLst>
              <a:ext uri="{FF2B5EF4-FFF2-40B4-BE49-F238E27FC236}">
                <a16:creationId xmlns:a16="http://schemas.microsoft.com/office/drawing/2014/main" id="{B183F794-87C7-4898-83FB-012E6A9E2E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8563" y="4857750"/>
            <a:ext cx="5000625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F1050FF2-E3DC-42CA-82C1-B6C1CD3F5E5A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Agricultura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6DBD152-4FA4-4485-B049-982EC2655126}"/>
              </a:ext>
            </a:extLst>
          </p:cNvPr>
          <p:cNvSpPr/>
          <p:nvPr/>
        </p:nvSpPr>
        <p:spPr>
          <a:xfrm>
            <a:off x="152400" y="15240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1DB59BDF-2C5D-40EB-9549-8E658DE716E0}"/>
              </a:ext>
            </a:extLst>
          </p:cNvPr>
          <p:cNvSpPr txBox="1">
            <a:spLocks/>
          </p:cNvSpPr>
          <p:nvPr/>
        </p:nvSpPr>
        <p:spPr>
          <a:xfrm>
            <a:off x="728798" y="1729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Agricultura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CaixaDeTexto 8">
            <a:extLst>
              <a:ext uri="{FF2B5EF4-FFF2-40B4-BE49-F238E27FC236}">
                <a16:creationId xmlns:a16="http://schemas.microsoft.com/office/drawing/2014/main" id="{70CB75D9-AEEE-48E9-8E66-0BABC2198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4101" name="CaixaDeTexto 6">
            <a:extLst>
              <a:ext uri="{FF2B5EF4-FFF2-40B4-BE49-F238E27FC236}">
                <a16:creationId xmlns:a16="http://schemas.microsoft.com/office/drawing/2014/main" id="{ED7E1690-5B1E-4561-9322-EAEBE1A1D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143000"/>
            <a:ext cx="8715375" cy="350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Agricultura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2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O papel do Brasil</a:t>
            </a:r>
          </a:p>
          <a:p>
            <a:pPr marL="342900" indent="-342900" eaLnBrk="1" hangingPunct="1">
              <a:defRPr/>
            </a:pPr>
            <a:endParaRPr lang="pt-BR" sz="800" b="1" i="1" dirty="0">
              <a:solidFill>
                <a:srgbClr val="002060"/>
              </a:solidFill>
              <a:latin typeface="Calibri" pitchFamily="34" charset="0"/>
            </a:endParaRPr>
          </a:p>
          <a:p>
            <a:pPr marL="342900" indent="-342900" algn="just" eaLnBrk="1" hangingPunct="1">
              <a:defRPr/>
            </a:pPr>
            <a:r>
              <a:rPr lang="pt-BR" sz="2800" dirty="0">
                <a:latin typeface="+mn-lt"/>
              </a:rPr>
              <a:t>	Segundo a FAO (Organização das Nações Unidas para Agricultura e Alimentação), o Brasil está com a maior disponibilidade de terras agricultáveis sustentáveis. Essa posição implica maior responsabilidade como fornecedor estratégico de produtos agrícolas. 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061CCD5-3A22-44FB-9858-986267A04987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BDB03695-4A68-4903-8B36-D00AC324B6F1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Agricultura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CaixaDeTexto 8">
            <a:extLst>
              <a:ext uri="{FF2B5EF4-FFF2-40B4-BE49-F238E27FC236}">
                <a16:creationId xmlns:a16="http://schemas.microsoft.com/office/drawing/2014/main" id="{0607C293-920D-4991-BEA5-5E7399971C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4101" name="CaixaDeTexto 6">
            <a:extLst>
              <a:ext uri="{FF2B5EF4-FFF2-40B4-BE49-F238E27FC236}">
                <a16:creationId xmlns:a16="http://schemas.microsoft.com/office/drawing/2014/main" id="{070D51AE-2E3B-44A8-959D-11FA03BB9F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143000"/>
            <a:ext cx="8715375" cy="4494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Agricultura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2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O papel do Brasil</a:t>
            </a:r>
          </a:p>
          <a:p>
            <a:pPr marL="342900" indent="-342900" eaLnBrk="1" hangingPunct="1">
              <a:defRPr/>
            </a:pPr>
            <a:endParaRPr lang="pt-BR" sz="800" b="1" i="1" dirty="0">
              <a:solidFill>
                <a:srgbClr val="002060"/>
              </a:solidFill>
              <a:latin typeface="Calibri" pitchFamily="34" charset="0"/>
            </a:endParaRPr>
          </a:p>
          <a:p>
            <a:pPr marL="342900" indent="-342900" algn="just" eaLnBrk="1" hangingPunct="1">
              <a:defRPr/>
            </a:pPr>
            <a:r>
              <a:rPr lang="pt-BR" sz="800" dirty="0">
                <a:latin typeface="Arial" charset="0"/>
              </a:rPr>
              <a:t>	</a:t>
            </a:r>
          </a:p>
          <a:p>
            <a:pPr marL="342900" indent="-342900" algn="just" eaLnBrk="1" hangingPunct="1">
              <a:defRPr/>
            </a:pPr>
            <a:r>
              <a:rPr lang="pt-BR" sz="2800" dirty="0">
                <a:latin typeface="+mn-lt"/>
              </a:rPr>
              <a:t>	Em 2008 o Brasil exportou 33,3 bilhões de dólares em alimentos processados; em 2009, a despeito da crise mundial, a ABIA estima que as vendas externas devam ficar em torno de 30 bilhões de dólares, o equivalente a 23% de toda a indústria brasileira.</a:t>
            </a:r>
          </a:p>
          <a:p>
            <a:pPr marL="342900" indent="-342900" algn="just" eaLnBrk="1" hangingPunct="1">
              <a:defRPr/>
            </a:pPr>
            <a:endParaRPr lang="pt-BR" sz="2800" dirty="0">
              <a:latin typeface="+mn-lt"/>
            </a:endParaRPr>
          </a:p>
          <a:p>
            <a:pPr marL="342900" indent="-342900" algn="just" eaLnBrk="1" hangingPunct="1">
              <a:defRPr/>
            </a:pPr>
            <a:r>
              <a:rPr lang="pt-BR" sz="2800" dirty="0">
                <a:latin typeface="+mn-lt"/>
              </a:rPr>
              <a:t>	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706836D-850E-4CF3-96A3-7F76E1EB5A99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75CFE035-FDA1-42E2-9534-B4834729B4A4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Agricultura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CaixaDeTexto 8">
            <a:extLst>
              <a:ext uri="{FF2B5EF4-FFF2-40B4-BE49-F238E27FC236}">
                <a16:creationId xmlns:a16="http://schemas.microsoft.com/office/drawing/2014/main" id="{47C3C19F-F1B6-4734-B79E-2994B53273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4101" name="CaixaDeTexto 6">
            <a:extLst>
              <a:ext uri="{FF2B5EF4-FFF2-40B4-BE49-F238E27FC236}">
                <a16:creationId xmlns:a16="http://schemas.microsoft.com/office/drawing/2014/main" id="{3B86782F-BF68-4F69-A124-D0C2D3DC22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143000"/>
            <a:ext cx="8715375" cy="535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Agricultura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2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A fome no mundo é devido à falta de alimento?</a:t>
            </a:r>
          </a:p>
          <a:p>
            <a:pPr marL="342900" indent="-342900" eaLnBrk="1" hangingPunct="1">
              <a:defRPr/>
            </a:pPr>
            <a:endParaRPr lang="pt-BR" sz="800" b="1" i="1" dirty="0">
              <a:solidFill>
                <a:srgbClr val="002060"/>
              </a:solidFill>
              <a:latin typeface="Calibri" pitchFamily="34" charset="0"/>
            </a:endParaRPr>
          </a:p>
          <a:p>
            <a:pPr marL="342900" indent="-342900" algn="just" eaLnBrk="1" hangingPunct="1">
              <a:defRPr/>
            </a:pPr>
            <a:r>
              <a:rPr lang="pt-BR" sz="800" dirty="0">
                <a:latin typeface="Arial" charset="0"/>
              </a:rPr>
              <a:t>	</a:t>
            </a:r>
          </a:p>
          <a:p>
            <a:pPr marL="342900" indent="-342900" algn="just" eaLnBrk="1" hangingPunct="1">
              <a:defRPr/>
            </a:pPr>
            <a:r>
              <a:rPr lang="pt-BR" sz="2800" dirty="0">
                <a:latin typeface="+mn-lt"/>
              </a:rPr>
              <a:t>	 O </a:t>
            </a:r>
            <a:r>
              <a:rPr lang="pt-BR" sz="2800" b="1" dirty="0">
                <a:latin typeface="+mn-lt"/>
              </a:rPr>
              <a:t>Brasil </a:t>
            </a:r>
            <a:r>
              <a:rPr lang="pt-BR" sz="2800" dirty="0">
                <a:latin typeface="+mn-lt"/>
              </a:rPr>
              <a:t>é um país de </a:t>
            </a:r>
            <a:r>
              <a:rPr lang="pt-BR" sz="2800" b="1" dirty="0">
                <a:latin typeface="+mn-lt"/>
              </a:rPr>
              <a:t>contrastes</a:t>
            </a:r>
            <a:r>
              <a:rPr lang="pt-BR" sz="2800" dirty="0">
                <a:latin typeface="+mn-lt"/>
              </a:rPr>
              <a:t>: é o </a:t>
            </a:r>
            <a:r>
              <a:rPr lang="pt-BR" sz="2800" b="1" dirty="0">
                <a:latin typeface="+mn-lt"/>
              </a:rPr>
              <a:t>4º</a:t>
            </a:r>
            <a:r>
              <a:rPr lang="pt-BR" sz="2800" dirty="0">
                <a:latin typeface="+mn-lt"/>
              </a:rPr>
              <a:t> produtor mundial de </a:t>
            </a:r>
            <a:r>
              <a:rPr lang="pt-BR" sz="2800" b="1" dirty="0">
                <a:latin typeface="+mn-lt"/>
              </a:rPr>
              <a:t>alimentos</a:t>
            </a:r>
            <a:r>
              <a:rPr lang="pt-BR" sz="2800" dirty="0">
                <a:latin typeface="+mn-lt"/>
              </a:rPr>
              <a:t>, mas ocupa o </a:t>
            </a:r>
            <a:r>
              <a:rPr lang="pt-BR" sz="2800" b="1" dirty="0">
                <a:latin typeface="+mn-lt"/>
              </a:rPr>
              <a:t>6º</a:t>
            </a:r>
            <a:r>
              <a:rPr lang="pt-BR" sz="2800" dirty="0">
                <a:latin typeface="+mn-lt"/>
              </a:rPr>
              <a:t> no mundo em </a:t>
            </a:r>
            <a:r>
              <a:rPr lang="pt-BR" sz="2800" b="1" dirty="0">
                <a:latin typeface="+mn-lt"/>
              </a:rPr>
              <a:t>subnutrição</a:t>
            </a:r>
            <a:r>
              <a:rPr lang="pt-BR" sz="2800" dirty="0">
                <a:latin typeface="+mn-lt"/>
              </a:rPr>
              <a:t>, perdendo apenas para a Índia, Bangladesh, Paquistão, Filipinas e  Indonésia; é o </a:t>
            </a:r>
            <a:r>
              <a:rPr lang="pt-BR" sz="2800" b="1" dirty="0">
                <a:latin typeface="+mn-lt"/>
              </a:rPr>
              <a:t>8º</a:t>
            </a:r>
            <a:r>
              <a:rPr lang="pt-BR" sz="2800" dirty="0">
                <a:latin typeface="+mn-lt"/>
              </a:rPr>
              <a:t> país nos </a:t>
            </a:r>
            <a:r>
              <a:rPr lang="pt-BR" sz="2800" b="1" dirty="0">
                <a:latin typeface="+mn-lt"/>
              </a:rPr>
              <a:t>indicadores econômicos </a:t>
            </a:r>
            <a:r>
              <a:rPr lang="pt-BR" sz="2800" dirty="0">
                <a:latin typeface="+mn-lt"/>
              </a:rPr>
              <a:t>e o </a:t>
            </a:r>
            <a:r>
              <a:rPr lang="pt-BR" sz="2800" b="1" dirty="0">
                <a:latin typeface="+mn-lt"/>
              </a:rPr>
              <a:t>52º</a:t>
            </a:r>
            <a:r>
              <a:rPr lang="pt-BR" sz="2800" dirty="0">
                <a:latin typeface="+mn-lt"/>
              </a:rPr>
              <a:t> nos </a:t>
            </a:r>
            <a:r>
              <a:rPr lang="pt-BR" sz="2800" b="1" dirty="0">
                <a:latin typeface="+mn-lt"/>
              </a:rPr>
              <a:t>sociais</a:t>
            </a:r>
            <a:r>
              <a:rPr lang="pt-BR" sz="2800" dirty="0">
                <a:latin typeface="+mn-lt"/>
              </a:rPr>
              <a:t>, o que demonstra o </a:t>
            </a:r>
            <a:r>
              <a:rPr lang="pt-BR" sz="2800" b="1" dirty="0">
                <a:latin typeface="+mn-lt"/>
              </a:rPr>
              <a:t>desequilíbrio</a:t>
            </a:r>
            <a:r>
              <a:rPr lang="pt-BR" sz="2800" dirty="0">
                <a:latin typeface="+mn-lt"/>
              </a:rPr>
              <a:t> que existe entre o seu potencial econômico e a qualidade de vida da população.</a:t>
            </a:r>
          </a:p>
          <a:p>
            <a:pPr marL="342900" indent="-342900" algn="just" eaLnBrk="1" hangingPunct="1">
              <a:defRPr/>
            </a:pPr>
            <a:endParaRPr lang="pt-BR" sz="2800" dirty="0">
              <a:latin typeface="+mn-lt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9897064-BD34-43BA-B5CB-7D7D5BBE6015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5E0BB139-09B4-47F3-B778-0697EBE22AEF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Agricultura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CaixaDeTexto 8">
            <a:extLst>
              <a:ext uri="{FF2B5EF4-FFF2-40B4-BE49-F238E27FC236}">
                <a16:creationId xmlns:a16="http://schemas.microsoft.com/office/drawing/2014/main" id="{5EA4BFD6-3642-4A04-A57C-3B4C507CDB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4101" name="CaixaDeTexto 6">
            <a:extLst>
              <a:ext uri="{FF2B5EF4-FFF2-40B4-BE49-F238E27FC236}">
                <a16:creationId xmlns:a16="http://schemas.microsoft.com/office/drawing/2014/main" id="{A5355421-5F91-4DA3-9339-9BBBC160CB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143000"/>
            <a:ext cx="8715375" cy="5770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Agricultura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2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Os verdadeiros motivos da fome no mundo</a:t>
            </a:r>
          </a:p>
          <a:p>
            <a:pPr marL="342900" indent="-342900" algn="just" eaLnBrk="1" hangingPunct="1">
              <a:defRPr/>
            </a:pPr>
            <a:r>
              <a:rPr lang="pt-BR" sz="800" dirty="0">
                <a:latin typeface="+mn-lt"/>
              </a:rPr>
              <a:t>	</a:t>
            </a:r>
          </a:p>
          <a:p>
            <a:pPr algn="just" eaLnBrk="1" hangingPunct="1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lang="pt-BR" sz="2200" dirty="0">
                <a:latin typeface="+mn-lt"/>
              </a:rPr>
              <a:t> A grande diferença de renda e seu contraste;</a:t>
            </a:r>
          </a:p>
          <a:p>
            <a:pPr algn="just" eaLnBrk="1" hangingPunct="1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lang="pt-BR" sz="2200" dirty="0">
                <a:latin typeface="+mn-lt"/>
              </a:rPr>
              <a:t> O sub-aproveitamento do espaço rural por atividades agropastoris;</a:t>
            </a:r>
          </a:p>
          <a:p>
            <a:pPr algn="just" eaLnBrk="1" hangingPunct="1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lang="pt-BR" sz="2200" dirty="0">
                <a:latin typeface="+mn-lt"/>
              </a:rPr>
              <a:t> A utilização da terra para uma agricultura comercial de exportação;</a:t>
            </a:r>
          </a:p>
          <a:p>
            <a:pPr algn="just" eaLnBrk="1" hangingPunct="1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lang="pt-BR" sz="2200" dirty="0">
                <a:latin typeface="+mn-lt"/>
              </a:rPr>
              <a:t> A injusta e antidemocrática estrutura fundiária;</a:t>
            </a:r>
          </a:p>
          <a:p>
            <a:pPr algn="just" eaLnBrk="1" hangingPunct="1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lang="pt-BR" sz="2200" dirty="0">
                <a:latin typeface="+mn-lt"/>
              </a:rPr>
              <a:t> Difícil acesso aos meios de produção pelos pequenos produtores rurais;</a:t>
            </a:r>
          </a:p>
          <a:p>
            <a:pPr algn="just" eaLnBrk="1" hangingPunct="1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lang="pt-BR" sz="2200" dirty="0">
                <a:latin typeface="+mn-lt"/>
              </a:rPr>
              <a:t> A falta de uma política que leve o homem do campo a lá permanecer;</a:t>
            </a:r>
          </a:p>
          <a:p>
            <a:pPr algn="just" eaLnBrk="1" hangingPunct="1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lang="pt-BR" sz="2200" dirty="0">
                <a:latin typeface="+mn-lt"/>
              </a:rPr>
              <a:t> A influência das transnacionais de alimentos na produção agrícola.</a:t>
            </a:r>
          </a:p>
          <a:p>
            <a:pPr marL="342900" indent="-342900" algn="just" eaLnBrk="1" hangingPunct="1">
              <a:defRPr/>
            </a:pPr>
            <a:endParaRPr lang="pt-BR" sz="2800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2800" dirty="0">
              <a:latin typeface="+mn-lt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8F57755-5B69-4B33-ABC7-640B0BB63EB5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0D14DE29-EFD6-45DF-8F72-B7DB443E1AE1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Agricultura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CaixaDeTexto 8">
            <a:extLst>
              <a:ext uri="{FF2B5EF4-FFF2-40B4-BE49-F238E27FC236}">
                <a16:creationId xmlns:a16="http://schemas.microsoft.com/office/drawing/2014/main" id="{F4F31AB5-8FD9-4B92-AFA2-B54C330E04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4101" name="CaixaDeTexto 6">
            <a:extLst>
              <a:ext uri="{FF2B5EF4-FFF2-40B4-BE49-F238E27FC236}">
                <a16:creationId xmlns:a16="http://schemas.microsoft.com/office/drawing/2014/main" id="{178BB758-6D9D-4CED-A405-F4F835798B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143000"/>
            <a:ext cx="8715375" cy="5970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Agricultura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2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Os principais impactos associados</a:t>
            </a:r>
            <a:r>
              <a:rPr lang="pt-BR" sz="2000" dirty="0">
                <a:latin typeface="+mn-lt"/>
              </a:rPr>
              <a:t>.</a:t>
            </a:r>
          </a:p>
          <a:p>
            <a:pPr marL="342900" indent="-342900" eaLnBrk="1" hangingPunct="1">
              <a:defRPr/>
            </a:pPr>
            <a:endParaRPr lang="pt-BR" sz="800" dirty="0">
              <a:latin typeface="+mn-lt"/>
            </a:endParaRPr>
          </a:p>
          <a:p>
            <a:pPr marL="342900" indent="-342900" algn="just" eaLnBrk="1" hangingPunct="1">
              <a:defRPr/>
            </a:pPr>
            <a:r>
              <a:rPr lang="pt-BR" sz="2800" b="1" dirty="0">
                <a:latin typeface="+mn-lt"/>
              </a:rPr>
              <a:t>Devido à irrigação</a:t>
            </a:r>
          </a:p>
          <a:p>
            <a:pPr marL="342900" indent="-342900" algn="just" eaLnBrk="1" hangingPunct="1">
              <a:defRPr/>
            </a:pPr>
            <a:endParaRPr lang="pt-BR" sz="800" dirty="0">
              <a:latin typeface="+mn-lt"/>
            </a:endParaRPr>
          </a:p>
          <a:p>
            <a:pPr marL="800100" lvl="1" indent="-342900" algn="just" eaLnBrk="1" hangingPunct="1">
              <a:buFont typeface="Wingdings" pitchFamily="2" charset="2"/>
              <a:buChar char="ü"/>
              <a:defRPr/>
            </a:pPr>
            <a:r>
              <a:rPr lang="pt-BR" sz="2800" b="1" dirty="0">
                <a:latin typeface="+mn-lt"/>
              </a:rPr>
              <a:t> Redução da disponibilidade hídrica </a:t>
            </a:r>
            <a:r>
              <a:rPr lang="pt-BR" sz="2800" dirty="0">
                <a:latin typeface="+mn-lt"/>
              </a:rPr>
              <a:t>em algumas regiões menos favorecidas.</a:t>
            </a:r>
          </a:p>
          <a:p>
            <a:pPr marL="800100" lvl="1" indent="-342900" algn="just" eaLnBrk="1" hangingPunct="1">
              <a:buFont typeface="Wingdings" pitchFamily="2" charset="2"/>
              <a:buChar char="ü"/>
              <a:defRPr/>
            </a:pPr>
            <a:r>
              <a:rPr lang="pt-BR" sz="2800" dirty="0">
                <a:latin typeface="+mn-lt"/>
              </a:rPr>
              <a:t> </a:t>
            </a:r>
            <a:r>
              <a:rPr lang="pt-BR" sz="2800" b="1" dirty="0">
                <a:latin typeface="+mn-lt"/>
              </a:rPr>
              <a:t>Favorecimento de erosão </a:t>
            </a:r>
            <a:r>
              <a:rPr lang="pt-BR" sz="2800" dirty="0">
                <a:latin typeface="+mn-lt"/>
              </a:rPr>
              <a:t>em regiões de solo descoberto.</a:t>
            </a:r>
          </a:p>
          <a:p>
            <a:pPr marL="800100" lvl="1" indent="-342900" algn="just" eaLnBrk="1" hangingPunct="1">
              <a:buFont typeface="Wingdings" pitchFamily="2" charset="2"/>
              <a:buChar char="ü"/>
              <a:defRPr/>
            </a:pPr>
            <a:r>
              <a:rPr lang="pt-BR" sz="2800" b="1" dirty="0">
                <a:latin typeface="+mn-lt"/>
              </a:rPr>
              <a:t> Salinização de solos</a:t>
            </a:r>
            <a:r>
              <a:rPr lang="pt-BR" sz="2800" dirty="0">
                <a:latin typeface="+mn-lt"/>
              </a:rPr>
              <a:t>, principalmente em regiões áridas e semi-áridas.</a:t>
            </a:r>
          </a:p>
          <a:p>
            <a:pPr marL="800100" lvl="1" indent="-342900" algn="just" eaLnBrk="1" hangingPunct="1">
              <a:buFont typeface="Wingdings" pitchFamily="2" charset="2"/>
              <a:buChar char="ü"/>
              <a:defRPr/>
            </a:pPr>
            <a:r>
              <a:rPr lang="pt-BR" sz="2800" dirty="0">
                <a:latin typeface="+mn-lt"/>
              </a:rPr>
              <a:t> </a:t>
            </a:r>
            <a:r>
              <a:rPr lang="pt-BR" sz="2800" b="1" dirty="0">
                <a:latin typeface="+mn-lt"/>
              </a:rPr>
              <a:t>Contaminação dos mananciais </a:t>
            </a:r>
            <a:r>
              <a:rPr lang="pt-BR" sz="2800" dirty="0">
                <a:latin typeface="+mn-lt"/>
              </a:rPr>
              <a:t>devido ao </a:t>
            </a:r>
            <a:r>
              <a:rPr lang="pt-BR" sz="2800" dirty="0" err="1">
                <a:latin typeface="+mn-lt"/>
              </a:rPr>
              <a:t>lixiviamento</a:t>
            </a:r>
            <a:r>
              <a:rPr lang="pt-BR" sz="2800" dirty="0">
                <a:latin typeface="+mn-lt"/>
              </a:rPr>
              <a:t> de inseticidas, pesticidas e fertilizantes. </a:t>
            </a:r>
          </a:p>
          <a:p>
            <a:pPr marL="342900" indent="-342900" algn="just" eaLnBrk="1" hangingPunct="1">
              <a:defRPr/>
            </a:pPr>
            <a:endParaRPr lang="pt-BR" sz="2800" dirty="0">
              <a:latin typeface="+mn-lt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CB5CEE1-E90A-4820-870B-0E013473C219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3880F351-844E-43B4-B1F3-7DDE2B8737DF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Agricultura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CaixaDeTexto 8">
            <a:extLst>
              <a:ext uri="{FF2B5EF4-FFF2-40B4-BE49-F238E27FC236}">
                <a16:creationId xmlns:a16="http://schemas.microsoft.com/office/drawing/2014/main" id="{EACCCE4A-A287-4185-A3F7-19DD71DCF3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4101" name="CaixaDeTexto 6">
            <a:extLst>
              <a:ext uri="{FF2B5EF4-FFF2-40B4-BE49-F238E27FC236}">
                <a16:creationId xmlns:a16="http://schemas.microsoft.com/office/drawing/2014/main" id="{92C4CF70-2C37-477E-BB1A-CA5B26DD4F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143000"/>
            <a:ext cx="8715375" cy="178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Agricultura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2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Os principais impactos associados</a:t>
            </a:r>
            <a:r>
              <a:rPr lang="pt-BR" sz="2000" dirty="0">
                <a:latin typeface="+mn-lt"/>
              </a:rPr>
              <a:t>.</a:t>
            </a:r>
          </a:p>
          <a:p>
            <a:pPr marL="342900" indent="-342900" eaLnBrk="1" hangingPunct="1">
              <a:defRPr/>
            </a:pPr>
            <a:endParaRPr lang="pt-BR" sz="800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2800" dirty="0">
              <a:latin typeface="+mn-lt"/>
            </a:endParaRPr>
          </a:p>
        </p:txBody>
      </p:sp>
      <p:pic>
        <p:nvPicPr>
          <p:cNvPr id="84998" name="Picture 2" descr="http://www.aquavitae.com/revista/edicao3/pt/riego/2.jpg">
            <a:extLst>
              <a:ext uri="{FF2B5EF4-FFF2-40B4-BE49-F238E27FC236}">
                <a16:creationId xmlns:a16="http://schemas.microsoft.com/office/drawing/2014/main" id="{7878A71B-B286-44A7-A18C-27697BCBC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313" y="2781300"/>
            <a:ext cx="4143375" cy="321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4999" name="Picture 4" descr="http://www.aquavitae.com/revista/edicao3/pt/riego/1.jpg">
            <a:extLst>
              <a:ext uri="{FF2B5EF4-FFF2-40B4-BE49-F238E27FC236}">
                <a16:creationId xmlns:a16="http://schemas.microsoft.com/office/drawing/2014/main" id="{B6DFFEB4-C503-4F10-9D9F-DCAE90693A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4563" y="2786063"/>
            <a:ext cx="4362450" cy="321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FE6C7336-5E0D-4C7E-91F2-E8F7FA709CC3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B4A6BF2-570C-4E81-B7E1-AEDED2D94572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Agricultura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CaixaDeTexto 8">
            <a:extLst>
              <a:ext uri="{FF2B5EF4-FFF2-40B4-BE49-F238E27FC236}">
                <a16:creationId xmlns:a16="http://schemas.microsoft.com/office/drawing/2014/main" id="{3736DB1B-7F86-4910-9F0F-2CDE9B6EB2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4101" name="CaixaDeTexto 6">
            <a:extLst>
              <a:ext uri="{FF2B5EF4-FFF2-40B4-BE49-F238E27FC236}">
                <a16:creationId xmlns:a16="http://schemas.microsoft.com/office/drawing/2014/main" id="{8236B4CA-4B24-475F-9133-0E5999A12A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143000"/>
            <a:ext cx="8715375" cy="178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Agricultura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2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Os principais impactos associados</a:t>
            </a:r>
            <a:r>
              <a:rPr lang="pt-BR" sz="2000" dirty="0">
                <a:latin typeface="+mn-lt"/>
              </a:rPr>
              <a:t>.</a:t>
            </a:r>
          </a:p>
          <a:p>
            <a:pPr marL="342900" indent="-342900" eaLnBrk="1" hangingPunct="1">
              <a:defRPr/>
            </a:pPr>
            <a:endParaRPr lang="pt-BR" sz="800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2800" dirty="0">
              <a:latin typeface="+mn-lt"/>
            </a:endParaRPr>
          </a:p>
        </p:txBody>
      </p:sp>
      <p:pic>
        <p:nvPicPr>
          <p:cNvPr id="87046" name="Picture 2" descr="http://www.boiapasto.com.br/wp-content/uploads/2009/04/erosao-5.jpg">
            <a:extLst>
              <a:ext uri="{FF2B5EF4-FFF2-40B4-BE49-F238E27FC236}">
                <a16:creationId xmlns:a16="http://schemas.microsoft.com/office/drawing/2014/main" id="{72B1BC1B-43A0-4D44-A2D7-C93EABD3A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313" y="2857500"/>
            <a:ext cx="4357687" cy="298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047" name="Picture 4" descr="http://www.revistarural.com.br/edicoes/2008/imagens/rev124_erosao.jpg">
            <a:extLst>
              <a:ext uri="{FF2B5EF4-FFF2-40B4-BE49-F238E27FC236}">
                <a16:creationId xmlns:a16="http://schemas.microsoft.com/office/drawing/2014/main" id="{91D5F59D-EE03-4EE0-A15F-CA8C8F9B8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0313" y="2857500"/>
            <a:ext cx="4143375" cy="302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06A77FB5-9214-46E3-BDF0-97A4BF58AB26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73D2ED22-3B6E-48E4-8B9D-A58CD84E4458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Agricultura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CaixaDeTexto 8">
            <a:extLst>
              <a:ext uri="{FF2B5EF4-FFF2-40B4-BE49-F238E27FC236}">
                <a16:creationId xmlns:a16="http://schemas.microsoft.com/office/drawing/2014/main" id="{D6C90557-4EF9-4E0C-8F85-D1D2B1FC90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4101" name="CaixaDeTexto 6">
            <a:extLst>
              <a:ext uri="{FF2B5EF4-FFF2-40B4-BE49-F238E27FC236}">
                <a16:creationId xmlns:a16="http://schemas.microsoft.com/office/drawing/2014/main" id="{FFF9B787-563A-4D32-A108-73B2C7204D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143000"/>
            <a:ext cx="8715375" cy="178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Agricultura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2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Os principais impactos associados</a:t>
            </a:r>
            <a:r>
              <a:rPr lang="pt-BR" sz="2000" dirty="0">
                <a:latin typeface="+mn-lt"/>
              </a:rPr>
              <a:t>.</a:t>
            </a:r>
          </a:p>
          <a:p>
            <a:pPr marL="342900" indent="-342900" eaLnBrk="1" hangingPunct="1">
              <a:defRPr/>
            </a:pPr>
            <a:endParaRPr lang="pt-BR" sz="800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2800" dirty="0">
              <a:latin typeface="+mn-lt"/>
            </a:endParaRPr>
          </a:p>
        </p:txBody>
      </p:sp>
      <p:pic>
        <p:nvPicPr>
          <p:cNvPr id="89094" name="Picture 2" descr="http://www.rc.unesp.br/igce/aplicada/ead/fotos/interacao/eroslam1.jpg">
            <a:extLst>
              <a:ext uri="{FF2B5EF4-FFF2-40B4-BE49-F238E27FC236}">
                <a16:creationId xmlns:a16="http://schemas.microsoft.com/office/drawing/2014/main" id="{0E615015-F16E-4397-A782-0015BE18D4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313" y="2857500"/>
            <a:ext cx="4143375" cy="301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9095" name="Picture 4" descr="http://t1.gstatic.com/images?q=tbn:4BSZ3dBle2TTyM:http://envolverde.ig.com.br/fotos/45114.gif&amp;t=1">
            <a:extLst>
              <a:ext uri="{FF2B5EF4-FFF2-40B4-BE49-F238E27FC236}">
                <a16:creationId xmlns:a16="http://schemas.microsoft.com/office/drawing/2014/main" id="{823C15CA-25EE-4EE4-9478-0241B3796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4563" y="2857500"/>
            <a:ext cx="4337050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A4A1D937-9567-4802-915F-916A283A96A7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4F7A3225-30F0-4CE9-9855-987C5A0147A3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Agricultura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CaixaDeTexto 8">
            <a:extLst>
              <a:ext uri="{FF2B5EF4-FFF2-40B4-BE49-F238E27FC236}">
                <a16:creationId xmlns:a16="http://schemas.microsoft.com/office/drawing/2014/main" id="{964185D2-A68B-49D5-A932-26F3EDA0A2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4101" name="CaixaDeTexto 6">
            <a:extLst>
              <a:ext uri="{FF2B5EF4-FFF2-40B4-BE49-F238E27FC236}">
                <a16:creationId xmlns:a16="http://schemas.microsoft.com/office/drawing/2014/main" id="{3CE17DDD-DBF4-48D8-B352-E06AFADF81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143000"/>
            <a:ext cx="8715375" cy="277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Agricultura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2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Os principais impactos associados</a:t>
            </a:r>
            <a:r>
              <a:rPr lang="pt-BR" sz="2000" dirty="0">
                <a:latin typeface="+mn-lt"/>
              </a:rPr>
              <a:t>.</a:t>
            </a:r>
          </a:p>
          <a:p>
            <a:pPr marL="342900" indent="-342900" eaLnBrk="1" hangingPunct="1">
              <a:defRPr/>
            </a:pPr>
            <a:endParaRPr lang="pt-BR" sz="800" dirty="0">
              <a:latin typeface="+mn-lt"/>
            </a:endParaRPr>
          </a:p>
          <a:p>
            <a:pPr marL="342900" indent="-342900" algn="just" eaLnBrk="1" hangingPunct="1">
              <a:defRPr/>
            </a:pPr>
            <a:r>
              <a:rPr lang="pt-BR" sz="2800" b="1" dirty="0">
                <a:latin typeface="+mn-lt"/>
              </a:rPr>
              <a:t>Uso da água</a:t>
            </a:r>
          </a:p>
          <a:p>
            <a:pPr marL="342900" indent="-342900" algn="just" eaLnBrk="1" hangingPunct="1">
              <a:defRPr/>
            </a:pPr>
            <a:endParaRPr lang="pt-BR" sz="800" dirty="0">
              <a:latin typeface="+mn-lt"/>
            </a:endParaRPr>
          </a:p>
          <a:p>
            <a:pPr marL="800100" lvl="1" indent="-342900" algn="just" eaLnBrk="1" hangingPunct="1">
              <a:defRPr/>
            </a:pPr>
            <a:endParaRPr lang="pt-BR" sz="2800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2800" dirty="0">
              <a:latin typeface="+mn-lt"/>
            </a:endParaRPr>
          </a:p>
        </p:txBody>
      </p:sp>
      <p:pic>
        <p:nvPicPr>
          <p:cNvPr id="91142" name="Picture 3">
            <a:extLst>
              <a:ext uri="{FF2B5EF4-FFF2-40B4-BE49-F238E27FC236}">
                <a16:creationId xmlns:a16="http://schemas.microsoft.com/office/drawing/2014/main" id="{05914931-7035-46B4-91F3-BA55431B2D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357688"/>
            <a:ext cx="5178425" cy="250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143" name="Picture 4">
            <a:extLst>
              <a:ext uri="{FF2B5EF4-FFF2-40B4-BE49-F238E27FC236}">
                <a16:creationId xmlns:a16="http://schemas.microsoft.com/office/drawing/2014/main" id="{2515AC10-7020-4ACF-9F08-A9A53CBB5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0" y="2500313"/>
            <a:ext cx="5027613" cy="235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3D9C899D-4B5D-4896-A0B1-CA738B2886BF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8BCE16D7-6E85-4FF7-AB34-639C3AF9CAD0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Agricultura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CaixaDeTexto 8">
            <a:extLst>
              <a:ext uri="{FF2B5EF4-FFF2-40B4-BE49-F238E27FC236}">
                <a16:creationId xmlns:a16="http://schemas.microsoft.com/office/drawing/2014/main" id="{1C994052-7178-47AA-848E-292DB06AAF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4101" name="CaixaDeTexto 6">
            <a:extLst>
              <a:ext uri="{FF2B5EF4-FFF2-40B4-BE49-F238E27FC236}">
                <a16:creationId xmlns:a16="http://schemas.microsoft.com/office/drawing/2014/main" id="{D1B8A17C-01C2-403A-868E-4D929B44F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143000"/>
            <a:ext cx="8715375" cy="461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Agricultura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2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Os principais impactos associados</a:t>
            </a:r>
            <a:r>
              <a:rPr lang="pt-BR" sz="2000" dirty="0">
                <a:latin typeface="+mn-lt"/>
              </a:rPr>
              <a:t>.</a:t>
            </a:r>
          </a:p>
          <a:p>
            <a:pPr marL="342900" indent="-342900" eaLnBrk="1" hangingPunct="1">
              <a:defRPr/>
            </a:pPr>
            <a:endParaRPr lang="pt-BR" sz="800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800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800" dirty="0">
              <a:latin typeface="+mn-lt"/>
            </a:endParaRPr>
          </a:p>
          <a:p>
            <a:pPr marL="800100" lvl="1" indent="-342900" algn="just" eaLnBrk="1" hangingPunct="1">
              <a:buFont typeface="Wingdings" pitchFamily="2" charset="2"/>
              <a:buChar char="ü"/>
              <a:defRPr/>
            </a:pPr>
            <a:r>
              <a:rPr lang="pt-BR" sz="2800" b="1" dirty="0">
                <a:latin typeface="+mn-lt"/>
              </a:rPr>
              <a:t> Desmatamentos </a:t>
            </a:r>
            <a:r>
              <a:rPr lang="pt-BR" sz="2800" dirty="0">
                <a:latin typeface="+mn-lt"/>
              </a:rPr>
              <a:t>e redução de áreas de grande biodiversidade (cerrado e floresta amazônica).</a:t>
            </a:r>
          </a:p>
          <a:p>
            <a:pPr marL="800100" lvl="1" indent="-342900" algn="just" eaLnBrk="1" hangingPunct="1">
              <a:buFont typeface="Wingdings" pitchFamily="2" charset="2"/>
              <a:buChar char="ü"/>
              <a:defRPr/>
            </a:pPr>
            <a:r>
              <a:rPr lang="pt-BR" sz="2800" dirty="0">
                <a:latin typeface="+mn-lt"/>
              </a:rPr>
              <a:t> </a:t>
            </a:r>
            <a:r>
              <a:rPr lang="pt-BR" sz="2800" b="1" dirty="0">
                <a:latin typeface="+mn-lt"/>
              </a:rPr>
              <a:t>Fragmentação de habitats</a:t>
            </a:r>
            <a:r>
              <a:rPr lang="pt-BR" sz="2800" dirty="0">
                <a:latin typeface="+mn-lt"/>
              </a:rPr>
              <a:t> causando a redução da biodiversidade.</a:t>
            </a:r>
          </a:p>
          <a:p>
            <a:pPr marL="800100" lvl="1" indent="-342900" algn="just" eaLnBrk="1" hangingPunct="1">
              <a:buFont typeface="Wingdings" pitchFamily="2" charset="2"/>
              <a:buChar char="ü"/>
              <a:defRPr/>
            </a:pPr>
            <a:r>
              <a:rPr lang="pt-BR" sz="2800" b="1" dirty="0">
                <a:latin typeface="+mn-lt"/>
              </a:rPr>
              <a:t> Empobrecimento do solo</a:t>
            </a:r>
            <a:endParaRPr lang="pt-BR" sz="2800" dirty="0">
              <a:latin typeface="+mn-lt"/>
            </a:endParaRPr>
          </a:p>
          <a:p>
            <a:pPr marL="800100" lvl="1" indent="-342900" algn="just" eaLnBrk="1" hangingPunct="1">
              <a:buFont typeface="Wingdings" pitchFamily="2" charset="2"/>
              <a:buChar char="ü"/>
              <a:defRPr/>
            </a:pPr>
            <a:r>
              <a:rPr lang="pt-BR" sz="2800" dirty="0">
                <a:latin typeface="+mn-lt"/>
              </a:rPr>
              <a:t>  </a:t>
            </a:r>
            <a:r>
              <a:rPr lang="pt-BR" sz="2800" b="1" dirty="0">
                <a:latin typeface="+mn-lt"/>
              </a:rPr>
              <a:t>Desertificação e Erosão do solo</a:t>
            </a:r>
          </a:p>
          <a:p>
            <a:pPr marL="342900" indent="-342900" algn="just" eaLnBrk="1" hangingPunct="1">
              <a:defRPr/>
            </a:pPr>
            <a:endParaRPr lang="pt-BR" sz="2800" dirty="0">
              <a:latin typeface="+mn-lt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F7DEB33-5B16-4B1A-B3E9-082AB665DD20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B6EC90F-6CD2-487C-9341-EA5AE400FAAD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Agricultura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CaixaDeTexto 8">
            <a:extLst>
              <a:ext uri="{FF2B5EF4-FFF2-40B4-BE49-F238E27FC236}">
                <a16:creationId xmlns:a16="http://schemas.microsoft.com/office/drawing/2014/main" id="{2425F6C9-E03B-45C1-950A-03D21B85BE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4101" name="CaixaDeTexto 6">
            <a:extLst>
              <a:ext uri="{FF2B5EF4-FFF2-40B4-BE49-F238E27FC236}">
                <a16:creationId xmlns:a16="http://schemas.microsoft.com/office/drawing/2014/main" id="{2B51A1FA-8BD5-4B2E-BC20-75B21333AF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143000"/>
            <a:ext cx="8715375" cy="2338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Agricultura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2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Alternativas ecologicamente corretas</a:t>
            </a:r>
            <a:endParaRPr lang="pt-BR" sz="2000" dirty="0">
              <a:latin typeface="+mn-lt"/>
            </a:endParaRPr>
          </a:p>
          <a:p>
            <a:pPr marL="342900" indent="-342900" eaLnBrk="1" hangingPunct="1">
              <a:defRPr/>
            </a:pPr>
            <a:endParaRPr lang="pt-BR" sz="800" dirty="0">
              <a:latin typeface="+mn-lt"/>
            </a:endParaRPr>
          </a:p>
          <a:p>
            <a:pPr marL="342900" indent="-342900" algn="just" eaLnBrk="1" hangingPunct="1">
              <a:defRPr/>
            </a:pPr>
            <a:r>
              <a:rPr lang="pt-BR" sz="2800" b="1" dirty="0">
                <a:latin typeface="+mn-lt"/>
              </a:rPr>
              <a:t>Rotação de culturas</a:t>
            </a:r>
          </a:p>
          <a:p>
            <a:pPr marL="342900" indent="-342900" algn="just" eaLnBrk="1" hangingPunct="1">
              <a:defRPr/>
            </a:pPr>
            <a:endParaRPr lang="pt-BR" sz="800" dirty="0">
              <a:latin typeface="+mn-lt"/>
            </a:endParaRPr>
          </a:p>
          <a:p>
            <a:pPr marL="800100" lvl="1" indent="-342900" algn="just" eaLnBrk="1" hangingPunct="1">
              <a:defRPr/>
            </a:pPr>
            <a:endParaRPr lang="pt-BR" sz="2800" dirty="0">
              <a:latin typeface="+mn-lt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5C90AE4-D930-4555-B1C0-7E607F701BF7}"/>
              </a:ext>
            </a:extLst>
          </p:cNvPr>
          <p:cNvSpPr/>
          <p:nvPr/>
        </p:nvSpPr>
        <p:spPr>
          <a:xfrm>
            <a:off x="1881188" y="3163888"/>
            <a:ext cx="8429625" cy="28321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eaLnBrk="1" hangingPunct="1">
              <a:defRPr/>
            </a:pPr>
            <a:r>
              <a:rPr lang="pt-BR" sz="2800" dirty="0">
                <a:latin typeface="+mn-lt"/>
              </a:rPr>
              <a:t>É uma técnica agrícola de conservação que visa </a:t>
            </a:r>
            <a:r>
              <a:rPr lang="pt-BR" sz="2800" b="1" dirty="0">
                <a:latin typeface="+mn-lt"/>
              </a:rPr>
              <a:t>diminuir a exaustão do solo</a:t>
            </a:r>
            <a:r>
              <a:rPr lang="pt-BR" sz="2800" dirty="0">
                <a:latin typeface="+mn-lt"/>
              </a:rPr>
              <a:t>. Isto é feito trocando as culturas a cada novo plantio de forma que as necessidades de adubação sejam diferentes a cada ciclo. </a:t>
            </a:r>
          </a:p>
          <a:p>
            <a:pPr algn="just" eaLnBrk="1" hangingPunct="1">
              <a:defRPr/>
            </a:pPr>
            <a:endParaRPr lang="pt-BR" sz="1000" dirty="0">
              <a:latin typeface="+mn-lt"/>
            </a:endParaRPr>
          </a:p>
          <a:p>
            <a:pPr algn="just" eaLnBrk="1" hangingPunct="1">
              <a:buFont typeface="Wingdings" pitchFamily="2" charset="2"/>
              <a:buChar char="ü"/>
              <a:defRPr/>
            </a:pPr>
            <a:r>
              <a:rPr lang="pt-BR" sz="2800" dirty="0">
                <a:latin typeface="+mn-lt"/>
              </a:rPr>
              <a:t> Consiste em alternar espécies vegetais, numa mesma área agrícola. 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1F8E0F8-995D-49A1-B2AB-356945C84852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43C531A4-A2DA-4EF7-9633-125F8CDB4916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Agricultura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CaixaDeTexto 8">
            <a:extLst>
              <a:ext uri="{FF2B5EF4-FFF2-40B4-BE49-F238E27FC236}">
                <a16:creationId xmlns:a16="http://schemas.microsoft.com/office/drawing/2014/main" id="{1F52D9A5-925F-442D-8B74-1B4BCB4090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4101" name="CaixaDeTexto 6">
            <a:extLst>
              <a:ext uri="{FF2B5EF4-FFF2-40B4-BE49-F238E27FC236}">
                <a16:creationId xmlns:a16="http://schemas.microsoft.com/office/drawing/2014/main" id="{D3F6C233-36BC-4626-B5FE-81F3F18256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0" y="1000125"/>
            <a:ext cx="8429625" cy="2338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Agricultura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2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Alternativas ecologicamente corretas</a:t>
            </a:r>
            <a:endParaRPr lang="pt-BR" sz="2000" dirty="0">
              <a:latin typeface="+mn-lt"/>
            </a:endParaRPr>
          </a:p>
          <a:p>
            <a:pPr marL="342900" indent="-342900" eaLnBrk="1" hangingPunct="1">
              <a:defRPr/>
            </a:pPr>
            <a:endParaRPr lang="pt-BR" sz="800" dirty="0">
              <a:latin typeface="+mn-lt"/>
            </a:endParaRPr>
          </a:p>
          <a:p>
            <a:pPr marL="342900" indent="-342900" algn="just" eaLnBrk="1" hangingPunct="1">
              <a:defRPr/>
            </a:pPr>
            <a:r>
              <a:rPr lang="pt-BR" sz="2800" b="1" dirty="0">
                <a:latin typeface="+mn-lt"/>
              </a:rPr>
              <a:t>Rotação de culturas</a:t>
            </a:r>
          </a:p>
          <a:p>
            <a:pPr marL="342900" indent="-342900" algn="just" eaLnBrk="1" hangingPunct="1">
              <a:defRPr/>
            </a:pPr>
            <a:endParaRPr lang="pt-BR" sz="800" dirty="0">
              <a:latin typeface="+mn-lt"/>
            </a:endParaRPr>
          </a:p>
          <a:p>
            <a:pPr marL="800100" lvl="1" indent="-342900" algn="just" eaLnBrk="1" hangingPunct="1">
              <a:defRPr/>
            </a:pPr>
            <a:endParaRPr lang="pt-BR" sz="2800" dirty="0">
              <a:latin typeface="+mn-lt"/>
            </a:endParaRPr>
          </a:p>
        </p:txBody>
      </p:sp>
      <p:pic>
        <p:nvPicPr>
          <p:cNvPr id="97286" name="Picture 2" descr="http://www.plantiodireto.com.br/img2/situacaolav111_2.jpg">
            <a:extLst>
              <a:ext uri="{FF2B5EF4-FFF2-40B4-BE49-F238E27FC236}">
                <a16:creationId xmlns:a16="http://schemas.microsoft.com/office/drawing/2014/main" id="{4B961F1A-BC0C-494A-BD88-FD7DE0F0F7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3071813"/>
            <a:ext cx="4214813" cy="328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287" name="Picture 4" descr="http://www.plantiodireto.com.br/img2/situacaolav111_1.jpg">
            <a:extLst>
              <a:ext uri="{FF2B5EF4-FFF2-40B4-BE49-F238E27FC236}">
                <a16:creationId xmlns:a16="http://schemas.microsoft.com/office/drawing/2014/main" id="{BDC8B71C-381E-4206-8EF1-16E14E72FE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071813"/>
            <a:ext cx="4337050" cy="328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1DEACA9B-F745-413C-A138-BDADAD911A10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C411BEC8-D067-45FA-9685-BED3872856D0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Agricultura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CaixaDeTexto 8">
            <a:extLst>
              <a:ext uri="{FF2B5EF4-FFF2-40B4-BE49-F238E27FC236}">
                <a16:creationId xmlns:a16="http://schemas.microsoft.com/office/drawing/2014/main" id="{68BC00FE-6522-43A0-BFCC-7F15A3C2E2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4101" name="CaixaDeTexto 6">
            <a:extLst>
              <a:ext uri="{FF2B5EF4-FFF2-40B4-BE49-F238E27FC236}">
                <a16:creationId xmlns:a16="http://schemas.microsoft.com/office/drawing/2014/main" id="{A0B58769-F8B6-435D-9B7F-74D95B7BCE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143000"/>
            <a:ext cx="8715375" cy="2338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Agricultura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200" dirty="0">
              <a:latin typeface="Calibri" pitchFamily="34" charset="0"/>
            </a:endParaRPr>
          </a:p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Alternativas ecologicamente corretas</a:t>
            </a:r>
            <a:endParaRPr lang="pt-BR" sz="2000" dirty="0">
              <a:latin typeface="+mn-lt"/>
            </a:endParaRPr>
          </a:p>
          <a:p>
            <a:pPr marL="342900" indent="-342900" eaLnBrk="1" hangingPunct="1">
              <a:defRPr/>
            </a:pPr>
            <a:endParaRPr lang="pt-BR" sz="800" dirty="0">
              <a:latin typeface="+mn-lt"/>
            </a:endParaRPr>
          </a:p>
          <a:p>
            <a:pPr marL="342900" indent="-342900" algn="just" eaLnBrk="1" hangingPunct="1">
              <a:defRPr/>
            </a:pPr>
            <a:r>
              <a:rPr lang="pt-BR" sz="2800" b="1" dirty="0">
                <a:latin typeface="+mn-lt"/>
              </a:rPr>
              <a:t>Adubação verde</a:t>
            </a:r>
          </a:p>
          <a:p>
            <a:pPr marL="342900" indent="-342900" algn="just" eaLnBrk="1" hangingPunct="1">
              <a:defRPr/>
            </a:pPr>
            <a:endParaRPr lang="pt-BR" sz="800" dirty="0">
              <a:latin typeface="+mn-lt"/>
            </a:endParaRPr>
          </a:p>
          <a:p>
            <a:pPr marL="800100" lvl="1" indent="-342900" algn="just" eaLnBrk="1" hangingPunct="1">
              <a:defRPr/>
            </a:pPr>
            <a:endParaRPr lang="pt-BR" sz="2800" dirty="0">
              <a:latin typeface="+mn-lt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C86C86C-F1DD-4563-9828-CA9EAED3AB0B}"/>
              </a:ext>
            </a:extLst>
          </p:cNvPr>
          <p:cNvSpPr/>
          <p:nvPr/>
        </p:nvSpPr>
        <p:spPr>
          <a:xfrm>
            <a:off x="1881188" y="2857500"/>
            <a:ext cx="8429625" cy="18161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eaLnBrk="1" hangingPunct="1">
              <a:defRPr/>
            </a:pPr>
            <a:r>
              <a:rPr lang="pt-BR" sz="2800" dirty="0">
                <a:latin typeface="+mn-lt"/>
              </a:rPr>
              <a:t>Consiste em adicionar ao solo fragmento de espécies leguminosas, visando aumentar o teor de nitrogênio do mesmo, ou o plantio consorciado/alternado de espécies leguminosas e não leguminosas.</a:t>
            </a:r>
          </a:p>
        </p:txBody>
      </p:sp>
      <p:pic>
        <p:nvPicPr>
          <p:cNvPr id="99335" name="Picture 2" descr="http://www.taps.org.br/Imagens/agromito8.jpg">
            <a:extLst>
              <a:ext uri="{FF2B5EF4-FFF2-40B4-BE49-F238E27FC236}">
                <a16:creationId xmlns:a16="http://schemas.microsoft.com/office/drawing/2014/main" id="{68ED846D-2FB2-4814-BB7F-4FEAB7A3E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0" y="4857750"/>
            <a:ext cx="4500563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F1B4C40E-8421-4061-BDD9-63FC8E254C7E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99D9BD13-8FC1-45F4-850E-AFEA9C138EC9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Agricultura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535</TotalTime>
  <Words>790</Words>
  <Application>Microsoft Office PowerPoint</Application>
  <PresentationFormat>Widescreen</PresentationFormat>
  <Paragraphs>210</Paragraphs>
  <Slides>25</Slides>
  <Notes>24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Wingdings</vt:lpstr>
      <vt:lpstr>Tema do Office</vt:lpstr>
      <vt:lpstr>Ecologia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Barbosa</dc:creator>
  <cp:lastModifiedBy>Bruno Barbosa</cp:lastModifiedBy>
  <cp:revision>36</cp:revision>
  <dcterms:created xsi:type="dcterms:W3CDTF">2020-06-05T12:13:59Z</dcterms:created>
  <dcterms:modified xsi:type="dcterms:W3CDTF">2021-05-15T01:50:10Z</dcterms:modified>
</cp:coreProperties>
</file>