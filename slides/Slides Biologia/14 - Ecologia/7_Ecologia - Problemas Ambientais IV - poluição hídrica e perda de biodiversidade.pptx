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5"/>
  </p:notesMasterIdLst>
  <p:sldIdLst>
    <p:sldId id="357" r:id="rId2"/>
    <p:sldId id="336" r:id="rId3"/>
    <p:sldId id="337" r:id="rId4"/>
    <p:sldId id="338" r:id="rId5"/>
    <p:sldId id="339" r:id="rId6"/>
    <p:sldId id="341" r:id="rId7"/>
    <p:sldId id="342" r:id="rId8"/>
    <p:sldId id="302" r:id="rId9"/>
    <p:sldId id="343" r:id="rId10"/>
    <p:sldId id="344" r:id="rId11"/>
    <p:sldId id="345" r:id="rId12"/>
    <p:sldId id="346" r:id="rId13"/>
    <p:sldId id="34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B606"/>
    <a:srgbClr val="02A606"/>
    <a:srgbClr val="02D8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218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3F58D1-667F-4B47-894F-F5843460E4F8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DB9BDF-4EC6-4AA0-9559-E66382EE67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786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Espaço Reservado para Imagem de Slide 1">
            <a:extLst>
              <a:ext uri="{FF2B5EF4-FFF2-40B4-BE49-F238E27FC236}">
                <a16:creationId xmlns:a16="http://schemas.microsoft.com/office/drawing/2014/main" id="{9A8C3EE6-4418-4FA0-B517-6115821691C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9507" name="Espaço Reservado para Anotações 2">
            <a:extLst>
              <a:ext uri="{FF2B5EF4-FFF2-40B4-BE49-F238E27FC236}">
                <a16:creationId xmlns:a16="http://schemas.microsoft.com/office/drawing/2014/main" id="{51A48AC0-C13C-4A24-8F12-9B9028A07CE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149508" name="Espaço Reservado para Número de Slide 3">
            <a:extLst>
              <a:ext uri="{FF2B5EF4-FFF2-40B4-BE49-F238E27FC236}">
                <a16:creationId xmlns:a16="http://schemas.microsoft.com/office/drawing/2014/main" id="{3AEC6F84-2055-4E94-B42B-7F81DE93DE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07790D3-1830-4D69-87C1-A2FA620CC996}" type="slidenum">
              <a:rPr lang="pt-BR" altLang="pt-BR"/>
              <a:pPr>
                <a:spcBef>
                  <a:spcPct val="0"/>
                </a:spcBef>
              </a:pPr>
              <a:t>2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Espaço Reservado para Imagem de Slide 1">
            <a:extLst>
              <a:ext uri="{FF2B5EF4-FFF2-40B4-BE49-F238E27FC236}">
                <a16:creationId xmlns:a16="http://schemas.microsoft.com/office/drawing/2014/main" id="{6E194DE9-1B81-4126-8F9D-32080EEE756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1555" name="Espaço Reservado para Anotações 2">
            <a:extLst>
              <a:ext uri="{FF2B5EF4-FFF2-40B4-BE49-F238E27FC236}">
                <a16:creationId xmlns:a16="http://schemas.microsoft.com/office/drawing/2014/main" id="{C37E7867-1A89-470A-88D4-46E445EDC68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151556" name="Espaço Reservado para Número de Slide 3">
            <a:extLst>
              <a:ext uri="{FF2B5EF4-FFF2-40B4-BE49-F238E27FC236}">
                <a16:creationId xmlns:a16="http://schemas.microsoft.com/office/drawing/2014/main" id="{26351265-C7C4-4B41-BCE7-F833D194ED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F0C373A-F58D-4418-BDF2-26BEBCACA9E2}" type="slidenum">
              <a:rPr lang="pt-BR" altLang="pt-BR"/>
              <a:pPr>
                <a:spcBef>
                  <a:spcPct val="0"/>
                </a:spcBef>
              </a:pPr>
              <a:t>3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Espaço Reservado para Imagem de Slide 1">
            <a:extLst>
              <a:ext uri="{FF2B5EF4-FFF2-40B4-BE49-F238E27FC236}">
                <a16:creationId xmlns:a16="http://schemas.microsoft.com/office/drawing/2014/main" id="{6E735F61-1D7C-4817-AE33-6F73CFBFFC2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03" name="Espaço Reservado para Anotações 2">
            <a:extLst>
              <a:ext uri="{FF2B5EF4-FFF2-40B4-BE49-F238E27FC236}">
                <a16:creationId xmlns:a16="http://schemas.microsoft.com/office/drawing/2014/main" id="{DB6F35DE-73AA-457A-A36F-DE3888A8971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153604" name="Espaço Reservado para Número de Slide 3">
            <a:extLst>
              <a:ext uri="{FF2B5EF4-FFF2-40B4-BE49-F238E27FC236}">
                <a16:creationId xmlns:a16="http://schemas.microsoft.com/office/drawing/2014/main" id="{643C817A-E01E-40C2-9F37-AE69CCC00F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CEB79A3-EDA7-4841-8F6C-2571605CF804}" type="slidenum">
              <a:rPr lang="pt-BR" altLang="pt-BR"/>
              <a:pPr>
                <a:spcBef>
                  <a:spcPct val="0"/>
                </a:spcBef>
              </a:pPr>
              <a:t>4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Espaço Reservado para Imagem de Slide 1">
            <a:extLst>
              <a:ext uri="{FF2B5EF4-FFF2-40B4-BE49-F238E27FC236}">
                <a16:creationId xmlns:a16="http://schemas.microsoft.com/office/drawing/2014/main" id="{4C33C1E2-643F-4907-9F30-F2C218CF37C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5651" name="Espaço Reservado para Anotações 2">
            <a:extLst>
              <a:ext uri="{FF2B5EF4-FFF2-40B4-BE49-F238E27FC236}">
                <a16:creationId xmlns:a16="http://schemas.microsoft.com/office/drawing/2014/main" id="{4BB23E8B-8CEB-4A89-A20C-B857778B57A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155652" name="Espaço Reservado para Número de Slide 3">
            <a:extLst>
              <a:ext uri="{FF2B5EF4-FFF2-40B4-BE49-F238E27FC236}">
                <a16:creationId xmlns:a16="http://schemas.microsoft.com/office/drawing/2014/main" id="{1EBBFAC1-73C9-4FD8-AEF7-DDB11CF93A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B621E9F-A74F-4EBD-8F71-EB8308B559BE}" type="slidenum">
              <a:rPr lang="pt-BR" altLang="pt-BR"/>
              <a:pPr>
                <a:spcBef>
                  <a:spcPct val="0"/>
                </a:spcBef>
              </a:pPr>
              <a:t>5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Espaço Reservado para Imagem de Slide 1">
            <a:extLst>
              <a:ext uri="{FF2B5EF4-FFF2-40B4-BE49-F238E27FC236}">
                <a16:creationId xmlns:a16="http://schemas.microsoft.com/office/drawing/2014/main" id="{EF67BB8C-980E-479B-A519-C5490FB039E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9747" name="Espaço Reservado para Anotações 2">
            <a:extLst>
              <a:ext uri="{FF2B5EF4-FFF2-40B4-BE49-F238E27FC236}">
                <a16:creationId xmlns:a16="http://schemas.microsoft.com/office/drawing/2014/main" id="{99FABD9C-36EA-4F28-82B7-43BD6384BCE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159748" name="Espaço Reservado para Número de Slide 3">
            <a:extLst>
              <a:ext uri="{FF2B5EF4-FFF2-40B4-BE49-F238E27FC236}">
                <a16:creationId xmlns:a16="http://schemas.microsoft.com/office/drawing/2014/main" id="{19C92331-8019-4527-A92B-EC9323354E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9E7B864-A7D9-48AA-B727-E8D1B6B2757D}" type="slidenum">
              <a:rPr lang="pt-BR" altLang="pt-BR"/>
              <a:pPr>
                <a:spcBef>
                  <a:spcPct val="0"/>
                </a:spcBef>
              </a:pPr>
              <a:t>6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Espaço Reservado para Imagem de Slide 1">
            <a:extLst>
              <a:ext uri="{FF2B5EF4-FFF2-40B4-BE49-F238E27FC236}">
                <a16:creationId xmlns:a16="http://schemas.microsoft.com/office/drawing/2014/main" id="{E183BC09-81BE-4A0C-A6B3-0A1044BDFF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1795" name="Espaço Reservado para Anotações 2">
            <a:extLst>
              <a:ext uri="{FF2B5EF4-FFF2-40B4-BE49-F238E27FC236}">
                <a16:creationId xmlns:a16="http://schemas.microsoft.com/office/drawing/2014/main" id="{AE7429F9-21B7-4F5E-9E5D-6C55090ED82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161796" name="Espaço Reservado para Número de Slide 3">
            <a:extLst>
              <a:ext uri="{FF2B5EF4-FFF2-40B4-BE49-F238E27FC236}">
                <a16:creationId xmlns:a16="http://schemas.microsoft.com/office/drawing/2014/main" id="{53193602-807D-49B9-ADF5-24B186D39A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AD7FA5C-33F2-4EB2-9D7D-1336FB33E1B6}" type="slidenum">
              <a:rPr lang="pt-BR" altLang="pt-BR"/>
              <a:pPr>
                <a:spcBef>
                  <a:spcPct val="0"/>
                </a:spcBef>
              </a:pPr>
              <a:t>7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Espaço Reservado para Imagem de Slide 1">
            <a:extLst>
              <a:ext uri="{FF2B5EF4-FFF2-40B4-BE49-F238E27FC236}">
                <a16:creationId xmlns:a16="http://schemas.microsoft.com/office/drawing/2014/main" id="{C9F7CDC3-F386-424E-A55E-CE92751B9B6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43" name="Espaço Reservado para Anotações 2">
            <a:extLst>
              <a:ext uri="{FF2B5EF4-FFF2-40B4-BE49-F238E27FC236}">
                <a16:creationId xmlns:a16="http://schemas.microsoft.com/office/drawing/2014/main" id="{DB668780-B608-49AB-8E12-2E04CFBBAE5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163844" name="Espaço Reservado para Número de Slide 3">
            <a:extLst>
              <a:ext uri="{FF2B5EF4-FFF2-40B4-BE49-F238E27FC236}">
                <a16:creationId xmlns:a16="http://schemas.microsoft.com/office/drawing/2014/main" id="{4C1ABEDE-6D5B-4FCF-A99E-DF6FFCBB61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445A712-5F6F-4036-BF6C-819F3017EF43}" type="slidenum">
              <a:rPr lang="pt-BR" altLang="pt-BR"/>
              <a:pPr>
                <a:spcBef>
                  <a:spcPct val="0"/>
                </a:spcBef>
              </a:pPr>
              <a:t>8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Espaço Reservado para Imagem de Slide 1">
            <a:extLst>
              <a:ext uri="{FF2B5EF4-FFF2-40B4-BE49-F238E27FC236}">
                <a16:creationId xmlns:a16="http://schemas.microsoft.com/office/drawing/2014/main" id="{FF8854B1-B05E-4A62-9734-CE54693ED31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5891" name="Espaço Reservado para Anotações 2">
            <a:extLst>
              <a:ext uri="{FF2B5EF4-FFF2-40B4-BE49-F238E27FC236}">
                <a16:creationId xmlns:a16="http://schemas.microsoft.com/office/drawing/2014/main" id="{9397AC86-B559-4BFD-8FD1-5D4EAD1EC52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165892" name="Espaço Reservado para Número de Slide 3">
            <a:extLst>
              <a:ext uri="{FF2B5EF4-FFF2-40B4-BE49-F238E27FC236}">
                <a16:creationId xmlns:a16="http://schemas.microsoft.com/office/drawing/2014/main" id="{C7E138BC-2653-471B-BD91-6D4B87EE8E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8369336-8FF1-445C-8349-730FA53AC90C}" type="slidenum">
              <a:rPr lang="pt-BR" altLang="pt-BR"/>
              <a:pPr>
                <a:spcBef>
                  <a:spcPct val="0"/>
                </a:spcBef>
              </a:pPr>
              <a:t>9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Espaço Reservado para Imagem de Slide 1">
            <a:extLst>
              <a:ext uri="{FF2B5EF4-FFF2-40B4-BE49-F238E27FC236}">
                <a16:creationId xmlns:a16="http://schemas.microsoft.com/office/drawing/2014/main" id="{B94EA851-F393-47B2-AD40-4F120FCD47B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7939" name="Espaço Reservado para Anotações 2">
            <a:extLst>
              <a:ext uri="{FF2B5EF4-FFF2-40B4-BE49-F238E27FC236}">
                <a16:creationId xmlns:a16="http://schemas.microsoft.com/office/drawing/2014/main" id="{BCD86AFE-DB79-45EC-BDC5-43769D459EB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167940" name="Espaço Reservado para Número de Slide 3">
            <a:extLst>
              <a:ext uri="{FF2B5EF4-FFF2-40B4-BE49-F238E27FC236}">
                <a16:creationId xmlns:a16="http://schemas.microsoft.com/office/drawing/2014/main" id="{47BF616E-3888-4E94-BD09-3B30816A79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4BB3650-1B5A-4560-A611-77EE08C77C2D}" type="slidenum">
              <a:rPr lang="pt-BR" altLang="pt-BR"/>
              <a:pPr>
                <a:spcBef>
                  <a:spcPct val="0"/>
                </a:spcBef>
              </a:pPr>
              <a:t>10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Espaço Reservado para Imagem de Slide 1">
            <a:extLst>
              <a:ext uri="{FF2B5EF4-FFF2-40B4-BE49-F238E27FC236}">
                <a16:creationId xmlns:a16="http://schemas.microsoft.com/office/drawing/2014/main" id="{D3E017B2-447F-4E23-BB7A-8AAF57C91AC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9987" name="Espaço Reservado para Anotações 2">
            <a:extLst>
              <a:ext uri="{FF2B5EF4-FFF2-40B4-BE49-F238E27FC236}">
                <a16:creationId xmlns:a16="http://schemas.microsoft.com/office/drawing/2014/main" id="{1EE2CAE1-827F-4D58-90A1-5430FDB8396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169988" name="Espaço Reservado para Número de Slide 3">
            <a:extLst>
              <a:ext uri="{FF2B5EF4-FFF2-40B4-BE49-F238E27FC236}">
                <a16:creationId xmlns:a16="http://schemas.microsoft.com/office/drawing/2014/main" id="{23D4602E-1000-45A6-BF70-56D3CC9D74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30BFCCD-F3E3-4191-85BD-1EC3DEAB5BA6}" type="slidenum">
              <a:rPr lang="pt-BR" altLang="pt-BR"/>
              <a:pPr>
                <a:spcBef>
                  <a:spcPct val="0"/>
                </a:spcBef>
              </a:pPr>
              <a:t>11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Espaço Reservado para Imagem de Slide 1">
            <a:extLst>
              <a:ext uri="{FF2B5EF4-FFF2-40B4-BE49-F238E27FC236}">
                <a16:creationId xmlns:a16="http://schemas.microsoft.com/office/drawing/2014/main" id="{A1FDF666-1E4E-45D3-9462-0F115205CE6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2035" name="Espaço Reservado para Anotações 2">
            <a:extLst>
              <a:ext uri="{FF2B5EF4-FFF2-40B4-BE49-F238E27FC236}">
                <a16:creationId xmlns:a16="http://schemas.microsoft.com/office/drawing/2014/main" id="{1C58BD7D-7B7D-4EB6-B12E-1AF9D48177B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172036" name="Espaço Reservado para Número de Slide 3">
            <a:extLst>
              <a:ext uri="{FF2B5EF4-FFF2-40B4-BE49-F238E27FC236}">
                <a16:creationId xmlns:a16="http://schemas.microsoft.com/office/drawing/2014/main" id="{F6F2C3B3-6F92-4263-B2DF-400646ADCD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54E4062-FF67-4E46-9A0C-F26D482F9E5D}" type="slidenum">
              <a:rPr lang="pt-BR" altLang="pt-BR"/>
              <a:pPr>
                <a:spcBef>
                  <a:spcPct val="0"/>
                </a:spcBef>
              </a:pPr>
              <a:t>12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Espaço Reservado para Imagem de Slide 1">
            <a:extLst>
              <a:ext uri="{FF2B5EF4-FFF2-40B4-BE49-F238E27FC236}">
                <a16:creationId xmlns:a16="http://schemas.microsoft.com/office/drawing/2014/main" id="{12A7112C-C8E8-4595-9271-D060E1F0F33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083" name="Espaço Reservado para Anotações 2">
            <a:extLst>
              <a:ext uri="{FF2B5EF4-FFF2-40B4-BE49-F238E27FC236}">
                <a16:creationId xmlns:a16="http://schemas.microsoft.com/office/drawing/2014/main" id="{9B474E9D-B5CD-442F-BF78-CA21848B915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174084" name="Espaço Reservado para Número de Slide 3">
            <a:extLst>
              <a:ext uri="{FF2B5EF4-FFF2-40B4-BE49-F238E27FC236}">
                <a16:creationId xmlns:a16="http://schemas.microsoft.com/office/drawing/2014/main" id="{ABC9C4BE-17EA-48C7-BEB5-4C32CDD2AE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F553EE6-6E75-48A2-99E2-A59DA17EE99C}" type="slidenum">
              <a:rPr lang="pt-BR" altLang="pt-BR"/>
              <a:pPr>
                <a:spcBef>
                  <a:spcPct val="0"/>
                </a:spcBef>
              </a:pPr>
              <a:t>13</a:t>
            </a:fld>
            <a:endParaRPr lang="pt-BR" alt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0596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236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9580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770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0818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2215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5111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972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930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7951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6758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0654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Ecologia - conceito, definições de ecologia, sua importância - InfoEscola">
            <a:extLst>
              <a:ext uri="{FF2B5EF4-FFF2-40B4-BE49-F238E27FC236}">
                <a16:creationId xmlns:a16="http://schemas.microsoft.com/office/drawing/2014/main" id="{F1DACA33-E2AC-4076-B7D4-7374C86820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2435979C-8683-4775-A51B-7B69B8A514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00443"/>
            <a:ext cx="12192000" cy="1316038"/>
          </a:xfr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Ecologia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01B4C986-036F-4177-A597-967B1FA8B789}"/>
              </a:ext>
            </a:extLst>
          </p:cNvPr>
          <p:cNvSpPr txBox="1">
            <a:spLocks/>
          </p:cNvSpPr>
          <p:nvPr/>
        </p:nvSpPr>
        <p:spPr>
          <a:xfrm>
            <a:off x="0" y="2272751"/>
            <a:ext cx="12192000" cy="1244173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 fontScale="5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8000" dirty="0"/>
          </a:p>
          <a:p>
            <a:r>
              <a:rPr lang="pt-BR" sz="3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Problemas Ambientais IV</a:t>
            </a:r>
          </a:p>
          <a:p>
            <a:r>
              <a:rPr lang="pt-BR" sz="3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Poluição Hídrica</a:t>
            </a:r>
          </a:p>
          <a:p>
            <a:r>
              <a:rPr lang="pt-BR" sz="3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Perda de biodiversidade</a:t>
            </a:r>
          </a:p>
        </p:txBody>
      </p:sp>
    </p:spTree>
    <p:extLst>
      <p:ext uri="{BB962C8B-B14F-4D97-AF65-F5344CB8AC3E}">
        <p14:creationId xmlns:p14="http://schemas.microsoft.com/office/powerpoint/2010/main" val="541028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CaixaDeTexto 8">
            <a:extLst>
              <a:ext uri="{FF2B5EF4-FFF2-40B4-BE49-F238E27FC236}">
                <a16:creationId xmlns:a16="http://schemas.microsoft.com/office/drawing/2014/main" id="{447BD6F5-5FAA-43C3-80FD-E6948BCACF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1135B31-576A-4203-A94B-C0E97F9CEFBD}"/>
              </a:ext>
            </a:extLst>
          </p:cNvPr>
          <p:cNvSpPr txBox="1"/>
          <p:nvPr/>
        </p:nvSpPr>
        <p:spPr>
          <a:xfrm>
            <a:off x="1666875" y="1143000"/>
            <a:ext cx="8786813" cy="44624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1200" b="1" dirty="0">
              <a:latin typeface="+mn-lt"/>
            </a:endParaRP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1200" b="1" dirty="0">
              <a:latin typeface="+mn-lt"/>
            </a:endParaRP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1200" b="1" dirty="0">
              <a:latin typeface="+mn-lt"/>
            </a:endParaRP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1200" b="1" dirty="0">
              <a:latin typeface="+mn-lt"/>
            </a:endParaRP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1200" b="1" dirty="0">
              <a:latin typeface="+mn-lt"/>
            </a:endParaRP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1200" b="1" dirty="0">
              <a:latin typeface="+mn-lt"/>
            </a:endParaRP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pt-BR" sz="2200" dirty="0">
                <a:latin typeface="+mn-lt"/>
              </a:rPr>
              <a:t>Promove o aumento da quantidade de nutrientes no ambiente aquático.</a:t>
            </a: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pt-BR" sz="2200" dirty="0">
                <a:latin typeface="+mn-lt"/>
              </a:rPr>
              <a:t>Leva à ocorrência da </a:t>
            </a:r>
            <a:r>
              <a:rPr lang="pt-BR" sz="2200" b="1" i="1" dirty="0" err="1">
                <a:latin typeface="+mn-lt"/>
              </a:rPr>
              <a:t>eutrofização</a:t>
            </a:r>
            <a:r>
              <a:rPr lang="pt-BR" sz="2200" b="1" i="1" dirty="0">
                <a:latin typeface="+mn-lt"/>
              </a:rPr>
              <a:t>.</a:t>
            </a: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2000" b="1" dirty="0">
              <a:latin typeface="+mn-lt"/>
            </a:endParaRP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2000" b="1" dirty="0">
              <a:latin typeface="+mn-lt"/>
            </a:endParaRP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2000" b="1" dirty="0">
              <a:latin typeface="+mn-lt"/>
            </a:endParaRP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2000" b="1" dirty="0">
              <a:latin typeface="+mn-lt"/>
            </a:endParaRP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2000" b="1" dirty="0">
              <a:latin typeface="+mn-lt"/>
            </a:endParaRPr>
          </a:p>
          <a:p>
            <a:pPr marL="800100" lvl="1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endParaRPr lang="pt-BR" sz="2000" dirty="0">
              <a:latin typeface="+mn-lt"/>
            </a:endParaRPr>
          </a:p>
          <a:p>
            <a:pPr marL="800100" lvl="1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endParaRPr lang="pt-BR" sz="2000" dirty="0">
              <a:latin typeface="+mn-lt"/>
            </a:endParaRPr>
          </a:p>
          <a:p>
            <a:pPr marL="800100" lvl="1" indent="-342900"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2000" dirty="0">
              <a:latin typeface="+mn-lt"/>
            </a:endParaRP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800" b="1" dirty="0">
              <a:latin typeface="+mn-lt"/>
            </a:endParaRPr>
          </a:p>
        </p:txBody>
      </p:sp>
      <p:pic>
        <p:nvPicPr>
          <p:cNvPr id="148484" name="Imagem 8" descr="F4-5.jpg">
            <a:extLst>
              <a:ext uri="{FF2B5EF4-FFF2-40B4-BE49-F238E27FC236}">
                <a16:creationId xmlns:a16="http://schemas.microsoft.com/office/drawing/2014/main" id="{5CD29884-7923-420B-B82D-33FD0EED01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25" y="3000375"/>
            <a:ext cx="7429500" cy="385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CaixaDeTexto 6">
            <a:extLst>
              <a:ext uri="{FF2B5EF4-FFF2-40B4-BE49-F238E27FC236}">
                <a16:creationId xmlns:a16="http://schemas.microsoft.com/office/drawing/2014/main" id="{6F7C46FB-D49D-46B9-B3C2-77C23CF039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857250"/>
            <a:ext cx="8715375" cy="190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Poluição Hídrica</a:t>
            </a:r>
          </a:p>
          <a:p>
            <a:pPr marL="342900" indent="-342900" eaLnBrk="1" hangingPunct="1">
              <a:defRPr/>
            </a:pPr>
            <a:endParaRPr lang="pt-BR" sz="8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endParaRPr lang="pt-BR" sz="2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002060"/>
                </a:solidFill>
                <a:latin typeface="Calibri" pitchFamily="34" charset="0"/>
              </a:rPr>
              <a:t>	</a:t>
            </a:r>
            <a:r>
              <a:rPr lang="pt-BR" sz="3200" b="1" i="1" dirty="0" err="1">
                <a:solidFill>
                  <a:srgbClr val="002060"/>
                </a:solidFill>
                <a:latin typeface="Calibri" pitchFamily="34" charset="0"/>
              </a:rPr>
              <a:t>Eutrofização</a:t>
            </a:r>
            <a:endParaRPr lang="pt-BR" sz="2000" dirty="0">
              <a:latin typeface="+mn-lt"/>
            </a:endParaRPr>
          </a:p>
          <a:p>
            <a:pPr marL="342900" indent="-342900" eaLnBrk="1" hangingPunct="1">
              <a:defRPr/>
            </a:pPr>
            <a:endParaRPr lang="pt-BR" sz="800" dirty="0">
              <a:latin typeface="+mn-lt"/>
            </a:endParaRPr>
          </a:p>
          <a:p>
            <a:pPr marL="342900" indent="-342900" algn="just" eaLnBrk="1" hangingPunct="1">
              <a:defRPr/>
            </a:pPr>
            <a:endParaRPr lang="pt-BR" sz="800" dirty="0">
              <a:latin typeface="+mn-lt"/>
            </a:endParaRPr>
          </a:p>
          <a:p>
            <a:pPr marL="800100" lvl="1" indent="-342900" algn="just" eaLnBrk="1" hangingPunct="1">
              <a:defRPr/>
            </a:pPr>
            <a:endParaRPr lang="pt-BR" sz="2800" dirty="0">
              <a:latin typeface="+mn-lt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6DB6F8A0-011E-4B0E-8397-C04A17841ACA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B15EA013-7DF5-4B2D-AC88-1DFA98CB15CF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Poluição Hídrica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CaixaDeTexto 8">
            <a:extLst>
              <a:ext uri="{FF2B5EF4-FFF2-40B4-BE49-F238E27FC236}">
                <a16:creationId xmlns:a16="http://schemas.microsoft.com/office/drawing/2014/main" id="{5AE69D3A-3EC7-4312-97D5-466B95C8CE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F17B2B1-5DF7-4AE9-ABDE-DD3C01C94259}"/>
              </a:ext>
            </a:extLst>
          </p:cNvPr>
          <p:cNvSpPr txBox="1"/>
          <p:nvPr/>
        </p:nvSpPr>
        <p:spPr>
          <a:xfrm>
            <a:off x="1738313" y="1071563"/>
            <a:ext cx="8572500" cy="32924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2000" b="1" dirty="0">
              <a:latin typeface="+mn-lt"/>
            </a:endParaRP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2000" b="1" dirty="0">
              <a:latin typeface="+mn-lt"/>
            </a:endParaRP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2000" b="1" dirty="0">
              <a:latin typeface="+mn-lt"/>
            </a:endParaRP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2000" b="1" dirty="0">
              <a:latin typeface="+mn-lt"/>
            </a:endParaRP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2000" b="1" dirty="0">
              <a:latin typeface="+mn-lt"/>
            </a:endParaRP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2000" b="1" dirty="0">
              <a:latin typeface="+mn-lt"/>
            </a:endParaRP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2000" b="1" dirty="0">
              <a:latin typeface="+mn-lt"/>
            </a:endParaRPr>
          </a:p>
          <a:p>
            <a:pPr marL="800100" lvl="1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endParaRPr lang="pt-BR" sz="2000" dirty="0">
              <a:latin typeface="+mn-lt"/>
            </a:endParaRPr>
          </a:p>
          <a:p>
            <a:pPr marL="800100" lvl="1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endParaRPr lang="pt-BR" sz="2000" dirty="0">
              <a:latin typeface="+mn-lt"/>
            </a:endParaRPr>
          </a:p>
          <a:p>
            <a:pPr marL="800100" lvl="1" indent="-342900"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2000" dirty="0">
              <a:latin typeface="+mn-lt"/>
            </a:endParaRP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800" b="1" dirty="0">
              <a:latin typeface="+mn-lt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3B60B18-B3E8-4ED1-9AD7-5F64C375BC53}"/>
              </a:ext>
            </a:extLst>
          </p:cNvPr>
          <p:cNvSpPr txBox="1"/>
          <p:nvPr/>
        </p:nvSpPr>
        <p:spPr>
          <a:xfrm>
            <a:off x="1809750" y="3071813"/>
            <a:ext cx="2643188" cy="64611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1" hangingPunct="1">
              <a:defRPr/>
            </a:pPr>
            <a:r>
              <a:rPr lang="pt-BR" dirty="0"/>
              <a:t>↑ níveis de Nitrogênio, Potássio e fósforo na água</a:t>
            </a:r>
          </a:p>
        </p:txBody>
      </p:sp>
      <p:sp>
        <p:nvSpPr>
          <p:cNvPr id="10" name="Seta para a direita 9">
            <a:extLst>
              <a:ext uri="{FF2B5EF4-FFF2-40B4-BE49-F238E27FC236}">
                <a16:creationId xmlns:a16="http://schemas.microsoft.com/office/drawing/2014/main" id="{A518CEF0-8DBC-496C-9971-7AC12D39F772}"/>
              </a:ext>
            </a:extLst>
          </p:cNvPr>
          <p:cNvSpPr/>
          <p:nvPr/>
        </p:nvSpPr>
        <p:spPr>
          <a:xfrm>
            <a:off x="8167688" y="3214688"/>
            <a:ext cx="642937" cy="428625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7FA2365-1175-4B30-BF23-39AA120AB505}"/>
              </a:ext>
            </a:extLst>
          </p:cNvPr>
          <p:cNvSpPr txBox="1"/>
          <p:nvPr/>
        </p:nvSpPr>
        <p:spPr>
          <a:xfrm>
            <a:off x="5381625" y="2928938"/>
            <a:ext cx="2643188" cy="92392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1" hangingPunct="1">
              <a:defRPr/>
            </a:pPr>
            <a:r>
              <a:rPr lang="pt-BR" dirty="0"/>
              <a:t>Crescimento populacional de algas, que produzem oxigênio na fotossíntese.</a:t>
            </a:r>
          </a:p>
        </p:txBody>
      </p:sp>
      <p:sp>
        <p:nvSpPr>
          <p:cNvPr id="12" name="Seta para a direita 11">
            <a:extLst>
              <a:ext uri="{FF2B5EF4-FFF2-40B4-BE49-F238E27FC236}">
                <a16:creationId xmlns:a16="http://schemas.microsoft.com/office/drawing/2014/main" id="{6E6A5405-C827-4AE6-A044-CC2E75E0AFF0}"/>
              </a:ext>
            </a:extLst>
          </p:cNvPr>
          <p:cNvSpPr/>
          <p:nvPr/>
        </p:nvSpPr>
        <p:spPr>
          <a:xfrm>
            <a:off x="4595813" y="3143250"/>
            <a:ext cx="642937" cy="428625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C6ADF77-346F-4100-912F-725D27A0973C}"/>
              </a:ext>
            </a:extLst>
          </p:cNvPr>
          <p:cNvSpPr txBox="1"/>
          <p:nvPr/>
        </p:nvSpPr>
        <p:spPr>
          <a:xfrm>
            <a:off x="8953500" y="2928938"/>
            <a:ext cx="1428750" cy="92392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pt-BR" dirty="0"/>
              <a:t>Proliferação </a:t>
            </a:r>
          </a:p>
          <a:p>
            <a:pPr algn="ctr" eaLnBrk="1" hangingPunct="1">
              <a:defRPr/>
            </a:pPr>
            <a:r>
              <a:rPr lang="pt-BR" dirty="0"/>
              <a:t>de bactérias aeróbicas.</a:t>
            </a:r>
          </a:p>
        </p:txBody>
      </p:sp>
      <p:sp>
        <p:nvSpPr>
          <p:cNvPr id="15" name="Seta para a direita 14">
            <a:extLst>
              <a:ext uri="{FF2B5EF4-FFF2-40B4-BE49-F238E27FC236}">
                <a16:creationId xmlns:a16="http://schemas.microsoft.com/office/drawing/2014/main" id="{E4927CDB-7A73-4C06-82B7-E2CFFC827B33}"/>
              </a:ext>
            </a:extLst>
          </p:cNvPr>
          <p:cNvSpPr/>
          <p:nvPr/>
        </p:nvSpPr>
        <p:spPr>
          <a:xfrm rot="5400000">
            <a:off x="9274969" y="4179094"/>
            <a:ext cx="642937" cy="428625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B424951-EBF1-4BA2-ADCA-D2ACABFE48AA}"/>
              </a:ext>
            </a:extLst>
          </p:cNvPr>
          <p:cNvSpPr txBox="1"/>
          <p:nvPr/>
        </p:nvSpPr>
        <p:spPr>
          <a:xfrm>
            <a:off x="8810625" y="4929188"/>
            <a:ext cx="1643063" cy="12001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pt-BR" dirty="0"/>
              <a:t>Redução da concentração de oxigênio da água.</a:t>
            </a:r>
          </a:p>
        </p:txBody>
      </p:sp>
      <p:sp>
        <p:nvSpPr>
          <p:cNvPr id="17" name="Seta para a direita 16">
            <a:extLst>
              <a:ext uri="{FF2B5EF4-FFF2-40B4-BE49-F238E27FC236}">
                <a16:creationId xmlns:a16="http://schemas.microsoft.com/office/drawing/2014/main" id="{19390A7F-ED2A-45A5-B5A5-4412612983B7}"/>
              </a:ext>
            </a:extLst>
          </p:cNvPr>
          <p:cNvSpPr/>
          <p:nvPr/>
        </p:nvSpPr>
        <p:spPr>
          <a:xfrm rot="10800000">
            <a:off x="8024813" y="5357813"/>
            <a:ext cx="642937" cy="428625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0C07D29-0402-4EB6-97E6-F77BCB6E1EEF}"/>
              </a:ext>
            </a:extLst>
          </p:cNvPr>
          <p:cNvSpPr txBox="1"/>
          <p:nvPr/>
        </p:nvSpPr>
        <p:spPr>
          <a:xfrm>
            <a:off x="6238875" y="4929188"/>
            <a:ext cx="1643063" cy="12001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pt-BR" dirty="0"/>
              <a:t>Morte de vários animais aquáticos (peixes)</a:t>
            </a:r>
          </a:p>
        </p:txBody>
      </p:sp>
      <p:sp>
        <p:nvSpPr>
          <p:cNvPr id="19" name="Seta para a direita 18">
            <a:extLst>
              <a:ext uri="{FF2B5EF4-FFF2-40B4-BE49-F238E27FC236}">
                <a16:creationId xmlns:a16="http://schemas.microsoft.com/office/drawing/2014/main" id="{7C16FAB8-C333-4839-93FD-1C88ADDB56AC}"/>
              </a:ext>
            </a:extLst>
          </p:cNvPr>
          <p:cNvSpPr/>
          <p:nvPr/>
        </p:nvSpPr>
        <p:spPr>
          <a:xfrm rot="10800000">
            <a:off x="5453063" y="5357813"/>
            <a:ext cx="642937" cy="428625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pt-BR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BFE72BB-F9BF-4E72-B365-7A6767CF9848}"/>
              </a:ext>
            </a:extLst>
          </p:cNvPr>
          <p:cNvSpPr txBox="1"/>
          <p:nvPr/>
        </p:nvSpPr>
        <p:spPr>
          <a:xfrm>
            <a:off x="3667125" y="5072063"/>
            <a:ext cx="1643063" cy="92392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pt-BR" dirty="0"/>
              <a:t>Proliferação de bactérias anaeróbicas</a:t>
            </a:r>
          </a:p>
        </p:txBody>
      </p:sp>
      <p:sp>
        <p:nvSpPr>
          <p:cNvPr id="21" name="Seta para a direita 20">
            <a:extLst>
              <a:ext uri="{FF2B5EF4-FFF2-40B4-BE49-F238E27FC236}">
                <a16:creationId xmlns:a16="http://schemas.microsoft.com/office/drawing/2014/main" id="{FF79CC1A-677F-46B3-A45E-8B53A67EA6B3}"/>
              </a:ext>
            </a:extLst>
          </p:cNvPr>
          <p:cNvSpPr/>
          <p:nvPr/>
        </p:nvSpPr>
        <p:spPr>
          <a:xfrm rot="10800000">
            <a:off x="2881313" y="5357813"/>
            <a:ext cx="642937" cy="428625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E196A573-8C2E-4CEA-9AAB-5EFE07FF278B}"/>
              </a:ext>
            </a:extLst>
          </p:cNvPr>
          <p:cNvSpPr txBox="1"/>
          <p:nvPr/>
        </p:nvSpPr>
        <p:spPr>
          <a:xfrm>
            <a:off x="1738313" y="4857750"/>
            <a:ext cx="1071562" cy="12001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pt-BR" dirty="0"/>
              <a:t>Produção de gases mal-cheirosos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2056AB9F-BA52-43D4-AB77-362F198FCF9A}"/>
              </a:ext>
            </a:extLst>
          </p:cNvPr>
          <p:cNvSpPr txBox="1"/>
          <p:nvPr/>
        </p:nvSpPr>
        <p:spPr>
          <a:xfrm>
            <a:off x="1738313" y="2214563"/>
            <a:ext cx="2786062" cy="36988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pt-BR" dirty="0"/>
              <a:t>Poluição do rio/lago/mar</a:t>
            </a:r>
          </a:p>
        </p:txBody>
      </p:sp>
      <p:sp>
        <p:nvSpPr>
          <p:cNvPr id="24" name="Seta para baixo 23">
            <a:extLst>
              <a:ext uri="{FF2B5EF4-FFF2-40B4-BE49-F238E27FC236}">
                <a16:creationId xmlns:a16="http://schemas.microsoft.com/office/drawing/2014/main" id="{D8C80BCD-2F19-498D-A284-F2598C894770}"/>
              </a:ext>
            </a:extLst>
          </p:cNvPr>
          <p:cNvSpPr/>
          <p:nvPr/>
        </p:nvSpPr>
        <p:spPr>
          <a:xfrm>
            <a:off x="2881313" y="2714625"/>
            <a:ext cx="428625" cy="214313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pt-BR"/>
          </a:p>
        </p:txBody>
      </p:sp>
      <p:sp>
        <p:nvSpPr>
          <p:cNvPr id="26" name="CaixaDeTexto 6">
            <a:extLst>
              <a:ext uri="{FF2B5EF4-FFF2-40B4-BE49-F238E27FC236}">
                <a16:creationId xmlns:a16="http://schemas.microsoft.com/office/drawing/2014/main" id="{A05655AB-F0FD-4623-8E3D-0B14FC833E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857250"/>
            <a:ext cx="8715375" cy="190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Poluição Hídrica</a:t>
            </a:r>
          </a:p>
          <a:p>
            <a:pPr marL="342900" indent="-342900" eaLnBrk="1" hangingPunct="1">
              <a:defRPr/>
            </a:pPr>
            <a:endParaRPr lang="pt-BR" sz="8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endParaRPr lang="pt-BR" sz="2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002060"/>
                </a:solidFill>
                <a:latin typeface="Calibri" pitchFamily="34" charset="0"/>
              </a:rPr>
              <a:t>	</a:t>
            </a:r>
            <a:r>
              <a:rPr lang="pt-BR" sz="3200" b="1" i="1" dirty="0" err="1">
                <a:solidFill>
                  <a:srgbClr val="002060"/>
                </a:solidFill>
                <a:latin typeface="Calibri" pitchFamily="34" charset="0"/>
              </a:rPr>
              <a:t>Eutrofização</a:t>
            </a:r>
            <a:endParaRPr lang="pt-BR" sz="2000" dirty="0">
              <a:latin typeface="+mn-lt"/>
            </a:endParaRPr>
          </a:p>
          <a:p>
            <a:pPr marL="342900" indent="-342900" eaLnBrk="1" hangingPunct="1">
              <a:defRPr/>
            </a:pPr>
            <a:endParaRPr lang="pt-BR" sz="800" dirty="0">
              <a:latin typeface="+mn-lt"/>
            </a:endParaRPr>
          </a:p>
          <a:p>
            <a:pPr marL="342900" indent="-342900" algn="just" eaLnBrk="1" hangingPunct="1">
              <a:defRPr/>
            </a:pPr>
            <a:endParaRPr lang="pt-BR" sz="800" dirty="0">
              <a:latin typeface="+mn-lt"/>
            </a:endParaRPr>
          </a:p>
          <a:p>
            <a:pPr marL="800100" lvl="1" indent="-342900" algn="just" eaLnBrk="1" hangingPunct="1">
              <a:defRPr/>
            </a:pPr>
            <a:endParaRPr lang="pt-BR" sz="2800" dirty="0">
              <a:latin typeface="+mn-lt"/>
            </a:endParaRP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BA423895-4021-4DC2-97A8-6EB16842AF97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Título 1">
            <a:extLst>
              <a:ext uri="{FF2B5EF4-FFF2-40B4-BE49-F238E27FC236}">
                <a16:creationId xmlns:a16="http://schemas.microsoft.com/office/drawing/2014/main" id="{8CACA762-2B56-4C2F-B425-385CAD3D52E0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Poluição Hídrica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CaixaDeTexto 8">
            <a:extLst>
              <a:ext uri="{FF2B5EF4-FFF2-40B4-BE49-F238E27FC236}">
                <a16:creationId xmlns:a16="http://schemas.microsoft.com/office/drawing/2014/main" id="{AE1D1235-F73D-4A4D-A750-9009C01F11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FA45202-6EBA-4864-A0F2-4DFDB4F45E4E}"/>
              </a:ext>
            </a:extLst>
          </p:cNvPr>
          <p:cNvSpPr txBox="1"/>
          <p:nvPr/>
        </p:nvSpPr>
        <p:spPr>
          <a:xfrm>
            <a:off x="1666875" y="1143000"/>
            <a:ext cx="8786813" cy="2370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2000" b="1" dirty="0">
              <a:latin typeface="+mn-lt"/>
            </a:endParaRP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2000" b="1" dirty="0">
              <a:latin typeface="+mn-lt"/>
            </a:endParaRP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2000" b="1" dirty="0">
              <a:latin typeface="+mn-lt"/>
            </a:endParaRP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2000" b="1" dirty="0">
              <a:latin typeface="+mn-lt"/>
            </a:endParaRPr>
          </a:p>
          <a:p>
            <a:pPr marL="800100" lvl="1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endParaRPr lang="pt-BR" sz="2000" dirty="0">
              <a:latin typeface="+mn-lt"/>
            </a:endParaRPr>
          </a:p>
          <a:p>
            <a:pPr marL="800100" lvl="1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endParaRPr lang="pt-BR" sz="2000" dirty="0">
              <a:latin typeface="+mn-lt"/>
            </a:endParaRPr>
          </a:p>
          <a:p>
            <a:pPr marL="800100" lvl="1" indent="-342900"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2000" dirty="0">
              <a:latin typeface="+mn-lt"/>
            </a:endParaRP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800" b="1" dirty="0">
              <a:latin typeface="+mn-lt"/>
            </a:endParaRPr>
          </a:p>
        </p:txBody>
      </p:sp>
      <p:pic>
        <p:nvPicPr>
          <p:cNvPr id="152580" name="Picture 2" descr="Lagoa eutrofizada/área alagada - Parque Ecológico do Tietê - Núcleo Engenheiro Goulart, São Paulo, SP, Brasil.">
            <a:extLst>
              <a:ext uri="{FF2B5EF4-FFF2-40B4-BE49-F238E27FC236}">
                <a16:creationId xmlns:a16="http://schemas.microsoft.com/office/drawing/2014/main" id="{1389E7BB-9EA8-4235-9536-9FD2E4E77C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1188" y="2643188"/>
            <a:ext cx="3990975" cy="2928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2581" name="CaixaDeTexto 9">
            <a:extLst>
              <a:ext uri="{FF2B5EF4-FFF2-40B4-BE49-F238E27FC236}">
                <a16:creationId xmlns:a16="http://schemas.microsoft.com/office/drawing/2014/main" id="{4A05BEDC-0732-48C0-9FC3-53A9464EB1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1188" y="5715000"/>
            <a:ext cx="39290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800">
                <a:latin typeface="Arial" panose="020B0604020202020204" pitchFamily="34" charset="0"/>
              </a:rPr>
              <a:t>Lagoa da Pampulha</a:t>
            </a:r>
          </a:p>
        </p:txBody>
      </p:sp>
      <p:pic>
        <p:nvPicPr>
          <p:cNvPr id="152582" name="Picture 4" descr="http://api.ning.com/files/wD6MVJAvmDARgm9BOXrVkel-jHhhMJ47v3HA9pyrdnFRcOLIg3BRrqZV2svK9-ixmrjDYl0tomB1EfnutV*Dmb3H-57eZQRN/tiete.jpg">
            <a:extLst>
              <a:ext uri="{FF2B5EF4-FFF2-40B4-BE49-F238E27FC236}">
                <a16:creationId xmlns:a16="http://schemas.microsoft.com/office/drawing/2014/main" id="{FF0AB737-4907-47E7-BCA6-61D2FBD9EB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8875" y="2643188"/>
            <a:ext cx="3929063" cy="294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2583" name="CaixaDeTexto 11">
            <a:extLst>
              <a:ext uri="{FF2B5EF4-FFF2-40B4-BE49-F238E27FC236}">
                <a16:creationId xmlns:a16="http://schemas.microsoft.com/office/drawing/2014/main" id="{EBF36D90-692F-4948-BA7D-34B5E2BCE8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8875" y="5715000"/>
            <a:ext cx="39290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800">
                <a:latin typeface="Arial" panose="020B0604020202020204" pitchFamily="34" charset="0"/>
              </a:rPr>
              <a:t>Rio Tietê</a:t>
            </a:r>
          </a:p>
        </p:txBody>
      </p:sp>
      <p:sp>
        <p:nvSpPr>
          <p:cNvPr id="10" name="CaixaDeTexto 6">
            <a:extLst>
              <a:ext uri="{FF2B5EF4-FFF2-40B4-BE49-F238E27FC236}">
                <a16:creationId xmlns:a16="http://schemas.microsoft.com/office/drawing/2014/main" id="{7A2FFE68-5F08-4775-8AC2-D8ABFC3A85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1000125"/>
            <a:ext cx="8715375" cy="190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Poluição Hídrica</a:t>
            </a:r>
          </a:p>
          <a:p>
            <a:pPr marL="342900" indent="-342900" eaLnBrk="1" hangingPunct="1">
              <a:defRPr/>
            </a:pPr>
            <a:endParaRPr lang="pt-BR" sz="8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endParaRPr lang="pt-BR" sz="2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002060"/>
                </a:solidFill>
                <a:latin typeface="Calibri" pitchFamily="34" charset="0"/>
              </a:rPr>
              <a:t>	</a:t>
            </a:r>
            <a:r>
              <a:rPr lang="pt-BR" sz="3200" b="1" i="1" dirty="0" err="1">
                <a:solidFill>
                  <a:srgbClr val="002060"/>
                </a:solidFill>
                <a:latin typeface="Calibri" pitchFamily="34" charset="0"/>
              </a:rPr>
              <a:t>Eutrofização</a:t>
            </a:r>
            <a:endParaRPr lang="pt-BR" sz="2000" dirty="0">
              <a:latin typeface="+mn-lt"/>
            </a:endParaRPr>
          </a:p>
          <a:p>
            <a:pPr marL="342900" indent="-342900" eaLnBrk="1" hangingPunct="1">
              <a:defRPr/>
            </a:pPr>
            <a:endParaRPr lang="pt-BR" sz="800" dirty="0">
              <a:latin typeface="+mn-lt"/>
            </a:endParaRPr>
          </a:p>
          <a:p>
            <a:pPr marL="342900" indent="-342900" algn="just" eaLnBrk="1" hangingPunct="1">
              <a:defRPr/>
            </a:pPr>
            <a:endParaRPr lang="pt-BR" sz="800" dirty="0">
              <a:latin typeface="+mn-lt"/>
            </a:endParaRPr>
          </a:p>
          <a:p>
            <a:pPr marL="800100" lvl="1" indent="-342900" algn="just" eaLnBrk="1" hangingPunct="1">
              <a:defRPr/>
            </a:pPr>
            <a:endParaRPr lang="pt-BR" sz="2800" dirty="0">
              <a:latin typeface="+mn-lt"/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70FD488-7CFD-48A1-875E-38840A0871CB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819F55F1-DB78-4116-88D0-43F28EF382BE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Poluição Hídrica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CaixaDeTexto 8">
            <a:extLst>
              <a:ext uri="{FF2B5EF4-FFF2-40B4-BE49-F238E27FC236}">
                <a16:creationId xmlns:a16="http://schemas.microsoft.com/office/drawing/2014/main" id="{014919DD-2CCA-4DE6-8B18-A1BAEB76DE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9D1335B-1CC7-4900-91FA-9F27AD7B4414}"/>
              </a:ext>
            </a:extLst>
          </p:cNvPr>
          <p:cNvSpPr txBox="1"/>
          <p:nvPr/>
        </p:nvSpPr>
        <p:spPr>
          <a:xfrm>
            <a:off x="1666875" y="1143000"/>
            <a:ext cx="8786813" cy="544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2000" b="1" dirty="0">
              <a:latin typeface="+mn-lt"/>
            </a:endParaRP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2000" b="1" dirty="0">
              <a:latin typeface="+mn-lt"/>
            </a:endParaRP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800" b="1" dirty="0">
              <a:latin typeface="+mn-lt"/>
            </a:endParaRP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800" b="1" dirty="0">
              <a:latin typeface="+mn-lt"/>
            </a:endParaRP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pt-BR" sz="2400" dirty="0">
                <a:latin typeface="+mn-lt"/>
              </a:rPr>
              <a:t>Ocorre devido ao acúmulo de algas unicelulares (dinoflagelados)</a:t>
            </a: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pt-BR" sz="2400" dirty="0">
                <a:latin typeface="+mn-lt"/>
              </a:rPr>
              <a:t>Muitas vezes o acúmulo dessas algas se deve ao processo de </a:t>
            </a:r>
            <a:r>
              <a:rPr lang="pt-BR" sz="2400" dirty="0" err="1">
                <a:latin typeface="+mn-lt"/>
              </a:rPr>
              <a:t>eutrofização</a:t>
            </a:r>
            <a:r>
              <a:rPr lang="pt-BR" sz="2400" dirty="0">
                <a:latin typeface="+mn-lt"/>
              </a:rPr>
              <a:t>.</a:t>
            </a: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pt-BR" sz="2400" dirty="0">
                <a:latin typeface="+mn-lt"/>
              </a:rPr>
              <a:t>Em excesso, as algas produzem componentes químicos tóxicos na água, causando a morte de milhares de peixes. (</a:t>
            </a:r>
            <a:r>
              <a:rPr lang="pt-BR" sz="2400" dirty="0" err="1">
                <a:latin typeface="+mn-lt"/>
              </a:rPr>
              <a:t>amensalismo</a:t>
            </a:r>
            <a:r>
              <a:rPr lang="pt-BR" sz="2400" dirty="0">
                <a:latin typeface="+mn-lt"/>
              </a:rPr>
              <a:t>).</a:t>
            </a:r>
          </a:p>
          <a:p>
            <a:pPr marL="800100" lvl="1" indent="-342900"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2000" b="1" dirty="0">
              <a:latin typeface="+mn-lt"/>
            </a:endParaRP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2000" b="1" dirty="0">
              <a:latin typeface="+mn-lt"/>
            </a:endParaRP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2000" b="1" dirty="0">
              <a:latin typeface="+mn-lt"/>
            </a:endParaRP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2000" b="1" dirty="0">
              <a:latin typeface="+mn-lt"/>
            </a:endParaRP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2000" b="1" dirty="0">
              <a:latin typeface="+mn-lt"/>
            </a:endParaRPr>
          </a:p>
          <a:p>
            <a:pPr marL="800100" lvl="1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endParaRPr lang="pt-BR" sz="2000" dirty="0">
              <a:latin typeface="+mn-lt"/>
            </a:endParaRPr>
          </a:p>
          <a:p>
            <a:pPr marL="800100" lvl="1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endParaRPr lang="pt-BR" sz="2000" dirty="0">
              <a:latin typeface="+mn-lt"/>
            </a:endParaRPr>
          </a:p>
          <a:p>
            <a:pPr marL="800100" lvl="1" indent="-342900"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2000" dirty="0">
              <a:latin typeface="+mn-lt"/>
            </a:endParaRPr>
          </a:p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800" b="1" dirty="0">
              <a:latin typeface="+mn-lt"/>
            </a:endParaRPr>
          </a:p>
        </p:txBody>
      </p:sp>
      <p:pic>
        <p:nvPicPr>
          <p:cNvPr id="154628" name="Picture 2" descr="http://upload.wikimedia.org/wikipedia/commons/thumb/4/47/Mar%C3%A9_vermelha.JPG/250px-Mar%C3%A9_vermelha.JPG">
            <a:extLst>
              <a:ext uri="{FF2B5EF4-FFF2-40B4-BE49-F238E27FC236}">
                <a16:creationId xmlns:a16="http://schemas.microsoft.com/office/drawing/2014/main" id="{95EAD876-5271-4FEB-BC1A-91BD76F5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2688" y="3987800"/>
            <a:ext cx="3214687" cy="243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4629" name="Picture 4" descr="http://upload.wikimedia.org/wikipedia/commons/thumb/1/18/Resultado_da_mar%C3%A9_vermelha.JPG/250px-Resultado_da_mar%C3%A9_vermelha.JPG">
            <a:extLst>
              <a:ext uri="{FF2B5EF4-FFF2-40B4-BE49-F238E27FC236}">
                <a16:creationId xmlns:a16="http://schemas.microsoft.com/office/drawing/2014/main" id="{EBF2C2D9-03F5-4BF0-83C8-58B9639078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987800"/>
            <a:ext cx="3643313" cy="247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4630" name="CaixaDeTexto 14">
            <a:extLst>
              <a:ext uri="{FF2B5EF4-FFF2-40B4-BE49-F238E27FC236}">
                <a16:creationId xmlns:a16="http://schemas.microsoft.com/office/drawing/2014/main" id="{679A2260-729B-470B-91B9-1EE3F1E2E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25" y="6488113"/>
            <a:ext cx="30003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800">
                <a:latin typeface="Arial" panose="020B0604020202020204" pitchFamily="34" charset="0"/>
              </a:rPr>
              <a:t>Maré vermelha</a:t>
            </a:r>
          </a:p>
        </p:txBody>
      </p:sp>
      <p:sp>
        <p:nvSpPr>
          <p:cNvPr id="154631" name="CaixaDeTexto 15">
            <a:extLst>
              <a:ext uri="{FF2B5EF4-FFF2-40B4-BE49-F238E27FC236}">
                <a16:creationId xmlns:a16="http://schemas.microsoft.com/office/drawing/2014/main" id="{6248E331-713F-43BA-97FB-484657E8E5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8875" y="6488113"/>
            <a:ext cx="33575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800">
                <a:latin typeface="Arial" panose="020B0604020202020204" pitchFamily="34" charset="0"/>
              </a:rPr>
              <a:t>Peixes mortos</a:t>
            </a:r>
          </a:p>
        </p:txBody>
      </p:sp>
      <p:sp>
        <p:nvSpPr>
          <p:cNvPr id="10" name="CaixaDeTexto 6">
            <a:extLst>
              <a:ext uri="{FF2B5EF4-FFF2-40B4-BE49-F238E27FC236}">
                <a16:creationId xmlns:a16="http://schemas.microsoft.com/office/drawing/2014/main" id="{9A46C7A0-8B87-4E4A-AF07-754A405D22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857250"/>
            <a:ext cx="8715375" cy="178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Poluição Hídrica</a:t>
            </a:r>
            <a:endParaRPr lang="pt-BR" sz="8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endParaRPr lang="pt-BR" sz="2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002060"/>
                </a:solidFill>
                <a:latin typeface="Calibri" pitchFamily="34" charset="0"/>
              </a:rPr>
              <a:t>	Maré Vermelha</a:t>
            </a:r>
            <a:endParaRPr lang="pt-BR" sz="2000" dirty="0">
              <a:latin typeface="+mn-lt"/>
            </a:endParaRPr>
          </a:p>
          <a:p>
            <a:pPr marL="342900" indent="-342900" eaLnBrk="1" hangingPunct="1">
              <a:defRPr/>
            </a:pPr>
            <a:endParaRPr lang="pt-BR" sz="800" dirty="0">
              <a:latin typeface="+mn-lt"/>
            </a:endParaRPr>
          </a:p>
          <a:p>
            <a:pPr marL="342900" indent="-342900" algn="just" eaLnBrk="1" hangingPunct="1">
              <a:defRPr/>
            </a:pPr>
            <a:endParaRPr lang="pt-BR" sz="800" dirty="0">
              <a:latin typeface="+mn-lt"/>
            </a:endParaRPr>
          </a:p>
          <a:p>
            <a:pPr marL="800100" lvl="1" indent="-342900" algn="just" eaLnBrk="1" hangingPunct="1">
              <a:defRPr/>
            </a:pPr>
            <a:endParaRPr lang="pt-BR" sz="2800" dirty="0">
              <a:latin typeface="+mn-lt"/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A0E79141-58B9-4689-AD9A-B3D06D8E723D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5C4259E0-25E7-4D0E-9BEA-2D0B14BA8B4A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Poluição Hídrica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CaixaDeTexto 8">
            <a:extLst>
              <a:ext uri="{FF2B5EF4-FFF2-40B4-BE49-F238E27FC236}">
                <a16:creationId xmlns:a16="http://schemas.microsoft.com/office/drawing/2014/main" id="{530484F6-6054-4D50-8E51-A46C611B29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4101" name="CaixaDeTexto 6">
            <a:extLst>
              <a:ext uri="{FF2B5EF4-FFF2-40B4-BE49-F238E27FC236}">
                <a16:creationId xmlns:a16="http://schemas.microsoft.com/office/drawing/2014/main" id="{A7EDF01A-5408-43E3-BB19-3E15CAE46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1143000"/>
            <a:ext cx="8715375" cy="430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Perda da Biodiversidade</a:t>
            </a:r>
          </a:p>
          <a:p>
            <a:pPr marL="342900" indent="-342900" eaLnBrk="1" hangingPunct="1">
              <a:defRPr/>
            </a:pPr>
            <a:endParaRPr lang="pt-BR" sz="8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endParaRPr lang="pt-BR" sz="2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002060"/>
                </a:solidFill>
                <a:latin typeface="Calibri" pitchFamily="34" charset="0"/>
              </a:rPr>
              <a:t>	Conceito de biodiversidade</a:t>
            </a:r>
            <a:endParaRPr lang="pt-BR" sz="2000" dirty="0">
              <a:latin typeface="+mn-lt"/>
            </a:endParaRPr>
          </a:p>
          <a:p>
            <a:pPr marL="342900" indent="-342900" eaLnBrk="1" hangingPunct="1">
              <a:defRPr/>
            </a:pPr>
            <a:endParaRPr lang="pt-BR" sz="2000" dirty="0">
              <a:latin typeface="+mn-lt"/>
            </a:endParaRPr>
          </a:p>
          <a:p>
            <a:pPr marL="514350" indent="-514350" algn="just" eaLnBrk="1" hangingPunct="1">
              <a:buFont typeface="Wingdings" pitchFamily="2" charset="2"/>
              <a:buChar char="ü"/>
              <a:defRPr/>
            </a:pPr>
            <a:r>
              <a:rPr lang="pt-BR" sz="2800" dirty="0">
                <a:latin typeface="+mn-lt"/>
              </a:rPr>
              <a:t>A biodiversidade engloba a variedade de genes, espécies e ecossistemas que constituem a vida no planeta.</a:t>
            </a:r>
          </a:p>
          <a:p>
            <a:pPr marL="514350" indent="-514350" algn="just" eaLnBrk="1" hangingPunct="1">
              <a:defRPr/>
            </a:pPr>
            <a:br>
              <a:rPr lang="pt-BR" sz="2000" dirty="0">
                <a:latin typeface="Arial" charset="0"/>
              </a:rPr>
            </a:br>
            <a:endParaRPr lang="pt-BR" sz="2000" dirty="0">
              <a:latin typeface="+mn-lt"/>
            </a:endParaRPr>
          </a:p>
          <a:p>
            <a:pPr marL="342900" indent="-342900" algn="just" eaLnBrk="1" hangingPunct="1">
              <a:defRPr/>
            </a:pPr>
            <a:endParaRPr lang="pt-BR" sz="2800" dirty="0">
              <a:latin typeface="+mn-lt"/>
            </a:endParaRPr>
          </a:p>
          <a:p>
            <a:pPr marL="342900" indent="-342900" algn="just" eaLnBrk="1" hangingPunct="1">
              <a:defRPr/>
            </a:pPr>
            <a:endParaRPr lang="pt-BR" sz="2800" dirty="0">
              <a:latin typeface="+mn-lt"/>
            </a:endParaRPr>
          </a:p>
        </p:txBody>
      </p:sp>
      <p:pic>
        <p:nvPicPr>
          <p:cNvPr id="158726" name="Picture 5" descr="Biodiversidade">
            <a:extLst>
              <a:ext uri="{FF2B5EF4-FFF2-40B4-BE49-F238E27FC236}">
                <a16:creationId xmlns:a16="http://schemas.microsoft.com/office/drawing/2014/main" id="{36CC1A4B-DB8F-4CF2-8143-E4685AAF3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4000500"/>
            <a:ext cx="38100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8727" name="Picture 2" descr="http://1.bp.blogspot.com/_4ygI4JRPyFM/S_qK7IM0DQI/AAAAAAAACec/VTz9PlXc5DI/s400/biodiversidade.jpg">
            <a:extLst>
              <a:ext uri="{FF2B5EF4-FFF2-40B4-BE49-F238E27FC236}">
                <a16:creationId xmlns:a16="http://schemas.microsoft.com/office/drawing/2014/main" id="{FFE4E13F-1FF1-478E-89B3-D5D690FBC0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214813"/>
            <a:ext cx="3911600" cy="264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B23EC8A4-8D6C-4E91-8BE5-199690AEA885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AD221DAE-BABC-4858-9C48-CE2B21EEE64F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Perda de Biodiversidade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CaixaDeTexto 8">
            <a:extLst>
              <a:ext uri="{FF2B5EF4-FFF2-40B4-BE49-F238E27FC236}">
                <a16:creationId xmlns:a16="http://schemas.microsoft.com/office/drawing/2014/main" id="{B1776905-926B-4C9F-A19A-1265BBCA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4101" name="CaixaDeTexto 6">
            <a:extLst>
              <a:ext uri="{FF2B5EF4-FFF2-40B4-BE49-F238E27FC236}">
                <a16:creationId xmlns:a16="http://schemas.microsoft.com/office/drawing/2014/main" id="{E9DE1202-5DEC-4A79-81EA-2ED00AEA6E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1143000"/>
            <a:ext cx="8715375" cy="560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Perda da Biodiversidade</a:t>
            </a:r>
          </a:p>
          <a:p>
            <a:pPr marL="342900" indent="-342900" eaLnBrk="1" hangingPunct="1">
              <a:defRPr/>
            </a:pPr>
            <a:endParaRPr lang="pt-BR" sz="8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endParaRPr lang="pt-BR" sz="2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002060"/>
                </a:solidFill>
                <a:latin typeface="Calibri" pitchFamily="34" charset="0"/>
              </a:rPr>
              <a:t>	</a:t>
            </a:r>
            <a:r>
              <a:rPr lang="pt-BR" sz="3000" b="1" i="1" dirty="0">
                <a:solidFill>
                  <a:srgbClr val="002060"/>
                </a:solidFill>
                <a:latin typeface="Calibri" pitchFamily="34" charset="0"/>
              </a:rPr>
              <a:t>Fatores causadores da redução da biodiversidade</a:t>
            </a:r>
            <a:endParaRPr lang="pt-BR" sz="3000" dirty="0">
              <a:latin typeface="+mn-lt"/>
            </a:endParaRPr>
          </a:p>
          <a:p>
            <a:pPr marL="342900" indent="-342900" eaLnBrk="1" hangingPunct="1">
              <a:defRPr/>
            </a:pPr>
            <a:endParaRPr lang="pt-BR" sz="2000" dirty="0">
              <a:latin typeface="+mn-lt"/>
            </a:endParaRPr>
          </a:p>
          <a:p>
            <a:pPr marL="514350" indent="-514350" algn="just" eaLnBrk="1" hangingPunct="1">
              <a:buFont typeface="Wingdings" pitchFamily="2" charset="2"/>
              <a:buChar char="ü"/>
              <a:defRPr/>
            </a:pPr>
            <a:r>
              <a:rPr lang="pt-BR" sz="2800" b="1" dirty="0">
                <a:latin typeface="+mn-lt"/>
              </a:rPr>
              <a:t>Introdução de espécies exóticas.</a:t>
            </a:r>
          </a:p>
          <a:p>
            <a:pPr marL="971550" lvl="1" indent="-514350" algn="just" eaLnBrk="1" hangingPunct="1">
              <a:buFont typeface="Courier New" pitchFamily="49" charset="0"/>
              <a:buChar char="o"/>
              <a:defRPr/>
            </a:pPr>
            <a:r>
              <a:rPr lang="pt-BR" sz="2800" dirty="0">
                <a:latin typeface="+mn-lt"/>
              </a:rPr>
              <a:t>Ex: Mexilhão dourado, caramujo africano, abelha africana.</a:t>
            </a:r>
          </a:p>
          <a:p>
            <a:pPr marL="971550" lvl="1" indent="-514350" algn="just" eaLnBrk="1" hangingPunct="1">
              <a:buFont typeface="Courier New" pitchFamily="49" charset="0"/>
              <a:buChar char="o"/>
              <a:defRPr/>
            </a:pPr>
            <a:endParaRPr lang="pt-BR" sz="2800" dirty="0">
              <a:latin typeface="+mn-lt"/>
            </a:endParaRPr>
          </a:p>
          <a:p>
            <a:pPr marL="971550" lvl="1" indent="-514350" algn="just" eaLnBrk="1" hangingPunct="1">
              <a:buFont typeface="Courier New" pitchFamily="49" charset="0"/>
              <a:buChar char="o"/>
              <a:defRPr/>
            </a:pPr>
            <a:endParaRPr lang="pt-BR" sz="2800" dirty="0">
              <a:latin typeface="+mn-lt"/>
            </a:endParaRPr>
          </a:p>
          <a:p>
            <a:pPr marL="971550" lvl="1" indent="-514350" algn="just" eaLnBrk="1" hangingPunct="1">
              <a:buFont typeface="Courier New" pitchFamily="49" charset="0"/>
              <a:buChar char="o"/>
              <a:defRPr/>
            </a:pPr>
            <a:endParaRPr lang="pt-BR" sz="2800" i="1" dirty="0">
              <a:latin typeface="+mn-lt"/>
            </a:endParaRPr>
          </a:p>
          <a:p>
            <a:pPr marL="514350" indent="-514350" algn="just" eaLnBrk="1" hangingPunct="1">
              <a:defRPr/>
            </a:pPr>
            <a:br>
              <a:rPr lang="pt-BR" sz="2000" dirty="0">
                <a:latin typeface="Arial" charset="0"/>
              </a:rPr>
            </a:br>
            <a:endParaRPr lang="pt-BR" sz="2000" dirty="0">
              <a:latin typeface="+mn-lt"/>
            </a:endParaRPr>
          </a:p>
          <a:p>
            <a:pPr marL="342900" indent="-342900" algn="just" eaLnBrk="1" hangingPunct="1">
              <a:defRPr/>
            </a:pPr>
            <a:endParaRPr lang="pt-BR" sz="2800" dirty="0">
              <a:latin typeface="+mn-lt"/>
            </a:endParaRPr>
          </a:p>
          <a:p>
            <a:pPr marL="342900" indent="-342900" algn="just" eaLnBrk="1" hangingPunct="1">
              <a:defRPr/>
            </a:pPr>
            <a:endParaRPr lang="pt-BR" sz="2800" dirty="0">
              <a:latin typeface="+mn-lt"/>
            </a:endParaRPr>
          </a:p>
        </p:txBody>
      </p:sp>
      <p:pic>
        <p:nvPicPr>
          <p:cNvPr id="160774" name="Picture 6">
            <a:extLst>
              <a:ext uri="{FF2B5EF4-FFF2-40B4-BE49-F238E27FC236}">
                <a16:creationId xmlns:a16="http://schemas.microsoft.com/office/drawing/2014/main" id="{7C9E2C04-F319-4158-81BC-A8877D540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6275" y="4714875"/>
            <a:ext cx="2371725" cy="178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0775" name="Picture 12" descr="http://www.sitepopular.com.br/noticias/noticiassitepop/fotosnoticias/caramujo.jpg">
            <a:extLst>
              <a:ext uri="{FF2B5EF4-FFF2-40B4-BE49-F238E27FC236}">
                <a16:creationId xmlns:a16="http://schemas.microsoft.com/office/drawing/2014/main" id="{8835F75E-DF59-4A09-8045-3FDC1EF00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167188"/>
            <a:ext cx="3286125" cy="2690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0776" name="Picture 14" descr="http://www.pinzon.com.br/adm/externos/noticia/01032010114335.jpg">
            <a:extLst>
              <a:ext uri="{FF2B5EF4-FFF2-40B4-BE49-F238E27FC236}">
                <a16:creationId xmlns:a16="http://schemas.microsoft.com/office/drawing/2014/main" id="{A0C8D0A4-D081-4AD4-9D83-D3214E0468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0" y="4143375"/>
            <a:ext cx="3619500" cy="271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14E738FF-099B-4284-9476-7408ED710B71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85FE2DF3-8805-40F6-A419-91D02C197646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Perda de Biodiversidade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CaixaDeTexto 8">
            <a:extLst>
              <a:ext uri="{FF2B5EF4-FFF2-40B4-BE49-F238E27FC236}">
                <a16:creationId xmlns:a16="http://schemas.microsoft.com/office/drawing/2014/main" id="{0CB38227-2F8E-4655-90F3-73FBEDB8EE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4101" name="CaixaDeTexto 6">
            <a:extLst>
              <a:ext uri="{FF2B5EF4-FFF2-40B4-BE49-F238E27FC236}">
                <a16:creationId xmlns:a16="http://schemas.microsoft.com/office/drawing/2014/main" id="{3FF7D4BE-CF14-4EBD-90AF-047091E1DA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1143000"/>
            <a:ext cx="8715375" cy="430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Perda da Biodiversidade</a:t>
            </a:r>
          </a:p>
          <a:p>
            <a:pPr marL="342900" indent="-342900" eaLnBrk="1" hangingPunct="1">
              <a:defRPr/>
            </a:pPr>
            <a:endParaRPr lang="pt-BR" sz="8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endParaRPr lang="pt-BR" sz="2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002060"/>
                </a:solidFill>
                <a:latin typeface="Calibri" pitchFamily="34" charset="0"/>
              </a:rPr>
              <a:t>	</a:t>
            </a:r>
            <a:r>
              <a:rPr lang="pt-BR" sz="3000" b="1" i="1" dirty="0">
                <a:solidFill>
                  <a:srgbClr val="002060"/>
                </a:solidFill>
                <a:latin typeface="Calibri" pitchFamily="34" charset="0"/>
              </a:rPr>
              <a:t>Mexilhão dourado (Espécie Exótica Invasora)</a:t>
            </a:r>
            <a:endParaRPr lang="pt-BR" sz="3000" dirty="0">
              <a:latin typeface="+mn-lt"/>
            </a:endParaRPr>
          </a:p>
          <a:p>
            <a:pPr marL="342900" indent="-342900" eaLnBrk="1" hangingPunct="1">
              <a:defRPr/>
            </a:pPr>
            <a:endParaRPr lang="pt-BR" sz="2000" dirty="0">
              <a:latin typeface="+mn-lt"/>
            </a:endParaRPr>
          </a:p>
          <a:p>
            <a:pPr marL="971550" lvl="1" indent="-514350" algn="just" eaLnBrk="1" hangingPunct="1">
              <a:buFont typeface="Courier New" pitchFamily="49" charset="0"/>
              <a:buChar char="o"/>
              <a:defRPr/>
            </a:pPr>
            <a:endParaRPr lang="pt-BR" sz="2800" dirty="0">
              <a:latin typeface="+mn-lt"/>
            </a:endParaRPr>
          </a:p>
          <a:p>
            <a:pPr marL="971550" lvl="1" indent="-514350" algn="just" eaLnBrk="1" hangingPunct="1">
              <a:buFont typeface="Courier New" pitchFamily="49" charset="0"/>
              <a:buChar char="o"/>
              <a:defRPr/>
            </a:pPr>
            <a:endParaRPr lang="pt-BR" sz="2800" dirty="0">
              <a:latin typeface="+mn-lt"/>
            </a:endParaRPr>
          </a:p>
          <a:p>
            <a:pPr marL="971550" lvl="1" indent="-514350" algn="just" eaLnBrk="1" hangingPunct="1">
              <a:buFont typeface="Courier New" pitchFamily="49" charset="0"/>
              <a:buChar char="o"/>
              <a:defRPr/>
            </a:pPr>
            <a:endParaRPr lang="pt-BR" sz="2800" i="1" dirty="0">
              <a:latin typeface="+mn-lt"/>
            </a:endParaRPr>
          </a:p>
          <a:p>
            <a:pPr marL="514350" indent="-514350" algn="just" eaLnBrk="1" hangingPunct="1">
              <a:defRPr/>
            </a:pPr>
            <a:br>
              <a:rPr lang="pt-BR" sz="2000" dirty="0">
                <a:latin typeface="Arial" charset="0"/>
              </a:rPr>
            </a:br>
            <a:endParaRPr lang="pt-BR" sz="2000" dirty="0">
              <a:latin typeface="+mn-lt"/>
            </a:endParaRPr>
          </a:p>
          <a:p>
            <a:pPr marL="342900" indent="-342900" algn="just" eaLnBrk="1" hangingPunct="1">
              <a:defRPr/>
            </a:pPr>
            <a:endParaRPr lang="pt-BR" sz="2800" dirty="0">
              <a:latin typeface="+mn-lt"/>
            </a:endParaRPr>
          </a:p>
          <a:p>
            <a:pPr marL="342900" indent="-342900" algn="just" eaLnBrk="1" hangingPunct="1">
              <a:defRPr/>
            </a:pPr>
            <a:endParaRPr lang="pt-BR" sz="2800" dirty="0">
              <a:latin typeface="+mn-lt"/>
            </a:endParaRPr>
          </a:p>
        </p:txBody>
      </p:sp>
      <p:pic>
        <p:nvPicPr>
          <p:cNvPr id="162822" name="Picture 16" descr="http://jie.itaipu.gov.br/jie/files/image/12.09.2008/oficinamexilhao.jpg">
            <a:extLst>
              <a:ext uri="{FF2B5EF4-FFF2-40B4-BE49-F238E27FC236}">
                <a16:creationId xmlns:a16="http://schemas.microsoft.com/office/drawing/2014/main" id="{B37FD5B3-707B-4A8D-9B4D-77F8B621DB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928938"/>
            <a:ext cx="4181475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2823" name="Picture 18" descr="http://farm4.static.flickr.com/3429/3391671125_a9840b7962_o.jpg">
            <a:extLst>
              <a:ext uri="{FF2B5EF4-FFF2-40B4-BE49-F238E27FC236}">
                <a16:creationId xmlns:a16="http://schemas.microsoft.com/office/drawing/2014/main" id="{E03ECC60-8A31-4FF6-886F-42DB6E8E0D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1063" y="2428875"/>
            <a:ext cx="4706937" cy="392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2D5BD346-D8C9-47EF-8ABD-FA4111148089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7E1165B1-04A2-4B0E-B8DF-7A50C0195670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Perda de Biodiversidade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CaixaDeTexto 8">
            <a:extLst>
              <a:ext uri="{FF2B5EF4-FFF2-40B4-BE49-F238E27FC236}">
                <a16:creationId xmlns:a16="http://schemas.microsoft.com/office/drawing/2014/main" id="{C000B44A-EBD5-4609-AC3C-3E0C8293BC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4101" name="CaixaDeTexto 6">
            <a:extLst>
              <a:ext uri="{FF2B5EF4-FFF2-40B4-BE49-F238E27FC236}">
                <a16:creationId xmlns:a16="http://schemas.microsoft.com/office/drawing/2014/main" id="{D1E19411-8782-4ACC-9906-68C0D16398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1143000"/>
            <a:ext cx="8715375" cy="4740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Perda da Biodiversidade</a:t>
            </a:r>
          </a:p>
          <a:p>
            <a:pPr marL="342900" indent="-342900" eaLnBrk="1" hangingPunct="1">
              <a:defRPr/>
            </a:pPr>
            <a:endParaRPr lang="pt-BR" sz="8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endParaRPr lang="pt-BR" sz="2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002060"/>
                </a:solidFill>
                <a:latin typeface="Calibri" pitchFamily="34" charset="0"/>
              </a:rPr>
              <a:t>	</a:t>
            </a:r>
            <a:r>
              <a:rPr lang="pt-BR" sz="3000" b="1" i="1" dirty="0">
                <a:solidFill>
                  <a:srgbClr val="002060"/>
                </a:solidFill>
                <a:latin typeface="Calibri" pitchFamily="34" charset="0"/>
              </a:rPr>
              <a:t>Fatores causadores da redução da biodiversidade</a:t>
            </a:r>
            <a:endParaRPr lang="pt-BR" sz="3000" dirty="0">
              <a:latin typeface="+mn-lt"/>
            </a:endParaRPr>
          </a:p>
          <a:p>
            <a:pPr marL="342900" indent="-342900" eaLnBrk="1" hangingPunct="1">
              <a:defRPr/>
            </a:pPr>
            <a:endParaRPr lang="pt-BR" sz="2000" dirty="0">
              <a:latin typeface="+mn-lt"/>
            </a:endParaRPr>
          </a:p>
          <a:p>
            <a:pPr marL="514350" indent="-514350" algn="just" eaLnBrk="1" hangingPunct="1">
              <a:buFont typeface="Wingdings" pitchFamily="2" charset="2"/>
              <a:buChar char="ü"/>
              <a:defRPr/>
            </a:pPr>
            <a:r>
              <a:rPr lang="pt-BR" sz="2800" b="1" dirty="0">
                <a:latin typeface="+mn-lt"/>
              </a:rPr>
              <a:t>Fragmentação de habitats</a:t>
            </a:r>
          </a:p>
          <a:p>
            <a:pPr marL="971550" lvl="1" indent="-514350" algn="just" eaLnBrk="1" hangingPunct="1">
              <a:buFont typeface="Courier New" pitchFamily="49" charset="0"/>
              <a:buChar char="o"/>
              <a:defRPr/>
            </a:pPr>
            <a:endParaRPr lang="pt-BR" sz="2800" dirty="0">
              <a:latin typeface="+mn-lt"/>
            </a:endParaRPr>
          </a:p>
          <a:p>
            <a:pPr marL="971550" lvl="1" indent="-514350" algn="just" eaLnBrk="1" hangingPunct="1">
              <a:buFont typeface="Courier New" pitchFamily="49" charset="0"/>
              <a:buChar char="o"/>
              <a:defRPr/>
            </a:pPr>
            <a:endParaRPr lang="pt-BR" sz="2800" dirty="0">
              <a:latin typeface="+mn-lt"/>
            </a:endParaRPr>
          </a:p>
          <a:p>
            <a:pPr marL="971550" lvl="1" indent="-514350" algn="just" eaLnBrk="1" hangingPunct="1">
              <a:buFont typeface="Courier New" pitchFamily="49" charset="0"/>
              <a:buChar char="o"/>
              <a:defRPr/>
            </a:pPr>
            <a:endParaRPr lang="pt-BR" sz="2800" i="1" dirty="0">
              <a:latin typeface="+mn-lt"/>
            </a:endParaRPr>
          </a:p>
          <a:p>
            <a:pPr marL="514350" indent="-514350" algn="just" eaLnBrk="1" hangingPunct="1">
              <a:defRPr/>
            </a:pPr>
            <a:br>
              <a:rPr lang="pt-BR" sz="2000" dirty="0">
                <a:latin typeface="Arial" charset="0"/>
              </a:rPr>
            </a:br>
            <a:endParaRPr lang="pt-BR" sz="2000" dirty="0">
              <a:latin typeface="+mn-lt"/>
            </a:endParaRPr>
          </a:p>
          <a:p>
            <a:pPr marL="342900" indent="-342900" algn="just" eaLnBrk="1" hangingPunct="1">
              <a:defRPr/>
            </a:pPr>
            <a:endParaRPr lang="pt-BR" sz="2800" dirty="0">
              <a:latin typeface="+mn-lt"/>
            </a:endParaRPr>
          </a:p>
          <a:p>
            <a:pPr marL="342900" indent="-342900" algn="just" eaLnBrk="1" hangingPunct="1">
              <a:defRPr/>
            </a:pPr>
            <a:endParaRPr lang="pt-BR" sz="2800" dirty="0">
              <a:latin typeface="+mn-lt"/>
            </a:endParaRPr>
          </a:p>
        </p:txBody>
      </p:sp>
      <p:pic>
        <p:nvPicPr>
          <p:cNvPr id="164870" name="Picture 2">
            <a:extLst>
              <a:ext uri="{FF2B5EF4-FFF2-40B4-BE49-F238E27FC236}">
                <a16:creationId xmlns:a16="http://schemas.microsoft.com/office/drawing/2014/main" id="{C03BEBF9-26E7-4432-9973-974CA81FC7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1375" y="3214688"/>
            <a:ext cx="5391150" cy="3643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C8984F63-277D-4228-B19B-998AA7F96945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F7D67B20-0F43-4E14-98E5-D519D84831C2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Perda de Biodiversidade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CaixaDeTexto 8">
            <a:extLst>
              <a:ext uri="{FF2B5EF4-FFF2-40B4-BE49-F238E27FC236}">
                <a16:creationId xmlns:a16="http://schemas.microsoft.com/office/drawing/2014/main" id="{70DA09EA-6E7A-4A3B-8080-7D78A32AE3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4101" name="CaixaDeTexto 6">
            <a:extLst>
              <a:ext uri="{FF2B5EF4-FFF2-40B4-BE49-F238E27FC236}">
                <a16:creationId xmlns:a16="http://schemas.microsoft.com/office/drawing/2014/main" id="{13AF186D-37FC-48AF-AA5A-E5658CC092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1143000"/>
            <a:ext cx="8715375" cy="4740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Perda da Biodiversidade</a:t>
            </a:r>
          </a:p>
          <a:p>
            <a:pPr marL="342900" indent="-342900" eaLnBrk="1" hangingPunct="1">
              <a:defRPr/>
            </a:pPr>
            <a:endParaRPr lang="pt-BR" sz="8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endParaRPr lang="pt-BR" sz="2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002060"/>
                </a:solidFill>
                <a:latin typeface="Calibri" pitchFamily="34" charset="0"/>
              </a:rPr>
              <a:t>	</a:t>
            </a:r>
            <a:r>
              <a:rPr lang="pt-BR" sz="3000" b="1" i="1" dirty="0">
                <a:solidFill>
                  <a:srgbClr val="002060"/>
                </a:solidFill>
                <a:latin typeface="Calibri" pitchFamily="34" charset="0"/>
              </a:rPr>
              <a:t>Fatores causadores da redução da biodiversidade</a:t>
            </a:r>
            <a:endParaRPr lang="pt-BR" sz="3000" dirty="0">
              <a:latin typeface="+mn-lt"/>
            </a:endParaRPr>
          </a:p>
          <a:p>
            <a:pPr marL="342900" indent="-342900" eaLnBrk="1" hangingPunct="1">
              <a:defRPr/>
            </a:pPr>
            <a:endParaRPr lang="pt-BR" sz="2000" dirty="0">
              <a:latin typeface="+mn-lt"/>
            </a:endParaRPr>
          </a:p>
          <a:p>
            <a:pPr marL="514350" indent="-514350" algn="just" eaLnBrk="1" hangingPunct="1">
              <a:buFont typeface="Wingdings" pitchFamily="2" charset="2"/>
              <a:buChar char="ü"/>
              <a:defRPr/>
            </a:pPr>
            <a:r>
              <a:rPr lang="pt-BR" sz="2800" b="1" dirty="0">
                <a:latin typeface="+mn-lt"/>
              </a:rPr>
              <a:t>Fragmentação de habitats</a:t>
            </a:r>
          </a:p>
          <a:p>
            <a:pPr marL="971550" lvl="1" indent="-514350" algn="just" eaLnBrk="1" hangingPunct="1">
              <a:buFont typeface="Courier New" pitchFamily="49" charset="0"/>
              <a:buChar char="o"/>
              <a:defRPr/>
            </a:pPr>
            <a:endParaRPr lang="pt-BR" sz="2800" dirty="0">
              <a:latin typeface="+mn-lt"/>
            </a:endParaRPr>
          </a:p>
          <a:p>
            <a:pPr marL="971550" lvl="1" indent="-514350" algn="just" eaLnBrk="1" hangingPunct="1">
              <a:buFont typeface="Courier New" pitchFamily="49" charset="0"/>
              <a:buChar char="o"/>
              <a:defRPr/>
            </a:pPr>
            <a:endParaRPr lang="pt-BR" sz="2800" dirty="0">
              <a:latin typeface="+mn-lt"/>
            </a:endParaRPr>
          </a:p>
          <a:p>
            <a:pPr marL="971550" lvl="1" indent="-514350" algn="just" eaLnBrk="1" hangingPunct="1">
              <a:buFont typeface="Courier New" pitchFamily="49" charset="0"/>
              <a:buChar char="o"/>
              <a:defRPr/>
            </a:pPr>
            <a:endParaRPr lang="pt-BR" sz="2800" i="1" dirty="0">
              <a:latin typeface="+mn-lt"/>
            </a:endParaRPr>
          </a:p>
          <a:p>
            <a:pPr marL="514350" indent="-514350" algn="just" eaLnBrk="1" hangingPunct="1">
              <a:defRPr/>
            </a:pPr>
            <a:br>
              <a:rPr lang="pt-BR" sz="2000" dirty="0">
                <a:latin typeface="Arial" charset="0"/>
              </a:rPr>
            </a:br>
            <a:endParaRPr lang="pt-BR" sz="2000" dirty="0">
              <a:latin typeface="+mn-lt"/>
            </a:endParaRPr>
          </a:p>
          <a:p>
            <a:pPr marL="342900" indent="-342900" algn="just" eaLnBrk="1" hangingPunct="1">
              <a:defRPr/>
            </a:pPr>
            <a:endParaRPr lang="pt-BR" sz="2800" dirty="0">
              <a:latin typeface="+mn-lt"/>
            </a:endParaRPr>
          </a:p>
          <a:p>
            <a:pPr marL="342900" indent="-342900" algn="just" eaLnBrk="1" hangingPunct="1">
              <a:defRPr/>
            </a:pPr>
            <a:endParaRPr lang="pt-BR" sz="2800" dirty="0">
              <a:latin typeface="+mn-lt"/>
            </a:endParaRPr>
          </a:p>
        </p:txBody>
      </p:sp>
      <p:pic>
        <p:nvPicPr>
          <p:cNvPr id="166918" name="Picture 2">
            <a:extLst>
              <a:ext uri="{FF2B5EF4-FFF2-40B4-BE49-F238E27FC236}">
                <a16:creationId xmlns:a16="http://schemas.microsoft.com/office/drawing/2014/main" id="{FE9284AC-7BEF-4F10-8F49-A4604489E2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1375" y="3214688"/>
            <a:ext cx="5391150" cy="3643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947C74BD-E274-45AA-AF51-BB1D53E43F87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02C785AC-C58E-42D7-A850-22CA423D692B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Perda de Biodiversidade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CaixaDeTexto 8">
            <a:extLst>
              <a:ext uri="{FF2B5EF4-FFF2-40B4-BE49-F238E27FC236}">
                <a16:creationId xmlns:a16="http://schemas.microsoft.com/office/drawing/2014/main" id="{FAB5A757-7ABA-4D2E-BBF2-F0D772C102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4101" name="CaixaDeTexto 6">
            <a:extLst>
              <a:ext uri="{FF2B5EF4-FFF2-40B4-BE49-F238E27FC236}">
                <a16:creationId xmlns:a16="http://schemas.microsoft.com/office/drawing/2014/main" id="{3C69EBAB-7768-415B-8D54-55C3881395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1000125"/>
            <a:ext cx="8715375" cy="443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Perda da Biodiversidade</a:t>
            </a:r>
          </a:p>
          <a:p>
            <a:pPr marL="342900" indent="-342900" eaLnBrk="1" hangingPunct="1">
              <a:defRPr/>
            </a:pPr>
            <a:endParaRPr lang="pt-BR" sz="2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002060"/>
                </a:solidFill>
                <a:latin typeface="Calibri" pitchFamily="34" charset="0"/>
              </a:rPr>
              <a:t>	</a:t>
            </a:r>
            <a:r>
              <a:rPr lang="pt-BR" sz="3000" b="1" i="1" dirty="0">
                <a:solidFill>
                  <a:srgbClr val="002060"/>
                </a:solidFill>
                <a:latin typeface="Calibri" pitchFamily="34" charset="0"/>
              </a:rPr>
              <a:t>Fatores causadores da redução da biodiversidade</a:t>
            </a:r>
            <a:endParaRPr lang="pt-BR" sz="3000" dirty="0">
              <a:latin typeface="+mn-lt"/>
            </a:endParaRPr>
          </a:p>
          <a:p>
            <a:pPr marL="342900" indent="-342900" eaLnBrk="1" hangingPunct="1">
              <a:defRPr/>
            </a:pPr>
            <a:endParaRPr lang="pt-BR" sz="800" dirty="0">
              <a:latin typeface="+mn-lt"/>
            </a:endParaRPr>
          </a:p>
          <a:p>
            <a:pPr marL="514350" indent="-514350" algn="just" eaLnBrk="1" hangingPunct="1">
              <a:buFont typeface="Wingdings" pitchFamily="2" charset="2"/>
              <a:buChar char="ü"/>
              <a:defRPr/>
            </a:pPr>
            <a:r>
              <a:rPr lang="pt-BR" sz="2800" b="1" dirty="0">
                <a:latin typeface="+mn-lt"/>
              </a:rPr>
              <a:t>Caça/Pesca predatória – Tráfico de Animais</a:t>
            </a:r>
          </a:p>
          <a:p>
            <a:pPr marL="971550" lvl="1" indent="-514350" algn="just" eaLnBrk="1" hangingPunct="1">
              <a:buFont typeface="Courier New" pitchFamily="49" charset="0"/>
              <a:buChar char="o"/>
              <a:defRPr/>
            </a:pPr>
            <a:endParaRPr lang="pt-BR" sz="2800" dirty="0">
              <a:latin typeface="+mn-lt"/>
            </a:endParaRPr>
          </a:p>
          <a:p>
            <a:pPr marL="971550" lvl="1" indent="-514350" algn="just" eaLnBrk="1" hangingPunct="1">
              <a:buFont typeface="Courier New" pitchFamily="49" charset="0"/>
              <a:buChar char="o"/>
              <a:defRPr/>
            </a:pPr>
            <a:endParaRPr lang="pt-BR" sz="2800" dirty="0">
              <a:latin typeface="+mn-lt"/>
            </a:endParaRPr>
          </a:p>
          <a:p>
            <a:pPr marL="971550" lvl="1" indent="-514350" algn="just" eaLnBrk="1" hangingPunct="1">
              <a:buFont typeface="Courier New" pitchFamily="49" charset="0"/>
              <a:buChar char="o"/>
              <a:defRPr/>
            </a:pPr>
            <a:endParaRPr lang="pt-BR" sz="2800" i="1" dirty="0">
              <a:latin typeface="+mn-lt"/>
            </a:endParaRPr>
          </a:p>
          <a:p>
            <a:pPr marL="514350" indent="-514350" algn="just" eaLnBrk="1" hangingPunct="1">
              <a:defRPr/>
            </a:pPr>
            <a:br>
              <a:rPr lang="pt-BR" sz="2000" dirty="0">
                <a:latin typeface="Arial" charset="0"/>
              </a:rPr>
            </a:br>
            <a:endParaRPr lang="pt-BR" sz="2000" dirty="0">
              <a:latin typeface="+mn-lt"/>
            </a:endParaRPr>
          </a:p>
          <a:p>
            <a:pPr marL="342900" indent="-342900" algn="just" eaLnBrk="1" hangingPunct="1">
              <a:defRPr/>
            </a:pPr>
            <a:endParaRPr lang="pt-BR" sz="2800" dirty="0">
              <a:latin typeface="+mn-lt"/>
            </a:endParaRPr>
          </a:p>
          <a:p>
            <a:pPr marL="342900" indent="-342900" algn="just" eaLnBrk="1" hangingPunct="1">
              <a:defRPr/>
            </a:pPr>
            <a:endParaRPr lang="pt-BR" sz="2800" dirty="0">
              <a:latin typeface="+mn-lt"/>
            </a:endParaRPr>
          </a:p>
        </p:txBody>
      </p:sp>
      <p:pic>
        <p:nvPicPr>
          <p:cNvPr id="168966" name="Picture 3">
            <a:extLst>
              <a:ext uri="{FF2B5EF4-FFF2-40B4-BE49-F238E27FC236}">
                <a16:creationId xmlns:a16="http://schemas.microsoft.com/office/drawing/2014/main" id="{84457093-AFA0-4AFD-B371-3AAF21F895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5813" y="2714625"/>
            <a:ext cx="3106737" cy="414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8967" name="Picture 5" descr="http://www.vivaterra.org.br/trafico_animais_11_site.jpg">
            <a:extLst>
              <a:ext uri="{FF2B5EF4-FFF2-40B4-BE49-F238E27FC236}">
                <a16:creationId xmlns:a16="http://schemas.microsoft.com/office/drawing/2014/main" id="{34F6B5B4-5818-4969-A303-C87A35CC0A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500" y="2752725"/>
            <a:ext cx="2857500" cy="410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8968" name="Picture 7" descr="http://www.bicodocorvo.com.br/wp-content/uploads/2009/05/foto-marinha-tailandesa-prende-8-traficantes-de-animais-3.jpg">
            <a:extLst>
              <a:ext uri="{FF2B5EF4-FFF2-40B4-BE49-F238E27FC236}">
                <a16:creationId xmlns:a16="http://schemas.microsoft.com/office/drawing/2014/main" id="{4B26CA23-6E10-42FB-A9B7-83CC38B370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714625"/>
            <a:ext cx="2928938" cy="414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CB8F492A-812C-4B7F-8FFB-3CF6EA7E941C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0D1EC6EC-F8DD-470D-9719-D6FFB5743992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Perda de Biodiversidade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CaixaDeTexto 8">
            <a:extLst>
              <a:ext uri="{FF2B5EF4-FFF2-40B4-BE49-F238E27FC236}">
                <a16:creationId xmlns:a16="http://schemas.microsoft.com/office/drawing/2014/main" id="{96E677F7-1696-4477-A29B-A318343B17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4101" name="CaixaDeTexto 6">
            <a:extLst>
              <a:ext uri="{FF2B5EF4-FFF2-40B4-BE49-F238E27FC236}">
                <a16:creationId xmlns:a16="http://schemas.microsoft.com/office/drawing/2014/main" id="{4AF50237-C7A4-4ACF-BF90-8592C4307E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1000125"/>
            <a:ext cx="8715375" cy="443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Perda da Biodiversidade</a:t>
            </a:r>
          </a:p>
          <a:p>
            <a:pPr marL="342900" indent="-342900" eaLnBrk="1" hangingPunct="1">
              <a:defRPr/>
            </a:pPr>
            <a:endParaRPr lang="pt-BR" sz="2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002060"/>
                </a:solidFill>
                <a:latin typeface="Calibri" pitchFamily="34" charset="0"/>
              </a:rPr>
              <a:t>	</a:t>
            </a:r>
            <a:r>
              <a:rPr lang="pt-BR" sz="3000" b="1" i="1" dirty="0">
                <a:solidFill>
                  <a:srgbClr val="002060"/>
                </a:solidFill>
                <a:latin typeface="Calibri" pitchFamily="34" charset="0"/>
              </a:rPr>
              <a:t>Fatores causadores da redução da biodiversidade</a:t>
            </a:r>
            <a:endParaRPr lang="pt-BR" sz="3000" dirty="0">
              <a:latin typeface="+mn-lt"/>
            </a:endParaRPr>
          </a:p>
          <a:p>
            <a:pPr marL="342900" indent="-342900" eaLnBrk="1" hangingPunct="1">
              <a:defRPr/>
            </a:pPr>
            <a:endParaRPr lang="pt-BR" sz="800" dirty="0">
              <a:latin typeface="+mn-lt"/>
            </a:endParaRPr>
          </a:p>
          <a:p>
            <a:pPr marL="514350" indent="-514350" algn="just" eaLnBrk="1" hangingPunct="1">
              <a:buFont typeface="Wingdings" pitchFamily="2" charset="2"/>
              <a:buChar char="ü"/>
              <a:defRPr/>
            </a:pPr>
            <a:r>
              <a:rPr lang="pt-BR" sz="2800" b="1" dirty="0">
                <a:latin typeface="+mn-lt"/>
              </a:rPr>
              <a:t>Caça/Pesca predatória – Tráfico de Animais</a:t>
            </a:r>
          </a:p>
          <a:p>
            <a:pPr marL="971550" lvl="1" indent="-514350" algn="just" eaLnBrk="1" hangingPunct="1">
              <a:buFont typeface="Courier New" pitchFamily="49" charset="0"/>
              <a:buChar char="o"/>
              <a:defRPr/>
            </a:pPr>
            <a:endParaRPr lang="pt-BR" sz="2800" dirty="0">
              <a:latin typeface="+mn-lt"/>
            </a:endParaRPr>
          </a:p>
          <a:p>
            <a:pPr marL="971550" lvl="1" indent="-514350" algn="just" eaLnBrk="1" hangingPunct="1">
              <a:buFont typeface="Courier New" pitchFamily="49" charset="0"/>
              <a:buChar char="o"/>
              <a:defRPr/>
            </a:pPr>
            <a:endParaRPr lang="pt-BR" sz="2800" dirty="0">
              <a:latin typeface="+mn-lt"/>
            </a:endParaRPr>
          </a:p>
          <a:p>
            <a:pPr marL="971550" lvl="1" indent="-514350" algn="just" eaLnBrk="1" hangingPunct="1">
              <a:buFont typeface="Courier New" pitchFamily="49" charset="0"/>
              <a:buChar char="o"/>
              <a:defRPr/>
            </a:pPr>
            <a:endParaRPr lang="pt-BR" sz="2800" i="1" dirty="0">
              <a:latin typeface="+mn-lt"/>
            </a:endParaRPr>
          </a:p>
          <a:p>
            <a:pPr marL="514350" indent="-514350" algn="just" eaLnBrk="1" hangingPunct="1">
              <a:defRPr/>
            </a:pPr>
            <a:br>
              <a:rPr lang="pt-BR" sz="2000" dirty="0">
                <a:latin typeface="Arial" charset="0"/>
              </a:rPr>
            </a:br>
            <a:endParaRPr lang="pt-BR" sz="2000" dirty="0">
              <a:latin typeface="+mn-lt"/>
            </a:endParaRPr>
          </a:p>
          <a:p>
            <a:pPr marL="342900" indent="-342900" algn="just" eaLnBrk="1" hangingPunct="1">
              <a:defRPr/>
            </a:pPr>
            <a:endParaRPr lang="pt-BR" sz="2800" dirty="0">
              <a:latin typeface="+mn-lt"/>
            </a:endParaRPr>
          </a:p>
          <a:p>
            <a:pPr marL="342900" indent="-342900" algn="just" eaLnBrk="1" hangingPunct="1">
              <a:defRPr/>
            </a:pPr>
            <a:endParaRPr lang="pt-BR" sz="2800" dirty="0">
              <a:latin typeface="+mn-lt"/>
            </a:endParaRPr>
          </a:p>
        </p:txBody>
      </p:sp>
      <p:pic>
        <p:nvPicPr>
          <p:cNvPr id="171014" name="Picture 2" descr="http://osanimais.org/wp-content/uploads/2009/12/passaro.jpg">
            <a:extLst>
              <a:ext uri="{FF2B5EF4-FFF2-40B4-BE49-F238E27FC236}">
                <a16:creationId xmlns:a16="http://schemas.microsoft.com/office/drawing/2014/main" id="{DE772645-D24A-49CF-986D-277DDE2D7F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0" y="2762250"/>
            <a:ext cx="6143625" cy="409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C7A7FEE2-D808-4472-9D1A-456130810AC5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E78A8F8A-1F55-4B13-A621-BC50A8449D7C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Perda de Biodiversidade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CaixaDeTexto 8">
            <a:extLst>
              <a:ext uri="{FF2B5EF4-FFF2-40B4-BE49-F238E27FC236}">
                <a16:creationId xmlns:a16="http://schemas.microsoft.com/office/drawing/2014/main" id="{F224D87C-0D8A-4E6E-BE9A-AD28D08B35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4101" name="CaixaDeTexto 6">
            <a:extLst>
              <a:ext uri="{FF2B5EF4-FFF2-40B4-BE49-F238E27FC236}">
                <a16:creationId xmlns:a16="http://schemas.microsoft.com/office/drawing/2014/main" id="{43ADF94C-6F2F-4733-A05E-40A4D05D03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1000125"/>
            <a:ext cx="8715375" cy="443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Perda da Biodiversidade</a:t>
            </a:r>
          </a:p>
          <a:p>
            <a:pPr marL="342900" indent="-342900" eaLnBrk="1" hangingPunct="1">
              <a:defRPr/>
            </a:pPr>
            <a:endParaRPr lang="pt-BR" sz="2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002060"/>
                </a:solidFill>
                <a:latin typeface="Calibri" pitchFamily="34" charset="0"/>
              </a:rPr>
              <a:t>	</a:t>
            </a:r>
            <a:r>
              <a:rPr lang="pt-BR" sz="3000" b="1" i="1" dirty="0">
                <a:solidFill>
                  <a:srgbClr val="002060"/>
                </a:solidFill>
                <a:latin typeface="Calibri" pitchFamily="34" charset="0"/>
              </a:rPr>
              <a:t>Fatores causadores da redução da biodiversidade</a:t>
            </a:r>
            <a:endParaRPr lang="pt-BR" sz="3000" dirty="0">
              <a:latin typeface="+mn-lt"/>
            </a:endParaRPr>
          </a:p>
          <a:p>
            <a:pPr marL="342900" indent="-342900" eaLnBrk="1" hangingPunct="1">
              <a:defRPr/>
            </a:pPr>
            <a:endParaRPr lang="pt-BR" sz="800" dirty="0">
              <a:latin typeface="+mn-lt"/>
            </a:endParaRPr>
          </a:p>
          <a:p>
            <a:pPr marL="514350" indent="-514350" algn="just" eaLnBrk="1" hangingPunct="1">
              <a:buFont typeface="Wingdings" pitchFamily="2" charset="2"/>
              <a:buChar char="ü"/>
              <a:defRPr/>
            </a:pPr>
            <a:r>
              <a:rPr lang="pt-BR" sz="2800" b="1" dirty="0">
                <a:latin typeface="+mn-lt"/>
              </a:rPr>
              <a:t>Caça/Pesca predatória – Tráfico de Animais</a:t>
            </a:r>
          </a:p>
          <a:p>
            <a:pPr marL="971550" lvl="1" indent="-514350" algn="just" eaLnBrk="1" hangingPunct="1">
              <a:buFont typeface="Courier New" pitchFamily="49" charset="0"/>
              <a:buChar char="o"/>
              <a:defRPr/>
            </a:pPr>
            <a:endParaRPr lang="pt-BR" sz="2800" dirty="0">
              <a:latin typeface="+mn-lt"/>
            </a:endParaRPr>
          </a:p>
          <a:p>
            <a:pPr marL="971550" lvl="1" indent="-514350" algn="just" eaLnBrk="1" hangingPunct="1">
              <a:buFont typeface="Courier New" pitchFamily="49" charset="0"/>
              <a:buChar char="o"/>
              <a:defRPr/>
            </a:pPr>
            <a:endParaRPr lang="pt-BR" sz="2800" dirty="0">
              <a:latin typeface="+mn-lt"/>
            </a:endParaRPr>
          </a:p>
          <a:p>
            <a:pPr marL="971550" lvl="1" indent="-514350" algn="just" eaLnBrk="1" hangingPunct="1">
              <a:buFont typeface="Courier New" pitchFamily="49" charset="0"/>
              <a:buChar char="o"/>
              <a:defRPr/>
            </a:pPr>
            <a:endParaRPr lang="pt-BR" sz="2800" i="1" dirty="0">
              <a:latin typeface="+mn-lt"/>
            </a:endParaRPr>
          </a:p>
          <a:p>
            <a:pPr marL="514350" indent="-514350" algn="just" eaLnBrk="1" hangingPunct="1">
              <a:defRPr/>
            </a:pPr>
            <a:br>
              <a:rPr lang="pt-BR" sz="2000" dirty="0">
                <a:latin typeface="Arial" charset="0"/>
              </a:rPr>
            </a:br>
            <a:endParaRPr lang="pt-BR" sz="2000" dirty="0">
              <a:latin typeface="+mn-lt"/>
            </a:endParaRPr>
          </a:p>
          <a:p>
            <a:pPr marL="342900" indent="-342900" algn="just" eaLnBrk="1" hangingPunct="1">
              <a:defRPr/>
            </a:pPr>
            <a:endParaRPr lang="pt-BR" sz="2800" dirty="0">
              <a:latin typeface="+mn-lt"/>
            </a:endParaRPr>
          </a:p>
          <a:p>
            <a:pPr marL="342900" indent="-342900" algn="just" eaLnBrk="1" hangingPunct="1">
              <a:defRPr/>
            </a:pPr>
            <a:endParaRPr lang="pt-BR" sz="2800" dirty="0">
              <a:latin typeface="+mn-lt"/>
            </a:endParaRPr>
          </a:p>
        </p:txBody>
      </p:sp>
      <p:pic>
        <p:nvPicPr>
          <p:cNvPr id="173062" name="Picture 2" descr="http://www.maisacao.net/blog/wp-content/uploads/2009/02/homem_contrabando_pombos_australia_fotoblogmaisacao050209_400pxl.jpg">
            <a:extLst>
              <a:ext uri="{FF2B5EF4-FFF2-40B4-BE49-F238E27FC236}">
                <a16:creationId xmlns:a16="http://schemas.microsoft.com/office/drawing/2014/main" id="{DAE5D934-1C77-4947-A192-059B43942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1438" y="2776538"/>
            <a:ext cx="4071937" cy="408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46F90491-9E2A-43EE-9A30-74ED829D476B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ADCFE3AC-A60C-4D7A-A338-60E1C390F1DD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Perda de Biodiversidade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537</TotalTime>
  <Words>349</Words>
  <Application>Microsoft Office PowerPoint</Application>
  <PresentationFormat>Widescreen</PresentationFormat>
  <Paragraphs>179</Paragraphs>
  <Slides>13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Courier New</vt:lpstr>
      <vt:lpstr>Wingdings</vt:lpstr>
      <vt:lpstr>Tema do Office</vt:lpstr>
      <vt:lpstr>Ecologia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Bruno Barbosa</dc:creator>
  <cp:lastModifiedBy>Bruno Barbosa</cp:lastModifiedBy>
  <cp:revision>38</cp:revision>
  <dcterms:created xsi:type="dcterms:W3CDTF">2020-06-05T12:13:59Z</dcterms:created>
  <dcterms:modified xsi:type="dcterms:W3CDTF">2021-05-15T01:52:32Z</dcterms:modified>
</cp:coreProperties>
</file>