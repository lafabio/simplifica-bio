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31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7" r:id="rId10"/>
    <p:sldId id="269" r:id="rId11"/>
    <p:sldId id="280" r:id="rId12"/>
    <p:sldId id="281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320" r:id="rId21"/>
    <p:sldId id="277" r:id="rId22"/>
    <p:sldId id="276" r:id="rId23"/>
    <p:sldId id="278" r:id="rId24"/>
    <p:sldId id="282" r:id="rId25"/>
    <p:sldId id="284" r:id="rId26"/>
    <p:sldId id="285" r:id="rId27"/>
    <p:sldId id="286" r:id="rId28"/>
    <p:sldId id="287" r:id="rId29"/>
    <p:sldId id="288" r:id="rId30"/>
    <p:sldId id="290" r:id="rId31"/>
    <p:sldId id="291" r:id="rId32"/>
    <p:sldId id="29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9893B3-2C87-4221-A7F2-A94D6F1A2F9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B2A1FF-30FF-4EEE-921E-B179E31B47F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A4C1B7-A67C-4916-A632-7DA7CCE43D8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477639E-6B4D-4CD4-8D49-775E36419B4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C65085-D58C-43CA-9E86-7B40586DFC3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D6BFCF-9CF8-4B2F-8A73-3F2EDCAA431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A8BD9A-C216-474F-A13F-E5C180F15DB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2859EE-B89E-461F-B8F9-851414CD765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29735F-EE52-40A1-B0CC-0D81E8C4F26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F39B39-25E7-40F8-9455-8F34B76434F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6742D4-EC14-4264-9932-97A507F1C01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CC47F6-CE6D-442F-8E5C-FB7F106AF49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F19DBC-BEF0-4632-A1AB-3007E53AEBE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8C0FEE-67CB-4C05-B5C4-E0F068DF792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A5DF7F-F022-488C-A474-F1417A08902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F8C77F-33B2-4A0A-B76E-D98F8B8A00F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FBCFC6-855D-4E30-918B-DE72F6F0B28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5E89C15-89B2-4C42-8DA8-56B5A97A7D2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8D2A51-F384-4CD7-8D83-68CC8543CB7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7DE927-0A2D-46BB-89F0-AEB2A82B8B3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8425F0-3CEA-4BD5-9D8E-397E0346D44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E536D5-CE12-4BFF-9DB8-E54ECCAB9EC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C2E8C5-47B8-43CD-83A1-9B3BF486160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F80BB1-F461-4DC1-BE9C-B74E225ECEA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6C89A4-6AD2-4549-8875-C11E36B7ADA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D83A2B-32DC-4D68-BBDC-52128FAB473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793A8B9-B38D-45D1-B276-152E5C01E65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546F6C-2C82-4A78-8D7C-D1DA30F0DC8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964EF9-D882-4F07-997C-1029DAB67E1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AFBEC1-4B9C-4B7D-AF95-9F5725DE071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C966B9-FBE5-469A-9ADB-355F60F35B8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http://www.caradebiologia.com.br/ensinomedio/aulas/gifs/aula02_05.gi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básicos</a:t>
            </a: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Relações Ecológicas</a:t>
            </a: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Sucessão Ecológica</a:t>
            </a: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666876" y="1071563"/>
            <a:ext cx="8786813" cy="5078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arenR"/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Conceitos Básicos</a:t>
            </a:r>
          </a:p>
          <a:p>
            <a:pPr marL="342900" indent="-342900">
              <a:buFontTx/>
              <a:buAutoNum type="arabicParenR"/>
              <a:defRPr/>
            </a:pPr>
            <a:endParaRPr lang="pt-BR" dirty="0"/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Indivíduo: </a:t>
            </a:r>
            <a:r>
              <a:rPr lang="pt-BR" dirty="0">
                <a:latin typeface="+mn-lt"/>
              </a:rPr>
              <a:t>Exemplar de uma espécie qualquer que constitui uma unidade distinta.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Espécie: </a:t>
            </a:r>
            <a:r>
              <a:rPr lang="pt-BR" dirty="0">
                <a:latin typeface="+mn-lt"/>
              </a:rPr>
              <a:t>Conjunto de indivíduos muito semelhantes entre si e aos seus ancestrais que se entrecruzam, naturalmente, produzindo descendentes férteis.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População: </a:t>
            </a:r>
            <a:r>
              <a:rPr lang="pt-BR" dirty="0">
                <a:latin typeface="+mn-lt"/>
              </a:rPr>
              <a:t>Conjunto de indivíduos da mesma espécie que ocupam uma determinada área, num determinado período de tempo.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Comunidade</a:t>
            </a:r>
            <a:r>
              <a:rPr lang="pt-BR" dirty="0">
                <a:latin typeface="+mn-lt"/>
              </a:rPr>
              <a:t> ou biocenose: conjunto de populações diferentes que coexistem em determinada região, interagindo direta ou indiretamente umas com as outras.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Ecossistema: </a:t>
            </a:r>
            <a:r>
              <a:rPr lang="pt-BR" dirty="0">
                <a:latin typeface="+mn-lt"/>
              </a:rPr>
              <a:t>Conjunto formado pela comunidade (meio biótico) e o ambiente físico (meio abiótico). Ex: Lagoa, Deserto, Floresta, etc.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Biosfera: </a:t>
            </a:r>
            <a:r>
              <a:rPr lang="pt-BR" dirty="0">
                <a:latin typeface="+mn-lt"/>
              </a:rPr>
              <a:t>Conjunto de todos os ecossistemas do planeta; corresponde à porção da Terra onde existe vida.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D7A3B8F-929A-4E90-AD15-7FAF6E424F5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4C0B8D0-5B6A-4C25-9ACB-4BA71A3B1A4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666876" y="1071563"/>
            <a:ext cx="8786813" cy="400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arenR"/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Conceitos Básicos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Habitat: </a:t>
            </a:r>
            <a:r>
              <a:rPr lang="pt-BR" dirty="0">
                <a:latin typeface="+mn-lt"/>
              </a:rPr>
              <a:t>Local onde o indivíduo ou a espécie pode ser encontrado. Corresponde a seu “endereço” no ecossistema onde vive.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Nicho Ecológico: </a:t>
            </a:r>
            <a:r>
              <a:rPr lang="pt-BR" dirty="0">
                <a:latin typeface="+mn-lt"/>
              </a:rPr>
              <a:t>Papel desempenhado pelo organismo no ecossistema. Define o modo de vida único e particular que cada espécie explora no hábitat.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 err="1">
                <a:latin typeface="+mn-lt"/>
              </a:rPr>
              <a:t>Ecótone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Região de transição entre dois ecossistemas. Apresenta grande biodiversidade.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Bioma: </a:t>
            </a:r>
            <a:r>
              <a:rPr lang="pt-BR" dirty="0">
                <a:latin typeface="+mn-lt"/>
              </a:rPr>
              <a:t>Conjunto de ecossistemas com características relativamente uniformes de clima, solo, fauna e flora. Exemplos de biomas brasileiros: Cerrado, Mata Atlântica, Caatinga e Pampas.</a:t>
            </a: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EB8A61-3B36-492C-8C1F-2DB0797F9C3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27E8064-F457-4F22-B327-DAEDBF4A599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666876" y="1071563"/>
            <a:ext cx="8786813" cy="1262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2) Níveis de organização da Ecologia</a:t>
            </a:r>
          </a:p>
          <a:p>
            <a:pPr marL="342900" indent="-342900">
              <a:defRPr/>
            </a:pPr>
            <a:endParaRPr lang="pt-BR" sz="2000" b="1" dirty="0">
              <a:solidFill>
                <a:schemeClr val="tx2"/>
              </a:solidFill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Átomos </a:t>
            </a:r>
            <a:r>
              <a:rPr lang="pt-BR" dirty="0">
                <a:latin typeface="+mn-lt"/>
                <a:sym typeface="Wingdings" pitchFamily="2" charset="2"/>
              </a:rPr>
              <a:t> Moléculas  Organelas  </a:t>
            </a:r>
            <a:r>
              <a:rPr lang="pt-BR" dirty="0">
                <a:latin typeface="+mn-lt"/>
              </a:rPr>
              <a:t>Célula </a:t>
            </a:r>
            <a:r>
              <a:rPr lang="pt-BR" dirty="0">
                <a:latin typeface="+mn-lt"/>
                <a:sym typeface="Wingdings" pitchFamily="2" charset="2"/>
              </a:rPr>
              <a:t> Tecidos  Órgãos  Sistemas  Organismos (indivíduos)  Populações  Comunidades  Ecossistemas  Biosfera</a:t>
            </a: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</p:txBody>
      </p:sp>
      <p:pic>
        <p:nvPicPr>
          <p:cNvPr id="6150" name="Picture 3" descr="http://www.caradebiologia.com.br/ensinomedio/aulas/gifs/aula02_05.gif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2095500" y="2643188"/>
            <a:ext cx="8153400" cy="291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1AA972B-18EB-49BB-833B-65EE133B616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A756D21-2C69-46AD-B8CA-50042F73E2F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/>
        </p:nvSpPr>
        <p:spPr>
          <a:xfrm>
            <a:off x="2952751" y="3429001"/>
            <a:ext cx="3857625" cy="10001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17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grpSp>
        <p:nvGrpSpPr>
          <p:cNvPr id="7174" name="Grupo 10"/>
          <p:cNvGrpSpPr>
            <a:grpSpLocks/>
          </p:cNvGrpSpPr>
          <p:nvPr/>
        </p:nvGrpSpPr>
        <p:grpSpPr bwMode="auto">
          <a:xfrm>
            <a:off x="1666876" y="1071563"/>
            <a:ext cx="8786813" cy="6494462"/>
            <a:chOff x="142844" y="1071546"/>
            <a:chExt cx="8786874" cy="6494085"/>
          </a:xfrm>
        </p:grpSpPr>
        <p:sp>
          <p:nvSpPr>
            <p:cNvPr id="5" name="CaixaDeTexto 4"/>
            <p:cNvSpPr txBox="1"/>
            <p:nvPr/>
          </p:nvSpPr>
          <p:spPr>
            <a:xfrm>
              <a:off x="142844" y="1071546"/>
              <a:ext cx="8786874" cy="649408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342900" indent="-342900">
                <a:defRPr/>
              </a:pPr>
              <a:r>
                <a:rPr lang="pt-BR" sz="2000" b="1" dirty="0">
                  <a:solidFill>
                    <a:schemeClr val="tx2"/>
                  </a:solidFill>
                  <a:latin typeface="+mn-lt"/>
                </a:rPr>
                <a:t>3) Estudo das populações</a:t>
              </a: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buFontTx/>
                <a:buAutoNum type="alphaLcParenR"/>
                <a:defRPr/>
              </a:pPr>
              <a:r>
                <a:rPr lang="pt-BR" b="1" dirty="0">
                  <a:latin typeface="+mn-lt"/>
                </a:rPr>
                <a:t>Densidade Populacional</a:t>
              </a:r>
            </a:p>
            <a:p>
              <a:pPr marL="342900" indent="-342900">
                <a:defRPr/>
              </a:pPr>
              <a:r>
                <a:rPr lang="pt-BR" dirty="0">
                  <a:latin typeface="+mn-lt"/>
                </a:rPr>
                <a:t>	</a:t>
              </a:r>
            </a:p>
            <a:p>
              <a:pPr marL="342900" indent="-342900">
                <a:defRPr/>
              </a:pPr>
              <a:r>
                <a:rPr lang="pt-BR" dirty="0">
                  <a:latin typeface="+mn-lt"/>
                </a:rPr>
                <a:t>	Número de indivíduos de uma mesma espécie que vive numa determinada área ou volume (habitats aquáticos).</a:t>
              </a: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r>
                <a:rPr lang="pt-BR" dirty="0">
                  <a:latin typeface="+mn-lt"/>
                </a:rPr>
                <a:t>	Fatores que determinam a densidade populacional: </a:t>
              </a:r>
            </a:p>
            <a:p>
              <a:pPr marL="800100" lvl="1" indent="-342900">
                <a:buFont typeface="Courier New" pitchFamily="49" charset="0"/>
                <a:buChar char="o"/>
                <a:defRPr/>
              </a:pPr>
              <a:endParaRPr lang="pt-BR" dirty="0">
                <a:latin typeface="+mn-lt"/>
              </a:endParaRPr>
            </a:p>
            <a:p>
              <a:pPr marL="1257300" lvl="2" indent="-342900">
                <a:buFont typeface="Courier New" pitchFamily="49" charset="0"/>
                <a:buChar char="o"/>
                <a:defRPr/>
              </a:pPr>
              <a:r>
                <a:rPr lang="pt-BR" dirty="0">
                  <a:solidFill>
                    <a:srgbClr val="FF0000"/>
                  </a:solidFill>
                  <a:latin typeface="+mn-lt"/>
                </a:rPr>
                <a:t>Taxa de Natalidade</a:t>
              </a:r>
            </a:p>
            <a:p>
              <a:pPr marL="1257300" lvl="2" indent="-342900">
                <a:buFont typeface="Courier New" pitchFamily="49" charset="0"/>
                <a:buChar char="o"/>
                <a:defRPr/>
              </a:pPr>
              <a:r>
                <a:rPr lang="pt-BR" dirty="0">
                  <a:solidFill>
                    <a:srgbClr val="FF0000"/>
                  </a:solidFill>
                  <a:latin typeface="+mn-lt"/>
                </a:rPr>
                <a:t>Taxa de Imigração</a:t>
              </a:r>
            </a:p>
            <a:p>
              <a:pPr marL="1257300" lvl="2" indent="-342900">
                <a:buFont typeface="Courier New" pitchFamily="49" charset="0"/>
                <a:buChar char="o"/>
                <a:defRPr/>
              </a:pPr>
              <a:r>
                <a:rPr lang="pt-BR" dirty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Taxa de Mortalidade</a:t>
              </a:r>
            </a:p>
            <a:p>
              <a:pPr marL="1257300" lvl="2" indent="-342900">
                <a:buFont typeface="Courier New" pitchFamily="49" charset="0"/>
                <a:buChar char="o"/>
                <a:defRPr/>
              </a:pPr>
              <a:r>
                <a:rPr lang="pt-BR" dirty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Taxa de Imigração</a:t>
              </a: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endParaRPr lang="pt-BR" dirty="0">
                <a:latin typeface="+mn-lt"/>
              </a:endParaRPr>
            </a:p>
            <a:p>
              <a:pPr marL="342900" indent="-342900">
                <a:defRPr/>
              </a:pPr>
              <a:r>
                <a:rPr lang="pt-BR" dirty="0">
                  <a:latin typeface="+mn-lt"/>
                </a:rPr>
                <a:t>	</a:t>
              </a: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357290" y="3571713"/>
              <a:ext cx="1500197" cy="6460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342900" indent="-342900" algn="ctr">
                <a:defRPr/>
              </a:pPr>
              <a:r>
                <a:rPr lang="pt-BR" dirty="0">
                  <a:latin typeface="+mn-lt"/>
                </a:rPr>
                <a:t>Densidade</a:t>
              </a:r>
            </a:p>
            <a:p>
              <a:pPr marL="342900" indent="-342900" algn="ctr">
                <a:defRPr/>
              </a:pPr>
              <a:r>
                <a:rPr lang="pt-BR" dirty="0">
                  <a:latin typeface="+mn-lt"/>
                </a:rPr>
                <a:t>populacional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2786050" y="3571713"/>
              <a:ext cx="2643205" cy="6460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342900" indent="-342900" algn="ctr">
                <a:defRPr/>
              </a:pPr>
              <a:r>
                <a:rPr lang="pt-BR" u="sng" dirty="0">
                  <a:latin typeface="+mn-lt"/>
                </a:rPr>
                <a:t>Número de indivíduos</a:t>
              </a:r>
            </a:p>
            <a:p>
              <a:pPr marL="342900" indent="-342900" algn="ctr">
                <a:defRPr/>
              </a:pPr>
              <a:r>
                <a:rPr lang="pt-BR" dirty="0">
                  <a:latin typeface="+mn-lt"/>
                </a:rPr>
                <a:t>Área ou volume</a:t>
              </a: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4238625" y="3714750"/>
            <a:ext cx="35718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ctr">
              <a:defRPr/>
            </a:pPr>
            <a:r>
              <a:rPr lang="pt-BR" sz="1600" dirty="0">
                <a:latin typeface="+mn-lt"/>
              </a:rPr>
              <a:t>=</a:t>
            </a:r>
          </a:p>
        </p:txBody>
      </p:sp>
      <p:sp>
        <p:nvSpPr>
          <p:cNvPr id="12" name="Seta para a direita listrada 11"/>
          <p:cNvSpPr/>
          <p:nvPr/>
        </p:nvSpPr>
        <p:spPr>
          <a:xfrm rot="5400000">
            <a:off x="7310438" y="3786188"/>
            <a:ext cx="785813" cy="357188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Seta para a direita listrada 12"/>
          <p:cNvSpPr/>
          <p:nvPr/>
        </p:nvSpPr>
        <p:spPr>
          <a:xfrm rot="5400000">
            <a:off x="6810376" y="3786189"/>
            <a:ext cx="785813" cy="357187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Seta para a direita listrada 13"/>
          <p:cNvSpPr/>
          <p:nvPr/>
        </p:nvSpPr>
        <p:spPr>
          <a:xfrm rot="16200000">
            <a:off x="1595438" y="3786188"/>
            <a:ext cx="785813" cy="357188"/>
          </a:xfrm>
          <a:prstGeom prst="strip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Seta para a direita listrada 14"/>
          <p:cNvSpPr/>
          <p:nvPr/>
        </p:nvSpPr>
        <p:spPr>
          <a:xfrm rot="16200000">
            <a:off x="2095501" y="3786189"/>
            <a:ext cx="785813" cy="357187"/>
          </a:xfrm>
          <a:prstGeom prst="strip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EAF546-0067-48AD-8DDA-2971A294529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4C467449-17DC-4F73-93DD-02FA6884787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34464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3) Estudo das populações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 Fatores que alteram o tamanho populacional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819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8198" name="Imagem 15" descr="F3-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085976"/>
            <a:ext cx="464820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ixaDeTexto 16"/>
          <p:cNvSpPr txBox="1"/>
          <p:nvPr/>
        </p:nvSpPr>
        <p:spPr>
          <a:xfrm>
            <a:off x="6167439" y="2286000"/>
            <a:ext cx="4357687" cy="3016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Todas as populações possuem potencial para crescer.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sz="1700" dirty="0">
                <a:latin typeface="+mn-lt"/>
              </a:rPr>
              <a:t>Um único casal de pássaros, chocando 6 ovos por ano, e com mortalidade zero, produziria ao final de 15 anos cerca de 10 milhões de descendentes.</a:t>
            </a:r>
          </a:p>
          <a:p>
            <a:pPr>
              <a:defRPr/>
            </a:pPr>
            <a:endParaRPr lang="pt-BR" sz="1700" dirty="0">
              <a:latin typeface="+mn-lt"/>
            </a:endParaRPr>
          </a:p>
          <a:p>
            <a:pPr>
              <a:defRPr/>
            </a:pPr>
            <a:r>
              <a:rPr lang="pt-BR" sz="1700" dirty="0">
                <a:latin typeface="+mn-lt"/>
              </a:rPr>
              <a:t>Essa capacidade teórica de crescer apresentada pelas populações é chamada de </a:t>
            </a:r>
            <a:r>
              <a:rPr lang="pt-BR" sz="1700" b="1" dirty="0">
                <a:latin typeface="+mn-lt"/>
              </a:rPr>
              <a:t>potencial biótico.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A7AD75-A442-4D5E-B46A-D4EA925129D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EFA2B85-9657-4F99-BEF3-03B0923CBDA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34464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3) Estudo das populações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 Fatores que alteram o tamanho populacional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922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9222" name="Imagem 8" descr="F3-3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2071689"/>
            <a:ext cx="48101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6238876" y="2071689"/>
            <a:ext cx="4214813" cy="3692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Em condições naturais, o crescimento de uma população é limitado pela disponibilidade de recursos do meio.</a:t>
            </a:r>
          </a:p>
          <a:p>
            <a:pPr algn="ctr"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dirty="0">
                <a:latin typeface="+mn-lt"/>
              </a:rPr>
              <a:t>O tamanho da população será determinado pelos efeitos combinados dos fatores ambientais: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b="1" dirty="0">
                <a:latin typeface="+mn-lt"/>
              </a:rPr>
              <a:t>Abióticos: </a:t>
            </a:r>
            <a:r>
              <a:rPr lang="pt-BR" dirty="0">
                <a:latin typeface="+mn-lt"/>
              </a:rPr>
              <a:t>água, espaço, clima, disponibilidade de nutrientes, etc.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b="1" dirty="0">
                <a:latin typeface="+mn-lt"/>
              </a:rPr>
              <a:t>Bióticos: </a:t>
            </a:r>
            <a:r>
              <a:rPr lang="pt-BR" dirty="0" err="1">
                <a:latin typeface="+mn-lt"/>
              </a:rPr>
              <a:t>Predação</a:t>
            </a:r>
            <a:r>
              <a:rPr lang="pt-BR" dirty="0">
                <a:latin typeface="+mn-lt"/>
              </a:rPr>
              <a:t>, competição, doenças, alimentação, etc.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809751" y="5429250"/>
            <a:ext cx="4214813" cy="1022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pt-BR" dirty="0"/>
              <a:t>A curva de crescimento real de uma população descreve uma curva em forma de “S” (curva sigmóide)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809751" y="5286375"/>
            <a:ext cx="4214813" cy="13287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pt-BR" dirty="0"/>
              <a:t>Quando uma população atinge a capacidade suportada pelo meio, seu tamanho passa a oscilar em torno de um valor médio.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F5D64A-80A2-41CB-8216-81E95D71EA6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92B4F09-68A7-419A-AAED-2576985FBBD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602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A interação dos diversos organismos que constituem uma comunidade biológica são genericamente denominadas </a:t>
            </a:r>
            <a:r>
              <a:rPr lang="pt-BR" b="1" dirty="0">
                <a:latin typeface="+mn-lt"/>
              </a:rPr>
              <a:t>relações ecológicas</a:t>
            </a:r>
            <a:r>
              <a:rPr lang="pt-BR" dirty="0">
                <a:latin typeface="+mn-lt"/>
              </a:rPr>
              <a:t>, e costumam ser classificadas pelos biólogos em intra-específicas, interespecíficas, harmônicas e desarmônicas.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a) Relações intra-específicas: </a:t>
            </a:r>
            <a:r>
              <a:rPr lang="pt-BR" dirty="0">
                <a:latin typeface="+mn-lt"/>
              </a:rPr>
              <a:t>São as que se estabelecem entre indivíduos de uma mesma espécie.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b) Relações interespecíficas: </a:t>
            </a:r>
            <a:r>
              <a:rPr lang="pt-BR" dirty="0">
                <a:latin typeface="+mn-lt"/>
              </a:rPr>
              <a:t>São as que se estabelecem entre indivíduos de espécies diferentes.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c) Relações harmônicas: </a:t>
            </a:r>
            <a:r>
              <a:rPr lang="pt-BR" dirty="0">
                <a:latin typeface="+mn-lt"/>
              </a:rPr>
              <a:t>Pelo menos uma das espécies se beneficia e não há prejuízo para nenhuma das partes associadas.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d) Relações desarmônicas: </a:t>
            </a:r>
            <a:r>
              <a:rPr lang="pt-BR" dirty="0">
                <a:latin typeface="+mn-lt"/>
              </a:rPr>
              <a:t>Uma ou ambas as espécies são prejudicadas.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024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238BAE-87C3-4F9C-AD06-664D83BBF2A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CD659C8-507E-4CE2-9761-A7ABA8420944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34464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126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881189" y="1785938"/>
          <a:ext cx="8429685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839">
                <a:tc rowSpan="2">
                  <a:txBody>
                    <a:bodyPr/>
                    <a:lstStyle/>
                    <a:p>
                      <a:pPr algn="ctr"/>
                      <a:endParaRPr lang="pt-BR" b="1" dirty="0"/>
                    </a:p>
                    <a:p>
                      <a:pPr algn="ctr"/>
                      <a:endParaRPr lang="pt-BR" b="1" dirty="0"/>
                    </a:p>
                    <a:p>
                      <a:pPr algn="ctr"/>
                      <a:r>
                        <a:rPr lang="pt-BR" b="1" dirty="0"/>
                        <a:t>Relações Harmônicas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Intra-Específica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Colônias</a:t>
                      </a:r>
                    </a:p>
                    <a:p>
                      <a:pPr algn="ctr"/>
                      <a:r>
                        <a:rPr lang="pt-BR" dirty="0"/>
                        <a:t>Sociedades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839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Interespecífica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Mutualismo</a:t>
                      </a:r>
                    </a:p>
                    <a:p>
                      <a:pPr algn="ctr"/>
                      <a:r>
                        <a:rPr lang="pt-BR" dirty="0" err="1"/>
                        <a:t>Protocooperação</a:t>
                      </a:r>
                      <a:endParaRPr lang="pt-BR" dirty="0"/>
                    </a:p>
                    <a:p>
                      <a:pPr algn="ctr"/>
                      <a:r>
                        <a:rPr lang="pt-BR" dirty="0"/>
                        <a:t>Comensalismo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839">
                <a:tc rowSpan="2">
                  <a:txBody>
                    <a:bodyPr/>
                    <a:lstStyle/>
                    <a:p>
                      <a:pPr algn="ctr"/>
                      <a:endParaRPr lang="pt-BR" b="1" dirty="0"/>
                    </a:p>
                    <a:p>
                      <a:pPr algn="ctr"/>
                      <a:endParaRPr lang="pt-BR" b="1" dirty="0"/>
                    </a:p>
                    <a:p>
                      <a:pPr algn="ctr"/>
                      <a:endParaRPr lang="pt-BR" b="1" dirty="0"/>
                    </a:p>
                    <a:p>
                      <a:pPr algn="ctr"/>
                      <a:r>
                        <a:rPr lang="pt-BR" b="1" dirty="0"/>
                        <a:t>Relações Desarmônicas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Intra-Específica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Competição</a:t>
                      </a:r>
                      <a:r>
                        <a:rPr lang="pt-BR" baseline="0" dirty="0"/>
                        <a:t> intra-específica</a:t>
                      </a:r>
                    </a:p>
                    <a:p>
                      <a:pPr algn="ctr"/>
                      <a:r>
                        <a:rPr lang="pt-BR" baseline="0" dirty="0"/>
                        <a:t>Canibalismo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839">
                <a:tc vMerge="1"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Interespecífica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Competição interespecífica</a:t>
                      </a:r>
                    </a:p>
                    <a:p>
                      <a:pPr algn="ctr"/>
                      <a:r>
                        <a:rPr lang="pt-BR" dirty="0" err="1"/>
                        <a:t>Predatismo</a:t>
                      </a:r>
                      <a:endParaRPr lang="pt-BR" dirty="0"/>
                    </a:p>
                    <a:p>
                      <a:pPr algn="ctr"/>
                      <a:r>
                        <a:rPr lang="pt-BR" dirty="0"/>
                        <a:t>Parasitismo</a:t>
                      </a:r>
                    </a:p>
                    <a:p>
                      <a:pPr algn="ctr"/>
                      <a:r>
                        <a:rPr lang="pt-BR" dirty="0" err="1"/>
                        <a:t>Amensalismo</a:t>
                      </a:r>
                      <a:endParaRPr lang="pt-BR" dirty="0"/>
                    </a:p>
                    <a:p>
                      <a:pPr algn="ctr"/>
                      <a:r>
                        <a:rPr lang="pt-BR" dirty="0" err="1"/>
                        <a:t>Esclavagismo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ECF99130-4BED-4A50-A7F4-5A0B5AFECC2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0879D57-0F8B-4F9F-836A-A5CDF75BC79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324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</a:t>
            </a:r>
            <a:r>
              <a:rPr lang="pt-BR" b="1" dirty="0" err="1">
                <a:latin typeface="+mn-lt"/>
              </a:rPr>
              <a:t>Intra-específicas</a:t>
            </a:r>
            <a:r>
              <a:rPr lang="pt-BR" b="1" dirty="0">
                <a:latin typeface="+mn-lt"/>
              </a:rPr>
              <a:t>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Colônia: </a:t>
            </a:r>
            <a:r>
              <a:rPr lang="pt-BR" dirty="0">
                <a:latin typeface="+mn-lt"/>
              </a:rPr>
              <a:t>São associações entre indivíduos da mesma espécie, unidos fisicamente entre si, podendo ou não ocorrer divisão de trabalho.</a:t>
            </a: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	Ex: </a:t>
            </a:r>
            <a:r>
              <a:rPr lang="pt-BR" dirty="0">
                <a:latin typeface="+mn-lt"/>
              </a:rPr>
              <a:t>Corais, bactérias (estreptococos), caravela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Sociedade: </a:t>
            </a:r>
            <a:r>
              <a:rPr lang="pt-BR" dirty="0">
                <a:latin typeface="+mn-lt"/>
              </a:rPr>
              <a:t>São associações entre indivíduos da mesma espécie, organizados de modo cooperativo e </a:t>
            </a:r>
            <a:r>
              <a:rPr lang="pt-BR" b="1" dirty="0">
                <a:latin typeface="+mn-lt"/>
              </a:rPr>
              <a:t>não ligados</a:t>
            </a:r>
            <a:r>
              <a:rPr lang="pt-BR" dirty="0">
                <a:latin typeface="+mn-lt"/>
              </a:rPr>
              <a:t> anatomicamente.</a:t>
            </a: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	Ex:</a:t>
            </a:r>
            <a:r>
              <a:rPr lang="pt-BR" dirty="0">
                <a:latin typeface="+mn-lt"/>
              </a:rPr>
              <a:t> sociedade dos insetos: abelhas, formigas, vespas.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	Obs.: </a:t>
            </a:r>
            <a:r>
              <a:rPr lang="pt-BR" dirty="0">
                <a:latin typeface="+mn-lt"/>
              </a:rPr>
              <a:t>Na sociedade das abelhas as funções dos indivíduos são bem definidas, 	havendo três castas sociais: rainha, zangão e operárias.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	</a:t>
            </a:r>
            <a:r>
              <a:rPr lang="pt-BR" b="1" dirty="0" err="1">
                <a:latin typeface="+mn-lt"/>
              </a:rPr>
              <a:t>Video</a:t>
            </a:r>
            <a:r>
              <a:rPr lang="pt-BR" b="1" dirty="0">
                <a:latin typeface="+mn-lt"/>
              </a:rPr>
              <a:t> sociedade das abelhas ou formigas???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229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8FBF78-B9E0-4CAA-B5DF-D5B992E9DFD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978992C-723C-477A-A99B-F7D7EEA824F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3724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</a:t>
            </a:r>
            <a:r>
              <a:rPr lang="pt-BR" b="1" dirty="0" err="1">
                <a:latin typeface="+mn-lt"/>
              </a:rPr>
              <a:t>Intra-específicas</a:t>
            </a:r>
            <a:r>
              <a:rPr lang="pt-BR" b="1" dirty="0">
                <a:latin typeface="+mn-lt"/>
              </a:rPr>
              <a:t>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Colônia: </a:t>
            </a: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331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13318" name="Espaço Reservado para Conteúdo 3" descr="e9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8563" y="2046288"/>
            <a:ext cx="6215062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4D9F474-3C9B-4DB6-92B8-DB20184501A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F24DF08-9FD2-4313-B484-8D07DEE5C1B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3724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</a:t>
            </a:r>
            <a:r>
              <a:rPr lang="pt-BR" b="1" dirty="0" err="1">
                <a:latin typeface="+mn-lt"/>
              </a:rPr>
              <a:t>Intra-específicas</a:t>
            </a:r>
            <a:r>
              <a:rPr lang="pt-BR" b="1" dirty="0">
                <a:latin typeface="+mn-lt"/>
              </a:rPr>
              <a:t>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Sociedade: </a:t>
            </a:r>
            <a:r>
              <a:rPr lang="pt-BR" dirty="0">
                <a:latin typeface="+mn-lt"/>
              </a:rPr>
              <a:t>Abelhas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434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14342" name="Imagem 6" descr="e10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2689" y="2786064"/>
            <a:ext cx="3571875" cy="327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Imagem 8" descr="e11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3188" y="1143000"/>
            <a:ext cx="35433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Imagem 9" descr="e12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53188" y="4133850"/>
            <a:ext cx="35052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C1B533A-8751-4F2F-8CF7-20A7F88888B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44D7A60-9465-48F7-8313-186563D8EB1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5940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Interespecíficas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Mutualismo: </a:t>
            </a:r>
            <a:r>
              <a:rPr lang="pt-BR" dirty="0">
                <a:latin typeface="+mn-lt"/>
              </a:rPr>
              <a:t>É a associação entre indivíduos de espécies diferentes, necessária à sobrevivência dos participantes e que beneficia ambos.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 err="1">
                <a:latin typeface="+mn-lt"/>
              </a:rPr>
              <a:t>Líquens</a:t>
            </a:r>
            <a:r>
              <a:rPr lang="pt-BR" dirty="0">
                <a:latin typeface="+mn-lt"/>
              </a:rPr>
              <a:t> (associação entre algas ou </a:t>
            </a:r>
            <a:r>
              <a:rPr lang="pt-BR" dirty="0" err="1">
                <a:latin typeface="+mn-lt"/>
              </a:rPr>
              <a:t>cianobactérias</a:t>
            </a:r>
            <a:r>
              <a:rPr lang="pt-BR" dirty="0">
                <a:latin typeface="+mn-lt"/>
              </a:rPr>
              <a:t> e fungos)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i="1" dirty="0" err="1">
                <a:latin typeface="+mn-lt"/>
              </a:rPr>
              <a:t>Bacteriorriza</a:t>
            </a:r>
            <a:r>
              <a:rPr lang="pt-BR" i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Associação formada por bactérias do gênero </a:t>
            </a:r>
            <a:r>
              <a:rPr lang="pt-BR" dirty="0" err="1">
                <a:latin typeface="+mn-lt"/>
              </a:rPr>
              <a:t>Rhizobium</a:t>
            </a:r>
            <a:r>
              <a:rPr lang="pt-BR" dirty="0">
                <a:latin typeface="+mn-lt"/>
              </a:rPr>
              <a:t> com raízes de leguminosas, como o feijão.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Herbívoros e Protozoários.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536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15366" name="Imagem 5" descr="e24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1689" y="3786188"/>
            <a:ext cx="3786187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B5BBE11-E4D3-4780-A53B-9EA4AAB591E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DF8B973-2BCD-4FC8-9F13-8B5D0FA0B1C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5940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Interespecíficas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</a:t>
            </a:r>
            <a:r>
              <a:rPr lang="pt-BR" b="1" dirty="0" err="1">
                <a:latin typeface="+mn-lt"/>
              </a:rPr>
              <a:t>Protocooperação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É a associação entre indivíduos de espécies diferentes em que ambos se beneficiam, mas a existência não é obrigatória.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Paguro e anêmonas do mar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Cervo e pássaro anu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Pássaro palito e jacaré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Insetos polinizadores e angiospermas</a:t>
            </a:r>
          </a:p>
          <a:p>
            <a:pPr marL="800100" lvl="1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638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16390" name="Imagem 5" descr="e4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1751" y="3286125"/>
            <a:ext cx="3929063" cy="308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2C9AF8F-551F-49B2-8DE6-7BD4C524E5E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3446550-8B4C-4921-A4C6-0371FB9EF93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324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a) Relações Interespecíficas Harmônicas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III) Comensalismo: </a:t>
            </a:r>
            <a:r>
              <a:rPr lang="pt-BR" dirty="0">
                <a:latin typeface="+mn-lt"/>
              </a:rPr>
              <a:t>É a associação entre espécies diferentes, na qual uma espécie é beneficiada sem causar prejuízo ou benefício a outra.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Comensalismo típico: </a:t>
            </a:r>
            <a:r>
              <a:rPr lang="pt-BR" dirty="0">
                <a:latin typeface="+mn-lt"/>
              </a:rPr>
              <a:t>Relação em que uma espécie se alimenta de restos alimentares de outra, sem prejudicá-la. Ex: Abutres, que aproveitam restos das presas dos leões.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Inquilinismo: </a:t>
            </a:r>
            <a:r>
              <a:rPr lang="pt-BR" dirty="0">
                <a:latin typeface="+mn-lt"/>
              </a:rPr>
              <a:t>Relação ecológica em que uma espécie </a:t>
            </a:r>
            <a:r>
              <a:rPr lang="pt-BR" dirty="0" err="1">
                <a:latin typeface="+mn-lt"/>
              </a:rPr>
              <a:t>inquilina</a:t>
            </a:r>
            <a:r>
              <a:rPr lang="pt-BR" dirty="0">
                <a:latin typeface="+mn-lt"/>
              </a:rPr>
              <a:t> vive sobre ou no interior de uma espécie hospedeira, sem prejudicá-la. Nos vegetais essa associação recebe o nome de </a:t>
            </a:r>
            <a:r>
              <a:rPr lang="pt-BR" b="1" dirty="0" err="1">
                <a:latin typeface="+mn-lt"/>
              </a:rPr>
              <a:t>epifitismo</a:t>
            </a:r>
            <a:r>
              <a:rPr lang="pt-BR" dirty="0">
                <a:latin typeface="+mn-lt"/>
              </a:rPr>
              <a:t>. Ex: Bromélias.</a:t>
            </a:r>
          </a:p>
          <a:p>
            <a:pPr marL="800100" lvl="1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 err="1">
                <a:latin typeface="+mn-lt"/>
              </a:rPr>
              <a:t>Forésia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Relação na qual uma espécie usa a outra como meio de transporte. Ex: Tubarão e rêmoras.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741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FBAC53-4BC2-406D-841B-F5BDB6A287F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2CEAFAB-2721-49C4-9D26-CC2BA957202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72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</a:t>
            </a:r>
            <a:r>
              <a:rPr lang="pt-BR" b="1" dirty="0" err="1">
                <a:latin typeface="+mn-lt"/>
              </a:rPr>
              <a:t>Intra-específicas</a:t>
            </a:r>
            <a:r>
              <a:rPr lang="pt-BR" b="1" dirty="0">
                <a:latin typeface="+mn-lt"/>
              </a:rPr>
              <a:t>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Competição </a:t>
            </a:r>
            <a:r>
              <a:rPr lang="pt-BR" b="1" dirty="0" err="1">
                <a:latin typeface="+mn-lt"/>
              </a:rPr>
              <a:t>Intra-específica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Ocorre entre indivíduos da mesma espécie, e é motivada por disputas por território, alimento e companheiro sexual.</a:t>
            </a:r>
          </a:p>
          <a:p>
            <a:pPr marL="342900" indent="-342900">
              <a:defRPr/>
            </a:pPr>
            <a:r>
              <a:rPr lang="pt-BR" sz="800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Obs.: A competição é um fator que regula o tamanho da população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Canibalismo: </a:t>
            </a:r>
            <a:r>
              <a:rPr lang="pt-BR" dirty="0">
                <a:latin typeface="+mn-lt"/>
              </a:rPr>
              <a:t>Relação na qual um organismo se alimenta de outro da mesma espécie.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Louva-Deus; Aranha viúva negra.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843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18438" name="Imagem 5" descr="e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1" y="3286126"/>
            <a:ext cx="3571875" cy="158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6AB8C1B-3A8B-450D-A2BC-39BA66FEC48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214B425-DC0F-482D-B55D-231E1F379F39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76946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Competição Interespecífica: </a:t>
            </a:r>
            <a:r>
              <a:rPr lang="pt-BR" dirty="0">
                <a:latin typeface="+mn-lt"/>
              </a:rPr>
              <a:t>Ocorre entre indivíduos de espécies diferentes. Geralmente ocorre quando duas espécies apresentam sobreposição de nichos ecológicos.</a:t>
            </a:r>
          </a:p>
          <a:p>
            <a:pPr marL="342900" indent="-342900">
              <a:defRPr/>
            </a:pPr>
            <a:r>
              <a:rPr lang="pt-BR" sz="800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Obs.: A disputa pelo mesmo recurso ambiental é um importante fator no controle do tamanho das populações.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Obs2.: Quando uma competição é muito severa uma das espécies pode ser eliminada (extinta) ou obrigada a emigrar.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Obs3.: A introdução de espécies exóticas têm causado graves impactos ambientais devido ao fato dessas espécies competirem pelos mesmos recurso que espécies nativas.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1946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AF8B70-A75A-4526-9462-7580B9A3374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A530C00-CF87-41B8-8B92-9B5ADBA136A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6216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I) Competição Interespecífica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048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1563" y="1285876"/>
            <a:ext cx="4087812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9214181-A47A-46A2-8E90-44A09217062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BB5B38E-17B7-4CA6-B4F9-045837FD486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602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</a:t>
            </a:r>
            <a:r>
              <a:rPr lang="pt-BR" b="1" dirty="0" err="1">
                <a:latin typeface="+mn-lt"/>
              </a:rPr>
              <a:t>Predatismo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Ocorre quando organismo predadores matam indivíduos da população de presas para deles se alimentarem.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Leões e girafas.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Obs.: A relação </a:t>
            </a:r>
            <a:r>
              <a:rPr lang="pt-BR" dirty="0" err="1">
                <a:latin typeface="+mn-lt"/>
              </a:rPr>
              <a:t>presa-predador</a:t>
            </a:r>
            <a:r>
              <a:rPr lang="pt-BR" dirty="0">
                <a:latin typeface="+mn-lt"/>
              </a:rPr>
              <a:t> pode ser um fator regulador da densidade populacional de ambos.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150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cxnSp>
        <p:nvCxnSpPr>
          <p:cNvPr id="9" name="Conector de seta reta 8"/>
          <p:cNvCxnSpPr/>
          <p:nvPr/>
        </p:nvCxnSpPr>
        <p:spPr>
          <a:xfrm rot="5400000" flipH="1" flipV="1">
            <a:off x="3059907" y="5107782"/>
            <a:ext cx="2214563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4167189" y="6215064"/>
            <a:ext cx="5214937" cy="15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Forma livre 14"/>
          <p:cNvSpPr/>
          <p:nvPr/>
        </p:nvSpPr>
        <p:spPr>
          <a:xfrm>
            <a:off x="4238626" y="4429126"/>
            <a:ext cx="3929063" cy="1362075"/>
          </a:xfrm>
          <a:custGeom>
            <a:avLst/>
            <a:gdLst>
              <a:gd name="connsiteX0" fmla="*/ 0 w 3709115"/>
              <a:gd name="connsiteY0" fmla="*/ 1307206 h 1360867"/>
              <a:gd name="connsiteX1" fmla="*/ 128789 w 3709115"/>
              <a:gd name="connsiteY1" fmla="*/ 1307206 h 1360867"/>
              <a:gd name="connsiteX2" fmla="*/ 631065 w 3709115"/>
              <a:gd name="connsiteY2" fmla="*/ 1294327 h 1360867"/>
              <a:gd name="connsiteX3" fmla="*/ 1017431 w 3709115"/>
              <a:gd name="connsiteY3" fmla="*/ 1062507 h 1360867"/>
              <a:gd name="connsiteX4" fmla="*/ 1455313 w 3709115"/>
              <a:gd name="connsiteY4" fmla="*/ 418563 h 1360867"/>
              <a:gd name="connsiteX5" fmla="*/ 1738648 w 3709115"/>
              <a:gd name="connsiteY5" fmla="*/ 96592 h 1360867"/>
              <a:gd name="connsiteX6" fmla="*/ 2189408 w 3709115"/>
              <a:gd name="connsiteY6" fmla="*/ 6439 h 1360867"/>
              <a:gd name="connsiteX7" fmla="*/ 2524259 w 3709115"/>
              <a:gd name="connsiteY7" fmla="*/ 135228 h 1360867"/>
              <a:gd name="connsiteX8" fmla="*/ 2756079 w 3709115"/>
              <a:gd name="connsiteY8" fmla="*/ 431442 h 1360867"/>
              <a:gd name="connsiteX9" fmla="*/ 3155324 w 3709115"/>
              <a:gd name="connsiteY9" fmla="*/ 1165538 h 1360867"/>
              <a:gd name="connsiteX10" fmla="*/ 3503053 w 3709115"/>
              <a:gd name="connsiteY10" fmla="*/ 1332963 h 1360867"/>
              <a:gd name="connsiteX11" fmla="*/ 3709115 w 3709115"/>
              <a:gd name="connsiteY11" fmla="*/ 1332963 h 136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09115" h="1360867">
                <a:moveTo>
                  <a:pt x="0" y="1307206"/>
                </a:moveTo>
                <a:cubicBezTo>
                  <a:pt x="11806" y="1308279"/>
                  <a:pt x="128789" y="1307206"/>
                  <a:pt x="128789" y="1307206"/>
                </a:cubicBezTo>
                <a:cubicBezTo>
                  <a:pt x="233966" y="1305060"/>
                  <a:pt x="482958" y="1335110"/>
                  <a:pt x="631065" y="1294327"/>
                </a:cubicBezTo>
                <a:cubicBezTo>
                  <a:pt x="779172" y="1253544"/>
                  <a:pt x="880056" y="1208468"/>
                  <a:pt x="1017431" y="1062507"/>
                </a:cubicBezTo>
                <a:cubicBezTo>
                  <a:pt x="1154806" y="916546"/>
                  <a:pt x="1335110" y="579549"/>
                  <a:pt x="1455313" y="418563"/>
                </a:cubicBezTo>
                <a:cubicBezTo>
                  <a:pt x="1575516" y="257577"/>
                  <a:pt x="1616299" y="165279"/>
                  <a:pt x="1738648" y="96592"/>
                </a:cubicBezTo>
                <a:cubicBezTo>
                  <a:pt x="1860997" y="27905"/>
                  <a:pt x="2058473" y="0"/>
                  <a:pt x="2189408" y="6439"/>
                </a:cubicBezTo>
                <a:cubicBezTo>
                  <a:pt x="2320343" y="12878"/>
                  <a:pt x="2429814" y="64394"/>
                  <a:pt x="2524259" y="135228"/>
                </a:cubicBezTo>
                <a:cubicBezTo>
                  <a:pt x="2618704" y="206062"/>
                  <a:pt x="2650902" y="259724"/>
                  <a:pt x="2756079" y="431442"/>
                </a:cubicBezTo>
                <a:cubicBezTo>
                  <a:pt x="2861257" y="603160"/>
                  <a:pt x="3030828" y="1015285"/>
                  <a:pt x="3155324" y="1165538"/>
                </a:cubicBezTo>
                <a:cubicBezTo>
                  <a:pt x="3279820" y="1315792"/>
                  <a:pt x="3410754" y="1305059"/>
                  <a:pt x="3503053" y="1332963"/>
                </a:cubicBezTo>
                <a:cubicBezTo>
                  <a:pt x="3595352" y="1360867"/>
                  <a:pt x="3652233" y="1346915"/>
                  <a:pt x="3709115" y="1332963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6" name="Forma livre 15"/>
          <p:cNvSpPr/>
          <p:nvPr/>
        </p:nvSpPr>
        <p:spPr>
          <a:xfrm>
            <a:off x="4738689" y="4572001"/>
            <a:ext cx="3571875" cy="1643063"/>
          </a:xfrm>
          <a:custGeom>
            <a:avLst/>
            <a:gdLst>
              <a:gd name="connsiteX0" fmla="*/ 0 w 3734874"/>
              <a:gd name="connsiteY0" fmla="*/ 1882462 h 1891048"/>
              <a:gd name="connsiteX1" fmla="*/ 167426 w 3734874"/>
              <a:gd name="connsiteY1" fmla="*/ 1805189 h 1891048"/>
              <a:gd name="connsiteX2" fmla="*/ 862885 w 3734874"/>
              <a:gd name="connsiteY2" fmla="*/ 1367307 h 1891048"/>
              <a:gd name="connsiteX3" fmla="*/ 1287888 w 3734874"/>
              <a:gd name="connsiteY3" fmla="*/ 916546 h 1891048"/>
              <a:gd name="connsiteX4" fmla="*/ 1777285 w 3734874"/>
              <a:gd name="connsiteY4" fmla="*/ 208208 h 1891048"/>
              <a:gd name="connsiteX5" fmla="*/ 2060620 w 3734874"/>
              <a:gd name="connsiteY5" fmla="*/ 40783 h 1891048"/>
              <a:gd name="connsiteX6" fmla="*/ 2395471 w 3734874"/>
              <a:gd name="connsiteY6" fmla="*/ 15025 h 1891048"/>
              <a:gd name="connsiteX7" fmla="*/ 2717443 w 3734874"/>
              <a:gd name="connsiteY7" fmla="*/ 130935 h 1891048"/>
              <a:gd name="connsiteX8" fmla="*/ 3000778 w 3734874"/>
              <a:gd name="connsiteY8" fmla="*/ 478665 h 1891048"/>
              <a:gd name="connsiteX9" fmla="*/ 3425781 w 3734874"/>
              <a:gd name="connsiteY9" fmla="*/ 1328670 h 1891048"/>
              <a:gd name="connsiteX10" fmla="*/ 3734874 w 3734874"/>
              <a:gd name="connsiteY10" fmla="*/ 1547611 h 18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34874" h="1891048">
                <a:moveTo>
                  <a:pt x="0" y="1882462"/>
                </a:moveTo>
                <a:cubicBezTo>
                  <a:pt x="11806" y="1886755"/>
                  <a:pt x="23612" y="1891048"/>
                  <a:pt x="167426" y="1805189"/>
                </a:cubicBezTo>
                <a:cubicBezTo>
                  <a:pt x="311240" y="1719330"/>
                  <a:pt x="676141" y="1515414"/>
                  <a:pt x="862885" y="1367307"/>
                </a:cubicBezTo>
                <a:cubicBezTo>
                  <a:pt x="1049629" y="1219200"/>
                  <a:pt x="1135488" y="1109729"/>
                  <a:pt x="1287888" y="916546"/>
                </a:cubicBezTo>
                <a:cubicBezTo>
                  <a:pt x="1440288" y="723363"/>
                  <a:pt x="1648496" y="354168"/>
                  <a:pt x="1777285" y="208208"/>
                </a:cubicBezTo>
                <a:cubicBezTo>
                  <a:pt x="1906074" y="62248"/>
                  <a:pt x="1957589" y="72980"/>
                  <a:pt x="2060620" y="40783"/>
                </a:cubicBezTo>
                <a:cubicBezTo>
                  <a:pt x="2163651" y="8586"/>
                  <a:pt x="2286001" y="0"/>
                  <a:pt x="2395471" y="15025"/>
                </a:cubicBezTo>
                <a:cubicBezTo>
                  <a:pt x="2504941" y="30050"/>
                  <a:pt x="2616559" y="53662"/>
                  <a:pt x="2717443" y="130935"/>
                </a:cubicBezTo>
                <a:cubicBezTo>
                  <a:pt x="2818328" y="208208"/>
                  <a:pt x="2882722" y="279043"/>
                  <a:pt x="3000778" y="478665"/>
                </a:cubicBezTo>
                <a:cubicBezTo>
                  <a:pt x="3118834" y="678287"/>
                  <a:pt x="3303432" y="1150512"/>
                  <a:pt x="3425781" y="1328670"/>
                </a:cubicBezTo>
                <a:cubicBezTo>
                  <a:pt x="3548130" y="1506828"/>
                  <a:pt x="3641502" y="1527219"/>
                  <a:pt x="3734874" y="1547611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5667375" y="4071939"/>
            <a:ext cx="8572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Presa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239000" y="4429125"/>
            <a:ext cx="12144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Predador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952625" y="4214814"/>
            <a:ext cx="20002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Nº de indivíduos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310438" y="6286500"/>
            <a:ext cx="20002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Tempo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BFACC0-B818-41CC-ABBA-099A5862E39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16CA8EB8-8E9F-4C14-B735-0A78048F99A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5940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II) </a:t>
            </a:r>
            <a:r>
              <a:rPr lang="pt-BR" b="1" dirty="0" err="1">
                <a:latin typeface="+mn-lt"/>
              </a:rPr>
              <a:t>Predatismo</a:t>
            </a:r>
            <a:r>
              <a:rPr lang="pt-BR" b="1" dirty="0">
                <a:latin typeface="+mn-lt"/>
              </a:rPr>
              <a:t>: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253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2534" name="Imagem 13" descr="e26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5501" y="2786063"/>
            <a:ext cx="3643313" cy="345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Imagem 16" descr="e27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0314" y="1428751"/>
            <a:ext cx="37242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6" name="Imagem 21" descr="e28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1" y="3786189"/>
            <a:ext cx="4183063" cy="277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5C4D5AB-2BF8-4968-BEBA-799DE97F2C2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0F672E5-D1FF-4B73-BC30-66036E6BC28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10464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III) Parasitismo: </a:t>
            </a:r>
            <a:r>
              <a:rPr lang="pt-BR" dirty="0">
                <a:latin typeface="+mn-lt"/>
              </a:rPr>
              <a:t>Relação na qual uma das espécies, o parasita, obtêm nutrientes e moradia no corpo de indivíduos vivos da espécie hospedeira.</a:t>
            </a:r>
          </a:p>
          <a:p>
            <a:pPr marL="342900" indent="-342900">
              <a:defRPr/>
            </a:pPr>
            <a:endParaRPr lang="pt-BR" sz="12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u="sng" dirty="0" err="1">
                <a:latin typeface="+mn-lt"/>
              </a:rPr>
              <a:t>Endoparasitismo</a:t>
            </a:r>
            <a:r>
              <a:rPr lang="pt-BR" u="sng" dirty="0">
                <a:latin typeface="+mn-lt"/>
              </a:rPr>
              <a:t>: </a:t>
            </a:r>
            <a:r>
              <a:rPr lang="pt-BR" dirty="0">
                <a:latin typeface="+mn-lt"/>
              </a:rPr>
              <a:t>O parasita vive no interior do corpo do hospedeiro.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Protozoários flagelados e cupim. 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u="sng" dirty="0" err="1">
                <a:latin typeface="+mn-lt"/>
              </a:rPr>
              <a:t>Ectoparasitismo</a:t>
            </a:r>
            <a:r>
              <a:rPr lang="pt-BR" u="sng" dirty="0">
                <a:latin typeface="+mn-lt"/>
              </a:rPr>
              <a:t>: </a:t>
            </a:r>
            <a:r>
              <a:rPr lang="pt-BR" dirty="0">
                <a:latin typeface="+mn-lt"/>
              </a:rPr>
              <a:t>Quando o parasita vive na superfície do hospedeiro.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Piolho e homem.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u="sng" dirty="0">
                <a:latin typeface="+mn-lt"/>
              </a:rPr>
              <a:t>Holoparasita: </a:t>
            </a:r>
            <a:r>
              <a:rPr lang="pt-BR" dirty="0">
                <a:latin typeface="+mn-lt"/>
              </a:rPr>
              <a:t>Planta parasita que obtém seiva bruta e elaborada as custas da planta hospedeira. Ex: Cipó-chumbo.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u="sng" dirty="0">
                <a:latin typeface="+mn-lt"/>
              </a:rPr>
              <a:t>Hemiparasita: </a:t>
            </a:r>
            <a:r>
              <a:rPr lang="pt-BR" dirty="0">
                <a:latin typeface="+mn-lt"/>
              </a:rPr>
              <a:t>Planta parasita que obtém somente seiva bruta as custas  da planta hospedeira. Ex: Erva de passarinho.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Obs.: O parasitismo pode ser um fator regulador do tamanho de uma população.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Obs2.: Geralmente os parasitas não matam os hospedeiros, pois dependem destes para sobreviverem.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355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9E9A46-7E34-41A8-A60C-C2B764045B9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CBF21F8-C998-4C23-B1E8-01A202D067E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6402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III) Parasitismo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sz="12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458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4582" name="Picture 7" descr="haust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51" y="4286250"/>
            <a:ext cx="2786063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5" descr="CIPO%20CHUMB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0125" y="4286250"/>
            <a:ext cx="2776538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Imagem 9" descr="e7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2875" y="2071689"/>
            <a:ext cx="2571750" cy="204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5" name="Imagem 10" descr="e8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7500" y="1643064"/>
            <a:ext cx="3663950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6" name="CaixaDeTexto 11"/>
          <p:cNvSpPr txBox="1">
            <a:spLocks noChangeArrowheads="1"/>
          </p:cNvSpPr>
          <p:nvPr/>
        </p:nvSpPr>
        <p:spPr bwMode="auto">
          <a:xfrm>
            <a:off x="1881188" y="6357939"/>
            <a:ext cx="2571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/>
              <a:t>Erva-de-passarinho</a:t>
            </a:r>
          </a:p>
        </p:txBody>
      </p:sp>
      <p:sp>
        <p:nvSpPr>
          <p:cNvPr id="24587" name="CaixaDeTexto 12"/>
          <p:cNvSpPr txBox="1">
            <a:spLocks noChangeArrowheads="1"/>
          </p:cNvSpPr>
          <p:nvPr/>
        </p:nvSpPr>
        <p:spPr bwMode="auto">
          <a:xfrm>
            <a:off x="4881563" y="6357939"/>
            <a:ext cx="2571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/>
              <a:t>Cipó chumbo</a:t>
            </a:r>
          </a:p>
        </p:txBody>
      </p:sp>
      <p:pic>
        <p:nvPicPr>
          <p:cNvPr id="24588" name="Picture 9" descr="Photo of anopheles mosquito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10500" y="4143376"/>
            <a:ext cx="2622550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8310563" y="5857875"/>
            <a:ext cx="16430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Pernilongo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2297A4B-2586-4BE6-A7BC-B68A18446DD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2BA9E459-B8BD-4FF7-A49E-C6999119B3C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67706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IV) </a:t>
            </a:r>
            <a:r>
              <a:rPr lang="pt-BR" b="1" dirty="0" err="1">
                <a:latin typeface="+mn-lt"/>
              </a:rPr>
              <a:t>Amensalismo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Também chamado de antibiose, uma espécie denominada inibidora libera substâncias que impedem o crescimento e a reprodução de outra denominada amensal.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Algas </a:t>
            </a:r>
            <a:r>
              <a:rPr lang="pt-BR" dirty="0" err="1">
                <a:latin typeface="+mn-lt"/>
              </a:rPr>
              <a:t>pirrófitas</a:t>
            </a:r>
            <a:r>
              <a:rPr lang="pt-BR" dirty="0">
                <a:latin typeface="+mn-lt"/>
              </a:rPr>
              <a:t> e animais marinhos (Maré vermelha).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560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5606" name="Imagem 5" descr="e16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0375" y="3429001"/>
            <a:ext cx="2643188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Imagem 6" descr="dino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9814" y="3714750"/>
            <a:ext cx="1571625" cy="163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8" name="Imagem 8" descr="dino2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95750" y="3643313"/>
            <a:ext cx="990600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2809875" y="5429250"/>
            <a:ext cx="2286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Algas </a:t>
            </a:r>
            <a:r>
              <a:rPr lang="pt-BR" dirty="0" err="1">
                <a:latin typeface="+mn-lt"/>
              </a:rPr>
              <a:t>Pirrófitas</a:t>
            </a:r>
            <a:endParaRPr lang="pt-BR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5780C8-AFC0-4C26-A858-AA4F5736AB1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835C5CB-0686-4AD5-84ED-6622F8A72E6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324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Relações Interespecíficas desarmônicas</a:t>
            </a:r>
          </a:p>
          <a:p>
            <a:pPr marL="342900" indent="-342900">
              <a:defRPr/>
            </a:pPr>
            <a:endParaRPr lang="pt-BR" b="1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V) </a:t>
            </a:r>
            <a:r>
              <a:rPr lang="pt-BR" b="1" dirty="0" err="1">
                <a:latin typeface="+mn-lt"/>
              </a:rPr>
              <a:t>Esclavagismo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Uma espécie se beneficia do trabalho de outra.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Chupim.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Essa espécie de pássaro bota seus ovos no ninho de outras espécies, que passa a chocá-los até a eclosão.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662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6630" name="Picture 6" descr="chup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3063" y="3786188"/>
            <a:ext cx="1714500" cy="258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19D6FE1-303F-453B-9223-B9A49A9D587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981C649-F2D2-4D4E-A1D5-C44A3EC56B2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8832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Formas especiais de adaptação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r>
              <a:rPr lang="pt-BR" b="1" dirty="0">
                <a:latin typeface="+mn-lt"/>
              </a:rPr>
              <a:t>Camuflagem: </a:t>
            </a:r>
            <a:r>
              <a:rPr lang="pt-BR" dirty="0">
                <a:latin typeface="+mn-lt"/>
              </a:rPr>
              <a:t>Forma de adaptação na qual um organismo se parece com o ambiente, confundindo-se com ele na cor e/ou na forma.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   Mimetismo: </a:t>
            </a:r>
            <a:r>
              <a:rPr lang="pt-BR" dirty="0">
                <a:latin typeface="+mn-lt"/>
              </a:rPr>
              <a:t>Forma de adaptação na qual uma espécie se beneficia por assemelhar-se a outras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765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7654" name="Imagem 10" descr="e17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1500" y="2714626"/>
            <a:ext cx="2928938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Imagem 12" descr="e18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95813" y="4910138"/>
            <a:ext cx="2857500" cy="194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163F9C1-A1B5-4F68-96E9-1FC430ABDB4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89B0008-8C73-424E-BF1A-894FFBAE3C7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80025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Formas especiais de adaptação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b) Mimetismo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867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8678" name="Imagem 8" descr="e19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1" y="1143000"/>
            <a:ext cx="5357813" cy="212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Imagem 9" descr="e20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1188" y="3571876"/>
            <a:ext cx="4214812" cy="28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Imagem 11" descr="e21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53189" y="3571875"/>
            <a:ext cx="3754437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9CE3100-7437-40C1-A0AE-72FC93FD9B1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FEFD9F2-71A6-4844-B5FC-6C5C873BE08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8278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5) Relações Ecológicas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Formas especiais de adaptação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c) </a:t>
            </a:r>
            <a:r>
              <a:rPr lang="pt-BR" b="1" dirty="0" err="1">
                <a:latin typeface="+mn-lt"/>
              </a:rPr>
              <a:t>Aposematismo</a:t>
            </a:r>
            <a:r>
              <a:rPr lang="pt-BR" b="1" dirty="0">
                <a:latin typeface="+mn-lt"/>
              </a:rPr>
              <a:t>: </a:t>
            </a:r>
            <a:r>
              <a:rPr lang="pt-BR" dirty="0">
                <a:latin typeface="+mn-lt"/>
              </a:rPr>
              <a:t>Forma de adaptação na qual uma espécie exibe cores chamativas para advertir seus possíveis predadores quanto a seu paladar desagradável ou pelo veneno que possui.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2970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29702" name="Imagem 10" descr="e2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5564" y="3357563"/>
            <a:ext cx="3214687" cy="274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Imagem 12" descr="e23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3189" y="3357563"/>
            <a:ext cx="3214687" cy="264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A063309-6BFE-4ED5-BCBA-27672883763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CAA8058-861D-4290-915D-47AD30D17D6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3"/>
            <a:ext cx="8786813" cy="11326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6)  Sucessão Ecológica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Processo que consiste na substituição ordenada e gradual de uma comunidade por outra, até o estabelecimento de uma comunidade relativamente estável, denominada comunidade clímax.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Etapas da sucessão: </a:t>
            </a:r>
            <a:r>
              <a:rPr lang="pt-BR" sz="1600" dirty="0" err="1">
                <a:solidFill>
                  <a:srgbClr val="FF0000"/>
                </a:solidFill>
                <a:latin typeface="+mn-lt"/>
              </a:rPr>
              <a:t>Ecese</a:t>
            </a:r>
            <a:r>
              <a:rPr lang="pt-BR" sz="1600" dirty="0">
                <a:solidFill>
                  <a:srgbClr val="FF0000"/>
                </a:solidFill>
                <a:latin typeface="+mn-lt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+mn-lt"/>
                <a:sym typeface="Wingdings" pitchFamily="2" charset="2"/>
              </a:rPr>
              <a:t> Séries  Comunidade clímax</a:t>
            </a:r>
            <a:endParaRPr lang="pt-BR" sz="16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Estágio Inicial: Constituído pela comunidade pioneira ou (</a:t>
            </a:r>
            <a:r>
              <a:rPr lang="pt-BR" dirty="0" err="1">
                <a:latin typeface="+mn-lt"/>
              </a:rPr>
              <a:t>ecese</a:t>
            </a:r>
            <a:r>
              <a:rPr lang="pt-BR" dirty="0">
                <a:latin typeface="+mn-lt"/>
              </a:rPr>
              <a:t>) que modifica o ambiente e é gradualmente substituída por comunidades temporárias (séries) até atingir a comunidade clímax.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Espécies pioneiras: </a:t>
            </a:r>
            <a:r>
              <a:rPr lang="pt-BR" dirty="0" err="1">
                <a:latin typeface="+mn-lt"/>
              </a:rPr>
              <a:t>Líquens</a:t>
            </a:r>
            <a:r>
              <a:rPr lang="pt-BR" dirty="0">
                <a:latin typeface="+mn-lt"/>
              </a:rPr>
              <a:t> e briófitas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Séries: são comunidades temporárias que se sucedem após a colonização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Comunidade clímax: É a que encerra a sucessão. É o estágio no qual se encontra grande biodiversidade, não havendo mais substituição de espécies.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3072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675082-5B91-4978-9DC2-494D5FFF197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69102B0-BDE8-4BE9-9E1D-8C709039488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3174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8564" y="1500189"/>
            <a:ext cx="6281737" cy="46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CaixaDeTexto 5"/>
          <p:cNvSpPr txBox="1">
            <a:spLocks noChangeArrowheads="1"/>
          </p:cNvSpPr>
          <p:nvPr/>
        </p:nvSpPr>
        <p:spPr bwMode="auto">
          <a:xfrm>
            <a:off x="1666875" y="1643064"/>
            <a:ext cx="20002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Espécies Pioneiras</a:t>
            </a:r>
          </a:p>
          <a:p>
            <a:pPr algn="ctr"/>
            <a:r>
              <a:rPr lang="pt-BR"/>
              <a:t>se estabelecem</a:t>
            </a:r>
          </a:p>
        </p:txBody>
      </p:sp>
      <p:sp>
        <p:nvSpPr>
          <p:cNvPr id="31751" name="CaixaDeTexto 8"/>
          <p:cNvSpPr txBox="1">
            <a:spLocks noChangeArrowheads="1"/>
          </p:cNvSpPr>
          <p:nvPr/>
        </p:nvSpPr>
        <p:spPr bwMode="auto">
          <a:xfrm>
            <a:off x="1666875" y="3214688"/>
            <a:ext cx="2000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Comunidades temporárias</a:t>
            </a:r>
          </a:p>
        </p:txBody>
      </p:sp>
      <p:sp>
        <p:nvSpPr>
          <p:cNvPr id="31752" name="CaixaDeTexto 9"/>
          <p:cNvSpPr txBox="1">
            <a:spLocks noChangeArrowheads="1"/>
          </p:cNvSpPr>
          <p:nvPr/>
        </p:nvSpPr>
        <p:spPr bwMode="auto">
          <a:xfrm>
            <a:off x="1738313" y="4929188"/>
            <a:ext cx="2000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Comunidades permanentes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C1838A6-F12B-483C-ADCB-21920AB1AE9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FFA5F5B-FDDA-46AA-A074-8172F172A6E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9386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6)  Sucessão Ecológica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Tipos de sucessão ecológica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Sucessão Primária: </a:t>
            </a:r>
            <a:r>
              <a:rPr lang="pt-BR" dirty="0">
                <a:latin typeface="+mn-lt"/>
              </a:rPr>
              <a:t>Ocorre quando o desenvolvimento de uma comunidade inicia-se em uma área estéril, ou seja, onde não existia vida.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Ex: Ilhas vulcânicas.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  <a:r>
              <a:rPr lang="pt-BR" b="1" dirty="0">
                <a:latin typeface="+mn-lt"/>
              </a:rPr>
              <a:t>Sucessão Secundária: </a:t>
            </a:r>
            <a:r>
              <a:rPr lang="pt-BR" dirty="0">
                <a:latin typeface="+mn-lt"/>
              </a:rPr>
              <a:t>Ocorre quando o desenvolvimento de uma comunidade inicia-se em uma área anteriormente ocupada por outras comunidades bem estabelecidas.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3277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6E999BD-8652-43D8-85AF-937548FA573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E2EE93A-D992-4E91-ACFC-5D337F8FBB8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6740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33795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33796" name="Imagem 6" descr="F3-2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3712" y="0"/>
            <a:ext cx="496855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666876" y="1071564"/>
            <a:ext cx="8786813" cy="7170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6)  Sucessão Ecológica</a:t>
            </a:r>
          </a:p>
          <a:p>
            <a:pPr marL="342900" indent="-342900">
              <a:defRPr/>
            </a:pPr>
            <a:endParaRPr lang="pt-BR" sz="800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endParaRPr lang="pt-BR" dirty="0">
              <a:latin typeface="+mn-lt"/>
            </a:endParaRPr>
          </a:p>
          <a:p>
            <a:pPr marL="342900" indent="-342900">
              <a:defRPr/>
            </a:pPr>
            <a:r>
              <a:rPr lang="pt-BR" dirty="0">
                <a:latin typeface="+mn-lt"/>
              </a:rPr>
              <a:t>	</a:t>
            </a:r>
          </a:p>
        </p:txBody>
      </p:sp>
      <p:sp>
        <p:nvSpPr>
          <p:cNvPr id="3482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738313" y="1643063"/>
          <a:ext cx="8643998" cy="48463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714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40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Eventos ao longo da sucessão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Composição em espécies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Muda rapidamente no início,</a:t>
                      </a:r>
                      <a:r>
                        <a:rPr lang="pt-BR" sz="1800" baseline="0" dirty="0"/>
                        <a:t> depois mais lentamente.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Tamanho dos indivíduos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Tende a aumentar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Diversidade de espécies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Aumenta, atingindo o máximo</a:t>
                      </a:r>
                      <a:r>
                        <a:rPr lang="pt-BR" sz="1800" baseline="0" dirty="0"/>
                        <a:t> na comunidade clímax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Biomassa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Aumenta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Produtividade primária bruta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Aumenta no início depois estabiliza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Respiração da comunidade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Aumenta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Razão</a:t>
                      </a:r>
                      <a:r>
                        <a:rPr lang="pt-BR" sz="1800" baseline="0" dirty="0"/>
                        <a:t> Fotossíntese/Respiração</a:t>
                      </a:r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F &gt; R, no início, depois F =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Produtividade Líquida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Inicialmente grande, depois diminui, igualando no</a:t>
                      </a:r>
                      <a:r>
                        <a:rPr lang="pt-BR" sz="1800" baseline="0" dirty="0"/>
                        <a:t> clímax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Cadeias alimentares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Ficam mais elaboradas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401">
                <a:tc>
                  <a:txBody>
                    <a:bodyPr/>
                    <a:lstStyle/>
                    <a:p>
                      <a:r>
                        <a:rPr lang="pt-BR" sz="1800" dirty="0"/>
                        <a:t>Reciclagem de nutrientes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Aumenta, tornando-se</a:t>
                      </a:r>
                      <a:r>
                        <a:rPr lang="pt-BR" sz="1800" baseline="0" dirty="0"/>
                        <a:t> mais rápida</a:t>
                      </a:r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1C9D671D-1E97-4492-85E8-19D9345A6C1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4E92B12-B051-4A2B-946A-5CCB568CDEA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Ecologia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</TotalTime>
  <Words>2118</Words>
  <Application>Microsoft Office PowerPoint</Application>
  <PresentationFormat>Widescreen</PresentationFormat>
  <Paragraphs>787</Paragraphs>
  <Slides>32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32</cp:revision>
  <dcterms:created xsi:type="dcterms:W3CDTF">2020-06-05T12:13:59Z</dcterms:created>
  <dcterms:modified xsi:type="dcterms:W3CDTF">2021-05-15T00:35:58Z</dcterms:modified>
</cp:coreProperties>
</file>