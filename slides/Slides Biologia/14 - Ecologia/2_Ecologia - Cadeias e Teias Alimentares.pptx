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1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18-03-02T01:11:35.24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819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6FB0A-ACC1-44C7-A463-9F09D6238EA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92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70F809A-F023-4229-B3F9-F8DFCB772BD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B22BA2-EC45-46AF-AF19-8F7C06D0B19D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F81763-EBE4-426E-91E1-7A28049DA69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380F29-AB61-41A3-8135-DE975582073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489BD9-9B9A-49BD-920C-8D67EE7DDCD7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015883-BE54-4364-AB63-BC4919162EC2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7DEB25-759D-4D90-8712-7DD7EF34DF4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95FC28-7515-4F7D-A74C-F965357E264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89247F-AF55-4E5E-9B52-E9B0248AC84F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55BBC67-F5A3-474F-932D-0DA3D30E1F6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BFBC8D-B254-48BE-BE8B-CDC83AD4186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1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9E357E-9D1B-451E-8A96-7ED34774DC2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9CEB56-961E-4276-B110-C3BB07ED9EA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44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gif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emf"/><Relationship Id="rId5" Type="http://schemas.openxmlformats.org/officeDocument/2006/relationships/customXml" Target="../ink/ink1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cologia - conceito, definições de ecologia, sua importância - InfoEscola">
            <a:extLst>
              <a:ext uri="{FF2B5EF4-FFF2-40B4-BE49-F238E27FC236}">
                <a16:creationId xmlns:a16="http://schemas.microsoft.com/office/drawing/2014/main" id="{F1DACA33-E2AC-4076-B7D4-7374C868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24417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r>
              <a:rPr lang="pt-BR" sz="6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Cadeias e Teias Alimentares</a:t>
            </a:r>
          </a:p>
          <a:p>
            <a:r>
              <a:rPr lang="pt-BR" sz="6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Pirâmides Ecológicas</a:t>
            </a:r>
          </a:p>
          <a:p>
            <a:r>
              <a:rPr lang="pt-BR" sz="6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Ciclos Biogeoquímicos</a:t>
            </a: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923122"/>
            <a:ext cx="10670975" cy="810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1480" indent="-411480" algn="just">
              <a:buFontTx/>
              <a:buAutoNum type="arabi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Conceitos Prévios</a:t>
            </a:r>
          </a:p>
          <a:p>
            <a:pPr marL="411480" indent="-411480" algn="just">
              <a:buFontTx/>
              <a:buAutoNum type="arabi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buFont typeface="+mj-lt"/>
              <a:buAutoNum type="alphaL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Organismos Autótrofos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São organismos que possuem a capacidade de utilizar o CO2 como fonte de carbono para produzir matéria orgânica.</a:t>
            </a:r>
          </a:p>
          <a:p>
            <a:pPr marL="960120" lvl="1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411480" indent="-411480" algn="just"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		</a:t>
            </a:r>
            <a:r>
              <a:rPr lang="pt-BR" sz="2160" dirty="0">
                <a:cs typeface="Tahoma" pitchFamily="34" charset="0"/>
              </a:rPr>
              <a:t>Os organismos podem ser autótrofos de duas maneiras:</a:t>
            </a:r>
          </a:p>
          <a:p>
            <a:pPr marL="411480" indent="-411480" algn="just">
              <a:defRPr/>
            </a:pPr>
            <a:endParaRPr lang="pt-BR" sz="1200" dirty="0">
              <a:cs typeface="Tahoma" pitchFamily="34" charset="0"/>
            </a:endParaRPr>
          </a:p>
          <a:p>
            <a:pPr marL="411480" indent="-411480" algn="just">
              <a:defRPr/>
            </a:pPr>
            <a:r>
              <a:rPr lang="pt-BR" sz="2160" dirty="0">
                <a:cs typeface="Tahoma" pitchFamily="34" charset="0"/>
              </a:rPr>
              <a:t>		I) Realizando </a:t>
            </a:r>
            <a:r>
              <a:rPr lang="pt-BR" sz="2160" b="1" dirty="0">
                <a:solidFill>
                  <a:srgbClr val="00B050"/>
                </a:solidFill>
                <a:cs typeface="Tahoma" pitchFamily="34" charset="0"/>
              </a:rPr>
              <a:t>fotossíntese</a:t>
            </a:r>
          </a:p>
          <a:p>
            <a:pPr marL="1508760" lvl="2" indent="-411480" algn="just">
              <a:buFont typeface="Arial" pitchFamily="34" charset="0"/>
              <a:buChar char="•"/>
              <a:defRPr/>
            </a:pPr>
            <a:r>
              <a:rPr lang="pt-BR" sz="2160" dirty="0">
                <a:cs typeface="Tahoma" pitchFamily="34" charset="0"/>
              </a:rPr>
              <a:t>A fonte de energia necessária para converter o CO2 em matéria orgânica provém da luz.</a:t>
            </a:r>
          </a:p>
          <a:p>
            <a:pPr marL="1508760" lvl="2" indent="-411480" algn="just">
              <a:buFont typeface="Arial" pitchFamily="34" charset="0"/>
              <a:buChar char="•"/>
              <a:defRPr/>
            </a:pPr>
            <a:endParaRPr lang="pt-BR" sz="1200" dirty="0">
              <a:cs typeface="Tahoma" pitchFamily="34" charset="0"/>
            </a:endParaRPr>
          </a:p>
          <a:p>
            <a:pPr marL="411480" indent="-411480" algn="just">
              <a:defRPr/>
            </a:pPr>
            <a:r>
              <a:rPr lang="pt-BR" sz="2160" dirty="0">
                <a:cs typeface="Tahoma" pitchFamily="34" charset="0"/>
              </a:rPr>
              <a:t>		II) Realizando </a:t>
            </a:r>
            <a:r>
              <a:rPr lang="pt-BR" sz="2160" b="1" dirty="0" err="1">
                <a:solidFill>
                  <a:srgbClr val="FF0000"/>
                </a:solidFill>
                <a:cs typeface="Tahoma" pitchFamily="34" charset="0"/>
              </a:rPr>
              <a:t>quimiossíntese</a:t>
            </a:r>
            <a:endParaRPr lang="pt-BR" sz="2160" b="1" dirty="0">
              <a:solidFill>
                <a:srgbClr val="FF0000"/>
              </a:solidFill>
              <a:cs typeface="Tahoma" pitchFamily="34" charset="0"/>
            </a:endParaRPr>
          </a:p>
          <a:p>
            <a:pPr marL="1508760" lvl="2" indent="-411480" algn="just">
              <a:buFont typeface="Arial" pitchFamily="34" charset="0"/>
              <a:buChar char="•"/>
              <a:defRPr/>
            </a:pPr>
            <a:r>
              <a:rPr lang="pt-BR" sz="2160" dirty="0">
                <a:cs typeface="Tahoma" pitchFamily="34" charset="0"/>
              </a:rPr>
              <a:t>A energia necessária para converter o CO2 em matéria orgânica 	provém de reações  químicas.</a:t>
            </a:r>
          </a:p>
          <a:p>
            <a:pPr marL="411480" indent="-411480" algn="just">
              <a:defRPr/>
            </a:pPr>
            <a:r>
              <a:rPr lang="pt-BR" sz="2160" dirty="0">
                <a:cs typeface="Tahoma" pitchFamily="34" charset="0"/>
              </a:rPr>
              <a:t>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181350" y="3071814"/>
            <a:ext cx="5829300" cy="4699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11480" indent="-411480" algn="ctr">
              <a:defRPr/>
            </a:pPr>
            <a:r>
              <a:rPr lang="pt-BR" sz="2160" dirty="0">
                <a:latin typeface="Tahoma" pitchFamily="34" charset="0"/>
                <a:cs typeface="Tahoma" pitchFamily="34" charset="0"/>
              </a:rPr>
              <a:t>6CO</a:t>
            </a:r>
            <a:r>
              <a:rPr lang="pt-BR" sz="1440" dirty="0">
                <a:latin typeface="Tahoma" pitchFamily="34" charset="0"/>
                <a:cs typeface="Tahoma" pitchFamily="34" charset="0"/>
              </a:rPr>
              <a:t>2</a:t>
            </a:r>
            <a:r>
              <a:rPr lang="pt-BR" sz="2160" dirty="0">
                <a:latin typeface="Tahoma" pitchFamily="34" charset="0"/>
                <a:cs typeface="Tahoma" pitchFamily="34" charset="0"/>
              </a:rPr>
              <a:t> + 12H</a:t>
            </a:r>
            <a:r>
              <a:rPr lang="pt-BR" sz="1440" dirty="0">
                <a:latin typeface="Tahoma" pitchFamily="34" charset="0"/>
                <a:cs typeface="Tahoma" pitchFamily="34" charset="0"/>
              </a:rPr>
              <a:t>2</a:t>
            </a:r>
            <a:r>
              <a:rPr lang="pt-BR" sz="2160" dirty="0">
                <a:latin typeface="Tahoma" pitchFamily="34" charset="0"/>
                <a:cs typeface="Tahoma" pitchFamily="34" charset="0"/>
              </a:rPr>
              <a:t>O 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 C</a:t>
            </a:r>
            <a:r>
              <a:rPr lang="pt-BR" sz="1440" dirty="0">
                <a:latin typeface="Tahoma" pitchFamily="34" charset="0"/>
                <a:cs typeface="Tahoma" pitchFamily="34" charset="0"/>
                <a:sym typeface="Wingdings" pitchFamily="2" charset="2"/>
              </a:rPr>
              <a:t>6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H</a:t>
            </a:r>
            <a:r>
              <a:rPr lang="pt-BR" sz="1440" dirty="0">
                <a:latin typeface="Tahoma" pitchFamily="34" charset="0"/>
                <a:cs typeface="Tahoma" pitchFamily="34" charset="0"/>
                <a:sym typeface="Wingdings" pitchFamily="2" charset="2"/>
              </a:rPr>
              <a:t>12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O</a:t>
            </a:r>
            <a:r>
              <a:rPr lang="pt-BR" sz="1440" dirty="0">
                <a:latin typeface="Tahoma" pitchFamily="34" charset="0"/>
                <a:cs typeface="Tahoma" pitchFamily="34" charset="0"/>
                <a:sym typeface="Wingdings" pitchFamily="2" charset="2"/>
              </a:rPr>
              <a:t>6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 + 6H</a:t>
            </a:r>
            <a:r>
              <a:rPr lang="pt-BR" sz="1440" dirty="0">
                <a:latin typeface="Tahoma" pitchFamily="34" charset="0"/>
                <a:cs typeface="Tahoma" pitchFamily="34" charset="0"/>
                <a:sym typeface="Wingdings" pitchFamily="2" charset="2"/>
              </a:rPr>
              <a:t>2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O + 6O</a:t>
            </a:r>
            <a:r>
              <a:rPr lang="pt-BR" sz="1680" dirty="0">
                <a:latin typeface="Tahoma" pitchFamily="34" charset="0"/>
                <a:cs typeface="Tahoma" pitchFamily="34" charset="0"/>
                <a:sym typeface="Wingdings" pitchFamily="2" charset="2"/>
              </a:rPr>
              <a:t>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FA4284-4DCE-482F-883A-48807786707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32121BC-AF5E-4DE4-8214-AB45A8C0444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Cadeia Alimentar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5"/>
            <a:ext cx="10458450" cy="374871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11480" indent="-411480" algn="just">
              <a:buFontTx/>
              <a:buAutoNum type="arabi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Conceitos Prévios</a:t>
            </a:r>
          </a:p>
          <a:p>
            <a:pPr marL="411480" indent="-411480" algn="just">
              <a:buFontTx/>
              <a:buAutoNum type="arabi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buFont typeface="+mj-lt"/>
              <a:buAutoNum type="alphaL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Organismos Autótrofos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pic>
        <p:nvPicPr>
          <p:cNvPr id="47109" name="Imagem 7" descr="I1023ulva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1128" y="2305676"/>
            <a:ext cx="2743200" cy="190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0" name="Imagem 9" descr="Plant%20Images-1037233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81128" y="4520239"/>
            <a:ext cx="2828924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1" name="Imagem 10" descr="Arvore_babosa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24399" y="2377114"/>
            <a:ext cx="2771776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2" name="Imagem 11" descr="BXK1467_Bromelia800.jp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24400" y="4591675"/>
            <a:ext cx="27432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3" name="Imagem 12" descr="CIANOBACTERIAS.jp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067678" y="2377113"/>
            <a:ext cx="2828924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4" name="CaixaDeTexto 14"/>
          <p:cNvSpPr txBox="1">
            <a:spLocks noChangeArrowheads="1"/>
          </p:cNvSpPr>
          <p:nvPr/>
        </p:nvSpPr>
        <p:spPr bwMode="auto">
          <a:xfrm>
            <a:off x="1724028" y="4163049"/>
            <a:ext cx="2143124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920">
                <a:latin typeface="Calibri" pitchFamily="34" charset="0"/>
              </a:rPr>
              <a:t>Algas Verdes</a:t>
            </a:r>
          </a:p>
        </p:txBody>
      </p:sp>
      <p:sp>
        <p:nvSpPr>
          <p:cNvPr id="47115" name="CaixaDeTexto 15"/>
          <p:cNvSpPr txBox="1">
            <a:spLocks noChangeArrowheads="1"/>
          </p:cNvSpPr>
          <p:nvPr/>
        </p:nvSpPr>
        <p:spPr bwMode="auto">
          <a:xfrm>
            <a:off x="4981578" y="4163049"/>
            <a:ext cx="2143124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920">
                <a:latin typeface="Calibri" pitchFamily="34" charset="0"/>
              </a:rPr>
              <a:t>Árvores</a:t>
            </a:r>
          </a:p>
        </p:txBody>
      </p:sp>
      <p:sp>
        <p:nvSpPr>
          <p:cNvPr id="47116" name="CaixaDeTexto 16"/>
          <p:cNvSpPr txBox="1">
            <a:spLocks noChangeArrowheads="1"/>
          </p:cNvSpPr>
          <p:nvPr/>
        </p:nvSpPr>
        <p:spPr bwMode="auto">
          <a:xfrm>
            <a:off x="5067300" y="6194107"/>
            <a:ext cx="2143126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920">
                <a:latin typeface="Calibri" pitchFamily="34" charset="0"/>
              </a:rPr>
              <a:t>Bromélias</a:t>
            </a:r>
          </a:p>
        </p:txBody>
      </p:sp>
      <p:sp>
        <p:nvSpPr>
          <p:cNvPr id="47117" name="CaixaDeTexto 17"/>
          <p:cNvSpPr txBox="1">
            <a:spLocks noChangeArrowheads="1"/>
          </p:cNvSpPr>
          <p:nvPr/>
        </p:nvSpPr>
        <p:spPr bwMode="auto">
          <a:xfrm>
            <a:off x="8410578" y="4234488"/>
            <a:ext cx="2143124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920">
                <a:latin typeface="Calibri" pitchFamily="34" charset="0"/>
              </a:rPr>
              <a:t>Cianobactérias</a:t>
            </a:r>
          </a:p>
        </p:txBody>
      </p:sp>
      <p:sp>
        <p:nvSpPr>
          <p:cNvPr id="47118" name="CaixaDeTexto 18"/>
          <p:cNvSpPr txBox="1">
            <a:spLocks noChangeArrowheads="1"/>
          </p:cNvSpPr>
          <p:nvPr/>
        </p:nvSpPr>
        <p:spPr bwMode="auto">
          <a:xfrm>
            <a:off x="8496300" y="6194107"/>
            <a:ext cx="2143126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920">
                <a:latin typeface="Calibri" pitchFamily="34" charset="0"/>
              </a:rPr>
              <a:t>Algas unicelulares</a:t>
            </a:r>
          </a:p>
        </p:txBody>
      </p:sp>
      <p:sp>
        <p:nvSpPr>
          <p:cNvPr id="47119" name="CaixaDeTexto 19"/>
          <p:cNvSpPr txBox="1">
            <a:spLocks noChangeArrowheads="1"/>
          </p:cNvSpPr>
          <p:nvPr/>
        </p:nvSpPr>
        <p:spPr bwMode="auto">
          <a:xfrm>
            <a:off x="1724028" y="6194107"/>
            <a:ext cx="2143124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920">
                <a:latin typeface="Calibri" pitchFamily="34" charset="0"/>
              </a:rPr>
              <a:t>Algas Pardas</a:t>
            </a:r>
          </a:p>
        </p:txBody>
      </p:sp>
      <p:pic>
        <p:nvPicPr>
          <p:cNvPr id="47120" name="Imagem 20" descr="Cosmarium.jpg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067677" y="4591676"/>
            <a:ext cx="2914650" cy="1704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B5E786EF-62C4-444B-8E9B-89CEF1DE69D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E998A755-6243-493B-8521-6A360E0D6624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Cadeia Alimentar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5"/>
            <a:ext cx="10458450" cy="47459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11480" indent="-411480" algn="just">
              <a:buFontTx/>
              <a:buAutoNum type="arabi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Conceitos Prévios</a:t>
            </a:r>
          </a:p>
          <a:p>
            <a:pPr marL="411480" indent="-411480" algn="just">
              <a:buFontTx/>
              <a:buAutoNum type="arabi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buFont typeface="+mj-lt"/>
              <a:buAutoNum type="alphaL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Organismos Heterótrofos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	</a:t>
            </a:r>
            <a:r>
              <a:rPr lang="pt-BR" sz="2160" dirty="0">
                <a:cs typeface="Tahoma" pitchFamily="34" charset="0"/>
              </a:rPr>
              <a:t>São organismos que não são capazes de produzir matéria orgânica. Dessa maneira, precisam obter a matéria orgânica pronta.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pic>
        <p:nvPicPr>
          <p:cNvPr id="5125" name="Imagem 9" descr="alimentacao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6777" y="4214814"/>
            <a:ext cx="1885950" cy="215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27" name="Picture 7" descr="C:\Documents and Settings\Paulinho\Meus documentos\Biologia\Pre-UFMG\Aulas\Cadeia alimentar e fluxo de energia\foc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10500" y="3000374"/>
            <a:ext cx="3429000" cy="2198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26" name="Imagem 11" descr="coruja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24177" y="3071813"/>
            <a:ext cx="1885950" cy="2173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29" name="Picture 9" descr="C:\Documents and Settings\Paulinho\Meus documentos\Biologia\Pre-UFMG\Aulas\Cadeia alimentar e fluxo de energia\untitled.bmp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95850" y="4357688"/>
            <a:ext cx="3429000" cy="2143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AFEDEDE3-4A4E-4C10-A509-5C9E61F8975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D5B82FA-FE30-4678-8CF3-17DE1FDB2AA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Cadeia Alimentar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5"/>
            <a:ext cx="10458450" cy="47459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11480" indent="-411480" algn="just">
              <a:buFontTx/>
              <a:buAutoNum type="arabi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Conceitos Prévios</a:t>
            </a:r>
          </a:p>
          <a:p>
            <a:pPr marL="411480" indent="-411480" algn="just">
              <a:buFontTx/>
              <a:buAutoNum type="arabi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buFont typeface="+mj-lt"/>
              <a:buAutoNum type="alphaL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Importância dos autótrofos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Os autótrofos, por serem capazes de produzir matéria orgânica, são os grandes produtores de nutrientes dos ecossistemas.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pic>
        <p:nvPicPr>
          <p:cNvPr id="49157" name="Imagem 10" descr="Arvore_babosa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52576" y="3357565"/>
            <a:ext cx="4371974" cy="273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8" name="Imagem 7" descr="I1023ulva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67450" y="3357563"/>
            <a:ext cx="230886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9" name="Imagem 12" descr="CIANOBACTERIAS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839200" y="4714875"/>
            <a:ext cx="2249806" cy="150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BF41A0F-FD0C-472F-866F-CCEDCF98191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922BD8E-9405-4FD3-89D6-4917233FCB0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Cadeia Alimentar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4"/>
            <a:ext cx="10458450" cy="74051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11480" indent="-411480" algn="just"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 Cadeias Alimentares</a:t>
            </a:r>
          </a:p>
          <a:p>
            <a:pPr marL="411480" indent="-411480" algn="just">
              <a:buFontTx/>
              <a:buAutoNum type="arabi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buFont typeface="+mj-lt"/>
              <a:buAutoNum type="alphaL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Conceito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Relação alimentar entre organismos de um ecossistema. Representa a série de organismos pela qual flui a energia inicialmente assimilada pelos produtores.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Luz	</a:t>
            </a:r>
            <a:endParaRPr lang="pt-BR" sz="2160" dirty="0">
              <a:cs typeface="Tahoma" pitchFamily="34" charset="0"/>
              <a:sym typeface="Wingdings" pitchFamily="2" charset="2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                          </a:t>
            </a: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                                   Capim   </a:t>
            </a:r>
            <a:r>
              <a:rPr lang="pt-BR" sz="2160" dirty="0">
                <a:cs typeface="Tahoma" pitchFamily="34" charset="0"/>
                <a:sym typeface="Wingdings" pitchFamily="2" charset="2"/>
              </a:rPr>
              <a:t>   Gafanhoto      Sapo      Serpente</a:t>
            </a:r>
            <a:r>
              <a:rPr lang="pt-BR" sz="2160" dirty="0">
                <a:cs typeface="Tahoma" pitchFamily="34" charset="0"/>
              </a:rPr>
              <a:t>         </a:t>
            </a:r>
          </a:p>
          <a:p>
            <a:pPr marL="960120" lvl="1" indent="-411480" algn="ctr">
              <a:defRPr/>
            </a:pPr>
            <a:endParaRPr lang="pt-BR" sz="2160" dirty="0">
              <a:cs typeface="Tahoma" pitchFamily="34" charset="0"/>
              <a:sym typeface="Wingdings" pitchFamily="2" charset="2"/>
            </a:endParaRPr>
          </a:p>
          <a:p>
            <a:pPr marL="960120" lvl="1" indent="-411480" algn="ctr">
              <a:defRPr/>
            </a:pPr>
            <a:endParaRPr lang="pt-BR" sz="2160" dirty="0">
              <a:cs typeface="Tahoma" pitchFamily="34" charset="0"/>
              <a:sym typeface="Wingdings" pitchFamily="2" charset="2"/>
            </a:endParaRPr>
          </a:p>
          <a:p>
            <a:pPr marL="960120" lvl="1" indent="-411480" algn="ctr">
              <a:defRPr/>
            </a:pPr>
            <a:endParaRPr lang="pt-BR" sz="2160" dirty="0">
              <a:cs typeface="Tahoma" pitchFamily="34" charset="0"/>
              <a:sym typeface="Wingdings" pitchFamily="2" charset="2"/>
            </a:endParaRPr>
          </a:p>
          <a:p>
            <a:pPr marL="960120" lvl="1" indent="-411480" algn="ctr">
              <a:defRPr/>
            </a:pPr>
            <a:r>
              <a:rPr lang="pt-BR" sz="2160" dirty="0">
                <a:cs typeface="Tahoma" pitchFamily="34" charset="0"/>
                <a:sym typeface="Wingdings" pitchFamily="2" charset="2"/>
              </a:rPr>
              <a:t>Decompositores</a:t>
            </a:r>
          </a:p>
          <a:p>
            <a:pPr marL="960120" lvl="1" indent="-411480" algn="ctr">
              <a:defRPr/>
            </a:pPr>
            <a:r>
              <a:rPr lang="pt-BR" sz="2160" dirty="0">
                <a:cs typeface="Tahoma" pitchFamily="34" charset="0"/>
                <a:sym typeface="Wingdings" pitchFamily="2" charset="2"/>
              </a:rPr>
              <a:t>(bactérias e fungos)</a:t>
            </a: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sp>
        <p:nvSpPr>
          <p:cNvPr id="5" name="Forma livre 4"/>
          <p:cNvSpPr/>
          <p:nvPr/>
        </p:nvSpPr>
        <p:spPr>
          <a:xfrm>
            <a:off x="3867150" y="4705470"/>
            <a:ext cx="1714500" cy="773113"/>
          </a:xfrm>
          <a:custGeom>
            <a:avLst/>
            <a:gdLst>
              <a:gd name="connsiteX0" fmla="*/ 0 w 1429555"/>
              <a:gd name="connsiteY0" fmla="*/ 0 h 772733"/>
              <a:gd name="connsiteX1" fmla="*/ 206062 w 1429555"/>
              <a:gd name="connsiteY1" fmla="*/ 321972 h 772733"/>
              <a:gd name="connsiteX2" fmla="*/ 1094704 w 1429555"/>
              <a:gd name="connsiteY2" fmla="*/ 515155 h 772733"/>
              <a:gd name="connsiteX3" fmla="*/ 1429555 w 1429555"/>
              <a:gd name="connsiteY3" fmla="*/ 772733 h 772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9555" h="772733">
                <a:moveTo>
                  <a:pt x="0" y="0"/>
                </a:moveTo>
                <a:cubicBezTo>
                  <a:pt x="11805" y="118056"/>
                  <a:pt x="23611" y="236113"/>
                  <a:pt x="206062" y="321972"/>
                </a:cubicBezTo>
                <a:cubicBezTo>
                  <a:pt x="388513" y="407831"/>
                  <a:pt x="890789" y="440028"/>
                  <a:pt x="1094704" y="515155"/>
                </a:cubicBezTo>
                <a:cubicBezTo>
                  <a:pt x="1298620" y="590282"/>
                  <a:pt x="1364087" y="681507"/>
                  <a:pt x="1429555" y="772733"/>
                </a:cubicBezTo>
              </a:path>
            </a:pathLst>
          </a:cu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7" name="Forma livre 6"/>
          <p:cNvSpPr/>
          <p:nvPr/>
        </p:nvSpPr>
        <p:spPr>
          <a:xfrm>
            <a:off x="5324478" y="4776906"/>
            <a:ext cx="771524" cy="714376"/>
          </a:xfrm>
          <a:custGeom>
            <a:avLst/>
            <a:gdLst>
              <a:gd name="connsiteX0" fmla="*/ 0 w 1429555"/>
              <a:gd name="connsiteY0" fmla="*/ 0 h 772733"/>
              <a:gd name="connsiteX1" fmla="*/ 206062 w 1429555"/>
              <a:gd name="connsiteY1" fmla="*/ 321972 h 772733"/>
              <a:gd name="connsiteX2" fmla="*/ 1094704 w 1429555"/>
              <a:gd name="connsiteY2" fmla="*/ 515155 h 772733"/>
              <a:gd name="connsiteX3" fmla="*/ 1429555 w 1429555"/>
              <a:gd name="connsiteY3" fmla="*/ 772733 h 772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9555" h="772733">
                <a:moveTo>
                  <a:pt x="0" y="0"/>
                </a:moveTo>
                <a:cubicBezTo>
                  <a:pt x="11805" y="118056"/>
                  <a:pt x="23611" y="236113"/>
                  <a:pt x="206062" y="321972"/>
                </a:cubicBezTo>
                <a:cubicBezTo>
                  <a:pt x="388513" y="407831"/>
                  <a:pt x="890789" y="440028"/>
                  <a:pt x="1094704" y="515155"/>
                </a:cubicBezTo>
                <a:cubicBezTo>
                  <a:pt x="1298620" y="590282"/>
                  <a:pt x="1364087" y="681507"/>
                  <a:pt x="1429555" y="772733"/>
                </a:cubicBezTo>
              </a:path>
            </a:pathLst>
          </a:cu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10" name="Forma livre 9"/>
          <p:cNvSpPr/>
          <p:nvPr/>
        </p:nvSpPr>
        <p:spPr>
          <a:xfrm>
            <a:off x="6267450" y="4776906"/>
            <a:ext cx="556260" cy="747712"/>
          </a:xfrm>
          <a:custGeom>
            <a:avLst/>
            <a:gdLst>
              <a:gd name="connsiteX0" fmla="*/ 463639 w 463639"/>
              <a:gd name="connsiteY0" fmla="*/ 0 h 746974"/>
              <a:gd name="connsiteX1" fmla="*/ 103031 w 463639"/>
              <a:gd name="connsiteY1" fmla="*/ 412123 h 746974"/>
              <a:gd name="connsiteX2" fmla="*/ 0 w 463639"/>
              <a:gd name="connsiteY2" fmla="*/ 746974 h 746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639" h="746974">
                <a:moveTo>
                  <a:pt x="463639" y="0"/>
                </a:moveTo>
                <a:cubicBezTo>
                  <a:pt x="321971" y="143813"/>
                  <a:pt x="180304" y="287627"/>
                  <a:pt x="103031" y="412123"/>
                </a:cubicBezTo>
                <a:cubicBezTo>
                  <a:pt x="25758" y="536619"/>
                  <a:pt x="0" y="746974"/>
                  <a:pt x="0" y="746974"/>
                </a:cubicBezTo>
              </a:path>
            </a:pathLst>
          </a:cu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11" name="Forma livre 10"/>
          <p:cNvSpPr/>
          <p:nvPr/>
        </p:nvSpPr>
        <p:spPr>
          <a:xfrm>
            <a:off x="6610350" y="4776906"/>
            <a:ext cx="1714500" cy="755650"/>
          </a:xfrm>
          <a:custGeom>
            <a:avLst/>
            <a:gdLst>
              <a:gd name="connsiteX0" fmla="*/ 1133341 w 1266423"/>
              <a:gd name="connsiteY0" fmla="*/ 0 h 682580"/>
              <a:gd name="connsiteX1" fmla="*/ 1120462 w 1266423"/>
              <a:gd name="connsiteY1" fmla="*/ 386366 h 682580"/>
              <a:gd name="connsiteX2" fmla="*/ 257577 w 1266423"/>
              <a:gd name="connsiteY2" fmla="*/ 515155 h 682580"/>
              <a:gd name="connsiteX3" fmla="*/ 0 w 1266423"/>
              <a:gd name="connsiteY3" fmla="*/ 682580 h 68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6423" h="682580">
                <a:moveTo>
                  <a:pt x="1133341" y="0"/>
                </a:moveTo>
                <a:cubicBezTo>
                  <a:pt x="1199882" y="150253"/>
                  <a:pt x="1266423" y="300507"/>
                  <a:pt x="1120462" y="386366"/>
                </a:cubicBezTo>
                <a:cubicBezTo>
                  <a:pt x="974501" y="472225"/>
                  <a:pt x="444321" y="465786"/>
                  <a:pt x="257577" y="515155"/>
                </a:cubicBezTo>
                <a:cubicBezTo>
                  <a:pt x="70833" y="564524"/>
                  <a:pt x="35416" y="623552"/>
                  <a:pt x="0" y="682580"/>
                </a:cubicBezTo>
              </a:path>
            </a:pathLst>
          </a:cu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12" name="Arco 11"/>
          <p:cNvSpPr/>
          <p:nvPr/>
        </p:nvSpPr>
        <p:spPr>
          <a:xfrm>
            <a:off x="4552952" y="5419843"/>
            <a:ext cx="582930" cy="428626"/>
          </a:xfrm>
          <a:prstGeom prst="arc">
            <a:avLst>
              <a:gd name="adj1" fmla="val 1884379"/>
              <a:gd name="adj2" fmla="val 20029887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16" name="Forma livre 15"/>
          <p:cNvSpPr/>
          <p:nvPr/>
        </p:nvSpPr>
        <p:spPr>
          <a:xfrm>
            <a:off x="2380388" y="3947458"/>
            <a:ext cx="1003936" cy="317500"/>
          </a:xfrm>
          <a:custGeom>
            <a:avLst/>
            <a:gdLst>
              <a:gd name="connsiteX0" fmla="*/ 0 w 837127"/>
              <a:gd name="connsiteY0" fmla="*/ 231820 h 405685"/>
              <a:gd name="connsiteX1" fmla="*/ 115910 w 837127"/>
              <a:gd name="connsiteY1" fmla="*/ 25758 h 405685"/>
              <a:gd name="connsiteX2" fmla="*/ 180304 w 837127"/>
              <a:gd name="connsiteY2" fmla="*/ 386367 h 405685"/>
              <a:gd name="connsiteX3" fmla="*/ 373488 w 837127"/>
              <a:gd name="connsiteY3" fmla="*/ 77274 h 405685"/>
              <a:gd name="connsiteX4" fmla="*/ 437882 w 837127"/>
              <a:gd name="connsiteY4" fmla="*/ 399246 h 405685"/>
              <a:gd name="connsiteX5" fmla="*/ 643944 w 837127"/>
              <a:gd name="connsiteY5" fmla="*/ 115910 h 405685"/>
              <a:gd name="connsiteX6" fmla="*/ 837127 w 837127"/>
              <a:gd name="connsiteY6" fmla="*/ 373488 h 405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7127" h="405685">
                <a:moveTo>
                  <a:pt x="0" y="231820"/>
                </a:moveTo>
                <a:cubicBezTo>
                  <a:pt x="42929" y="115910"/>
                  <a:pt x="85859" y="0"/>
                  <a:pt x="115910" y="25758"/>
                </a:cubicBezTo>
                <a:cubicBezTo>
                  <a:pt x="145961" y="51516"/>
                  <a:pt x="137374" y="377781"/>
                  <a:pt x="180304" y="386367"/>
                </a:cubicBezTo>
                <a:cubicBezTo>
                  <a:pt x="223234" y="394953"/>
                  <a:pt x="330558" y="75128"/>
                  <a:pt x="373488" y="77274"/>
                </a:cubicBezTo>
                <a:cubicBezTo>
                  <a:pt x="416418" y="79420"/>
                  <a:pt x="392806" y="392807"/>
                  <a:pt x="437882" y="399246"/>
                </a:cubicBezTo>
                <a:cubicBezTo>
                  <a:pt x="482958" y="405685"/>
                  <a:pt x="577403" y="120203"/>
                  <a:pt x="643944" y="115910"/>
                </a:cubicBezTo>
                <a:cubicBezTo>
                  <a:pt x="710485" y="111617"/>
                  <a:pt x="773806" y="242552"/>
                  <a:pt x="837127" y="373488"/>
                </a:cubicBezTo>
              </a:path>
            </a:pathLst>
          </a:cu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768DC1-F76E-4AEB-98EC-417BD7DBD92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95EE258C-0929-4177-A432-6832A52E61B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Cadeia Alimentar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3"/>
          <p:cNvSpPr txBox="1">
            <a:spLocks noChangeArrowheads="1"/>
          </p:cNvSpPr>
          <p:nvPr/>
        </p:nvSpPr>
        <p:spPr bwMode="auto">
          <a:xfrm>
            <a:off x="866776" y="1071563"/>
            <a:ext cx="438912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920" dirty="0">
                <a:latin typeface="Arial Black" pitchFamily="34" charset="0"/>
              </a:rPr>
              <a:t>TEIA ALIMENTAR</a:t>
            </a:r>
            <a:endParaRPr lang="pt-BR" sz="1680" dirty="0"/>
          </a:p>
        </p:txBody>
      </p:sp>
      <p:pic>
        <p:nvPicPr>
          <p:cNvPr id="51203" name="Picture 5" descr="Figura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563" y="1370226"/>
            <a:ext cx="5492843" cy="4733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BFE69AD-2C38-4A22-82EF-F2CD9590C95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0801940-5B7E-410F-95FF-D4FB7BA067F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Cadeia Alimentar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5F3E197-DA9D-43B8-9841-277E6511EFAC}"/>
              </a:ext>
            </a:extLst>
          </p:cNvPr>
          <p:cNvSpPr txBox="1"/>
          <p:nvPr/>
        </p:nvSpPr>
        <p:spPr>
          <a:xfrm>
            <a:off x="367937" y="1859168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60120" lvl="1" indent="-411480" algn="just">
              <a:defRPr/>
            </a:pPr>
            <a:r>
              <a:rPr lang="pt-BR" sz="1800" dirty="0">
                <a:cs typeface="Tahoma" pitchFamily="34" charset="0"/>
              </a:rPr>
              <a:t>Conjunto de cadeias alimentares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2"/>
          <p:cNvSpPr txBox="1">
            <a:spLocks noChangeArrowheads="1"/>
          </p:cNvSpPr>
          <p:nvPr/>
        </p:nvSpPr>
        <p:spPr bwMode="auto">
          <a:xfrm>
            <a:off x="866776" y="1071563"/>
            <a:ext cx="438912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920">
                <a:latin typeface="Arial Black" pitchFamily="34" charset="0"/>
              </a:rPr>
              <a:t>FLUXO DE ENERGIA</a:t>
            </a:r>
            <a:endParaRPr lang="pt-BR" sz="1680"/>
          </a:p>
        </p:txBody>
      </p:sp>
      <p:pic>
        <p:nvPicPr>
          <p:cNvPr id="52228" name="Picture 3" descr="Figura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2560" y="2438401"/>
            <a:ext cx="8595360" cy="39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7193280" y="5943600"/>
            <a:ext cx="265176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sz="1920"/>
              <a:t>Fluxo de energia</a:t>
            </a:r>
          </a:p>
        </p:txBody>
      </p:sp>
      <p:sp>
        <p:nvSpPr>
          <p:cNvPr id="52230" name="Text Box 7"/>
          <p:cNvSpPr txBox="1">
            <a:spLocks noChangeArrowheads="1"/>
          </p:cNvSpPr>
          <p:nvPr/>
        </p:nvSpPr>
        <p:spPr bwMode="auto">
          <a:xfrm>
            <a:off x="2255520" y="28194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1</a:t>
            </a:r>
          </a:p>
        </p:txBody>
      </p:sp>
      <p:sp>
        <p:nvSpPr>
          <p:cNvPr id="52231" name="Text Box 8"/>
          <p:cNvSpPr txBox="1">
            <a:spLocks noChangeArrowheads="1"/>
          </p:cNvSpPr>
          <p:nvPr/>
        </p:nvSpPr>
        <p:spPr bwMode="auto">
          <a:xfrm>
            <a:off x="3444240" y="27432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2</a:t>
            </a:r>
          </a:p>
        </p:txBody>
      </p:sp>
      <p:sp>
        <p:nvSpPr>
          <p:cNvPr id="52232" name="Text Box 9"/>
          <p:cNvSpPr txBox="1">
            <a:spLocks noChangeArrowheads="1"/>
          </p:cNvSpPr>
          <p:nvPr/>
        </p:nvSpPr>
        <p:spPr bwMode="auto">
          <a:xfrm>
            <a:off x="7010400" y="44958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8</a:t>
            </a:r>
          </a:p>
        </p:txBody>
      </p:sp>
      <p:sp>
        <p:nvSpPr>
          <p:cNvPr id="52233" name="Text Box 10"/>
          <p:cNvSpPr txBox="1">
            <a:spLocks noChangeArrowheads="1"/>
          </p:cNvSpPr>
          <p:nvPr/>
        </p:nvSpPr>
        <p:spPr bwMode="auto">
          <a:xfrm>
            <a:off x="7010400" y="48006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9</a:t>
            </a:r>
          </a:p>
        </p:txBody>
      </p:sp>
      <p:sp>
        <p:nvSpPr>
          <p:cNvPr id="52234" name="Text Box 11"/>
          <p:cNvSpPr txBox="1">
            <a:spLocks noChangeArrowheads="1"/>
          </p:cNvSpPr>
          <p:nvPr/>
        </p:nvSpPr>
        <p:spPr bwMode="auto">
          <a:xfrm>
            <a:off x="7924800" y="4648201"/>
            <a:ext cx="73152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10</a:t>
            </a:r>
          </a:p>
        </p:txBody>
      </p:sp>
      <p:sp>
        <p:nvSpPr>
          <p:cNvPr id="52235" name="Text Box 12"/>
          <p:cNvSpPr txBox="1">
            <a:spLocks noChangeArrowheads="1"/>
          </p:cNvSpPr>
          <p:nvPr/>
        </p:nvSpPr>
        <p:spPr bwMode="auto">
          <a:xfrm>
            <a:off x="7924800" y="4953001"/>
            <a:ext cx="64008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11</a:t>
            </a:r>
          </a:p>
        </p:txBody>
      </p:sp>
      <p:sp>
        <p:nvSpPr>
          <p:cNvPr id="52236" name="Text Box 13"/>
          <p:cNvSpPr txBox="1">
            <a:spLocks noChangeArrowheads="1"/>
          </p:cNvSpPr>
          <p:nvPr/>
        </p:nvSpPr>
        <p:spPr bwMode="auto">
          <a:xfrm>
            <a:off x="4724400" y="32004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4</a:t>
            </a:r>
          </a:p>
        </p:txBody>
      </p:sp>
      <p:sp>
        <p:nvSpPr>
          <p:cNvPr id="52237" name="Text Box 14"/>
          <p:cNvSpPr txBox="1">
            <a:spLocks noChangeArrowheads="1"/>
          </p:cNvSpPr>
          <p:nvPr/>
        </p:nvSpPr>
        <p:spPr bwMode="auto">
          <a:xfrm>
            <a:off x="3444240" y="32004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3</a:t>
            </a:r>
          </a:p>
        </p:txBody>
      </p:sp>
      <p:sp>
        <p:nvSpPr>
          <p:cNvPr id="52238" name="Text Box 15"/>
          <p:cNvSpPr txBox="1">
            <a:spLocks noChangeArrowheads="1"/>
          </p:cNvSpPr>
          <p:nvPr/>
        </p:nvSpPr>
        <p:spPr bwMode="auto">
          <a:xfrm>
            <a:off x="4724400" y="44958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5</a:t>
            </a:r>
          </a:p>
        </p:txBody>
      </p:sp>
      <p:sp>
        <p:nvSpPr>
          <p:cNvPr id="52239" name="Text Box 16"/>
          <p:cNvSpPr txBox="1">
            <a:spLocks noChangeArrowheads="1"/>
          </p:cNvSpPr>
          <p:nvPr/>
        </p:nvSpPr>
        <p:spPr bwMode="auto">
          <a:xfrm>
            <a:off x="5913120" y="43434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6</a:t>
            </a:r>
          </a:p>
        </p:txBody>
      </p:sp>
      <p:sp>
        <p:nvSpPr>
          <p:cNvPr id="52240" name="Text Box 17"/>
          <p:cNvSpPr txBox="1">
            <a:spLocks noChangeArrowheads="1"/>
          </p:cNvSpPr>
          <p:nvPr/>
        </p:nvSpPr>
        <p:spPr bwMode="auto">
          <a:xfrm>
            <a:off x="5913120" y="4648201"/>
            <a:ext cx="36576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80"/>
              <a:t>7</a:t>
            </a:r>
          </a:p>
        </p:txBody>
      </p:sp>
      <p:sp>
        <p:nvSpPr>
          <p:cNvPr id="52241" name="Text Box 18"/>
          <p:cNvSpPr txBox="1">
            <a:spLocks noChangeArrowheads="1"/>
          </p:cNvSpPr>
          <p:nvPr/>
        </p:nvSpPr>
        <p:spPr bwMode="auto">
          <a:xfrm rot="-5385298">
            <a:off x="-75407" y="3650232"/>
            <a:ext cx="2513014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920"/>
              <a:t>Quantidade de energia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7B18ADC-7375-4888-A3C9-F9BB1DC3D7D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0E79B3A1-5667-408C-89EC-F94E19D2446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Cadeia Alimentar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3FC7C15-803B-46BB-ACC0-1705CCC5321C}"/>
              </a:ext>
            </a:extLst>
          </p:cNvPr>
          <p:cNvSpPr txBox="1"/>
          <p:nvPr/>
        </p:nvSpPr>
        <p:spPr>
          <a:xfrm>
            <a:off x="4907280" y="1561418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60120" lvl="1" indent="-411480" algn="just">
              <a:defRPr/>
            </a:pPr>
            <a:r>
              <a:rPr lang="pt-BR" sz="1800" dirty="0">
                <a:cs typeface="Tahoma" pitchFamily="34" charset="0"/>
              </a:rPr>
              <a:t>A energia é decrescente nas cadeias alimentares.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3" name="Imagem 9" descr="F2-3b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599" y="1253431"/>
            <a:ext cx="10972799" cy="5604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609602" y="1071564"/>
            <a:ext cx="10458450" cy="27515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60120" lvl="1" indent="-411480" algn="just"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4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4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6F07AFF-78D1-4171-8F94-19F8362AB5F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6D6CC5B-32E8-4EFC-8104-657BF472361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Cadeia Alimentar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4"/>
            <a:ext cx="10458450" cy="27515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60120" lvl="1" indent="-411480" algn="just"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sp>
        <p:nvSpPr>
          <p:cNvPr id="54277" name="Text Box 2"/>
          <p:cNvSpPr txBox="1">
            <a:spLocks noChangeArrowheads="1"/>
          </p:cNvSpPr>
          <p:nvPr/>
        </p:nvSpPr>
        <p:spPr bwMode="auto">
          <a:xfrm>
            <a:off x="866776" y="1643063"/>
            <a:ext cx="438912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920">
                <a:latin typeface="Arial Black" pitchFamily="34" charset="0"/>
              </a:rPr>
              <a:t>PIRÂMIDES ECOLÓGICAS</a:t>
            </a:r>
            <a:endParaRPr lang="pt-BR" sz="1680"/>
          </a:p>
        </p:txBody>
      </p:sp>
      <p:pic>
        <p:nvPicPr>
          <p:cNvPr id="54278" name="Imagem 6" descr="F2-4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1460" y="2214563"/>
            <a:ext cx="752094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609602" y="2500313"/>
            <a:ext cx="3343276" cy="10895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11480" indent="-411480">
              <a:buFontTx/>
              <a:buAutoNum type="alphaLcParenR"/>
              <a:defRPr/>
            </a:pPr>
            <a:r>
              <a:rPr lang="pt-BR" sz="2160" b="1" dirty="0"/>
              <a:t>Pirâmide de Energia</a:t>
            </a:r>
          </a:p>
          <a:p>
            <a:pPr marL="411480" indent="-411480">
              <a:buFontTx/>
              <a:buAutoNum type="alphaLcParenR"/>
              <a:defRPr/>
            </a:pPr>
            <a:endParaRPr lang="pt-BR" sz="2160" dirty="0"/>
          </a:p>
          <a:p>
            <a:pPr marL="411480" indent="-411480">
              <a:defRPr/>
            </a:pPr>
            <a:r>
              <a:rPr lang="pt-BR" sz="2160" dirty="0"/>
              <a:t>É sempre direta!!!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CE53683-D29A-4A38-88C7-C7D01AFAE0B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5EBE1D6-20ED-4C3A-AB47-308866F9BBA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Pirâmides Ecológicas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4"/>
            <a:ext cx="10458450" cy="27515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60120" lvl="1" indent="-411480" algn="just"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sp>
        <p:nvSpPr>
          <p:cNvPr id="55301" name="Text Box 2"/>
          <p:cNvSpPr txBox="1">
            <a:spLocks noChangeArrowheads="1"/>
          </p:cNvSpPr>
          <p:nvPr/>
        </p:nvSpPr>
        <p:spPr bwMode="auto">
          <a:xfrm>
            <a:off x="866776" y="1643063"/>
            <a:ext cx="438912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920">
                <a:latin typeface="Arial Black" pitchFamily="34" charset="0"/>
              </a:rPr>
              <a:t>PIRÂMIDES ECOLÓGICAS</a:t>
            </a:r>
            <a:endParaRPr lang="pt-BR" sz="1680"/>
          </a:p>
        </p:txBody>
      </p:sp>
      <p:sp>
        <p:nvSpPr>
          <p:cNvPr id="8" name="CaixaDeTexto 7"/>
          <p:cNvSpPr txBox="1"/>
          <p:nvPr/>
        </p:nvSpPr>
        <p:spPr>
          <a:xfrm>
            <a:off x="609602" y="2500313"/>
            <a:ext cx="3343276" cy="10895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11480" indent="-411480">
              <a:defRPr/>
            </a:pPr>
            <a:r>
              <a:rPr lang="pt-BR" sz="2160" b="1" dirty="0"/>
              <a:t>b)  Pirâmide de números</a:t>
            </a:r>
          </a:p>
          <a:p>
            <a:pPr marL="411480" indent="-411480">
              <a:buFontTx/>
              <a:buAutoNum type="alphaLcParenR"/>
              <a:defRPr/>
            </a:pPr>
            <a:endParaRPr lang="pt-BR" sz="2160" dirty="0"/>
          </a:p>
          <a:p>
            <a:pPr marL="411480" indent="-411480">
              <a:defRPr/>
            </a:pPr>
            <a:r>
              <a:rPr lang="pt-BR" sz="2160" dirty="0"/>
              <a:t>Pode ser direta ou inversa</a:t>
            </a:r>
          </a:p>
        </p:txBody>
      </p:sp>
      <p:pic>
        <p:nvPicPr>
          <p:cNvPr id="55303" name="Imagem 9" descr="F2-5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55798" y="928689"/>
            <a:ext cx="7126604" cy="567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ixaDeTexto 11"/>
          <p:cNvSpPr txBox="1"/>
          <p:nvPr/>
        </p:nvSpPr>
        <p:spPr>
          <a:xfrm>
            <a:off x="866778" y="3643313"/>
            <a:ext cx="3514724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2160" dirty="0"/>
              <a:t>Se os produtores forem organismos pequenos e os consumidores relativamente maiores, a pirâmide será </a:t>
            </a:r>
            <a:r>
              <a:rPr lang="pt-BR" sz="2160" b="1" dirty="0"/>
              <a:t>sempre direta.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866778" y="3643314"/>
            <a:ext cx="3514724" cy="24191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2160" dirty="0"/>
              <a:t>Se os produtores forem de grande tamanho (uma árvore) e os herbívoros pequenos (lagartas) a base da pirâmide será estreita e o gráfico não apresentará forma de pirâmide.</a:t>
            </a:r>
            <a:endParaRPr lang="pt-BR" sz="2160" b="1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83537F8-0FC0-414E-94B4-2D143884B1F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AB156CC-0299-433E-BF60-C5DB65C754C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Pirâmides Ecológicas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4"/>
            <a:ext cx="10458450" cy="27515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60120" lvl="1" indent="-411480" algn="just"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sp>
        <p:nvSpPr>
          <p:cNvPr id="56325" name="Text Box 2"/>
          <p:cNvSpPr txBox="1">
            <a:spLocks noChangeArrowheads="1"/>
          </p:cNvSpPr>
          <p:nvPr/>
        </p:nvSpPr>
        <p:spPr bwMode="auto">
          <a:xfrm>
            <a:off x="866776" y="1643063"/>
            <a:ext cx="438912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920">
                <a:latin typeface="Arial Black" pitchFamily="34" charset="0"/>
              </a:rPr>
              <a:t>PIRÂMIDES ECOLÓGICAS</a:t>
            </a:r>
            <a:endParaRPr lang="pt-BR" sz="1680"/>
          </a:p>
        </p:txBody>
      </p:sp>
      <p:sp>
        <p:nvSpPr>
          <p:cNvPr id="8" name="CaixaDeTexto 7"/>
          <p:cNvSpPr txBox="1"/>
          <p:nvPr/>
        </p:nvSpPr>
        <p:spPr>
          <a:xfrm>
            <a:off x="609602" y="2500313"/>
            <a:ext cx="3343276" cy="10895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11480" indent="-411480">
              <a:defRPr/>
            </a:pPr>
            <a:r>
              <a:rPr lang="pt-BR" sz="2160" dirty="0"/>
              <a:t>b)  </a:t>
            </a:r>
            <a:r>
              <a:rPr lang="pt-BR" sz="2160" b="1" dirty="0"/>
              <a:t>Pirâmide de biomassa</a:t>
            </a:r>
          </a:p>
          <a:p>
            <a:pPr marL="411480" indent="-411480">
              <a:buFontTx/>
              <a:buAutoNum type="alphaLcParenR"/>
              <a:defRPr/>
            </a:pPr>
            <a:endParaRPr lang="pt-BR" sz="2160" dirty="0"/>
          </a:p>
          <a:p>
            <a:pPr marL="411480" indent="-411480">
              <a:defRPr/>
            </a:pPr>
            <a:r>
              <a:rPr lang="pt-BR" sz="2160" dirty="0"/>
              <a:t>Pode ser direta ou inversa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2409827" y="5500688"/>
            <a:ext cx="3600450" cy="42862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3095628" y="5072063"/>
            <a:ext cx="2143124" cy="42862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81427" y="4643438"/>
            <a:ext cx="857250" cy="42862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56330" name="CaixaDeTexto 16"/>
          <p:cNvSpPr txBox="1">
            <a:spLocks noChangeArrowheads="1"/>
          </p:cNvSpPr>
          <p:nvPr/>
        </p:nvSpPr>
        <p:spPr bwMode="auto">
          <a:xfrm>
            <a:off x="2752726" y="5500689"/>
            <a:ext cx="3000374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160"/>
              <a:t>Produtores</a:t>
            </a:r>
          </a:p>
        </p:txBody>
      </p:sp>
      <p:sp>
        <p:nvSpPr>
          <p:cNvPr id="56331" name="CaixaDeTexto 17"/>
          <p:cNvSpPr txBox="1">
            <a:spLocks noChangeArrowheads="1"/>
          </p:cNvSpPr>
          <p:nvPr/>
        </p:nvSpPr>
        <p:spPr bwMode="auto">
          <a:xfrm>
            <a:off x="2924178" y="5072064"/>
            <a:ext cx="2486024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160"/>
              <a:t>Herbívoros</a:t>
            </a:r>
          </a:p>
        </p:txBody>
      </p:sp>
      <p:sp>
        <p:nvSpPr>
          <p:cNvPr id="56332" name="CaixaDeTexto 18"/>
          <p:cNvSpPr txBox="1">
            <a:spLocks noChangeArrowheads="1"/>
          </p:cNvSpPr>
          <p:nvPr/>
        </p:nvSpPr>
        <p:spPr bwMode="auto">
          <a:xfrm>
            <a:off x="1981200" y="4643439"/>
            <a:ext cx="1800226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160"/>
              <a:t>Carnívoros</a:t>
            </a:r>
          </a:p>
        </p:txBody>
      </p:sp>
      <p:cxnSp>
        <p:nvCxnSpPr>
          <p:cNvPr id="21" name="Conector reto 20"/>
          <p:cNvCxnSpPr/>
          <p:nvPr/>
        </p:nvCxnSpPr>
        <p:spPr>
          <a:xfrm>
            <a:off x="3609976" y="4857750"/>
            <a:ext cx="3429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tângulo de cantos arredondados 21"/>
          <p:cNvSpPr/>
          <p:nvPr/>
        </p:nvSpPr>
        <p:spPr>
          <a:xfrm>
            <a:off x="8496300" y="5214938"/>
            <a:ext cx="428626" cy="5715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23" name="Retângulo de cantos arredondados 22"/>
          <p:cNvSpPr/>
          <p:nvPr/>
        </p:nvSpPr>
        <p:spPr>
          <a:xfrm>
            <a:off x="7467600" y="4643438"/>
            <a:ext cx="2486026" cy="5715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24" name="Retângulo de cantos arredondados 23"/>
          <p:cNvSpPr/>
          <p:nvPr/>
        </p:nvSpPr>
        <p:spPr>
          <a:xfrm>
            <a:off x="8153400" y="4071938"/>
            <a:ext cx="1028700" cy="5715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 sz="2160"/>
          </a:p>
        </p:txBody>
      </p:sp>
      <p:sp>
        <p:nvSpPr>
          <p:cNvPr id="56337" name="CaixaDeTexto 24"/>
          <p:cNvSpPr txBox="1">
            <a:spLocks noChangeArrowheads="1"/>
          </p:cNvSpPr>
          <p:nvPr/>
        </p:nvSpPr>
        <p:spPr bwMode="auto">
          <a:xfrm>
            <a:off x="9182100" y="5357814"/>
            <a:ext cx="1800226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160"/>
              <a:t>Fitoplâncton</a:t>
            </a:r>
          </a:p>
        </p:txBody>
      </p:sp>
      <p:sp>
        <p:nvSpPr>
          <p:cNvPr id="56338" name="CaixaDeTexto 25"/>
          <p:cNvSpPr txBox="1">
            <a:spLocks noChangeArrowheads="1"/>
          </p:cNvSpPr>
          <p:nvPr/>
        </p:nvSpPr>
        <p:spPr bwMode="auto">
          <a:xfrm>
            <a:off x="7810500" y="4714876"/>
            <a:ext cx="1800226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160"/>
              <a:t>Zooplâncton</a:t>
            </a:r>
          </a:p>
        </p:txBody>
      </p:sp>
      <p:sp>
        <p:nvSpPr>
          <p:cNvPr id="56339" name="CaixaDeTexto 26"/>
          <p:cNvSpPr txBox="1">
            <a:spLocks noChangeArrowheads="1"/>
          </p:cNvSpPr>
          <p:nvPr/>
        </p:nvSpPr>
        <p:spPr bwMode="auto">
          <a:xfrm>
            <a:off x="9267826" y="4143376"/>
            <a:ext cx="1371600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160"/>
              <a:t>Peixes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81577" y="2214563"/>
            <a:ext cx="4972050" cy="7571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2160" dirty="0"/>
              <a:t>Expressa a quantidade de substância viva (“peso seco” em cada nível trófico.</a:t>
            </a:r>
          </a:p>
        </p:txBody>
      </p:sp>
      <p:cxnSp>
        <p:nvCxnSpPr>
          <p:cNvPr id="31" name="Conector reto 30"/>
          <p:cNvCxnSpPr/>
          <p:nvPr/>
        </p:nvCxnSpPr>
        <p:spPr>
          <a:xfrm>
            <a:off x="8667752" y="5500689"/>
            <a:ext cx="600076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ector reto 33"/>
          <p:cNvCxnSpPr/>
          <p:nvPr/>
        </p:nvCxnSpPr>
        <p:spPr>
          <a:xfrm>
            <a:off x="8924927" y="4357689"/>
            <a:ext cx="51435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CE6CFAED-430F-480D-AE85-08F3B6880FA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18383E5A-E0F0-4005-B28D-80202C63E6D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Pirâmides Ecológicas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4"/>
            <a:ext cx="10458450" cy="27515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60120" lvl="1" indent="-411480" algn="just"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pic>
        <p:nvPicPr>
          <p:cNvPr id="65541" name="Picture 3" descr="Figura-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9760" y="1125539"/>
            <a:ext cx="8138160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2" name="Rectangle 4"/>
          <p:cNvSpPr>
            <a:spLocks noChangeArrowheads="1"/>
          </p:cNvSpPr>
          <p:nvPr/>
        </p:nvSpPr>
        <p:spPr bwMode="auto">
          <a:xfrm>
            <a:off x="9296400" y="3581400"/>
            <a:ext cx="1897380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80" b="1"/>
              <a:t>Bactérias desnitrificantes</a:t>
            </a:r>
          </a:p>
        </p:txBody>
      </p:sp>
      <p:sp>
        <p:nvSpPr>
          <p:cNvPr id="65543" name="Rectangle 5"/>
          <p:cNvSpPr>
            <a:spLocks noChangeArrowheads="1"/>
          </p:cNvSpPr>
          <p:nvPr/>
        </p:nvSpPr>
        <p:spPr bwMode="auto">
          <a:xfrm>
            <a:off x="2255520" y="1373189"/>
            <a:ext cx="2103120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560" b="1"/>
              <a:t>FIXAÇÃO DO NITROGÊNIO ATMOSFÉRICO</a:t>
            </a:r>
          </a:p>
        </p:txBody>
      </p:sp>
      <p:sp>
        <p:nvSpPr>
          <p:cNvPr id="65544" name="Rectangle 7"/>
          <p:cNvSpPr>
            <a:spLocks noChangeArrowheads="1"/>
          </p:cNvSpPr>
          <p:nvPr/>
        </p:nvSpPr>
        <p:spPr bwMode="auto">
          <a:xfrm>
            <a:off x="6736081" y="1524001"/>
            <a:ext cx="1799339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80" b="1"/>
              <a:t>DESNITRIFICAÇÃO</a:t>
            </a:r>
          </a:p>
        </p:txBody>
      </p:sp>
      <p:sp>
        <p:nvSpPr>
          <p:cNvPr id="65545" name="Rectangle 8"/>
          <p:cNvSpPr>
            <a:spLocks noChangeArrowheads="1"/>
          </p:cNvSpPr>
          <p:nvPr/>
        </p:nvSpPr>
        <p:spPr bwMode="auto">
          <a:xfrm>
            <a:off x="4084322" y="2332039"/>
            <a:ext cx="2774029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80" b="1" dirty="0"/>
              <a:t>Assimilação pelos herbívoros</a:t>
            </a:r>
          </a:p>
        </p:txBody>
      </p:sp>
      <p:sp>
        <p:nvSpPr>
          <p:cNvPr id="65546" name="Rectangle 9"/>
          <p:cNvSpPr>
            <a:spLocks noChangeArrowheads="1"/>
          </p:cNvSpPr>
          <p:nvPr/>
        </p:nvSpPr>
        <p:spPr bwMode="auto">
          <a:xfrm>
            <a:off x="3992880" y="3276601"/>
            <a:ext cx="1463040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80" b="1"/>
              <a:t>Excreção</a:t>
            </a:r>
            <a:endParaRPr lang="pt-BR" sz="1920" b="1"/>
          </a:p>
        </p:txBody>
      </p:sp>
      <p:sp>
        <p:nvSpPr>
          <p:cNvPr id="65547" name="Rectangle 10"/>
          <p:cNvSpPr>
            <a:spLocks noChangeArrowheads="1"/>
          </p:cNvSpPr>
          <p:nvPr/>
        </p:nvSpPr>
        <p:spPr bwMode="auto">
          <a:xfrm>
            <a:off x="5181600" y="3276600"/>
            <a:ext cx="1737360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80" b="1"/>
              <a:t>Morte e decomposição</a:t>
            </a:r>
          </a:p>
        </p:txBody>
      </p:sp>
      <p:sp>
        <p:nvSpPr>
          <p:cNvPr id="65548" name="Rectangle 11"/>
          <p:cNvSpPr>
            <a:spLocks noChangeArrowheads="1"/>
          </p:cNvSpPr>
          <p:nvPr/>
        </p:nvSpPr>
        <p:spPr bwMode="auto">
          <a:xfrm>
            <a:off x="8107682" y="5410201"/>
            <a:ext cx="1456809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80" b="1"/>
              <a:t>NITRIFICAÇÃO</a:t>
            </a:r>
            <a:endParaRPr lang="pt-BR" sz="1920" b="1"/>
          </a:p>
        </p:txBody>
      </p:sp>
      <p:sp>
        <p:nvSpPr>
          <p:cNvPr id="65549" name="Rectangle 12"/>
          <p:cNvSpPr>
            <a:spLocks noChangeArrowheads="1"/>
          </p:cNvSpPr>
          <p:nvPr/>
        </p:nvSpPr>
        <p:spPr bwMode="auto">
          <a:xfrm>
            <a:off x="4724401" y="5943601"/>
            <a:ext cx="1445204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80" b="1"/>
              <a:t>Nitrosomonas</a:t>
            </a:r>
            <a:endParaRPr lang="pt-BR" sz="1920" b="1"/>
          </a:p>
        </p:txBody>
      </p:sp>
      <p:sp>
        <p:nvSpPr>
          <p:cNvPr id="65550" name="Rectangle 13"/>
          <p:cNvSpPr>
            <a:spLocks noChangeArrowheads="1"/>
          </p:cNvSpPr>
          <p:nvPr/>
        </p:nvSpPr>
        <p:spPr bwMode="auto">
          <a:xfrm>
            <a:off x="1432560" y="5638800"/>
            <a:ext cx="1920240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80" b="1"/>
              <a:t>Bactérias fixadoras de N2 no solo</a:t>
            </a:r>
          </a:p>
        </p:txBody>
      </p:sp>
      <p:sp>
        <p:nvSpPr>
          <p:cNvPr id="65551" name="Rectangle 14"/>
          <p:cNvSpPr>
            <a:spLocks noChangeArrowheads="1"/>
          </p:cNvSpPr>
          <p:nvPr/>
        </p:nvSpPr>
        <p:spPr bwMode="auto">
          <a:xfrm>
            <a:off x="7193280" y="5127625"/>
            <a:ext cx="1131848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440" b="1"/>
              <a:t>NO</a:t>
            </a:r>
            <a:r>
              <a:rPr lang="pt-BR" sz="1440" b="1" baseline="-25000"/>
              <a:t>2</a:t>
            </a:r>
            <a:r>
              <a:rPr lang="pt-BR" sz="1440" b="1"/>
              <a:t> (nitrito)</a:t>
            </a:r>
          </a:p>
        </p:txBody>
      </p:sp>
      <p:sp>
        <p:nvSpPr>
          <p:cNvPr id="65552" name="Rectangle 15"/>
          <p:cNvSpPr>
            <a:spLocks noChangeArrowheads="1"/>
          </p:cNvSpPr>
          <p:nvPr/>
        </p:nvSpPr>
        <p:spPr bwMode="auto">
          <a:xfrm>
            <a:off x="4541520" y="5170489"/>
            <a:ext cx="1463040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440" b="1"/>
              <a:t>NO</a:t>
            </a:r>
            <a:r>
              <a:rPr lang="pt-BR" sz="1440" b="1" baseline="-25000"/>
              <a:t>3</a:t>
            </a:r>
            <a:r>
              <a:rPr lang="pt-BR" sz="1440" b="1"/>
              <a:t> (amônia)</a:t>
            </a:r>
          </a:p>
        </p:txBody>
      </p:sp>
      <p:sp>
        <p:nvSpPr>
          <p:cNvPr id="65553" name="Rectangle 16"/>
          <p:cNvSpPr>
            <a:spLocks noChangeArrowheads="1"/>
          </p:cNvSpPr>
          <p:nvPr/>
        </p:nvSpPr>
        <p:spPr bwMode="auto">
          <a:xfrm>
            <a:off x="7193280" y="3946525"/>
            <a:ext cx="1371600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440" b="1"/>
              <a:t>NO</a:t>
            </a:r>
            <a:r>
              <a:rPr lang="pt-BR" sz="1440" b="1" baseline="-25000"/>
              <a:t>3</a:t>
            </a:r>
            <a:r>
              <a:rPr lang="pt-BR" sz="1440" b="1"/>
              <a:t>(nitrato)</a:t>
            </a:r>
          </a:p>
        </p:txBody>
      </p:sp>
      <p:sp>
        <p:nvSpPr>
          <p:cNvPr id="65554" name="Rectangle 17"/>
          <p:cNvSpPr>
            <a:spLocks noChangeArrowheads="1"/>
          </p:cNvSpPr>
          <p:nvPr/>
        </p:nvSpPr>
        <p:spPr bwMode="auto">
          <a:xfrm>
            <a:off x="9479280" y="4572001"/>
            <a:ext cx="1214948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80" b="1"/>
              <a:t>Nitrobacter</a:t>
            </a:r>
          </a:p>
        </p:txBody>
      </p:sp>
      <p:sp>
        <p:nvSpPr>
          <p:cNvPr id="65555" name="Rectangle 18"/>
          <p:cNvSpPr>
            <a:spLocks noChangeArrowheads="1"/>
          </p:cNvSpPr>
          <p:nvPr/>
        </p:nvSpPr>
        <p:spPr bwMode="auto">
          <a:xfrm>
            <a:off x="6461760" y="4191000"/>
            <a:ext cx="1463040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80" b="1"/>
              <a:t>Absorção de NH3 por algumas plantas</a:t>
            </a:r>
          </a:p>
        </p:txBody>
      </p:sp>
      <p:sp>
        <p:nvSpPr>
          <p:cNvPr id="65556" name="Rectangle 19"/>
          <p:cNvSpPr>
            <a:spLocks noChangeArrowheads="1"/>
          </p:cNvSpPr>
          <p:nvPr/>
        </p:nvSpPr>
        <p:spPr bwMode="auto">
          <a:xfrm>
            <a:off x="3810002" y="4673601"/>
            <a:ext cx="1637821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80" b="1"/>
              <a:t>Decompositores</a:t>
            </a:r>
          </a:p>
        </p:txBody>
      </p:sp>
      <p:sp>
        <p:nvSpPr>
          <p:cNvPr id="65557" name="Rectangle 20"/>
          <p:cNvSpPr>
            <a:spLocks noChangeArrowheads="1"/>
          </p:cNvSpPr>
          <p:nvPr/>
        </p:nvSpPr>
        <p:spPr bwMode="auto">
          <a:xfrm>
            <a:off x="609600" y="3429001"/>
            <a:ext cx="155448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680" b="1"/>
              <a:t>Bactérias fixadoras de N2 nos nódulos de raízes de leguminosas</a:t>
            </a:r>
          </a:p>
        </p:txBody>
      </p:sp>
      <p:sp>
        <p:nvSpPr>
          <p:cNvPr id="65558" name="Rectangle 21"/>
          <p:cNvSpPr>
            <a:spLocks noChangeArrowheads="1"/>
          </p:cNvSpPr>
          <p:nvPr/>
        </p:nvSpPr>
        <p:spPr bwMode="auto">
          <a:xfrm>
            <a:off x="6461762" y="3073401"/>
            <a:ext cx="2087751" cy="35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80" b="1"/>
              <a:t>Absorção pelas raízes</a:t>
            </a:r>
          </a:p>
        </p:txBody>
      </p:sp>
      <p:sp>
        <p:nvSpPr>
          <p:cNvPr id="65559" name="Rectangle 22"/>
          <p:cNvSpPr>
            <a:spLocks noChangeArrowheads="1"/>
          </p:cNvSpPr>
          <p:nvPr/>
        </p:nvSpPr>
        <p:spPr bwMode="auto">
          <a:xfrm>
            <a:off x="5724526" y="1296989"/>
            <a:ext cx="1666874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320" b="1"/>
              <a:t>N</a:t>
            </a:r>
            <a:r>
              <a:rPr lang="pt-BR" sz="1320" b="1" baseline="-25000"/>
              <a:t>2</a:t>
            </a:r>
            <a:r>
              <a:rPr lang="pt-BR" sz="1320" b="1"/>
              <a:t> atmosférico</a:t>
            </a:r>
          </a:p>
        </p:txBody>
      </p:sp>
      <p:cxnSp>
        <p:nvCxnSpPr>
          <p:cNvPr id="48" name="Conector reto 47"/>
          <p:cNvCxnSpPr/>
          <p:nvPr/>
        </p:nvCxnSpPr>
        <p:spPr>
          <a:xfrm>
            <a:off x="2152650" y="3929063"/>
            <a:ext cx="77152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561" name="CaixaDeTexto 48"/>
          <p:cNvSpPr txBox="1">
            <a:spLocks noChangeArrowheads="1"/>
          </p:cNvSpPr>
          <p:nvPr/>
        </p:nvSpPr>
        <p:spPr bwMode="auto">
          <a:xfrm>
            <a:off x="9182100" y="1143001"/>
            <a:ext cx="214312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400" b="1">
                <a:solidFill>
                  <a:srgbClr val="FF0000"/>
                </a:solidFill>
              </a:rPr>
              <a:t>Ciclo do Nitrogênio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E707558-B814-4246-8A2E-1D97B50FEE43}"/>
                  </a:ext>
                </a:extLst>
              </p14:cNvPr>
              <p14:cNvContentPartPr/>
              <p14:nvPr/>
            </p14:nvContentPartPr>
            <p14:xfrm>
              <a:off x="10442503" y="1766958"/>
              <a:ext cx="432" cy="432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E707558-B814-4246-8A2E-1D97B50FEE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31703" y="1756158"/>
                <a:ext cx="21600" cy="21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Retângulo 25">
            <a:extLst>
              <a:ext uri="{FF2B5EF4-FFF2-40B4-BE49-F238E27FC236}">
                <a16:creationId xmlns:a16="http://schemas.microsoft.com/office/drawing/2014/main" id="{5C44B48B-BD9C-42D3-8C92-64851BB5663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A75500C5-7DAD-4D71-BBB8-1210EDA7E96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Ciclos Biogeoquímicos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1071564"/>
            <a:ext cx="10458450" cy="27515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60120" lvl="1" indent="-411480" algn="just"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pic>
        <p:nvPicPr>
          <p:cNvPr id="6656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52650" y="1268759"/>
            <a:ext cx="7246620" cy="4838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6" name="CaixaDeTexto 9"/>
          <p:cNvSpPr txBox="1">
            <a:spLocks noChangeArrowheads="1"/>
          </p:cNvSpPr>
          <p:nvPr/>
        </p:nvSpPr>
        <p:spPr bwMode="auto">
          <a:xfrm>
            <a:off x="9439278" y="1143001"/>
            <a:ext cx="21431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400" b="1">
                <a:solidFill>
                  <a:srgbClr val="FF0000"/>
                </a:solidFill>
              </a:rPr>
              <a:t>Ciclo do Carbono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EA4BFF1-5E30-49BD-8544-4A78AE06768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0EC20D5-4709-42D3-95B1-3ACA91A92D29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Ciclos Biogeoquímicos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2" y="1571626"/>
            <a:ext cx="9172576" cy="482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609602" y="1071564"/>
            <a:ext cx="10458450" cy="27515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60120" lvl="1" indent="-411480" algn="just"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4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4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sp>
        <p:nvSpPr>
          <p:cNvPr id="67590" name="CaixaDeTexto 9"/>
          <p:cNvSpPr txBox="1">
            <a:spLocks noChangeArrowheads="1"/>
          </p:cNvSpPr>
          <p:nvPr/>
        </p:nvSpPr>
        <p:spPr bwMode="auto">
          <a:xfrm>
            <a:off x="9439278" y="1143001"/>
            <a:ext cx="21431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400" b="1">
                <a:solidFill>
                  <a:srgbClr val="FF0000"/>
                </a:solidFill>
              </a:rPr>
              <a:t>Ciclo da água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CE70F51-529B-43B6-B561-2F360E320A3D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5696B32-EE89-4422-B90A-4F43D0098B9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Ciclos Biogeoquímicos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525</TotalTime>
  <Words>489</Words>
  <Application>Microsoft Office PowerPoint</Application>
  <PresentationFormat>Widescreen</PresentationFormat>
  <Paragraphs>211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Tahoma</vt:lpstr>
      <vt:lpstr>Tema do Office</vt:lpstr>
      <vt:lpstr>Ecologia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34</cp:revision>
  <dcterms:created xsi:type="dcterms:W3CDTF">2020-06-05T12:13:59Z</dcterms:created>
  <dcterms:modified xsi:type="dcterms:W3CDTF">2021-05-15T01:40:23Z</dcterms:modified>
</cp:coreProperties>
</file>