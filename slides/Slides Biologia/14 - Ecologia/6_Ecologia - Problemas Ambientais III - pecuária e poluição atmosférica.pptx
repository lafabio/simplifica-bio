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356" r:id="rId2"/>
    <p:sldId id="314" r:id="rId3"/>
    <p:sldId id="315" r:id="rId4"/>
    <p:sldId id="318" r:id="rId5"/>
    <p:sldId id="320" r:id="rId6"/>
    <p:sldId id="321" r:id="rId7"/>
    <p:sldId id="317" r:id="rId8"/>
    <p:sldId id="354" r:id="rId9"/>
    <p:sldId id="322" r:id="rId10"/>
    <p:sldId id="329" r:id="rId11"/>
    <p:sldId id="330" r:id="rId12"/>
    <p:sldId id="323" r:id="rId13"/>
    <p:sldId id="331" r:id="rId14"/>
    <p:sldId id="324" r:id="rId15"/>
    <p:sldId id="325" r:id="rId16"/>
    <p:sldId id="326" r:id="rId17"/>
    <p:sldId id="332" r:id="rId18"/>
    <p:sldId id="328" r:id="rId19"/>
    <p:sldId id="333" r:id="rId20"/>
    <p:sldId id="33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58D1-667F-4B47-894F-F5843460E4F8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B9BDF-4EC6-4AA0-9559-E66382EE67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8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ço Reservado para Imagem de Slide 1">
            <a:extLst>
              <a:ext uri="{FF2B5EF4-FFF2-40B4-BE49-F238E27FC236}">
                <a16:creationId xmlns:a16="http://schemas.microsoft.com/office/drawing/2014/main" id="{1CE74742-179D-4937-800C-10631E6963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Espaço Reservado para Anotações 2">
            <a:extLst>
              <a:ext uri="{FF2B5EF4-FFF2-40B4-BE49-F238E27FC236}">
                <a16:creationId xmlns:a16="http://schemas.microsoft.com/office/drawing/2014/main" id="{96FD938A-AD06-40FB-95BE-6BD184354D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04452" name="Espaço Reservado para Número de Slide 3">
            <a:extLst>
              <a:ext uri="{FF2B5EF4-FFF2-40B4-BE49-F238E27FC236}">
                <a16:creationId xmlns:a16="http://schemas.microsoft.com/office/drawing/2014/main" id="{0D85D5C4-A5C9-42C5-81DA-E76722ED2A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3C1935E-A51A-4344-9B89-7508348E6D79}" type="slidenum">
              <a:rPr lang="pt-BR" altLang="pt-BR"/>
              <a:pPr>
                <a:spcBef>
                  <a:spcPct val="0"/>
                </a:spcBef>
              </a:pPr>
              <a:t>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ço Reservado para Imagem de Slide 1">
            <a:extLst>
              <a:ext uri="{FF2B5EF4-FFF2-40B4-BE49-F238E27FC236}">
                <a16:creationId xmlns:a16="http://schemas.microsoft.com/office/drawing/2014/main" id="{442E77E6-A143-4A23-A716-0FEE6BBEE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Espaço Reservado para Anotações 2">
            <a:extLst>
              <a:ext uri="{FF2B5EF4-FFF2-40B4-BE49-F238E27FC236}">
                <a16:creationId xmlns:a16="http://schemas.microsoft.com/office/drawing/2014/main" id="{300BC532-B1F4-477A-98A7-F691FA685F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06500" name="Espaço Reservado para Número de Slide 3">
            <a:extLst>
              <a:ext uri="{FF2B5EF4-FFF2-40B4-BE49-F238E27FC236}">
                <a16:creationId xmlns:a16="http://schemas.microsoft.com/office/drawing/2014/main" id="{C845204D-9625-4484-957D-379A356C9E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C713839-FC15-4C35-B9BD-2E6611855AAF}" type="slidenum">
              <a:rPr lang="pt-BR" altLang="pt-BR"/>
              <a:pPr>
                <a:spcBef>
                  <a:spcPct val="0"/>
                </a:spcBef>
              </a:pPr>
              <a:t>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ço Reservado para Imagem de Slide 1">
            <a:extLst>
              <a:ext uri="{FF2B5EF4-FFF2-40B4-BE49-F238E27FC236}">
                <a16:creationId xmlns:a16="http://schemas.microsoft.com/office/drawing/2014/main" id="{698D69BA-E616-43EC-8C3B-46FF4B9B7F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Espaço Reservado para Anotações 2">
            <a:extLst>
              <a:ext uri="{FF2B5EF4-FFF2-40B4-BE49-F238E27FC236}">
                <a16:creationId xmlns:a16="http://schemas.microsoft.com/office/drawing/2014/main" id="{68FAC2D2-49B2-40B5-A099-88CE99DC0C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08548" name="Espaço Reservado para Número de Slide 3">
            <a:extLst>
              <a:ext uri="{FF2B5EF4-FFF2-40B4-BE49-F238E27FC236}">
                <a16:creationId xmlns:a16="http://schemas.microsoft.com/office/drawing/2014/main" id="{AD133BC8-7067-4A4E-824C-F2072596DC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498BF91-DEBD-45D2-971A-CD1BE5D1216A}" type="slidenum">
              <a:rPr lang="pt-BR" altLang="pt-BR"/>
              <a:pPr>
                <a:spcBef>
                  <a:spcPct val="0"/>
                </a:spcBef>
              </a:pPr>
              <a:t>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ço Reservado para Imagem de Slide 1">
            <a:extLst>
              <a:ext uri="{FF2B5EF4-FFF2-40B4-BE49-F238E27FC236}">
                <a16:creationId xmlns:a16="http://schemas.microsoft.com/office/drawing/2014/main" id="{CCC5C807-608F-45CD-AA24-12EF19C4AA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Espaço Reservado para Anotações 2">
            <a:extLst>
              <a:ext uri="{FF2B5EF4-FFF2-40B4-BE49-F238E27FC236}">
                <a16:creationId xmlns:a16="http://schemas.microsoft.com/office/drawing/2014/main" id="{D7895C61-4998-40BF-81BB-B691F8F3FD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10596" name="Espaço Reservado para Número de Slide 3">
            <a:extLst>
              <a:ext uri="{FF2B5EF4-FFF2-40B4-BE49-F238E27FC236}">
                <a16:creationId xmlns:a16="http://schemas.microsoft.com/office/drawing/2014/main" id="{320F375E-EBF0-4B36-91B1-EE324F5026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347F6-8B61-4441-A87F-E248F3888BAA}" type="slidenum">
              <a:rPr lang="pt-BR" altLang="pt-BR"/>
              <a:pPr>
                <a:spcBef>
                  <a:spcPct val="0"/>
                </a:spcBef>
              </a:pPr>
              <a:t>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ço Reservado para Imagem de Slide 1">
            <a:extLst>
              <a:ext uri="{FF2B5EF4-FFF2-40B4-BE49-F238E27FC236}">
                <a16:creationId xmlns:a16="http://schemas.microsoft.com/office/drawing/2014/main" id="{0E86691E-258E-480E-B860-D0E5AA9106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Espaço Reservado para Anotações 2">
            <a:extLst>
              <a:ext uri="{FF2B5EF4-FFF2-40B4-BE49-F238E27FC236}">
                <a16:creationId xmlns:a16="http://schemas.microsoft.com/office/drawing/2014/main" id="{F136F489-04F2-47A2-A05C-C447AA12A7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12644" name="Espaço Reservado para Número de Slide 3">
            <a:extLst>
              <a:ext uri="{FF2B5EF4-FFF2-40B4-BE49-F238E27FC236}">
                <a16:creationId xmlns:a16="http://schemas.microsoft.com/office/drawing/2014/main" id="{ABDC937E-5B55-4F36-B418-B40460848A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5A1ABA-AF82-4C89-B321-6000CC6EB166}" type="slidenum">
              <a:rPr lang="pt-BR" altLang="pt-BR"/>
              <a:pPr>
                <a:spcBef>
                  <a:spcPct val="0"/>
                </a:spcBef>
              </a:pPr>
              <a:t>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ço Reservado para Imagem de Slide 1">
            <a:extLst>
              <a:ext uri="{FF2B5EF4-FFF2-40B4-BE49-F238E27FC236}">
                <a16:creationId xmlns:a16="http://schemas.microsoft.com/office/drawing/2014/main" id="{3F886B98-96BD-4E13-8471-0A003F1DC4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Espaço Reservado para Anotações 2">
            <a:extLst>
              <a:ext uri="{FF2B5EF4-FFF2-40B4-BE49-F238E27FC236}">
                <a16:creationId xmlns:a16="http://schemas.microsoft.com/office/drawing/2014/main" id="{4B21A884-6970-409F-BF9A-9736E84248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14692" name="Espaço Reservado para Número de Slide 3">
            <a:extLst>
              <a:ext uri="{FF2B5EF4-FFF2-40B4-BE49-F238E27FC236}">
                <a16:creationId xmlns:a16="http://schemas.microsoft.com/office/drawing/2014/main" id="{152230EF-A69F-4C3F-9058-D196673D54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75E89D-12E6-4E36-93D8-D4A34A0DD49D}" type="slidenum">
              <a:rPr lang="pt-BR" altLang="pt-BR"/>
              <a:pPr>
                <a:spcBef>
                  <a:spcPct val="0"/>
                </a:spcBef>
              </a:pPr>
              <a:t>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ço Reservado para Imagem de Slide 1">
            <a:extLst>
              <a:ext uri="{FF2B5EF4-FFF2-40B4-BE49-F238E27FC236}">
                <a16:creationId xmlns:a16="http://schemas.microsoft.com/office/drawing/2014/main" id="{07E4AA5D-FBA3-4509-8683-8183011D58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Espaço Reservado para Anotações 2">
            <a:extLst>
              <a:ext uri="{FF2B5EF4-FFF2-40B4-BE49-F238E27FC236}">
                <a16:creationId xmlns:a16="http://schemas.microsoft.com/office/drawing/2014/main" id="{916FE347-C901-454C-B51D-AE8C48E690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18788" name="Espaço Reservado para Número de Slide 3">
            <a:extLst>
              <a:ext uri="{FF2B5EF4-FFF2-40B4-BE49-F238E27FC236}">
                <a16:creationId xmlns:a16="http://schemas.microsoft.com/office/drawing/2014/main" id="{CF05ACF6-16D4-4AD0-B443-E597B07AB9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E05C17-1DF7-4FD1-89BC-D847D19BCA68}" type="slidenum">
              <a:rPr lang="pt-BR" altLang="pt-BR"/>
              <a:pPr>
                <a:spcBef>
                  <a:spcPct val="0"/>
                </a:spcBef>
              </a:pPr>
              <a:t>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ço Reservado para Imagem de Slide 1">
            <a:extLst>
              <a:ext uri="{FF2B5EF4-FFF2-40B4-BE49-F238E27FC236}">
                <a16:creationId xmlns:a16="http://schemas.microsoft.com/office/drawing/2014/main" id="{E89B0313-3EE3-468C-903D-4D395258C4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Espaço Reservado para Anotações 2">
            <a:extLst>
              <a:ext uri="{FF2B5EF4-FFF2-40B4-BE49-F238E27FC236}">
                <a16:creationId xmlns:a16="http://schemas.microsoft.com/office/drawing/2014/main" id="{0C3A6284-C3F5-4BDF-8634-0781E8C46A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20836" name="Espaço Reservado para Número de Slide 3">
            <a:extLst>
              <a:ext uri="{FF2B5EF4-FFF2-40B4-BE49-F238E27FC236}">
                <a16:creationId xmlns:a16="http://schemas.microsoft.com/office/drawing/2014/main" id="{E983EEE2-7AF1-491E-ABD8-E76A15E54E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056B492-0EB6-4502-A1CD-B1A4D27DDF53}" type="slidenum">
              <a:rPr lang="pt-BR" altLang="pt-BR"/>
              <a:pPr>
                <a:spcBef>
                  <a:spcPct val="0"/>
                </a:spcBef>
              </a:pPr>
              <a:t>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Espaço Reservado para Imagem de Slide 1">
            <a:extLst>
              <a:ext uri="{FF2B5EF4-FFF2-40B4-BE49-F238E27FC236}">
                <a16:creationId xmlns:a16="http://schemas.microsoft.com/office/drawing/2014/main" id="{22C68A7D-BCF0-43B0-98C4-C5B6410C59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3" name="Espaço Reservado para Anotações 2">
            <a:extLst>
              <a:ext uri="{FF2B5EF4-FFF2-40B4-BE49-F238E27FC236}">
                <a16:creationId xmlns:a16="http://schemas.microsoft.com/office/drawing/2014/main" id="{19BB5B44-E38A-425B-BAC2-30DEB5D96B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22884" name="Espaço Reservado para Número de Slide 3">
            <a:extLst>
              <a:ext uri="{FF2B5EF4-FFF2-40B4-BE49-F238E27FC236}">
                <a16:creationId xmlns:a16="http://schemas.microsoft.com/office/drawing/2014/main" id="{4F0FAB65-601F-4EB1-A9CC-E134F7B648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31DF10-7058-4D3C-9740-986621B07A95}" type="slidenum">
              <a:rPr lang="pt-BR" altLang="pt-BR"/>
              <a:pPr>
                <a:spcBef>
                  <a:spcPct val="0"/>
                </a:spcBef>
              </a:pPr>
              <a:t>10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Espaço Reservado para Imagem de Slide 1">
            <a:extLst>
              <a:ext uri="{FF2B5EF4-FFF2-40B4-BE49-F238E27FC236}">
                <a16:creationId xmlns:a16="http://schemas.microsoft.com/office/drawing/2014/main" id="{D54425D4-3812-42E3-B7DA-B0C61B6B11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Espaço Reservado para Anotações 2">
            <a:extLst>
              <a:ext uri="{FF2B5EF4-FFF2-40B4-BE49-F238E27FC236}">
                <a16:creationId xmlns:a16="http://schemas.microsoft.com/office/drawing/2014/main" id="{55CACC26-95F6-4A31-857B-191A6900FF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24932" name="Espaço Reservado para Número de Slide 3">
            <a:extLst>
              <a:ext uri="{FF2B5EF4-FFF2-40B4-BE49-F238E27FC236}">
                <a16:creationId xmlns:a16="http://schemas.microsoft.com/office/drawing/2014/main" id="{A06EE9CA-B3A0-4E0E-8CD1-2EBDC11739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58F488-F1E5-479B-8AFA-74EC990A22D8}" type="slidenum">
              <a:rPr lang="pt-BR" altLang="pt-BR"/>
              <a:pPr>
                <a:spcBef>
                  <a:spcPct val="0"/>
                </a:spcBef>
              </a:pPr>
              <a:t>11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Espaço Reservado para Imagem de Slide 1">
            <a:extLst>
              <a:ext uri="{FF2B5EF4-FFF2-40B4-BE49-F238E27FC236}">
                <a16:creationId xmlns:a16="http://schemas.microsoft.com/office/drawing/2014/main" id="{6B2B6454-3076-42D0-AE58-B18DFEA410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6979" name="Espaço Reservado para Anotações 2">
            <a:extLst>
              <a:ext uri="{FF2B5EF4-FFF2-40B4-BE49-F238E27FC236}">
                <a16:creationId xmlns:a16="http://schemas.microsoft.com/office/drawing/2014/main" id="{70A9CBB9-52BE-43F3-AA5A-EEF41E4044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26980" name="Espaço Reservado para Número de Slide 3">
            <a:extLst>
              <a:ext uri="{FF2B5EF4-FFF2-40B4-BE49-F238E27FC236}">
                <a16:creationId xmlns:a16="http://schemas.microsoft.com/office/drawing/2014/main" id="{9193EAF6-E82B-4193-A08A-9CE8FFF391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48280E-294E-4E43-B8FC-48E9F05E606F}" type="slidenum">
              <a:rPr lang="pt-BR" altLang="pt-BR"/>
              <a:pPr>
                <a:spcBef>
                  <a:spcPct val="0"/>
                </a:spcBef>
              </a:pPr>
              <a:t>12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Espaço Reservado para Imagem de Slide 1">
            <a:extLst>
              <a:ext uri="{FF2B5EF4-FFF2-40B4-BE49-F238E27FC236}">
                <a16:creationId xmlns:a16="http://schemas.microsoft.com/office/drawing/2014/main" id="{42DEDA87-3A49-4F50-927C-E93D729E60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27" name="Espaço Reservado para Anotações 2">
            <a:extLst>
              <a:ext uri="{FF2B5EF4-FFF2-40B4-BE49-F238E27FC236}">
                <a16:creationId xmlns:a16="http://schemas.microsoft.com/office/drawing/2014/main" id="{940F384E-50B5-4EE9-B728-B6AD15E9F8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29028" name="Espaço Reservado para Número de Slide 3">
            <a:extLst>
              <a:ext uri="{FF2B5EF4-FFF2-40B4-BE49-F238E27FC236}">
                <a16:creationId xmlns:a16="http://schemas.microsoft.com/office/drawing/2014/main" id="{3FC4B2F6-ADDA-4AA6-B5ED-7EA598EE2C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91B8364-AE56-4DD3-B518-6E381DAD5681}" type="slidenum">
              <a:rPr lang="pt-BR" altLang="pt-BR"/>
              <a:pPr>
                <a:spcBef>
                  <a:spcPct val="0"/>
                </a:spcBef>
              </a:pPr>
              <a:t>13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Espaço Reservado para Imagem de Slide 1">
            <a:extLst>
              <a:ext uri="{FF2B5EF4-FFF2-40B4-BE49-F238E27FC236}">
                <a16:creationId xmlns:a16="http://schemas.microsoft.com/office/drawing/2014/main" id="{F5ED39C3-2B0A-403B-B995-62B5617D0B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5" name="Espaço Reservado para Anotações 2">
            <a:extLst>
              <a:ext uri="{FF2B5EF4-FFF2-40B4-BE49-F238E27FC236}">
                <a16:creationId xmlns:a16="http://schemas.microsoft.com/office/drawing/2014/main" id="{F96F4D94-3E14-4348-B2A9-1FD446CD72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31076" name="Espaço Reservado para Número de Slide 3">
            <a:extLst>
              <a:ext uri="{FF2B5EF4-FFF2-40B4-BE49-F238E27FC236}">
                <a16:creationId xmlns:a16="http://schemas.microsoft.com/office/drawing/2014/main" id="{51083C76-E425-481A-840A-64FF023372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22DF899-FED4-4052-9EAB-F4E88FCB5036}" type="slidenum">
              <a:rPr lang="pt-BR" altLang="pt-BR"/>
              <a:pPr>
                <a:spcBef>
                  <a:spcPct val="0"/>
                </a:spcBef>
              </a:pPr>
              <a:t>14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Espaço Reservado para Imagem de Slide 1">
            <a:extLst>
              <a:ext uri="{FF2B5EF4-FFF2-40B4-BE49-F238E27FC236}">
                <a16:creationId xmlns:a16="http://schemas.microsoft.com/office/drawing/2014/main" id="{48BE1EF5-5C4B-4899-A836-C3113D490F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3" name="Espaço Reservado para Anotações 2">
            <a:extLst>
              <a:ext uri="{FF2B5EF4-FFF2-40B4-BE49-F238E27FC236}">
                <a16:creationId xmlns:a16="http://schemas.microsoft.com/office/drawing/2014/main" id="{6A9A98A1-640C-4573-BBB0-96E0176BF1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33124" name="Espaço Reservado para Número de Slide 3">
            <a:extLst>
              <a:ext uri="{FF2B5EF4-FFF2-40B4-BE49-F238E27FC236}">
                <a16:creationId xmlns:a16="http://schemas.microsoft.com/office/drawing/2014/main" id="{BEF0FA51-87EC-463A-8E69-07A60297D5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5BCE4D-F156-4C99-ACA3-2CC878432CC8}" type="slidenum">
              <a:rPr lang="pt-BR" altLang="pt-BR"/>
              <a:pPr>
                <a:spcBef>
                  <a:spcPct val="0"/>
                </a:spcBef>
              </a:pPr>
              <a:t>15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Espaço Reservado para Imagem de Slide 1">
            <a:extLst>
              <a:ext uri="{FF2B5EF4-FFF2-40B4-BE49-F238E27FC236}">
                <a16:creationId xmlns:a16="http://schemas.microsoft.com/office/drawing/2014/main" id="{5C81C658-D6EB-45E8-83AF-9F1981485C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Espaço Reservado para Anotações 2">
            <a:extLst>
              <a:ext uri="{FF2B5EF4-FFF2-40B4-BE49-F238E27FC236}">
                <a16:creationId xmlns:a16="http://schemas.microsoft.com/office/drawing/2014/main" id="{DDED754E-7DF7-4E47-8E19-B5B0749F68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35172" name="Espaço Reservado para Número de Slide 3">
            <a:extLst>
              <a:ext uri="{FF2B5EF4-FFF2-40B4-BE49-F238E27FC236}">
                <a16:creationId xmlns:a16="http://schemas.microsoft.com/office/drawing/2014/main" id="{34ECF21E-173F-45A1-BC9E-2A939861D0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456FEA9-B1D9-4539-B357-3E066D704A27}" type="slidenum">
              <a:rPr lang="pt-BR" altLang="pt-BR"/>
              <a:pPr>
                <a:spcBef>
                  <a:spcPct val="0"/>
                </a:spcBef>
              </a:pPr>
              <a:t>16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Espaço Reservado para Imagem de Slide 1">
            <a:extLst>
              <a:ext uri="{FF2B5EF4-FFF2-40B4-BE49-F238E27FC236}">
                <a16:creationId xmlns:a16="http://schemas.microsoft.com/office/drawing/2014/main" id="{AB55EFF6-7058-4460-A8FC-FA19AF3636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Espaço Reservado para Anotações 2">
            <a:extLst>
              <a:ext uri="{FF2B5EF4-FFF2-40B4-BE49-F238E27FC236}">
                <a16:creationId xmlns:a16="http://schemas.microsoft.com/office/drawing/2014/main" id="{6F6ABD50-C9E2-4F0C-8788-A2DBE37B9B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37220" name="Espaço Reservado para Número de Slide 3">
            <a:extLst>
              <a:ext uri="{FF2B5EF4-FFF2-40B4-BE49-F238E27FC236}">
                <a16:creationId xmlns:a16="http://schemas.microsoft.com/office/drawing/2014/main" id="{8A32916A-643C-4308-A8BA-81883A023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E10F09F-272C-4635-B62D-7DFF27061B64}" type="slidenum">
              <a:rPr lang="pt-BR" altLang="pt-BR"/>
              <a:pPr>
                <a:spcBef>
                  <a:spcPct val="0"/>
                </a:spcBef>
              </a:pPr>
              <a:t>17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Espaço Reservado para Imagem de Slide 1">
            <a:extLst>
              <a:ext uri="{FF2B5EF4-FFF2-40B4-BE49-F238E27FC236}">
                <a16:creationId xmlns:a16="http://schemas.microsoft.com/office/drawing/2014/main" id="{4F0AE63D-2B76-4E7C-880D-6EC55F4F35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5" name="Espaço Reservado para Anotações 2">
            <a:extLst>
              <a:ext uri="{FF2B5EF4-FFF2-40B4-BE49-F238E27FC236}">
                <a16:creationId xmlns:a16="http://schemas.microsoft.com/office/drawing/2014/main" id="{6E1E67F5-2249-4A95-B729-3584125394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41316" name="Espaço Reservado para Número de Slide 3">
            <a:extLst>
              <a:ext uri="{FF2B5EF4-FFF2-40B4-BE49-F238E27FC236}">
                <a16:creationId xmlns:a16="http://schemas.microsoft.com/office/drawing/2014/main" id="{9BE6D5B4-C548-4947-8E39-0F240C4B7C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1E2870-CDD4-437A-B118-D49F135E7F0E}" type="slidenum">
              <a:rPr lang="pt-BR" altLang="pt-BR"/>
              <a:pPr>
                <a:spcBef>
                  <a:spcPct val="0"/>
                </a:spcBef>
              </a:pPr>
              <a:t>18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Espaço Reservado para Imagem de Slide 1">
            <a:extLst>
              <a:ext uri="{FF2B5EF4-FFF2-40B4-BE49-F238E27FC236}">
                <a16:creationId xmlns:a16="http://schemas.microsoft.com/office/drawing/2014/main" id="{06F08ACB-EFAA-4550-A9B7-6134127510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Espaço Reservado para Anotações 2">
            <a:extLst>
              <a:ext uri="{FF2B5EF4-FFF2-40B4-BE49-F238E27FC236}">
                <a16:creationId xmlns:a16="http://schemas.microsoft.com/office/drawing/2014/main" id="{65793210-FBA5-4D1D-AC04-A31039A2F0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43364" name="Espaço Reservado para Número de Slide 3">
            <a:extLst>
              <a:ext uri="{FF2B5EF4-FFF2-40B4-BE49-F238E27FC236}">
                <a16:creationId xmlns:a16="http://schemas.microsoft.com/office/drawing/2014/main" id="{E6B5208E-149D-4F5E-B211-6347D26A46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44AEEB5-2AB6-4788-85EC-A270539897E9}" type="slidenum">
              <a:rPr lang="pt-BR" altLang="pt-BR"/>
              <a:pPr>
                <a:spcBef>
                  <a:spcPct val="0"/>
                </a:spcBef>
              </a:pPr>
              <a:t>19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Espaço Reservado para Imagem de Slide 1">
            <a:extLst>
              <a:ext uri="{FF2B5EF4-FFF2-40B4-BE49-F238E27FC236}">
                <a16:creationId xmlns:a16="http://schemas.microsoft.com/office/drawing/2014/main" id="{5B77AA50-D1F6-447F-8EDE-3342C3F85A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1" name="Espaço Reservado para Anotações 2">
            <a:extLst>
              <a:ext uri="{FF2B5EF4-FFF2-40B4-BE49-F238E27FC236}">
                <a16:creationId xmlns:a16="http://schemas.microsoft.com/office/drawing/2014/main" id="{C6223623-FB4B-49AA-B68F-F4D228C552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45412" name="Espaço Reservado para Número de Slide 3">
            <a:extLst>
              <a:ext uri="{FF2B5EF4-FFF2-40B4-BE49-F238E27FC236}">
                <a16:creationId xmlns:a16="http://schemas.microsoft.com/office/drawing/2014/main" id="{9AC7C976-E390-4EC3-93E1-49242C7B75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8976E7-326F-45A8-B1BE-178F58DA5496}" type="slidenum">
              <a:rPr lang="pt-BR" altLang="pt-BR"/>
              <a:pPr>
                <a:spcBef>
                  <a:spcPct val="0"/>
                </a:spcBef>
              </a:pPr>
              <a:t>20</a:t>
            </a:fld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cologia - conceito, definições de ecologia, sua importância - InfoEscola">
            <a:extLst>
              <a:ext uri="{FF2B5EF4-FFF2-40B4-BE49-F238E27FC236}">
                <a16:creationId xmlns:a16="http://schemas.microsoft.com/office/drawing/2014/main" id="{F1DACA33-E2AC-4076-B7D4-7374C868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Ecologia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24417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r>
              <a:rPr lang="pt-BR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Problemas Ambientais III</a:t>
            </a:r>
          </a:p>
          <a:p>
            <a:r>
              <a:rPr lang="pt-BR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Pecuária</a:t>
            </a:r>
          </a:p>
          <a:p>
            <a:r>
              <a:rPr lang="pt-BR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Poluição Atmosférica</a:t>
            </a:r>
          </a:p>
        </p:txBody>
      </p:sp>
    </p:spTree>
    <p:extLst>
      <p:ext uri="{BB962C8B-B14F-4D97-AF65-F5344CB8AC3E}">
        <p14:creationId xmlns:p14="http://schemas.microsoft.com/office/powerpoint/2010/main" val="349239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CaixaDeTexto 8">
            <a:extLst>
              <a:ext uri="{FF2B5EF4-FFF2-40B4-BE49-F238E27FC236}">
                <a16:creationId xmlns:a16="http://schemas.microsoft.com/office/drawing/2014/main" id="{BC437C11-6D6B-402D-8B3D-269A3B4E3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E8558450-4E02-4783-BF02-5B5955001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Pecuária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Conceito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20ADBC1-A2F6-441C-89EE-3A1AF975363B}"/>
              </a:ext>
            </a:extLst>
          </p:cNvPr>
          <p:cNvSpPr/>
          <p:nvPr/>
        </p:nvSpPr>
        <p:spPr>
          <a:xfrm>
            <a:off x="1881188" y="2428875"/>
            <a:ext cx="8429625" cy="13843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sz="2800" dirty="0">
                <a:latin typeface="+mn-lt"/>
              </a:rPr>
              <a:t>Conjunto de processos técnicos usados na domesticação e criação de animais com objetivos econômicos, feita no campo.</a:t>
            </a:r>
          </a:p>
        </p:txBody>
      </p:sp>
      <p:pic>
        <p:nvPicPr>
          <p:cNvPr id="103431" name="Picture 4" descr="http://4.bp.blogspot.com/_IV922SJfBAE/S5OXIcKRSfI/AAAAAAAAABc/sqSAFOFR1Ys/s320/GADO.jpg">
            <a:extLst>
              <a:ext uri="{FF2B5EF4-FFF2-40B4-BE49-F238E27FC236}">
                <a16:creationId xmlns:a16="http://schemas.microsoft.com/office/drawing/2014/main" id="{85E02A48-FACB-4A39-B766-8E6DF5B33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535363"/>
            <a:ext cx="4429125" cy="332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2ADA896D-5ECA-4D13-8895-AFC125BB56DD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E457F05-EF1F-4E0D-9B27-A6FBA8CD54D8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Pecuária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CaixaDeTexto 8">
            <a:extLst>
              <a:ext uri="{FF2B5EF4-FFF2-40B4-BE49-F238E27FC236}">
                <a16:creationId xmlns:a16="http://schemas.microsoft.com/office/drawing/2014/main" id="{36D6BA65-733C-4854-96CB-DDC496E2F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9F2CC999-139C-4CCD-856A-5953ACB6E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Pecuária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Visão Geral - Impactos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E01B029-3181-420C-8E4F-5F9CB0E53D39}"/>
              </a:ext>
            </a:extLst>
          </p:cNvPr>
          <p:cNvSpPr/>
          <p:nvPr/>
        </p:nvSpPr>
        <p:spPr>
          <a:xfrm>
            <a:off x="1881188" y="2428875"/>
            <a:ext cx="8429625" cy="45545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A pecuária bovina responde por 4/5 dos desmatamentos e queimadas na Amazônia.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endParaRPr lang="pt-BR" sz="500" dirty="0">
              <a:latin typeface="+mn-lt"/>
            </a:endParaRP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 Em 50 anos viu-se 70 milhões de hectares de floresta virarem pasto (70 vezes a superfície do Líbano).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endParaRPr lang="pt-BR" sz="500" dirty="0">
              <a:latin typeface="+mn-lt"/>
            </a:endParaRP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No Brasil a pecuária é responsável por cerca de 80% de todo o desmatamento dos biomas.</a:t>
            </a:r>
          </a:p>
          <a:p>
            <a:pPr algn="just" eaLnBrk="1" hangingPunct="1">
              <a:defRPr/>
            </a:pPr>
            <a:endParaRPr lang="pt-BR" sz="2800" dirty="0">
              <a:latin typeface="+mn-lt"/>
            </a:endParaRPr>
          </a:p>
          <a:p>
            <a:pPr algn="just" eaLnBrk="1" hangingPunct="1">
              <a:defRPr/>
            </a:pPr>
            <a:endParaRPr lang="pt-BR" sz="2800" dirty="0">
              <a:latin typeface="+mn-lt"/>
            </a:endParaRPr>
          </a:p>
          <a:p>
            <a:pPr algn="just" eaLnBrk="1" hangingPunct="1">
              <a:buFont typeface="Wingdings" pitchFamily="2" charset="2"/>
              <a:buChar char="ü"/>
              <a:defRPr/>
            </a:pPr>
            <a:endParaRPr lang="pt-BR" sz="2800" dirty="0">
              <a:latin typeface="+mn-lt"/>
            </a:endParaRPr>
          </a:p>
          <a:p>
            <a:pPr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6A5E87D-B9D8-4E2E-998A-BB81817FBC98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BD34A40E-B3D5-4324-AE7E-A371006006DA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Pecuária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CaixaDeTexto 8">
            <a:extLst>
              <a:ext uri="{FF2B5EF4-FFF2-40B4-BE49-F238E27FC236}">
                <a16:creationId xmlns:a16="http://schemas.microsoft.com/office/drawing/2014/main" id="{701EDB5F-A468-47F4-9FFC-7CDC8D497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C298CF7A-DB79-4D04-9009-2C65CAB77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Pecuária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Visão Geral - Impactos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27C8494-F0CA-4897-B30B-BCA8514BA78A}"/>
              </a:ext>
            </a:extLst>
          </p:cNvPr>
          <p:cNvSpPr/>
          <p:nvPr/>
        </p:nvSpPr>
        <p:spPr>
          <a:xfrm>
            <a:off x="1881188" y="2428875"/>
            <a:ext cx="8429625" cy="47704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O </a:t>
            </a:r>
            <a:r>
              <a:rPr lang="pt-BR" sz="2800" b="1" dirty="0">
                <a:latin typeface="+mn-lt"/>
              </a:rPr>
              <a:t>desmatamento de florestas </a:t>
            </a:r>
            <a:r>
              <a:rPr lang="pt-BR" sz="2800" dirty="0">
                <a:latin typeface="+mn-lt"/>
              </a:rPr>
              <a:t>para a aberturas de áreas de pastagens contribuem em torno de 55% com as emissões brasileiras de CO2 devido as queimadas.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endParaRPr lang="pt-BR" sz="1200" dirty="0">
              <a:latin typeface="+mn-lt"/>
            </a:endParaRP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Em 30 anos, uma área equivalente à França foi desmatada na região amazônica para dar lugar a áreas de pastagens.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endParaRPr lang="pt-BR" sz="12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Pecuária – </a:t>
            </a:r>
            <a:r>
              <a:rPr lang="pt-BR" sz="2800" b="1" dirty="0">
                <a:latin typeface="+mn-lt"/>
              </a:rPr>
              <a:t>Emissão de metano </a:t>
            </a:r>
            <a:r>
              <a:rPr lang="pt-BR" sz="2800" dirty="0">
                <a:latin typeface="+mn-lt"/>
              </a:rPr>
              <a:t>(Efeito Estufa).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800" dirty="0">
                <a:latin typeface="+mn-lt"/>
              </a:rPr>
              <a:t>1 boi libera cerca de 140 kg de metano por ano.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endParaRPr lang="pt-BR" sz="2800" dirty="0">
              <a:latin typeface="+mn-lt"/>
            </a:endParaRPr>
          </a:p>
          <a:p>
            <a:pPr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EC00EF6-8BC2-432E-B1C5-4D4AC195944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1F5318C-6A5B-4718-8BC3-29926EFA98C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Pecuária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CaixaDeTexto 8">
            <a:extLst>
              <a:ext uri="{FF2B5EF4-FFF2-40B4-BE49-F238E27FC236}">
                <a16:creationId xmlns:a16="http://schemas.microsoft.com/office/drawing/2014/main" id="{5A094A33-BEF4-44C5-BA5F-6D3F512B7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DC6868CC-2DA0-4E93-A6F9-BB0CB5415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Pecuária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Visão Geral - Impactos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809344D-9FE3-498D-8563-B4D4AC6CDD4D}"/>
              </a:ext>
            </a:extLst>
          </p:cNvPr>
          <p:cNvSpPr/>
          <p:nvPr/>
        </p:nvSpPr>
        <p:spPr>
          <a:xfrm>
            <a:off x="1881188" y="2286000"/>
            <a:ext cx="8429625" cy="37544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</a:t>
            </a:r>
            <a:r>
              <a:rPr lang="pt-BR" sz="2800" b="1" dirty="0">
                <a:latin typeface="+mn-lt"/>
              </a:rPr>
              <a:t>Compactação do solo </a:t>
            </a:r>
            <a:r>
              <a:rPr lang="pt-BR" sz="2800" dirty="0">
                <a:latin typeface="+mn-lt"/>
              </a:rPr>
              <a:t>devido ao pisoteio do gado.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</a:t>
            </a:r>
            <a:r>
              <a:rPr lang="pt-BR" sz="2800" b="1" dirty="0">
                <a:latin typeface="+mn-lt"/>
              </a:rPr>
              <a:t>Empobrecimento do solo.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</a:t>
            </a:r>
            <a:r>
              <a:rPr lang="pt-BR" sz="2800" b="1" dirty="0">
                <a:latin typeface="+mn-lt"/>
              </a:rPr>
              <a:t>Favorecimento da erosão </a:t>
            </a:r>
            <a:r>
              <a:rPr lang="pt-BR" sz="2800" dirty="0">
                <a:latin typeface="+mn-lt"/>
              </a:rPr>
              <a:t>e formação de voçorocas.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</a:t>
            </a:r>
            <a:r>
              <a:rPr lang="pt-BR" sz="2800" b="1" dirty="0">
                <a:latin typeface="+mn-lt"/>
              </a:rPr>
              <a:t>Contaminação</a:t>
            </a:r>
            <a:r>
              <a:rPr lang="pt-BR" sz="2800" dirty="0">
                <a:latin typeface="+mn-lt"/>
              </a:rPr>
              <a:t> de</a:t>
            </a:r>
            <a:r>
              <a:rPr lang="pt-BR" sz="2800" b="1" dirty="0">
                <a:latin typeface="+mn-lt"/>
              </a:rPr>
              <a:t> lagos, rios e lençol freático </a:t>
            </a:r>
            <a:r>
              <a:rPr lang="pt-BR" sz="2800" dirty="0">
                <a:latin typeface="+mn-lt"/>
              </a:rPr>
              <a:t>devido ao transporte de substâncias dos dejetos animais para estes locais.</a:t>
            </a:r>
          </a:p>
          <a:p>
            <a:pPr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20EB322-58DF-46F9-ABC3-72D1819C2F54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3BF14F61-CF4D-41F2-8193-9ED5A8005A53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Pecuária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CaixaDeTexto 8">
            <a:extLst>
              <a:ext uri="{FF2B5EF4-FFF2-40B4-BE49-F238E27FC236}">
                <a16:creationId xmlns:a16="http://schemas.microsoft.com/office/drawing/2014/main" id="{DA44FA9A-EC8B-4EF9-BB4C-3D43EBE25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38B8A9D2-CF33-40F0-A8CE-3407EB288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Pecuária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Visão Geral - Impactos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111622" name="Picture 2" descr="http://3.bp.blogspot.com/_MeK-YY3CQtE/TAj8iPDgM4I/AAAAAAAAAIE/WCQau5D8Xrg/s1600/bxk30917_queimada800.jpg">
            <a:extLst>
              <a:ext uri="{FF2B5EF4-FFF2-40B4-BE49-F238E27FC236}">
                <a16:creationId xmlns:a16="http://schemas.microsoft.com/office/drawing/2014/main" id="{B8B70268-121F-4EAB-B2B6-2FF7DC7D9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2928938"/>
            <a:ext cx="41433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623" name="Picture 4" descr="http://www.agenciadanoticia.com.br/fotos/noticias/desmat.jpg">
            <a:extLst>
              <a:ext uri="{FF2B5EF4-FFF2-40B4-BE49-F238E27FC236}">
                <a16:creationId xmlns:a16="http://schemas.microsoft.com/office/drawing/2014/main" id="{83D93E2F-A877-4DB0-A242-C81AD28C5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2928938"/>
            <a:ext cx="44291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1FDA7285-C7DA-49E2-A9CB-6948D19759D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6568C0C-9D22-418D-9E5D-AE44E89B792A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Pecuária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CaixaDeTexto 8">
            <a:extLst>
              <a:ext uri="{FF2B5EF4-FFF2-40B4-BE49-F238E27FC236}">
                <a16:creationId xmlns:a16="http://schemas.microsoft.com/office/drawing/2014/main" id="{44EF3EC4-1694-47E8-986B-3F68E8747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61BA4CF8-C50D-47A8-8CF1-A79CBB522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Pecuária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Visão Geral - Impactos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113670" name="Picture 4" descr="http://4.bp.blogspot.com/_6886BCkrAL0/SISkCmUbOYI/AAAAAAAABnk/29VwMYIE2_I/s400/PECU%C3%81RIA+AMAZ%C3%94NIA.jpg">
            <a:extLst>
              <a:ext uri="{FF2B5EF4-FFF2-40B4-BE49-F238E27FC236}">
                <a16:creationId xmlns:a16="http://schemas.microsoft.com/office/drawing/2014/main" id="{6950632D-7D2E-4316-845C-E22F669CF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2357438"/>
            <a:ext cx="6792913" cy="450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C6D0D3D4-7C7B-47BD-95FE-AE8432B1FF5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DE6935A-4EDE-4C8E-9DAF-3108BED02E48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Pecuária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CaixaDeTexto 8">
            <a:extLst>
              <a:ext uri="{FF2B5EF4-FFF2-40B4-BE49-F238E27FC236}">
                <a16:creationId xmlns:a16="http://schemas.microsoft.com/office/drawing/2014/main" id="{D411A0F2-17E1-49C7-8C07-22F6F2290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pic>
        <p:nvPicPr>
          <p:cNvPr id="117763" name="Imagem 7" descr="F4-1.jpg">
            <a:extLst>
              <a:ext uri="{FF2B5EF4-FFF2-40B4-BE49-F238E27FC236}">
                <a16:creationId xmlns:a16="http://schemas.microsoft.com/office/drawing/2014/main" id="{37221376-84E7-4C57-8CEF-8F8C0FE85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2357438"/>
            <a:ext cx="4657725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8" name="Picture 2" descr="http://msnbcmedia2.msn.com/j/ap/bej80303050811.hmedium.jpg">
            <a:extLst>
              <a:ext uri="{FF2B5EF4-FFF2-40B4-BE49-F238E27FC236}">
                <a16:creationId xmlns:a16="http://schemas.microsoft.com/office/drawing/2014/main" id="{6D6EFAF7-A132-4AD5-BBF2-8B50B2274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0446" y="4429132"/>
            <a:ext cx="3000396" cy="2214578"/>
          </a:xfrm>
          <a:prstGeom prst="flowChartAlternateProcess">
            <a:avLst/>
          </a:prstGeom>
          <a:noFill/>
        </p:spPr>
      </p:pic>
      <p:pic>
        <p:nvPicPr>
          <p:cNvPr id="34820" name="Picture 4" descr="http://www.eb1-torre-pinhao.rcts.pt/imagens/ar.jpg">
            <a:extLst>
              <a:ext uri="{FF2B5EF4-FFF2-40B4-BE49-F238E27FC236}">
                <a16:creationId xmlns:a16="http://schemas.microsoft.com/office/drawing/2014/main" id="{1BB0379F-FEC0-4243-AC63-7F7D83E3B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10446" y="1000108"/>
            <a:ext cx="3000396" cy="3274610"/>
          </a:xfrm>
          <a:prstGeom prst="flowChartAlternateProcess">
            <a:avLst/>
          </a:prstGeom>
          <a:noFill/>
        </p:spPr>
      </p:pic>
      <p:sp>
        <p:nvSpPr>
          <p:cNvPr id="12" name="CaixaDeTexto 6">
            <a:extLst>
              <a:ext uri="{FF2B5EF4-FFF2-40B4-BE49-F238E27FC236}">
                <a16:creationId xmlns:a16="http://schemas.microsoft.com/office/drawing/2014/main" id="{80DC6B15-5027-4C4B-A07E-A5E07B608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gases poluentes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96B5D1F-4D88-4B2E-8CFC-316AD596DCC8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D5DD16B-7E7D-4EB3-9D76-CE7DDB592F21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CaixaDeTexto 8">
            <a:extLst>
              <a:ext uri="{FF2B5EF4-FFF2-40B4-BE49-F238E27FC236}">
                <a16:creationId xmlns:a16="http://schemas.microsoft.com/office/drawing/2014/main" id="{A7A7C75A-984B-4F9D-8DB3-4E0EA434F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E53832-6134-4563-A4A5-4DF549884E1A}"/>
              </a:ext>
            </a:extLst>
          </p:cNvPr>
          <p:cNvSpPr txBox="1"/>
          <p:nvPr/>
        </p:nvSpPr>
        <p:spPr>
          <a:xfrm>
            <a:off x="1666875" y="1143000"/>
            <a:ext cx="8786813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</a:rPr>
              <a:t> </a:t>
            </a:r>
            <a:endParaRPr lang="pt-BR" sz="2000" dirty="0">
              <a:latin typeface="+mn-lt"/>
            </a:endParaRPr>
          </a:p>
        </p:txBody>
      </p:sp>
      <p:sp>
        <p:nvSpPr>
          <p:cNvPr id="10" name="CaixaDeTexto 6">
            <a:extLst>
              <a:ext uri="{FF2B5EF4-FFF2-40B4-BE49-F238E27FC236}">
                <a16:creationId xmlns:a16="http://schemas.microsoft.com/office/drawing/2014/main" id="{6B33E57C-CB37-435D-90DA-CBA6459EB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atividades humanas que poluem a atmosfera.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F749214-8CBD-493D-ABCF-54FDD3BDC9AA}"/>
              </a:ext>
            </a:extLst>
          </p:cNvPr>
          <p:cNvSpPr txBox="1"/>
          <p:nvPr/>
        </p:nvSpPr>
        <p:spPr>
          <a:xfrm>
            <a:off x="2166938" y="3143250"/>
            <a:ext cx="8072437" cy="354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 Queima de combustíveis fósseis;</a:t>
            </a:r>
          </a:p>
          <a:p>
            <a:pPr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 Queima do lixo;</a:t>
            </a:r>
          </a:p>
          <a:p>
            <a:pPr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 Queimada de florestas;</a:t>
            </a:r>
          </a:p>
          <a:p>
            <a:pPr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 Incêndios;</a:t>
            </a:r>
          </a:p>
          <a:p>
            <a:pPr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 Indústrias (fornos, incineradores, etc.);</a:t>
            </a:r>
          </a:p>
          <a:p>
            <a:pPr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 Hidrelétricas;</a:t>
            </a:r>
          </a:p>
          <a:p>
            <a:pPr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 Pecuária.</a:t>
            </a:r>
          </a:p>
          <a:p>
            <a:pPr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3BA9AAF-9D0A-4521-811A-927F3B98281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9810250D-CD5E-45B1-9E6E-0D22231CC2CC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>
            <a:extLst>
              <a:ext uri="{FF2B5EF4-FFF2-40B4-BE49-F238E27FC236}">
                <a16:creationId xmlns:a16="http://schemas.microsoft.com/office/drawing/2014/main" id="{22CBFEE1-166B-4319-AC9C-B18BC2CF6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463" y="1000125"/>
            <a:ext cx="2066925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859" name="CaixaDeTexto 8">
            <a:extLst>
              <a:ext uri="{FF2B5EF4-FFF2-40B4-BE49-F238E27FC236}">
                <a16:creationId xmlns:a16="http://schemas.microsoft.com/office/drawing/2014/main" id="{C4B30145-AC7D-4D52-A0CB-C66FB86A6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0C1B26C-E234-4712-9536-F1AE7DEE2930}"/>
              </a:ext>
            </a:extLst>
          </p:cNvPr>
          <p:cNvSpPr txBox="1"/>
          <p:nvPr/>
        </p:nvSpPr>
        <p:spPr>
          <a:xfrm>
            <a:off x="1524000" y="2143125"/>
            <a:ext cx="8786813" cy="45545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800" b="1" dirty="0">
                <a:latin typeface="+mn-lt"/>
              </a:rPr>
              <a:t>Monóxido de carbono (CO)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800" b="1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800" dirty="0">
                <a:latin typeface="+mn-lt"/>
              </a:rPr>
              <a:t>Gás incolor;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800" dirty="0">
                <a:latin typeface="+mn-lt"/>
              </a:rPr>
              <a:t>Inodoro;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800" dirty="0">
                <a:latin typeface="+mn-lt"/>
              </a:rPr>
              <a:t>Extremamente tóxico;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800" dirty="0">
                <a:latin typeface="+mn-lt"/>
              </a:rPr>
              <a:t>Liga-se irreversivelmente com a hemoglobina;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800" dirty="0">
                <a:latin typeface="+mn-lt"/>
              </a:rPr>
              <a:t>Podendo causar morte por asfixia;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800" dirty="0">
                <a:latin typeface="+mn-lt"/>
              </a:rPr>
              <a:t>Liberado na queima incompleta de compostos orgânicos.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</p:txBody>
      </p:sp>
      <p:sp>
        <p:nvSpPr>
          <p:cNvPr id="10" name="CaixaDeTexto 6">
            <a:extLst>
              <a:ext uri="{FF2B5EF4-FFF2-40B4-BE49-F238E27FC236}">
                <a16:creationId xmlns:a16="http://schemas.microsoft.com/office/drawing/2014/main" id="{B838F0F9-1EDA-407F-9F25-66FBCCFA3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gases poluentes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AE8EA37-4F51-482A-AA4D-F2AC88CC930C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EBF0D466-21C6-436C-AB37-C5711C324F95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CaixaDeTexto 8">
            <a:extLst>
              <a:ext uri="{FF2B5EF4-FFF2-40B4-BE49-F238E27FC236}">
                <a16:creationId xmlns:a16="http://schemas.microsoft.com/office/drawing/2014/main" id="{CDD50FA9-74DC-4673-BB57-9D6F630B6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314EB9-A08E-4B0E-84EB-DC07A01044A8}"/>
              </a:ext>
            </a:extLst>
          </p:cNvPr>
          <p:cNvSpPr txBox="1"/>
          <p:nvPr/>
        </p:nvSpPr>
        <p:spPr>
          <a:xfrm>
            <a:off x="1809750" y="2357438"/>
            <a:ext cx="8501063" cy="4894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800" b="1" dirty="0">
                <a:latin typeface="+mn-lt"/>
              </a:rPr>
              <a:t>Dióxido de enxofre (SO</a:t>
            </a:r>
            <a:r>
              <a:rPr lang="pt-BR" sz="2800" b="1" baseline="-25000" dirty="0">
                <a:latin typeface="+mn-lt"/>
              </a:rPr>
              <a:t>2</a:t>
            </a:r>
            <a:r>
              <a:rPr lang="pt-BR" sz="2800" b="1" dirty="0">
                <a:latin typeface="+mn-lt"/>
              </a:rPr>
              <a:t>)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1000" b="1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800" dirty="0">
                <a:latin typeface="+mn-lt"/>
              </a:rPr>
              <a:t>Produzido em processos industriais e veículos automotores;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800" dirty="0">
                <a:latin typeface="+mn-lt"/>
              </a:rPr>
              <a:t>Utilizado na produção do ácido sulfúrico;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800" dirty="0">
                <a:latin typeface="+mn-lt"/>
              </a:rPr>
              <a:t>Pode causar bronquite, asma e enfisema pulmonar;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800" dirty="0">
                <a:latin typeface="+mn-lt"/>
              </a:rPr>
              <a:t>Reage com o vapor d’água, formando o ácido sulfúrico (H</a:t>
            </a:r>
            <a:r>
              <a:rPr lang="pt-BR" sz="2800" baseline="-25000" dirty="0">
                <a:latin typeface="+mn-lt"/>
              </a:rPr>
              <a:t>2</a:t>
            </a:r>
            <a:r>
              <a:rPr lang="pt-BR" sz="2800" dirty="0">
                <a:latin typeface="+mn-lt"/>
              </a:rPr>
              <a:t>SO</a:t>
            </a:r>
            <a:r>
              <a:rPr lang="pt-BR" sz="2800" baseline="-25000" dirty="0">
                <a:latin typeface="+mn-lt"/>
              </a:rPr>
              <a:t>4</a:t>
            </a:r>
            <a:r>
              <a:rPr lang="pt-BR" sz="2800" dirty="0">
                <a:latin typeface="+mn-lt"/>
              </a:rPr>
              <a:t>), que precipita originando a </a:t>
            </a:r>
            <a:r>
              <a:rPr lang="pt-BR" sz="2800" b="1" dirty="0">
                <a:latin typeface="+mn-lt"/>
              </a:rPr>
              <a:t>chuva ácida</a:t>
            </a:r>
            <a:r>
              <a:rPr lang="pt-BR" sz="2800" dirty="0">
                <a:latin typeface="+mn-lt"/>
              </a:rPr>
              <a:t>.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Arial" charset="0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Arial" charset="0"/>
              </a:rPr>
              <a:t> </a:t>
            </a:r>
            <a:endParaRPr lang="pt-BR" sz="2000" dirty="0">
              <a:latin typeface="Arial" charset="0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dirty="0">
              <a:latin typeface="+mn-lt"/>
            </a:endParaRPr>
          </a:p>
        </p:txBody>
      </p:sp>
      <p:sp>
        <p:nvSpPr>
          <p:cNvPr id="10" name="CaixaDeTexto 6">
            <a:extLst>
              <a:ext uri="{FF2B5EF4-FFF2-40B4-BE49-F238E27FC236}">
                <a16:creationId xmlns:a16="http://schemas.microsoft.com/office/drawing/2014/main" id="{B5DFA587-29B3-4142-A23F-E2CCC20CE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gases poluentes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123911" name="Picture 2" descr="http://www.canalkids.com.br/meioambiente/planetaemperigo/imagens/predios.gif">
            <a:extLst>
              <a:ext uri="{FF2B5EF4-FFF2-40B4-BE49-F238E27FC236}">
                <a16:creationId xmlns:a16="http://schemas.microsoft.com/office/drawing/2014/main" id="{F8A16FAC-AD26-4D05-AD15-4AD3CD11B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938" y="785813"/>
            <a:ext cx="2786062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0F96E732-C55E-4A65-981B-644E95B1A16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29807C5-EF02-4520-88DA-30BA465C21D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CaixaDeTexto 8">
            <a:extLst>
              <a:ext uri="{FF2B5EF4-FFF2-40B4-BE49-F238E27FC236}">
                <a16:creationId xmlns:a16="http://schemas.microsoft.com/office/drawing/2014/main" id="{28FCABEE-FA71-4F81-9AD9-4FC9A03E1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361243C-6EF6-4C93-A23D-739D0A7DF10E}"/>
              </a:ext>
            </a:extLst>
          </p:cNvPr>
          <p:cNvSpPr txBox="1"/>
          <p:nvPr/>
        </p:nvSpPr>
        <p:spPr>
          <a:xfrm>
            <a:off x="1881188" y="2571750"/>
            <a:ext cx="8786812" cy="400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800" b="1" dirty="0">
                <a:latin typeface="+mn-lt"/>
              </a:rPr>
              <a:t>Dióxido de nitrogênio (NO</a:t>
            </a:r>
            <a:r>
              <a:rPr lang="pt-BR" sz="2800" b="1" baseline="-25000" dirty="0">
                <a:latin typeface="+mn-lt"/>
              </a:rPr>
              <a:t>2</a:t>
            </a:r>
            <a:r>
              <a:rPr lang="pt-BR" sz="2800" b="1" dirty="0">
                <a:latin typeface="+mn-lt"/>
              </a:rPr>
              <a:t>)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b="1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Liberado principalmente pela atividade industrial;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Provoca bronquite, asma e enfisema pulmonar;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Reage com o vapor d’água e origina o ácido nítrico (HNO</a:t>
            </a:r>
            <a:r>
              <a:rPr lang="pt-BR" sz="2800" baseline="-25000" dirty="0">
                <a:latin typeface="+mn-lt"/>
              </a:rPr>
              <a:t>3</a:t>
            </a:r>
            <a:r>
              <a:rPr lang="pt-BR" sz="2800" dirty="0">
                <a:latin typeface="+mn-lt"/>
              </a:rPr>
              <a:t>), o que contribui para a formação de </a:t>
            </a:r>
            <a:r>
              <a:rPr lang="pt-BR" sz="2800" b="1" dirty="0">
                <a:latin typeface="+mn-lt"/>
              </a:rPr>
              <a:t>chuvas ácidas.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</a:rPr>
              <a:t> </a:t>
            </a:r>
            <a:endParaRPr lang="pt-BR" sz="2000" dirty="0">
              <a:latin typeface="+mn-lt"/>
            </a:endParaRPr>
          </a:p>
        </p:txBody>
      </p:sp>
      <p:pic>
        <p:nvPicPr>
          <p:cNvPr id="125958" name="Picture 2" descr="http://www.canalkids.com.br/meioambiente/planetaemperigo/imagens/predios.gif">
            <a:extLst>
              <a:ext uri="{FF2B5EF4-FFF2-40B4-BE49-F238E27FC236}">
                <a16:creationId xmlns:a16="http://schemas.microsoft.com/office/drawing/2014/main" id="{94804E59-4063-4D9C-BBE5-82C050FF4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938" y="785813"/>
            <a:ext cx="2786062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aixaDeTexto 6">
            <a:extLst>
              <a:ext uri="{FF2B5EF4-FFF2-40B4-BE49-F238E27FC236}">
                <a16:creationId xmlns:a16="http://schemas.microsoft.com/office/drawing/2014/main" id="{96B2A9CB-2838-4C9C-89EC-5502E4A92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gases poluentes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6B5E5B2-FEED-4EE4-8ACC-1D05692A610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4136210-EB15-46AF-B5A3-42A0EAE8D33D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CaixaDeTexto 8">
            <a:extLst>
              <a:ext uri="{FF2B5EF4-FFF2-40B4-BE49-F238E27FC236}">
                <a16:creationId xmlns:a16="http://schemas.microsoft.com/office/drawing/2014/main" id="{16BDD8AA-746C-446B-9D27-9039360F8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F6C749A-B7AB-48B0-989B-E46609226F3C}"/>
              </a:ext>
            </a:extLst>
          </p:cNvPr>
          <p:cNvSpPr txBox="1"/>
          <p:nvPr/>
        </p:nvSpPr>
        <p:spPr>
          <a:xfrm>
            <a:off x="1809750" y="2457450"/>
            <a:ext cx="8643938" cy="41544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3200" b="1" dirty="0" err="1"/>
              <a:t>Consequências</a:t>
            </a:r>
            <a:r>
              <a:rPr lang="pt-BR" sz="3200" b="1" dirty="0"/>
              <a:t> das chuvas ácidas</a:t>
            </a:r>
          </a:p>
          <a:p>
            <a:pPr eaLnBrk="1" hangingPunct="1">
              <a:buFont typeface="Wingdings" pitchFamily="2" charset="2"/>
              <a:buChar char="§"/>
              <a:defRPr/>
            </a:pPr>
            <a:endParaRPr lang="pt-BR" sz="800" dirty="0"/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/>
              <a:t>  Diminuição do pH em ambientes aquáticos.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/>
              <a:t>  Inibe o crescimento de </a:t>
            </a:r>
            <a:r>
              <a:rPr lang="pt-BR" sz="2800" dirty="0" err="1"/>
              <a:t>fitoplânctons</a:t>
            </a:r>
            <a:r>
              <a:rPr lang="pt-BR" sz="2800" dirty="0"/>
              <a:t>, prejudicando a cadeia alimentar.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/>
              <a:t>  Diminuição da biodiversidade.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/>
              <a:t>  Lesões na superfície foliar em plantas.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/>
              <a:t>  Interferência no transporte de seiva pelas raízes.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/>
              <a:t>  Destruição de bactérias e fungos simbiontes.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/>
              <a:t>  Prejuízos à saúde humana (doenças).</a:t>
            </a:r>
          </a:p>
        </p:txBody>
      </p:sp>
      <p:sp>
        <p:nvSpPr>
          <p:cNvPr id="9" name="CaixaDeTexto 6">
            <a:extLst>
              <a:ext uri="{FF2B5EF4-FFF2-40B4-BE49-F238E27FC236}">
                <a16:creationId xmlns:a16="http://schemas.microsoft.com/office/drawing/2014/main" id="{33F94C84-02F8-4526-B159-4E5DB95B7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000125"/>
            <a:ext cx="8643937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gases poluentes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6DD941E-BBE4-47FE-ABD5-F703BA75EA51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6A4F773D-AE8D-4555-AFE1-13AC0A3DE62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0" name="Imagem 10" descr="F4-3a.jpg">
            <a:extLst>
              <a:ext uri="{FF2B5EF4-FFF2-40B4-BE49-F238E27FC236}">
                <a16:creationId xmlns:a16="http://schemas.microsoft.com/office/drawing/2014/main" id="{3712D9DE-01E1-4B54-8DEB-0683745BE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88" y="3475038"/>
            <a:ext cx="3286125" cy="338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51" name="CaixaDeTexto 8">
            <a:extLst>
              <a:ext uri="{FF2B5EF4-FFF2-40B4-BE49-F238E27FC236}">
                <a16:creationId xmlns:a16="http://schemas.microsoft.com/office/drawing/2014/main" id="{6D589AD8-09BD-4CF3-98F8-C3B51FB35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3D1C5EE-7AEA-4554-B512-EC49ACB9CA16}"/>
              </a:ext>
            </a:extLst>
          </p:cNvPr>
          <p:cNvSpPr txBox="1"/>
          <p:nvPr/>
        </p:nvSpPr>
        <p:spPr>
          <a:xfrm>
            <a:off x="1881188" y="1285875"/>
            <a:ext cx="8572500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800" b="1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600" dirty="0">
                <a:latin typeface="+mn-lt"/>
              </a:rPr>
              <a:t>As camadas de ar mais baixas são normalmente mais quentes, pois absorvem calor irradiado pela superfície terrestre.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600" dirty="0">
                <a:latin typeface="+mn-lt"/>
              </a:rPr>
              <a:t>O ar quente, por ser menos denso, sobe levando consigo os poluentes.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</a:rPr>
              <a:t> </a:t>
            </a:r>
            <a:endParaRPr lang="pt-BR" sz="2000" dirty="0">
              <a:latin typeface="+mn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1CA3C43-0973-4CC8-BB7E-D13AAA6A18D2}"/>
              </a:ext>
            </a:extLst>
          </p:cNvPr>
          <p:cNvSpPr txBox="1"/>
          <p:nvPr/>
        </p:nvSpPr>
        <p:spPr>
          <a:xfrm>
            <a:off x="2095500" y="4714875"/>
            <a:ext cx="3571875" cy="15700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sz="2400" dirty="0"/>
              <a:t>Ao subir o ar torna-se frio e denso e acaba descendo novamente, criando uma corrente de convecção.</a:t>
            </a:r>
          </a:p>
        </p:txBody>
      </p:sp>
      <p:sp>
        <p:nvSpPr>
          <p:cNvPr id="14" name="Seta em curva para a esquerda 13">
            <a:extLst>
              <a:ext uri="{FF2B5EF4-FFF2-40B4-BE49-F238E27FC236}">
                <a16:creationId xmlns:a16="http://schemas.microsoft.com/office/drawing/2014/main" id="{24DF63D9-33BD-4D0B-BBC4-98DA3648AE47}"/>
              </a:ext>
            </a:extLst>
          </p:cNvPr>
          <p:cNvSpPr/>
          <p:nvPr/>
        </p:nvSpPr>
        <p:spPr>
          <a:xfrm rot="10961026">
            <a:off x="7897813" y="4221163"/>
            <a:ext cx="307975" cy="71278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15" name="Seta em curva para a esquerda 14">
            <a:extLst>
              <a:ext uri="{FF2B5EF4-FFF2-40B4-BE49-F238E27FC236}">
                <a16:creationId xmlns:a16="http://schemas.microsoft.com/office/drawing/2014/main" id="{F898D03E-9F01-4E55-9925-7875229D1CEC}"/>
              </a:ext>
            </a:extLst>
          </p:cNvPr>
          <p:cNvSpPr/>
          <p:nvPr/>
        </p:nvSpPr>
        <p:spPr>
          <a:xfrm>
            <a:off x="8382000" y="4286250"/>
            <a:ext cx="333375" cy="71278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F91FEAB-2236-487B-9DDD-138A01ED6F51}"/>
              </a:ext>
            </a:extLst>
          </p:cNvPr>
          <p:cNvSpPr txBox="1"/>
          <p:nvPr/>
        </p:nvSpPr>
        <p:spPr>
          <a:xfrm>
            <a:off x="8810625" y="3786188"/>
            <a:ext cx="11430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sz="2400" b="1" dirty="0">
                <a:latin typeface="+mn-lt"/>
              </a:rPr>
              <a:t>Ar frio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EC4DFCB-3D06-4645-A55A-DB6CE2C7F9B8}"/>
              </a:ext>
            </a:extLst>
          </p:cNvPr>
          <p:cNvSpPr txBox="1"/>
          <p:nvPr/>
        </p:nvSpPr>
        <p:spPr>
          <a:xfrm>
            <a:off x="6453188" y="4786313"/>
            <a:ext cx="15716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lang="pt-BR" sz="2400" b="1" dirty="0">
                <a:latin typeface="+mn-lt"/>
              </a:rPr>
              <a:t>Ar quente</a:t>
            </a:r>
          </a:p>
        </p:txBody>
      </p:sp>
      <p:sp>
        <p:nvSpPr>
          <p:cNvPr id="19" name="CaixaDeTexto 6">
            <a:extLst>
              <a:ext uri="{FF2B5EF4-FFF2-40B4-BE49-F238E27FC236}">
                <a16:creationId xmlns:a16="http://schemas.microsoft.com/office/drawing/2014/main" id="{475ACF69-D236-4109-A09C-57322D5BD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857250"/>
            <a:ext cx="8572500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Inversão Térmica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378ECC6-183E-4C7F-832E-46BE996742AE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811162A6-4C6A-4C6B-AC6A-393D1B9D8AF3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CaixaDeTexto 8">
            <a:extLst>
              <a:ext uri="{FF2B5EF4-FFF2-40B4-BE49-F238E27FC236}">
                <a16:creationId xmlns:a16="http://schemas.microsoft.com/office/drawing/2014/main" id="{C56AF87A-A05B-4D6C-A357-105326A2A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B86BDC3-F8A5-476E-9ED3-DEEA5FC16D66}"/>
              </a:ext>
            </a:extLst>
          </p:cNvPr>
          <p:cNvSpPr txBox="1"/>
          <p:nvPr/>
        </p:nvSpPr>
        <p:spPr>
          <a:xfrm>
            <a:off x="1524000" y="1643063"/>
            <a:ext cx="9001125" cy="16462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500" dirty="0">
                <a:latin typeface="+mn-lt"/>
              </a:rPr>
              <a:t>Nos meses de inverno, o solo torna-se mais frio, o que resfria a camada de ar imediatamente acima (inversão térmica).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500" b="1" dirty="0">
                <a:latin typeface="+mn-lt"/>
              </a:rPr>
              <a:t> </a:t>
            </a:r>
            <a:endParaRPr lang="pt-BR" sz="2500" dirty="0">
              <a:latin typeface="+mn-lt"/>
            </a:endParaRPr>
          </a:p>
        </p:txBody>
      </p:sp>
      <p:pic>
        <p:nvPicPr>
          <p:cNvPr id="132100" name="Imagem 11" descr="F4-3b.jpg">
            <a:extLst>
              <a:ext uri="{FF2B5EF4-FFF2-40B4-BE49-F238E27FC236}">
                <a16:creationId xmlns:a16="http://schemas.microsoft.com/office/drawing/2014/main" id="{45E723A2-A530-4389-9F98-07FD884EF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867025"/>
            <a:ext cx="3800475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4FFA2446-1922-49EB-93C4-F814CB8B5CDF}"/>
              </a:ext>
            </a:extLst>
          </p:cNvPr>
          <p:cNvSpPr txBox="1"/>
          <p:nvPr/>
        </p:nvSpPr>
        <p:spPr>
          <a:xfrm>
            <a:off x="5667375" y="3071813"/>
            <a:ext cx="4857750" cy="34163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2400" b="1" dirty="0"/>
              <a:t>Conseqüências da inversão térmica</a:t>
            </a:r>
          </a:p>
          <a:p>
            <a:pPr eaLnBrk="1" hangingPunct="1">
              <a:defRPr/>
            </a:pPr>
            <a:endParaRPr lang="pt-BR" sz="2400" dirty="0"/>
          </a:p>
          <a:p>
            <a:pPr eaLnBrk="1" hangingPunct="1">
              <a:buFont typeface="Courier New" pitchFamily="49" charset="0"/>
              <a:buChar char="o"/>
              <a:defRPr/>
            </a:pPr>
            <a:r>
              <a:rPr lang="pt-BR" sz="2400" dirty="0"/>
              <a:t>  Acúmulo de poluentes no ar das cidades;</a:t>
            </a:r>
          </a:p>
          <a:p>
            <a:pPr eaLnBrk="1" hangingPunct="1">
              <a:buFont typeface="Courier New" pitchFamily="49" charset="0"/>
              <a:buChar char="o"/>
              <a:defRPr/>
            </a:pPr>
            <a:r>
              <a:rPr lang="pt-BR" sz="2400" dirty="0"/>
              <a:t>  </a:t>
            </a:r>
            <a:r>
              <a:rPr lang="pt-BR" sz="2400" b="1" dirty="0"/>
              <a:t>Doenças respiratórias:</a:t>
            </a:r>
          </a:p>
          <a:p>
            <a:pPr lvl="1" eaLnBrk="1" hangingPunct="1">
              <a:buFont typeface="Wingdings" pitchFamily="2" charset="2"/>
              <a:buChar char="ü"/>
              <a:defRPr/>
            </a:pPr>
            <a:r>
              <a:rPr lang="pt-BR" sz="2400" dirty="0"/>
              <a:t>  Bronquite</a:t>
            </a:r>
          </a:p>
          <a:p>
            <a:pPr lvl="1" eaLnBrk="1" hangingPunct="1">
              <a:buFont typeface="Wingdings" pitchFamily="2" charset="2"/>
              <a:buChar char="ü"/>
              <a:defRPr/>
            </a:pPr>
            <a:r>
              <a:rPr lang="pt-BR" sz="2400" dirty="0"/>
              <a:t>  Asma</a:t>
            </a:r>
          </a:p>
          <a:p>
            <a:pPr lvl="1" eaLnBrk="1" hangingPunct="1">
              <a:buFont typeface="Wingdings" pitchFamily="2" charset="2"/>
              <a:buChar char="ü"/>
              <a:defRPr/>
            </a:pPr>
            <a:r>
              <a:rPr lang="pt-BR" sz="2400" dirty="0"/>
              <a:t>  Enfisema pulmonar</a:t>
            </a:r>
          </a:p>
          <a:p>
            <a:pPr lvl="1" eaLnBrk="1" hangingPunct="1">
              <a:buFont typeface="Wingdings" pitchFamily="2" charset="2"/>
              <a:buChar char="ü"/>
              <a:defRPr/>
            </a:pPr>
            <a:r>
              <a:rPr lang="pt-BR" sz="2400" dirty="0"/>
              <a:t>  Irritações nas mucosas</a:t>
            </a:r>
          </a:p>
        </p:txBody>
      </p:sp>
      <p:sp>
        <p:nvSpPr>
          <p:cNvPr id="10" name="CaixaDeTexto 6">
            <a:extLst>
              <a:ext uri="{FF2B5EF4-FFF2-40B4-BE49-F238E27FC236}">
                <a16:creationId xmlns:a16="http://schemas.microsoft.com/office/drawing/2014/main" id="{24CA0FC1-62F9-422F-92CD-C388AA3E7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928688"/>
            <a:ext cx="8715375" cy="17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gases poluentes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A5BB77-FF4F-421F-ACEE-C0FFEBB24FD6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E3FC453-D72C-4572-A049-E64B50D11097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CaixaDeTexto 8">
            <a:extLst>
              <a:ext uri="{FF2B5EF4-FFF2-40B4-BE49-F238E27FC236}">
                <a16:creationId xmlns:a16="http://schemas.microsoft.com/office/drawing/2014/main" id="{B90EAC10-CF05-4B76-94F2-157B3CF81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FE8E928-436B-4C89-8229-87C61E4C4035}"/>
              </a:ext>
            </a:extLst>
          </p:cNvPr>
          <p:cNvSpPr txBox="1"/>
          <p:nvPr/>
        </p:nvSpPr>
        <p:spPr>
          <a:xfrm>
            <a:off x="1524000" y="2071688"/>
            <a:ext cx="8786813" cy="52625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1000" b="1" dirty="0">
              <a:latin typeface="+mn-lt"/>
            </a:endParaRPr>
          </a:p>
          <a:p>
            <a:pPr marL="1028700" lvl="1" indent="-571500" algn="just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sz="2800" dirty="0">
                <a:latin typeface="+mn-lt"/>
              </a:rPr>
              <a:t>Da radiação solar que chega à Terra, parte é refletida pelas nuvens e pela superfície terrestre, enquanto outra parte é absorvida.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endParaRPr lang="pt-BR" sz="800" dirty="0">
              <a:latin typeface="+mn-lt"/>
            </a:endParaRPr>
          </a:p>
          <a:p>
            <a:pPr marL="1028700" lvl="1" indent="-571500" algn="just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sz="2800" dirty="0">
                <a:latin typeface="+mn-lt"/>
              </a:rPr>
              <a:t>Dessa energia absorvida, grande parte é irradiada na forma de calor (radiação infravermelha) mantendo a superfície terrestre aquecida.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endParaRPr lang="pt-BR" sz="800" dirty="0">
              <a:latin typeface="+mn-lt"/>
            </a:endParaRPr>
          </a:p>
          <a:p>
            <a:pPr marL="1028700" lvl="1" indent="-571500" algn="just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r>
              <a:rPr lang="pt-BR" sz="2800" dirty="0">
                <a:latin typeface="+mn-lt"/>
              </a:rPr>
              <a:t>Vapor d’água, gás carbônico (CO</a:t>
            </a:r>
            <a:r>
              <a:rPr lang="pt-BR" sz="2800" baseline="-25000" dirty="0">
                <a:latin typeface="+mn-lt"/>
              </a:rPr>
              <a:t>2</a:t>
            </a:r>
            <a:r>
              <a:rPr lang="pt-BR" sz="2800" dirty="0">
                <a:latin typeface="+mn-lt"/>
              </a:rPr>
              <a:t>), metano (CH</a:t>
            </a:r>
            <a:r>
              <a:rPr lang="pt-BR" sz="2800" baseline="-25000" dirty="0">
                <a:latin typeface="+mn-lt"/>
              </a:rPr>
              <a:t>4</a:t>
            </a:r>
            <a:r>
              <a:rPr lang="pt-BR" sz="2800" dirty="0">
                <a:latin typeface="+mn-lt"/>
              </a:rPr>
              <a:t>), dióxido de nitrogênio (NO</a:t>
            </a:r>
            <a:r>
              <a:rPr lang="pt-BR" sz="2800" baseline="-25000" dirty="0">
                <a:latin typeface="+mn-lt"/>
              </a:rPr>
              <a:t>2</a:t>
            </a:r>
            <a:r>
              <a:rPr lang="pt-BR" sz="2800" dirty="0">
                <a:latin typeface="+mn-lt"/>
              </a:rPr>
              <a:t>) são os principais responsáveis pela absorção de calor.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</a:rPr>
              <a:t> </a:t>
            </a:r>
            <a:endParaRPr lang="pt-BR" sz="2000" dirty="0">
              <a:latin typeface="+mn-lt"/>
            </a:endParaRPr>
          </a:p>
        </p:txBody>
      </p:sp>
      <p:sp>
        <p:nvSpPr>
          <p:cNvPr id="10" name="CaixaDeTexto 6">
            <a:extLst>
              <a:ext uri="{FF2B5EF4-FFF2-40B4-BE49-F238E27FC236}">
                <a16:creationId xmlns:a16="http://schemas.microsoft.com/office/drawing/2014/main" id="{B978B132-BC97-4323-B07C-60F3F7C52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000125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Efeito Estufa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58CF7AC-4863-4055-8235-5242DBF9467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2ED1889-91ED-448D-A8C4-E113F8BBC2F3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CaixaDeTexto 8">
            <a:extLst>
              <a:ext uri="{FF2B5EF4-FFF2-40B4-BE49-F238E27FC236}">
                <a16:creationId xmlns:a16="http://schemas.microsoft.com/office/drawing/2014/main" id="{9E7D8780-4E02-482A-BB0D-8860901D6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1FA0B2-5E11-4E27-884D-8F5E7F629A00}"/>
              </a:ext>
            </a:extLst>
          </p:cNvPr>
          <p:cNvSpPr txBox="1"/>
          <p:nvPr/>
        </p:nvSpPr>
        <p:spPr>
          <a:xfrm>
            <a:off x="-89399" y="2219734"/>
            <a:ext cx="524487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1000" b="1" dirty="0">
              <a:latin typeface="+mn-lt"/>
            </a:endParaRPr>
          </a:p>
          <a:p>
            <a:pPr marL="1028700" lvl="1" indent="-5715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dirty="0">
                <a:latin typeface="+mn-lt"/>
              </a:rPr>
              <a:t>IV. Este fenômeno que ocorre naturalmente é conhecido como </a:t>
            </a:r>
            <a:r>
              <a:rPr lang="pt-BR" sz="2800" b="1" dirty="0">
                <a:latin typeface="+mn-lt"/>
              </a:rPr>
              <a:t>Efeito Estufa</a:t>
            </a:r>
            <a:r>
              <a:rPr lang="pt-BR" sz="2800" dirty="0">
                <a:latin typeface="+mn-lt"/>
              </a:rPr>
              <a:t>.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</a:rPr>
              <a:t> </a:t>
            </a:r>
            <a:endParaRPr lang="pt-BR" sz="2000" dirty="0">
              <a:latin typeface="+mn-lt"/>
            </a:endParaRPr>
          </a:p>
        </p:txBody>
      </p:sp>
      <p:sp>
        <p:nvSpPr>
          <p:cNvPr id="10" name="CaixaDeTexto 6">
            <a:extLst>
              <a:ext uri="{FF2B5EF4-FFF2-40B4-BE49-F238E27FC236}">
                <a16:creationId xmlns:a16="http://schemas.microsoft.com/office/drawing/2014/main" id="{1510B8FE-E08B-4F16-BE65-D7835A6DC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000125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Efeito Estufa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4530EE1-2EB3-446E-9D71-C58BCB731014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2CFE6F-8D4D-498C-8EE1-8D9665094068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  <p:pic>
        <p:nvPicPr>
          <p:cNvPr id="13" name="Imagem 7" descr="F4-4.jpg">
            <a:extLst>
              <a:ext uri="{FF2B5EF4-FFF2-40B4-BE49-F238E27FC236}">
                <a16:creationId xmlns:a16="http://schemas.microsoft.com/office/drawing/2014/main" id="{C1D20519-4592-42EA-AA6B-6F6908686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788" y="1832440"/>
            <a:ext cx="6327321" cy="3921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CaixaDeTexto 8">
            <a:extLst>
              <a:ext uri="{FF2B5EF4-FFF2-40B4-BE49-F238E27FC236}">
                <a16:creationId xmlns:a16="http://schemas.microsoft.com/office/drawing/2014/main" id="{B6502DF7-9D27-404C-A189-4F1311B4B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D10AACC-B590-4578-B866-774E4FF402C5}"/>
              </a:ext>
            </a:extLst>
          </p:cNvPr>
          <p:cNvSpPr txBox="1"/>
          <p:nvPr/>
        </p:nvSpPr>
        <p:spPr>
          <a:xfrm>
            <a:off x="1738313" y="2286000"/>
            <a:ext cx="8572500" cy="38465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800" b="1" dirty="0">
                <a:latin typeface="+mn-lt"/>
              </a:rPr>
              <a:t>Aumento do Efeito Estufa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800" b="1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800" b="1" dirty="0">
                <a:latin typeface="+mn-lt"/>
              </a:rPr>
              <a:t>Concentração de CO</a:t>
            </a:r>
            <a:r>
              <a:rPr lang="pt-BR" sz="2800" b="1" baseline="-25000" dirty="0">
                <a:latin typeface="+mn-lt"/>
              </a:rPr>
              <a:t>2</a:t>
            </a:r>
            <a:r>
              <a:rPr lang="pt-BR" sz="2800" b="1" dirty="0">
                <a:latin typeface="+mn-lt"/>
              </a:rPr>
              <a:t> na atmosfera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800" b="1" dirty="0">
              <a:latin typeface="+mn-lt"/>
            </a:endParaRPr>
          </a:p>
          <a:p>
            <a:pPr marL="1257300" lvl="2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Antes da revolução industrial: 0,029%</a:t>
            </a:r>
          </a:p>
          <a:p>
            <a:pPr marL="1257300" lvl="2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Após a revolução industrial: 0,040%</a:t>
            </a:r>
          </a:p>
          <a:p>
            <a:pPr marL="1257300" lvl="2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dirty="0">
              <a:latin typeface="+mn-lt"/>
            </a:endParaRPr>
          </a:p>
          <a:p>
            <a:pPr marL="2171700" lvl="4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</a:endParaRPr>
          </a:p>
          <a:p>
            <a:pPr marL="1257300" lvl="2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b="1" dirty="0">
              <a:latin typeface="+mn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36000A3-128B-419A-81F7-E3B177A14699}"/>
              </a:ext>
            </a:extLst>
          </p:cNvPr>
          <p:cNvSpPr txBox="1"/>
          <p:nvPr/>
        </p:nvSpPr>
        <p:spPr>
          <a:xfrm>
            <a:off x="7239000" y="2357438"/>
            <a:ext cx="3000375" cy="5238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2800" dirty="0"/>
              <a:t>38% de aumento</a:t>
            </a:r>
          </a:p>
        </p:txBody>
      </p:sp>
      <p:sp>
        <p:nvSpPr>
          <p:cNvPr id="11" name="CaixaDeTexto 6">
            <a:extLst>
              <a:ext uri="{FF2B5EF4-FFF2-40B4-BE49-F238E27FC236}">
                <a16:creationId xmlns:a16="http://schemas.microsoft.com/office/drawing/2014/main" id="{9403592E-0707-494E-815F-4F245D98C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000125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Efeito Estufa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932F77F-5067-484D-A323-76CB1D4A2826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8234A18B-1035-42E2-BDBC-BA296B6414B5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CaixaDeTexto 8">
            <a:extLst>
              <a:ext uri="{FF2B5EF4-FFF2-40B4-BE49-F238E27FC236}">
                <a16:creationId xmlns:a16="http://schemas.microsoft.com/office/drawing/2014/main" id="{3C6B6B11-E045-4447-BD4B-4FB8D3C70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457CCC0-53FE-4899-AB12-6C238C79F769}"/>
              </a:ext>
            </a:extLst>
          </p:cNvPr>
          <p:cNvSpPr txBox="1"/>
          <p:nvPr/>
        </p:nvSpPr>
        <p:spPr>
          <a:xfrm>
            <a:off x="1738313" y="2286000"/>
            <a:ext cx="8572500" cy="4586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latin typeface="+mn-lt"/>
              </a:rPr>
              <a:t>Gás metano (CH4)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800" dirty="0">
                <a:latin typeface="+mn-lt"/>
              </a:rPr>
              <a:t>Produzido no processo de decomposição da matéria orgânica.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2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800" b="1" dirty="0">
                <a:latin typeface="+mn-lt"/>
              </a:rPr>
              <a:t>Fontes de emissão: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Pântanos;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Agricultura;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Pecuária (digestão de animais herbívoros).</a:t>
            </a:r>
          </a:p>
          <a:p>
            <a:pPr marL="1257300" lvl="2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dirty="0">
              <a:latin typeface="+mn-lt"/>
            </a:endParaRPr>
          </a:p>
          <a:p>
            <a:pPr marL="2171700" lvl="4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</a:endParaRPr>
          </a:p>
          <a:p>
            <a:pPr marL="1257300" lvl="2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b="1" dirty="0">
              <a:latin typeface="+mn-lt"/>
            </a:endParaRPr>
          </a:p>
        </p:txBody>
      </p:sp>
      <p:sp>
        <p:nvSpPr>
          <p:cNvPr id="11" name="CaixaDeTexto 6">
            <a:extLst>
              <a:ext uri="{FF2B5EF4-FFF2-40B4-BE49-F238E27FC236}">
                <a16:creationId xmlns:a16="http://schemas.microsoft.com/office/drawing/2014/main" id="{AD369C8B-A23B-4C0D-BF54-194D870B8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000125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Efeito Estufa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48AF6FD-EEE4-4C8B-B174-2F30D6319D4E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291C371-24E7-48AE-BE47-18CC98D5573C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CaixaDeTexto 8">
            <a:extLst>
              <a:ext uri="{FF2B5EF4-FFF2-40B4-BE49-F238E27FC236}">
                <a16:creationId xmlns:a16="http://schemas.microsoft.com/office/drawing/2014/main" id="{E737C657-0B76-4FB7-9477-A459C087A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C8F7720-198E-47A2-B6E8-840BAB2B324F}"/>
              </a:ext>
            </a:extLst>
          </p:cNvPr>
          <p:cNvSpPr txBox="1"/>
          <p:nvPr/>
        </p:nvSpPr>
        <p:spPr>
          <a:xfrm>
            <a:off x="1738313" y="2286000"/>
            <a:ext cx="8572500" cy="4586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latin typeface="+mn-lt"/>
              </a:rPr>
              <a:t>Gás metano (CH4)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800" dirty="0">
                <a:latin typeface="+mn-lt"/>
              </a:rPr>
              <a:t>Produzido no processo de decomposição da matéria orgânica.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2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800" b="1" dirty="0">
                <a:latin typeface="+mn-lt"/>
              </a:rPr>
              <a:t>Fontes de emissão: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Pântanos;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Agricultura;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Pecuária (digestão de animais herbívoros).</a:t>
            </a:r>
          </a:p>
          <a:p>
            <a:pPr marL="1257300" lvl="2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dirty="0">
              <a:latin typeface="+mn-lt"/>
            </a:endParaRPr>
          </a:p>
          <a:p>
            <a:pPr marL="2171700" lvl="4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</a:endParaRPr>
          </a:p>
          <a:p>
            <a:pPr marL="1257300" lvl="2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b="1" dirty="0">
              <a:latin typeface="+mn-lt"/>
            </a:endParaRPr>
          </a:p>
        </p:txBody>
      </p:sp>
      <p:sp>
        <p:nvSpPr>
          <p:cNvPr id="11" name="CaixaDeTexto 6">
            <a:extLst>
              <a:ext uri="{FF2B5EF4-FFF2-40B4-BE49-F238E27FC236}">
                <a16:creationId xmlns:a16="http://schemas.microsoft.com/office/drawing/2014/main" id="{F9164297-4756-40BB-90FB-6566DAD70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000125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Atmosférica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Efeito Estufa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7C0DCD6-1A6B-43E8-9E74-6FB1C644E1A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2EAF748-B02B-4AAE-A9A7-3DA580582E4B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Atmosférica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536</TotalTime>
  <Words>875</Words>
  <Application>Microsoft Office PowerPoint</Application>
  <PresentationFormat>Widescreen</PresentationFormat>
  <Paragraphs>267</Paragraphs>
  <Slides>20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Wingdings</vt:lpstr>
      <vt:lpstr>Tema do Office</vt:lpstr>
      <vt:lpstr>Ecologia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37</cp:revision>
  <dcterms:created xsi:type="dcterms:W3CDTF">2020-06-05T12:13:59Z</dcterms:created>
  <dcterms:modified xsi:type="dcterms:W3CDTF">2021-05-15T01:51:52Z</dcterms:modified>
</cp:coreProperties>
</file>