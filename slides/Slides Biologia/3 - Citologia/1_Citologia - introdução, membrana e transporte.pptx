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1" roundtripDataSignature="AMtx7mjEaH4RRlENrxUPnfxOZbmp/u3w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ologia: tudo o que você precisa saber - Biologia Total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0"/>
            <a:ext cx="12192000" cy="50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itologia: tudo o que você precisa saber - Biologia Total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6034"/>
            <a:ext cx="12192000" cy="5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type="ctrTitle"/>
          </p:nvPr>
        </p:nvSpPr>
        <p:spPr>
          <a:xfrm>
            <a:off x="0" y="1100443"/>
            <a:ext cx="12192000" cy="13160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Citologia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3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0" i="0" sz="8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Envoltórios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Transporte pela Membrana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2152650" y="2057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</a:rPr>
              <a:t>Célula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349975" y="1729831"/>
            <a:ext cx="1128467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Teoria Celular (Schleiden e Schwann):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Todos os seres vivos são formados por células e por estruturas que elas produzem; as células são, portanto, as </a:t>
            </a:r>
            <a:r>
              <a:rPr b="1" lang="pt-BR"/>
              <a:t>unidades morfológicas dos seres vivos</a:t>
            </a:r>
            <a:r>
              <a:rPr lang="pt-BR"/>
              <a:t>;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As atividades essenciais que caracterizam a vida ocorrem no interior das células; estas são, portanto, as </a:t>
            </a:r>
            <a:r>
              <a:rPr b="1" lang="pt-BR"/>
              <a:t>unidades funcionais ou fisiológicas dos seres vivos</a:t>
            </a:r>
            <a:r>
              <a:rPr lang="pt-BR"/>
              <a:t>;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Novas células surgem apenas pela divisão de células preexistentes, por meio da divisão celular; a continuidade da vida depende, portanto, da </a:t>
            </a:r>
            <a:r>
              <a:rPr b="1" lang="pt-BR"/>
              <a:t>reprodução celular</a:t>
            </a:r>
            <a:r>
              <a:rPr lang="pt-BR"/>
              <a:t>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>
            <p:ph type="title"/>
          </p:nvPr>
        </p:nvSpPr>
        <p:spPr>
          <a:xfrm>
            <a:off x="2152650" y="2057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</a:rPr>
              <a:t>Célula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95300" y="155528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Formada basicamente por: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Envoltórios (membrana plasmática, parede celular)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Citoplasma (com organelas; citosol = sem organelas)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Núcleo (quando há carioteca)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Células Eucariontes - Toda Matéria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0732" y="2947753"/>
            <a:ext cx="4571999" cy="3731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Célula Procariótica x Célula Eucariótica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37606" y="155940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Procariótica: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Simples (menos componentes)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Sem núcleo delimitado por carioteca (nucleoide)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DNA circular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Sem organelas membranosas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Única organela: ribossomo (70S)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Bactérias e cianobactérias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Eucariótica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Complexa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Com carioteca e núcleo delimitado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Ribossomo 80S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Com organelas membranosas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3780942" y="6008407"/>
            <a:ext cx="46301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OBS: ambas possuem citoesqueleto</a:t>
            </a:r>
            <a:endParaRPr/>
          </a:p>
        </p:txBody>
      </p:sp>
      <p:pic>
        <p:nvPicPr>
          <p:cNvPr descr="Tipos de Células/ Destacando elementos de composição em desenho – Conexão  Escola SME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1948" y="2740548"/>
            <a:ext cx="5271743" cy="3219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 2 – Função vital básica: Papel da Membrana Plasmática na ...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614528"/>
            <a:ext cx="91440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Envoltórios Celulares – Membrana Plasmática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245473" y="1585737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Presente em todas as células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Lipoproteica 🡪 Fosfolipídios + proteínas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O fosfolipídio é anfifílico/anfipático (cabeça fosfato polar + cauda ácido graxo apolar)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Fosfolipídios - Bioquímica - InfoEscola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4588" y="3908284"/>
            <a:ext cx="4273412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>
            <p:ph type="title"/>
          </p:nvPr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Envoltórios Celulares – Membrana Plasmática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323850" y="1516068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Modelo Mosaico Fluido (Singer &amp; Nicholson 1972)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Bicamada fosfolipídica com proteínas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Revestimento fluido =&gt; componentes não estáticos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4433" y="2908125"/>
            <a:ext cx="5203135" cy="3784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393518" y="1497137"/>
            <a:ext cx="1076216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Outros componentes: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Esteroides (sendo o colesterol presente apenas em animais) = estabiliza a membrana plasmática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Glicídios (ex: glicocálice, presente em animais e ausente em vegetais)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Membrana Plasmática | Fisiologia celular | Biologia | Educação"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48" y="3429000"/>
            <a:ext cx="7886699" cy="324372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 txBox="1"/>
          <p:nvPr/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Envoltórios Celulares – Membrana Plasmática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541564" y="1514554"/>
            <a:ext cx="83165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Por que proteínas?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Portas/canais = permitem passagem de certas substâncias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Receptoras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Reconhecimento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2467" y="2879941"/>
            <a:ext cx="6258339" cy="352031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 txBox="1"/>
          <p:nvPr>
            <p:ph type="title"/>
          </p:nvPr>
        </p:nvSpPr>
        <p:spPr>
          <a:xfrm>
            <a:off x="-1" y="20638"/>
            <a:ext cx="121919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Envoltórios Celulares – Membrana Plasmática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289016" y="1505845"/>
            <a:ext cx="83165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Glicocálice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Ausente em vegetais (por causa da parede celular)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Reconhecimento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Captura de substâncias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Proteção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Podem estar ligados ao fosfolipídio ou à proteína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Membrana Plasmática | Fisiologia celular | Biologia | Educação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9771" y="3926126"/>
            <a:ext cx="6934414" cy="285205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>
            <p:ph type="title"/>
          </p:nvPr>
        </p:nvSpPr>
        <p:spPr>
          <a:xfrm>
            <a:off x="-69669" y="20638"/>
            <a:ext cx="1226166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Envoltórios Celulares – Membrana Plasmática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367393" y="1549389"/>
            <a:ext cx="111714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Funções da M.P.: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Seleciona o que entra e sai da célula (Substâncias pequenas e apolares tem mais facilidade de passar)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Separa o meio intracelular do extracelular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Delimita a célula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Envoltórios Celulares – Membrana Plasmática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352757" y="1549389"/>
            <a:ext cx="11342855" cy="496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Junções Celulares: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Desmossomos</a:t>
            </a:r>
            <a:r>
              <a:rPr lang="pt-BR"/>
              <a:t>: são depósitos de proteínas entre as membranas de duas células vizinhas, que asseguram maior aderência entre elas, muito encontrado em tecidos epiteliais e musculares;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Hemidesmossomos</a:t>
            </a:r>
            <a:r>
              <a:rPr lang="pt-BR"/>
              <a:t>: funcionam como desmossomos mas prendem uma célula epitelial à sua membrana basal;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Interdigitações</a:t>
            </a:r>
            <a:r>
              <a:rPr lang="pt-BR"/>
              <a:t>: saliências e reentrâncias da membrana para aumentar a adesão entre as células;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Zônulas de Oclusão</a:t>
            </a:r>
            <a:r>
              <a:rPr lang="pt-BR"/>
              <a:t>: proporciona maior adesão entre as células e também impede a passagem de substâncias pelo espaço intercelular;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pt-BR"/>
              <a:t>Junção Comunicante (GAP)</a:t>
            </a:r>
            <a:r>
              <a:rPr lang="pt-BR"/>
              <a:t>: Tubos proteicos que atravessam as membranas de células vizinhas, permitindo uma comunicação de trocas de substâncias (principalmente íons). Importante para a coordenação entre células na contração das células musculares.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Envoltórios Celulares – Membrana Plasmática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m para junções celulares" id="172" name="Google Shape;1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50" y="1634365"/>
            <a:ext cx="7574446" cy="466041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2"/>
          <p:cNvSpPr txBox="1"/>
          <p:nvPr/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Envoltórios Celulares – Membrana Plasmática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 txBox="1"/>
          <p:nvPr>
            <p:ph idx="1" type="body"/>
          </p:nvPr>
        </p:nvSpPr>
        <p:spPr>
          <a:xfrm>
            <a:off x="90909" y="1732316"/>
            <a:ext cx="7572633" cy="4754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Especializações de membrana: Microvilosidades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Dobras em formato de dedos (digitiformes)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Aumentam a área de contato da célula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Maior área de absorção de nutrientes no jejuno-íleo (parte do intestino delgado responsável por absorver os nutrientes da digestão em cordados)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Composição: microfilamentos de actina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1300" y="1958862"/>
            <a:ext cx="3764030" cy="35499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/>
          <p:nvPr/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Envoltórios Celulares – Membrana Plasmática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541564" y="1462302"/>
            <a:ext cx="83165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Especializações de membrana: Cílios e Flagelos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Composição: microtúbulos de tubulina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Locomoção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Captura de alimento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Ex cílios: paramécio (protozoário ciliado)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Ex flagelo: espermatozoide, bactérias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Resultado de imagem para cilios e flagelos batimento" id="188" name="Google Shape;1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000" y="2692559"/>
            <a:ext cx="4837043" cy="2995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/>
          <p:nvPr>
            <p:ph type="title"/>
          </p:nvPr>
        </p:nvSpPr>
        <p:spPr>
          <a:xfrm>
            <a:off x="-1" y="20570"/>
            <a:ext cx="12191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lang="pt-BR" sz="5000">
                <a:solidFill>
                  <a:schemeClr val="lt1"/>
                </a:solidFill>
              </a:rPr>
              <a:t>Envoltórios Celulares – Membrana Plasmática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Envoltórios Celulares – Parede Celular</a:t>
            </a:r>
            <a:endParaRPr/>
          </a:p>
        </p:txBody>
      </p:sp>
      <p:sp>
        <p:nvSpPr>
          <p:cNvPr id="196" name="Google Shape;196;p15"/>
          <p:cNvSpPr txBox="1"/>
          <p:nvPr>
            <p:ph idx="1" type="body"/>
          </p:nvPr>
        </p:nvSpPr>
        <p:spPr>
          <a:xfrm>
            <a:off x="445770" y="1584222"/>
            <a:ext cx="111714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Rígida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Por fora da membrana plasmática de: vegetais, algas, fungos, bactérias, cianobactérias.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Permeáveis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Composição: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Vegetais e algas: celulose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Fungos: quitina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Bactérias: peptidioglicano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Envoltórios Celulares – Parede Celular</a:t>
            </a:r>
            <a:endParaRPr/>
          </a:p>
        </p:txBody>
      </p:sp>
      <p:sp>
        <p:nvSpPr>
          <p:cNvPr id="203" name="Google Shape;203;p16"/>
          <p:cNvSpPr txBox="1"/>
          <p:nvPr>
            <p:ph idx="1" type="body"/>
          </p:nvPr>
        </p:nvSpPr>
        <p:spPr>
          <a:xfrm>
            <a:off x="274377" y="1783198"/>
            <a:ext cx="7532357" cy="3006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Vegetal: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Lamela central: carboidrato pectina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Parede primária: pectina + celulose. Fina. Típica de células jovens em crescimento pois é elástica e flexível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Parede secundária: celulose. Se deposita internamente à parede primária. Rígida. Típica de células maduras. Pode estar impregnada por lignina ou suberina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26125" y="5623441"/>
            <a:ext cx="12192000" cy="176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OBS: plasmodesmos são pontes citoplasmáticas que permitem comunicação e trocas entre células adjacentes. Espaços onde não há deposição de parede celular</a:t>
            </a:r>
            <a:endParaRPr/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9946" y="2303535"/>
            <a:ext cx="4093471" cy="3085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Membrana</a:t>
            </a:r>
            <a:endParaRPr/>
          </a:p>
        </p:txBody>
      </p:sp>
      <p:sp>
        <p:nvSpPr>
          <p:cNvPr id="212" name="Google Shape;212;p17"/>
          <p:cNvSpPr txBox="1"/>
          <p:nvPr>
            <p:ph idx="1" type="body"/>
          </p:nvPr>
        </p:nvSpPr>
        <p:spPr>
          <a:xfrm>
            <a:off x="410936" y="1453594"/>
            <a:ext cx="1115404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Membrana plasmática tem </a:t>
            </a:r>
            <a:r>
              <a:rPr b="1" lang="pt-BR"/>
              <a:t>permeabilidade seletiva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Algumas coisas podem entrar e sair, mas como?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>
            <p:ph type="title"/>
          </p:nvPr>
        </p:nvSpPr>
        <p:spPr>
          <a:xfrm>
            <a:off x="0" y="20570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MP – Gradiente de Concentração</a:t>
            </a:r>
            <a:endParaRPr/>
          </a:p>
        </p:txBody>
      </p:sp>
      <p:sp>
        <p:nvSpPr>
          <p:cNvPr id="219" name="Google Shape;219;p18"/>
          <p:cNvSpPr txBox="1"/>
          <p:nvPr>
            <p:ph idx="1" type="body"/>
          </p:nvPr>
        </p:nvSpPr>
        <p:spPr>
          <a:xfrm>
            <a:off x="148046" y="1479720"/>
            <a:ext cx="1195686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“Força” que existe quando há diferença de concentração entre os meios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236" y="2514167"/>
            <a:ext cx="3210547" cy="182966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4111183" y="3193724"/>
            <a:ext cx="16538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Hipertônico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853783" y="3156029"/>
            <a:ext cx="15544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Hipotônico</a:t>
            </a:r>
            <a:endParaRPr/>
          </a:p>
        </p:txBody>
      </p:sp>
      <p:cxnSp>
        <p:nvCxnSpPr>
          <p:cNvPr id="223" name="Google Shape;223;p18"/>
          <p:cNvCxnSpPr/>
          <p:nvPr/>
        </p:nvCxnSpPr>
        <p:spPr>
          <a:xfrm>
            <a:off x="4811870" y="4704522"/>
            <a:ext cx="4903304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4" name="Google Shape;224;p18"/>
          <p:cNvSpPr txBox="1"/>
          <p:nvPr/>
        </p:nvSpPr>
        <p:spPr>
          <a:xfrm>
            <a:off x="5940515" y="4339512"/>
            <a:ext cx="27505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Gradiente de Concentração</a:t>
            </a:r>
            <a:endParaRPr/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199" y="4882175"/>
            <a:ext cx="3052647" cy="174296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8854219" y="5522823"/>
            <a:ext cx="11851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Isotonia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800655" y="3919446"/>
            <a:ext cx="25318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Soluto = sólidos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Solvente = líquidos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Membrana - Tipos</a:t>
            </a:r>
            <a:endParaRPr/>
          </a:p>
        </p:txBody>
      </p:sp>
      <p:sp>
        <p:nvSpPr>
          <p:cNvPr id="234" name="Google Shape;234;p19"/>
          <p:cNvSpPr txBox="1"/>
          <p:nvPr>
            <p:ph idx="1" type="body"/>
          </p:nvPr>
        </p:nvSpPr>
        <p:spPr>
          <a:xfrm>
            <a:off x="454479" y="1575515"/>
            <a:ext cx="112759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Passivo</a:t>
            </a:r>
            <a:r>
              <a:rPr lang="pt-BR"/>
              <a:t>: sem gasto de energia e sempre à favor do gradiente de concentração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Difusão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Osmose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Ativo</a:t>
            </a:r>
            <a:r>
              <a:rPr lang="pt-BR"/>
              <a:t>: com gasto de energia e pode ir contra o gradiente de concentração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Em massa</a:t>
            </a:r>
            <a:r>
              <a:rPr lang="pt-BR"/>
              <a:t>: envolve gasto de energia e movimentação da membrana plasmática da célula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Membrana - Passivo</a:t>
            </a:r>
            <a:endParaRPr/>
          </a:p>
        </p:txBody>
      </p:sp>
      <p:sp>
        <p:nvSpPr>
          <p:cNvPr id="241" name="Google Shape;241;p20"/>
          <p:cNvSpPr txBox="1"/>
          <p:nvPr>
            <p:ph idx="1" type="body"/>
          </p:nvPr>
        </p:nvSpPr>
        <p:spPr>
          <a:xfrm>
            <a:off x="2152650" y="1479720"/>
            <a:ext cx="83165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Difusão: transporte de solutos do + 🡪 -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Simples: Diretamente pelos fosfolipídios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Facilitada: Por uma proteína permease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42" name="Google Shape;2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0915" y="2753893"/>
            <a:ext cx="3186320" cy="390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1689463" y="20570"/>
            <a:ext cx="897853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Membrana - Passivo</a:t>
            </a:r>
            <a:endParaRPr/>
          </a:p>
        </p:txBody>
      </p:sp>
      <p:sp>
        <p:nvSpPr>
          <p:cNvPr id="249" name="Google Shape;249;p21"/>
          <p:cNvSpPr txBox="1"/>
          <p:nvPr>
            <p:ph idx="1" type="body"/>
          </p:nvPr>
        </p:nvSpPr>
        <p:spPr>
          <a:xfrm>
            <a:off x="489313" y="1514554"/>
            <a:ext cx="83165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Osmose: passagem de água (solvente) do - 🡪 +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OBS: é a favor do gradiente de concentração da água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Contrário à difusão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O que é Osmose – Sistemas da Ferran Tratamento de Água"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7036" y="2944605"/>
            <a:ext cx="6257925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Osmose: Células animais x vegetais</a:t>
            </a:r>
            <a:endParaRPr/>
          </a:p>
        </p:txBody>
      </p:sp>
      <p:pic>
        <p:nvPicPr>
          <p:cNvPr descr="Resultado de imagem para celula animal e vegetal osmose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50" y="1805057"/>
            <a:ext cx="7886700" cy="437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Osmose - considerações</a:t>
            </a:r>
            <a:endParaRPr/>
          </a:p>
        </p:txBody>
      </p:sp>
      <p:sp>
        <p:nvSpPr>
          <p:cNvPr id="264" name="Google Shape;264;p23"/>
          <p:cNvSpPr txBox="1"/>
          <p:nvPr>
            <p:ph idx="1" type="body"/>
          </p:nvPr>
        </p:nvSpPr>
        <p:spPr>
          <a:xfrm>
            <a:off x="278674" y="1479720"/>
            <a:ext cx="11599817" cy="4987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Charque</a:t>
            </a:r>
            <a:r>
              <a:rPr lang="pt-BR"/>
              <a:t>: O charque consiste na carne desidratada e salgada. Adicionar sal na carne cria um meio hipertônico que leva a morte de organismos decompositores, preservando a carne por bastante tempo.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pt-BR"/>
              <a:t>Salada murcha</a:t>
            </a:r>
            <a:r>
              <a:rPr lang="pt-BR"/>
              <a:t>: Tu já deves ter temperado a salada com vinagre ou limão, sal e azeite. Depois de um tempo</a:t>
            </a:r>
            <a:r>
              <a:rPr b="1" lang="pt-BR"/>
              <a:t> </a:t>
            </a:r>
            <a:r>
              <a:rPr lang="pt-BR"/>
              <a:t>deve ter percebido que as saladas murcham. Isso acontece pois submetemos a salada a um meio externo hipertônico e, por osmose (água vai do meio menos concentrado para o meio mais concentrado) a salada perde água e acabam murchando.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Membrana - Ativo</a:t>
            </a:r>
            <a:endParaRPr/>
          </a:p>
        </p:txBody>
      </p:sp>
      <p:sp>
        <p:nvSpPr>
          <p:cNvPr id="271" name="Google Shape;271;p24"/>
          <p:cNvSpPr txBox="1"/>
          <p:nvPr>
            <p:ph idx="1" type="body"/>
          </p:nvPr>
        </p:nvSpPr>
        <p:spPr>
          <a:xfrm>
            <a:off x="261258" y="1451953"/>
            <a:ext cx="1132114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Bomba de sódio de potássio: joga 3 Na+ para fora da célula e 2 K+ para dentro, contra o gradiente de concentração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Importante para osmorregulação (controle de quantidade de água dentro da célula)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Importante para a manutenção do estado de repouso dos neurônios; impulso nervoso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Bomba de sódio e potássio (bomba Na+K+)"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6864" y="3579280"/>
            <a:ext cx="4939188" cy="275211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6400391" y="3385972"/>
            <a:ext cx="31713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Extracelular = muito sódio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Pouco potássio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706212" y="5996599"/>
            <a:ext cx="31625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Intracelular = pouco sódio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 potássio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4271493" y="3579280"/>
            <a:ext cx="363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5914065" y="5962066"/>
            <a:ext cx="363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>
            <p:ph type="title"/>
          </p:nvPr>
        </p:nvSpPr>
        <p:spPr>
          <a:xfrm>
            <a:off x="0" y="20570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Membrana – Transporte em Massa</a:t>
            </a:r>
            <a:endParaRPr/>
          </a:p>
        </p:txBody>
      </p:sp>
      <p:sp>
        <p:nvSpPr>
          <p:cNvPr id="283" name="Google Shape;283;p25"/>
          <p:cNvSpPr txBox="1"/>
          <p:nvPr>
            <p:ph idx="1" type="body"/>
          </p:nvPr>
        </p:nvSpPr>
        <p:spPr>
          <a:xfrm>
            <a:off x="383179" y="1658249"/>
            <a:ext cx="1142564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Endocitose: joga para dentro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Fagocitose: partículas grandes e sólidas; usada para captura de alimentos ou proteção (macrófagos/sistema imunológico). Formação de uma vesícula (fagossomo). A membrana se dobra para fora (evaginação = pseudópodes / falsos pés)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Pinocitose: partículas pequenas dissolvidas em líquido (ou líquidos diretamente). Membrana se dobra para dentro (invaginação). Vesícula = pinossomo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Exocitose: joga para fora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/>
              <a:t>Pode ser lixo celular (clasmocitose) ou uma secreção de glândula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 txBox="1"/>
          <p:nvPr>
            <p:ph type="title"/>
          </p:nvPr>
        </p:nvSpPr>
        <p:spPr>
          <a:xfrm>
            <a:off x="0" y="20570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Transporte pela Membrana – Transporte em Massa</a:t>
            </a:r>
            <a:endParaRPr/>
          </a:p>
        </p:txBody>
      </p:sp>
      <p:pic>
        <p:nvPicPr>
          <p:cNvPr id="290" name="Google Shape;2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956" y="1558579"/>
            <a:ext cx="6811620" cy="4618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2020-06-05T12:13:59Z</dcterms:created>
  <dc:creator>Bruno Barbosa</dc:creator>
</cp:coreProperties>
</file>