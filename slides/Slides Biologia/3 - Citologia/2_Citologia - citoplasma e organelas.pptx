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301" r:id="rId15"/>
    <p:sldId id="299" r:id="rId16"/>
    <p:sldId id="300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64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48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67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89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48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37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41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47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06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80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487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03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itologia: tudo o que você precisa saber - Biologia Total">
            <a:extLst>
              <a:ext uri="{FF2B5EF4-FFF2-40B4-BE49-F238E27FC236}">
                <a16:creationId xmlns:a16="http://schemas.microsoft.com/office/drawing/2014/main" id="{0B209112-1446-476C-A639-FBB3F279C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itologia: tudo o que você precisa saber - Biologia Total">
            <a:extLst>
              <a:ext uri="{FF2B5EF4-FFF2-40B4-BE49-F238E27FC236}">
                <a16:creationId xmlns:a16="http://schemas.microsoft.com/office/drawing/2014/main" id="{6A25F807-3909-494F-A427-7BD5205B2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0"/>
            <a:ext cx="12192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82583"/>
            <a:ext cx="12191999" cy="987029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Citologia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1998" cy="133164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3700" b="1" dirty="0"/>
              <a:t>Citoplasma</a:t>
            </a:r>
          </a:p>
          <a:p>
            <a:pPr>
              <a:lnSpc>
                <a:spcPct val="120000"/>
              </a:lnSpc>
            </a:pPr>
            <a:r>
              <a:rPr lang="pt-BR" sz="3700" b="1" dirty="0"/>
              <a:t>Organelas</a:t>
            </a:r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Citoplasma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63" y="1668871"/>
            <a:ext cx="11423468" cy="4351338"/>
          </a:xfrm>
        </p:spPr>
        <p:txBody>
          <a:bodyPr>
            <a:normAutofit/>
          </a:bodyPr>
          <a:lstStyle/>
          <a:p>
            <a:r>
              <a:rPr lang="pt-BR" dirty="0"/>
              <a:t>Líquido que preenche as células</a:t>
            </a:r>
          </a:p>
          <a:p>
            <a:r>
              <a:rPr lang="pt-BR" dirty="0"/>
              <a:t>Formado principalmente por água</a:t>
            </a:r>
          </a:p>
          <a:p>
            <a:r>
              <a:rPr lang="pt-BR" dirty="0"/>
              <a:t>Sem organelas = citosol / hialoplasma</a:t>
            </a:r>
          </a:p>
          <a:p>
            <a:r>
              <a:rPr lang="pt-BR" dirty="0"/>
              <a:t>Citoesqueleto + organelas</a:t>
            </a:r>
          </a:p>
        </p:txBody>
      </p:sp>
    </p:spTree>
    <p:extLst>
      <p:ext uri="{BB962C8B-B14F-4D97-AF65-F5344CB8AC3E}">
        <p14:creationId xmlns:p14="http://schemas.microsoft.com/office/powerpoint/2010/main" val="231626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Citoesqueleto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1668870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/>
              <a:t>Tubos proteicos que sustentam a célula e ancoram as organelas</a:t>
            </a:r>
          </a:p>
          <a:p>
            <a:r>
              <a:rPr lang="pt-BR" dirty="0"/>
              <a:t>Microtúbulos: proteína tubulina. </a:t>
            </a:r>
          </a:p>
          <a:p>
            <a:pPr lvl="1"/>
            <a:r>
              <a:rPr lang="pt-BR" dirty="0"/>
              <a:t>Dá suporte à célula</a:t>
            </a:r>
          </a:p>
          <a:p>
            <a:pPr lvl="1"/>
            <a:r>
              <a:rPr lang="pt-BR" dirty="0"/>
              <a:t>Forma o fuso acromático na divisão celular. </a:t>
            </a:r>
          </a:p>
          <a:p>
            <a:pPr lvl="1"/>
            <a:r>
              <a:rPr lang="pt-BR" dirty="0"/>
              <a:t>Forma os cílios e flagelos e a organela centríolo</a:t>
            </a:r>
          </a:p>
          <a:p>
            <a:r>
              <a:rPr lang="pt-BR" dirty="0"/>
              <a:t>Microfilamentos: proteína actina.</a:t>
            </a:r>
          </a:p>
          <a:p>
            <a:pPr lvl="1"/>
            <a:r>
              <a:rPr lang="pt-BR" dirty="0"/>
              <a:t>Microvilosidades</a:t>
            </a:r>
          </a:p>
          <a:p>
            <a:pPr lvl="1"/>
            <a:r>
              <a:rPr lang="pt-BR" dirty="0"/>
              <a:t>Ciclose</a:t>
            </a:r>
          </a:p>
          <a:p>
            <a:pPr lvl="1"/>
            <a:r>
              <a:rPr lang="pt-BR" dirty="0"/>
              <a:t>Citocinese</a:t>
            </a:r>
          </a:p>
          <a:p>
            <a:pPr lvl="1"/>
            <a:r>
              <a:rPr lang="pt-BR" dirty="0"/>
              <a:t>Contração muscular (junto com as miosina)</a:t>
            </a:r>
          </a:p>
        </p:txBody>
      </p:sp>
    </p:spTree>
    <p:extLst>
      <p:ext uri="{BB962C8B-B14F-4D97-AF65-F5344CB8AC3E}">
        <p14:creationId xmlns:p14="http://schemas.microsoft.com/office/powerpoint/2010/main" val="112528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Citoesqueleto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391DF9-67F9-412B-A24F-E27ADD80A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67EBEF42-F0B1-40C0-8770-9DC745352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764" y="1628293"/>
            <a:ext cx="6474472" cy="4548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458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674" y="20570"/>
            <a:ext cx="8865325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Citoesqueleto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147" y="1651453"/>
            <a:ext cx="11484429" cy="4351338"/>
          </a:xfrm>
        </p:spPr>
        <p:txBody>
          <a:bodyPr>
            <a:normAutofit/>
          </a:bodyPr>
          <a:lstStyle/>
          <a:p>
            <a:r>
              <a:rPr lang="pt-BR" dirty="0"/>
              <a:t>Tubos proteicos que sustentam a célula e ancoram as organelas</a:t>
            </a:r>
          </a:p>
          <a:p>
            <a:r>
              <a:rPr lang="pt-BR" dirty="0"/>
              <a:t>Filamentos Intermediários: composição proteica variada (ex: queratina)</a:t>
            </a:r>
          </a:p>
          <a:p>
            <a:pPr lvl="1"/>
            <a:r>
              <a:rPr lang="pt-BR" dirty="0"/>
              <a:t>Resistência mecânica</a:t>
            </a:r>
          </a:p>
          <a:p>
            <a:pPr lvl="1"/>
            <a:r>
              <a:rPr lang="pt-BR" dirty="0"/>
              <a:t>Junções celulares</a:t>
            </a:r>
          </a:p>
        </p:txBody>
      </p:sp>
    </p:spTree>
    <p:extLst>
      <p:ext uri="{BB962C8B-B14F-4D97-AF65-F5344CB8AC3E}">
        <p14:creationId xmlns:p14="http://schemas.microsoft.com/office/powerpoint/2010/main" val="284226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1999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20570"/>
            <a:ext cx="85343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- Centríolos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563846"/>
            <a:ext cx="9032182" cy="4351338"/>
          </a:xfrm>
        </p:spPr>
        <p:txBody>
          <a:bodyPr>
            <a:normAutofit/>
          </a:bodyPr>
          <a:lstStyle/>
          <a:p>
            <a:r>
              <a:rPr lang="pt-BR" dirty="0"/>
              <a:t>Não membranosas</a:t>
            </a:r>
          </a:p>
          <a:p>
            <a:r>
              <a:rPr lang="pt-BR" dirty="0"/>
              <a:t>Formados por microtúbulos</a:t>
            </a:r>
          </a:p>
          <a:p>
            <a:r>
              <a:rPr lang="pt-BR" dirty="0"/>
              <a:t>Presentes em animais e vegetais inferiores (briófitas e pteridófitas)</a:t>
            </a:r>
          </a:p>
          <a:p>
            <a:r>
              <a:rPr lang="pt-BR" dirty="0"/>
              <a:t>Em duplas e perpendiculares = </a:t>
            </a:r>
            <a:r>
              <a:rPr lang="pt-BR" dirty="0" err="1"/>
              <a:t>diplossomo</a:t>
            </a:r>
            <a:endParaRPr lang="pt-BR" dirty="0"/>
          </a:p>
          <a:p>
            <a:r>
              <a:rPr lang="pt-BR" dirty="0"/>
              <a:t>Próximos do núcleo = </a:t>
            </a:r>
            <a:r>
              <a:rPr lang="pt-BR" dirty="0" err="1"/>
              <a:t>centrossomo</a:t>
            </a:r>
            <a:endParaRPr lang="pt-BR" dirty="0"/>
          </a:p>
          <a:p>
            <a:r>
              <a:rPr lang="pt-BR" dirty="0"/>
              <a:t>Forma cilíndrica  formados por 9 trios</a:t>
            </a:r>
          </a:p>
          <a:p>
            <a:pPr marL="0" indent="0">
              <a:buNone/>
            </a:pPr>
            <a:r>
              <a:rPr lang="pt-BR" dirty="0"/>
              <a:t>de microtúbulos = 9(3) + 0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5A6E705-286E-4FA7-B7F3-A0D6BC49EBD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614" y="3568642"/>
            <a:ext cx="3321311" cy="2584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7781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- Centríolos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66" y="1476761"/>
            <a:ext cx="9032182" cy="4351338"/>
          </a:xfrm>
        </p:spPr>
        <p:txBody>
          <a:bodyPr>
            <a:normAutofit fontScale="92500"/>
          </a:bodyPr>
          <a:lstStyle/>
          <a:p>
            <a:r>
              <a:rPr lang="pt-BR" dirty="0"/>
              <a:t>Formam cílios e flagelos = 9(2) + 2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Participam da formação do fuso acromático na divisão celular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DEEB391-F733-4F8F-BFEC-0A3349A485E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994" y="2337584"/>
            <a:ext cx="3434646" cy="2827269"/>
          </a:xfrm>
          <a:prstGeom prst="rect">
            <a:avLst/>
          </a:prstGeom>
          <a:noFill/>
        </p:spPr>
      </p:pic>
      <p:pic>
        <p:nvPicPr>
          <p:cNvPr id="33794" name="Picture 2" descr="Mitose: entenda a divisão celular - Ponto Biologia">
            <a:extLst>
              <a:ext uri="{FF2B5EF4-FFF2-40B4-BE49-F238E27FC236}">
                <a16:creationId xmlns:a16="http://schemas.microsoft.com/office/drawing/2014/main" id="{6273D3AF-1A66-4CD8-938A-FF8608D05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2057938"/>
            <a:ext cx="4052060" cy="302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90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816" y="20570"/>
            <a:ext cx="9032183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- Ribossomos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41" y="1466091"/>
            <a:ext cx="9032182" cy="5211967"/>
          </a:xfrm>
        </p:spPr>
        <p:txBody>
          <a:bodyPr>
            <a:normAutofit/>
          </a:bodyPr>
          <a:lstStyle/>
          <a:p>
            <a:r>
              <a:rPr lang="pt-BR" dirty="0"/>
              <a:t>Presentes em eucariotos e procariotos</a:t>
            </a:r>
          </a:p>
          <a:p>
            <a:r>
              <a:rPr lang="pt-BR" dirty="0"/>
              <a:t>Função: síntese de proteínas</a:t>
            </a:r>
          </a:p>
          <a:p>
            <a:r>
              <a:rPr lang="pt-BR" dirty="0"/>
              <a:t>Formados por </a:t>
            </a:r>
            <a:r>
              <a:rPr lang="pt-BR" dirty="0" err="1"/>
              <a:t>RNAr</a:t>
            </a:r>
            <a:r>
              <a:rPr lang="pt-BR" dirty="0"/>
              <a:t> + proteínas</a:t>
            </a:r>
          </a:p>
          <a:p>
            <a:r>
              <a:rPr lang="pt-BR" dirty="0"/>
              <a:t>Podem estar livres no citoplasma ou grudados na membrana do retículo endoplasmático rugoso</a:t>
            </a:r>
          </a:p>
          <a:p>
            <a:pPr lvl="1"/>
            <a:r>
              <a:rPr lang="pt-BR" dirty="0"/>
              <a:t>Livres = proteínas para a célula</a:t>
            </a:r>
          </a:p>
          <a:p>
            <a:pPr lvl="1"/>
            <a:r>
              <a:rPr lang="pt-BR" dirty="0"/>
              <a:t>No rugoso = proteínas de membrana ou de secreção</a:t>
            </a:r>
          </a:p>
          <a:p>
            <a:r>
              <a:rPr lang="pt-BR" dirty="0"/>
              <a:t>Formados por 2 subunidades:</a:t>
            </a:r>
          </a:p>
          <a:p>
            <a:pPr lvl="1"/>
            <a:r>
              <a:rPr lang="pt-BR" dirty="0"/>
              <a:t>Procariotos: 70S = 50S + 30S</a:t>
            </a:r>
          </a:p>
          <a:p>
            <a:pPr lvl="1"/>
            <a:r>
              <a:rPr lang="pt-BR" dirty="0"/>
              <a:t>Eucariotos: 80S = 60S + 40S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FC8407D-A6F7-4959-897B-79409C38C92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858" y="4072074"/>
            <a:ext cx="3004130" cy="21733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63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634" y="20570"/>
            <a:ext cx="8804365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Retículo Endoplasmático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9" y="1470157"/>
            <a:ext cx="9032182" cy="5211967"/>
          </a:xfrm>
        </p:spPr>
        <p:txBody>
          <a:bodyPr>
            <a:normAutofit/>
          </a:bodyPr>
          <a:lstStyle/>
          <a:p>
            <a:r>
              <a:rPr lang="pt-BR" dirty="0"/>
              <a:t>Presente em eucariotos</a:t>
            </a:r>
          </a:p>
          <a:p>
            <a:r>
              <a:rPr lang="pt-BR" dirty="0"/>
              <a:t>Organela membranosa formada por cisternas (canais)</a:t>
            </a:r>
          </a:p>
          <a:p>
            <a:r>
              <a:rPr lang="pt-BR" dirty="0"/>
              <a:t>Função geral: transporte de substâncias (intracelular)</a:t>
            </a:r>
          </a:p>
          <a:p>
            <a:r>
              <a:rPr lang="pt-BR" dirty="0"/>
              <a:t>Dois tipos:</a:t>
            </a:r>
          </a:p>
          <a:p>
            <a:pPr lvl="1"/>
            <a:r>
              <a:rPr lang="pt-BR" dirty="0"/>
              <a:t>Rugoso</a:t>
            </a:r>
          </a:p>
          <a:p>
            <a:pPr lvl="1"/>
            <a:r>
              <a:rPr lang="pt-BR" dirty="0"/>
              <a:t>Liso</a:t>
            </a:r>
          </a:p>
        </p:txBody>
      </p:sp>
      <p:pic>
        <p:nvPicPr>
          <p:cNvPr id="7" name="Picture 2" descr="Retículo endoplasmático - Só Biologia">
            <a:extLst>
              <a:ext uri="{FF2B5EF4-FFF2-40B4-BE49-F238E27FC236}">
                <a16:creationId xmlns:a16="http://schemas.microsoft.com/office/drawing/2014/main" id="{1DD16158-2C26-4AA3-A55C-06AA3D9F5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526" y="3136045"/>
            <a:ext cx="4449323" cy="340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253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R.E. Rugoso (Granuloso)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701" y="1613059"/>
            <a:ext cx="11209327" cy="5211967"/>
          </a:xfrm>
        </p:spPr>
        <p:txBody>
          <a:bodyPr>
            <a:normAutofit/>
          </a:bodyPr>
          <a:lstStyle/>
          <a:p>
            <a:r>
              <a:rPr lang="pt-BR" dirty="0"/>
              <a:t>Com ribossomos nas suas membranas</a:t>
            </a:r>
          </a:p>
          <a:p>
            <a:r>
              <a:rPr lang="pt-BR" dirty="0"/>
              <a:t>Função: síntese proteica de proteínas de membrana ou de secreção</a:t>
            </a:r>
          </a:p>
          <a:p>
            <a:r>
              <a:rPr lang="pt-BR" dirty="0"/>
              <a:t>Após produzidas, as proteínas são encaminhadas para a face cis do complexo de </a:t>
            </a:r>
            <a:r>
              <a:rPr lang="pt-BR" dirty="0" err="1"/>
              <a:t>golgi</a:t>
            </a:r>
            <a:endParaRPr lang="pt-BR" dirty="0"/>
          </a:p>
          <a:p>
            <a:r>
              <a:rPr lang="pt-BR" dirty="0"/>
              <a:t>Produz as enzimas dos peroxissomos e dos lisossomos</a:t>
            </a:r>
          </a:p>
          <a:p>
            <a:r>
              <a:rPr lang="pt-BR" dirty="0"/>
              <a:t>Muito desenvolvido em tecidos de secreção (glândulas)</a:t>
            </a:r>
          </a:p>
          <a:p>
            <a:r>
              <a:rPr lang="pt-BR" dirty="0"/>
              <a:t>Encontrado próximo ao núcleo</a:t>
            </a:r>
          </a:p>
          <a:p>
            <a:r>
              <a:rPr lang="pt-BR" dirty="0"/>
              <a:t>Suas membranas são contínuas à carioteca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4206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R.E. Liso (</a:t>
            </a:r>
            <a:r>
              <a:rPr lang="pt-BR" sz="4500" b="1" dirty="0" err="1">
                <a:solidFill>
                  <a:schemeClr val="bg1"/>
                </a:solidFill>
              </a:rPr>
              <a:t>Agranuloso</a:t>
            </a:r>
            <a:r>
              <a:rPr lang="pt-BR" sz="45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82" y="1496283"/>
            <a:ext cx="11470584" cy="5211967"/>
          </a:xfrm>
        </p:spPr>
        <p:txBody>
          <a:bodyPr>
            <a:normAutofit/>
          </a:bodyPr>
          <a:lstStyle/>
          <a:p>
            <a:r>
              <a:rPr lang="pt-BR" dirty="0"/>
              <a:t>Sem ribossomos nas suas membranas</a:t>
            </a:r>
          </a:p>
          <a:p>
            <a:r>
              <a:rPr lang="pt-BR" dirty="0"/>
              <a:t>Realiza degradação do álcool, medicamentos e drogas (fígado)</a:t>
            </a:r>
          </a:p>
          <a:p>
            <a:r>
              <a:rPr lang="pt-BR" dirty="0"/>
              <a:t>Produção de hormônios esteroides (que possuem o lipídio colesterol em sua composição = testosterona, estrogênio e progesterona) e demais lipídios</a:t>
            </a:r>
          </a:p>
          <a:p>
            <a:r>
              <a:rPr lang="pt-BR" dirty="0"/>
              <a:t>Em células musculares armazena cálcio necessário para a contração muscular e é chamado de retículo sarcoplasmático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2392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Complexo de Golgi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491" y="1496283"/>
            <a:ext cx="11479292" cy="5211967"/>
          </a:xfrm>
        </p:spPr>
        <p:txBody>
          <a:bodyPr>
            <a:normAutofit/>
          </a:bodyPr>
          <a:lstStyle/>
          <a:p>
            <a:r>
              <a:rPr lang="pt-BR" dirty="0"/>
              <a:t>Conjunto de sáculo achatados e interligados</a:t>
            </a:r>
          </a:p>
          <a:p>
            <a:r>
              <a:rPr lang="pt-BR" dirty="0"/>
              <a:t>Possui uma face CIS, que recebe vesículas e uma face TRANS que envia vesículas para a M.P.</a:t>
            </a:r>
          </a:p>
          <a:p>
            <a:r>
              <a:rPr lang="pt-BR" dirty="0"/>
              <a:t>Bem desenvolvido em células secretoras (glândulas)</a:t>
            </a:r>
          </a:p>
          <a:p>
            <a:r>
              <a:rPr lang="pt-BR" dirty="0"/>
              <a:t>Funções:</a:t>
            </a:r>
          </a:p>
          <a:p>
            <a:pPr lvl="1"/>
            <a:r>
              <a:rPr lang="pt-BR" dirty="0"/>
              <a:t>Produção de açúcares (ex: parede celular vegetal)</a:t>
            </a:r>
          </a:p>
          <a:p>
            <a:pPr lvl="1"/>
            <a:r>
              <a:rPr lang="pt-BR" dirty="0"/>
              <a:t>Secreção e armazenamento;</a:t>
            </a:r>
          </a:p>
          <a:p>
            <a:pPr lvl="1"/>
            <a:r>
              <a:rPr lang="pt-BR" dirty="0"/>
              <a:t>Produção do lisossomo;</a:t>
            </a:r>
          </a:p>
          <a:p>
            <a:pPr lvl="1"/>
            <a:r>
              <a:rPr lang="pt-BR" dirty="0"/>
              <a:t>Produção de muco;</a:t>
            </a:r>
          </a:p>
          <a:p>
            <a:pPr lvl="1"/>
            <a:r>
              <a:rPr lang="pt-BR" dirty="0"/>
              <a:t>Produção do acrossomo.</a:t>
            </a:r>
          </a:p>
        </p:txBody>
      </p:sp>
    </p:spTree>
    <p:extLst>
      <p:ext uri="{BB962C8B-B14F-4D97-AF65-F5344CB8AC3E}">
        <p14:creationId xmlns:p14="http://schemas.microsoft.com/office/powerpoint/2010/main" val="129720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1999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Complexo de Golgi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00363E-DBE1-4E65-ABE6-6209DD946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5E4D8BC-6A43-4839-B772-B2BE21BE02E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130" y="1529080"/>
            <a:ext cx="8397322" cy="520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217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Secreção (R.E. + Golgi)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00363E-DBE1-4E65-ABE6-6209DD946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5058" name="Picture 2" descr="O Corpo Humano">
            <a:extLst>
              <a:ext uri="{FF2B5EF4-FFF2-40B4-BE49-F238E27FC236}">
                <a16:creationId xmlns:a16="http://schemas.microsoft.com/office/drawing/2014/main" id="{AD8D03FF-5106-461E-80A4-BAB2011B2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771" y="1679852"/>
            <a:ext cx="6632299" cy="4853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425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Lisossomos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946" y="1511512"/>
            <a:ext cx="11357373" cy="5211967"/>
          </a:xfrm>
        </p:spPr>
        <p:txBody>
          <a:bodyPr>
            <a:normAutofit/>
          </a:bodyPr>
          <a:lstStyle/>
          <a:p>
            <a:r>
              <a:rPr lang="pt-BR" dirty="0"/>
              <a:t>Pequenas vesículas produzidas no complexo de </a:t>
            </a:r>
            <a:r>
              <a:rPr lang="pt-BR" dirty="0" err="1"/>
              <a:t>golgi</a:t>
            </a:r>
            <a:endParaRPr lang="pt-BR" dirty="0"/>
          </a:p>
          <a:p>
            <a:r>
              <a:rPr lang="pt-BR" dirty="0"/>
              <a:t>Possuem enzimas digestivas </a:t>
            </a:r>
            <a:r>
              <a:rPr lang="pt-BR" dirty="0" err="1"/>
              <a:t>hidrolíticas</a:t>
            </a:r>
            <a:r>
              <a:rPr lang="pt-BR" dirty="0"/>
              <a:t> que atuam em pH ácido</a:t>
            </a:r>
          </a:p>
          <a:p>
            <a:r>
              <a:rPr lang="pt-BR" dirty="0"/>
              <a:t>Função: digestão intracelular:</a:t>
            </a:r>
          </a:p>
          <a:p>
            <a:pPr lvl="1"/>
            <a:r>
              <a:rPr lang="pt-BR" dirty="0" err="1"/>
              <a:t>Heterofagia</a:t>
            </a:r>
            <a:r>
              <a:rPr lang="pt-BR" dirty="0"/>
              <a:t>: partículas que vieram de fora da célula</a:t>
            </a:r>
          </a:p>
          <a:p>
            <a:pPr lvl="1"/>
            <a:r>
              <a:rPr lang="pt-BR" dirty="0"/>
              <a:t>Autofagia: digestão de uma organela para renovação</a:t>
            </a:r>
          </a:p>
          <a:p>
            <a:pPr lvl="1"/>
            <a:r>
              <a:rPr lang="pt-BR" dirty="0"/>
              <a:t>Autólise: suicídio celular, que pode ser programado (apoptose) ou não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C9824B-B976-477B-A2A6-3542A27DB656}"/>
              </a:ext>
            </a:extLst>
          </p:cNvPr>
          <p:cNvSpPr txBox="1"/>
          <p:nvPr/>
        </p:nvSpPr>
        <p:spPr>
          <a:xfrm>
            <a:off x="225027" y="4672541"/>
            <a:ext cx="6332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 de apoptose</a:t>
            </a:r>
            <a:r>
              <a:rPr lang="pt-BR" sz="2000" dirty="0"/>
              <a:t>: perda da cauda dos girinos, onde as células da cauda entram em apoptose durante a metamorfose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F071B3A-3A40-4DC2-9315-30E1427CADDC}"/>
              </a:ext>
            </a:extLst>
          </p:cNvPr>
          <p:cNvSpPr txBox="1"/>
          <p:nvPr/>
        </p:nvSpPr>
        <p:spPr>
          <a:xfrm>
            <a:off x="146651" y="5805731"/>
            <a:ext cx="6045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Silicose</a:t>
            </a:r>
            <a:r>
              <a:rPr lang="pt-BR" sz="2000" dirty="0"/>
              <a:t>: autólise das células do pulmão causada por inalação de sílica</a:t>
            </a:r>
          </a:p>
        </p:txBody>
      </p:sp>
      <p:pic>
        <p:nvPicPr>
          <p:cNvPr id="40962" name="Picture 2" descr="Lisossomos - O que são, função, estrutura, tipos, autofagia">
            <a:extLst>
              <a:ext uri="{FF2B5EF4-FFF2-40B4-BE49-F238E27FC236}">
                <a16:creationId xmlns:a16="http://schemas.microsoft.com/office/drawing/2014/main" id="{C4850D5A-A424-49D9-9E80-FB2A9216D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087" y="4650201"/>
            <a:ext cx="3175252" cy="1936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8104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Lisossomos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C665DEE-C08B-49B3-9C94-0DBA28473CB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337" y="1366702"/>
            <a:ext cx="4858524" cy="5312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731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Peroxissomos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279" y="1478866"/>
            <a:ext cx="11409624" cy="5211967"/>
          </a:xfrm>
        </p:spPr>
        <p:txBody>
          <a:bodyPr>
            <a:normAutofit/>
          </a:bodyPr>
          <a:lstStyle/>
          <a:p>
            <a:r>
              <a:rPr lang="pt-BR" dirty="0"/>
              <a:t>Organelas membranosas</a:t>
            </a:r>
          </a:p>
          <a:p>
            <a:r>
              <a:rPr lang="pt-BR" dirty="0"/>
              <a:t>Animais e vegetais</a:t>
            </a:r>
          </a:p>
          <a:p>
            <a:r>
              <a:rPr lang="pt-BR" dirty="0"/>
              <a:t>Oxidam substâncias </a:t>
            </a:r>
            <a:r>
              <a:rPr lang="pt-BR" dirty="0">
                <a:sym typeface="Wingdings" panose="05000000000000000000" pitchFamily="2" charset="2"/>
              </a:rPr>
              <a:t> possuem enzimas oxidases</a:t>
            </a:r>
          </a:p>
          <a:p>
            <a:r>
              <a:rPr lang="pt-BR" dirty="0">
                <a:sym typeface="Wingdings" panose="05000000000000000000" pitchFamily="2" charset="2"/>
              </a:rPr>
              <a:t>Metabolismo de ácidos graxos</a:t>
            </a:r>
          </a:p>
          <a:p>
            <a:r>
              <a:rPr lang="pt-BR" dirty="0">
                <a:sym typeface="Wingdings" panose="05000000000000000000" pitchFamily="2" charset="2"/>
              </a:rPr>
              <a:t>Combatem radicais livres. Ex: enzima catalase quebra água oxigenada</a:t>
            </a:r>
          </a:p>
          <a:p>
            <a:r>
              <a:rPr lang="pt-BR" dirty="0">
                <a:sym typeface="Wingdings" panose="05000000000000000000" pitchFamily="2" charset="2"/>
              </a:rPr>
              <a:t>Células renais  desintoxicação</a:t>
            </a:r>
          </a:p>
          <a:p>
            <a:r>
              <a:rPr lang="pt-BR" dirty="0">
                <a:sym typeface="Wingdings" panose="05000000000000000000" pitchFamily="2" charset="2"/>
              </a:rPr>
              <a:t>Nas sementes de vegetais são chamados de </a:t>
            </a:r>
            <a:r>
              <a:rPr lang="pt-BR" dirty="0" err="1">
                <a:sym typeface="Wingdings" panose="05000000000000000000" pitchFamily="2" charset="2"/>
              </a:rPr>
              <a:t>glioxissomos</a:t>
            </a:r>
            <a:r>
              <a:rPr lang="pt-BR" dirty="0">
                <a:sym typeface="Wingdings" panose="05000000000000000000" pitchFamily="2" charset="2"/>
              </a:rPr>
              <a:t> e convertem ácidos graxos em açúcares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5739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Vacúolo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278" y="1478866"/>
            <a:ext cx="11583795" cy="5211967"/>
          </a:xfrm>
        </p:spPr>
        <p:txBody>
          <a:bodyPr>
            <a:normAutofit/>
          </a:bodyPr>
          <a:lstStyle/>
          <a:p>
            <a:r>
              <a:rPr lang="pt-BR" dirty="0"/>
              <a:t>Organela membranosa (</a:t>
            </a:r>
            <a:r>
              <a:rPr lang="pt-BR" dirty="0" err="1"/>
              <a:t>tonoplasto</a:t>
            </a:r>
            <a:r>
              <a:rPr lang="pt-BR" dirty="0"/>
              <a:t>)</a:t>
            </a:r>
          </a:p>
          <a:p>
            <a:r>
              <a:rPr lang="pt-BR" dirty="0"/>
              <a:t>Armazena água e sais minerais</a:t>
            </a:r>
          </a:p>
          <a:p>
            <a:r>
              <a:rPr lang="pt-BR" dirty="0"/>
              <a:t>Protozoários de água doce possuem vacúolo pulsátil (contrátil) que permite expulsar o excesso de água</a:t>
            </a:r>
          </a:p>
          <a:p>
            <a:r>
              <a:rPr lang="pt-BR" dirty="0"/>
              <a:t>Animais possuem vacúolo alimentar (fagossomo, </a:t>
            </a:r>
            <a:r>
              <a:rPr lang="pt-BR" dirty="0" err="1"/>
              <a:t>pinossomo</a:t>
            </a:r>
            <a:r>
              <a:rPr lang="pt-BR" dirty="0"/>
              <a:t>)</a:t>
            </a:r>
          </a:p>
          <a:p>
            <a:r>
              <a:rPr lang="pt-BR" dirty="0"/>
              <a:t>Em vegetais acumulam muita água e podem acumular toxinas que a protegem contra a </a:t>
            </a:r>
            <a:r>
              <a:rPr lang="pt-BR" dirty="0" err="1"/>
              <a:t>herbivoria</a:t>
            </a:r>
            <a:endParaRPr lang="pt-BR" dirty="0"/>
          </a:p>
          <a:p>
            <a:r>
              <a:rPr lang="pt-BR" dirty="0"/>
              <a:t>Em células vegetais jovens há muitos pequenos vacúolos que, quando a célula vai amadurecendo, se juntam formando um grande vacúolo</a:t>
            </a:r>
          </a:p>
        </p:txBody>
      </p:sp>
    </p:spTree>
    <p:extLst>
      <p:ext uri="{BB962C8B-B14F-4D97-AF65-F5344CB8AC3E}">
        <p14:creationId xmlns:p14="http://schemas.microsoft.com/office/powerpoint/2010/main" val="3376510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Vacúolo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E82396-CBEC-4558-B93E-D391E5676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7106" name="Picture 2" descr="Célula vegetal - Brasil Escola">
            <a:extLst>
              <a:ext uri="{FF2B5EF4-FFF2-40B4-BE49-F238E27FC236}">
                <a16:creationId xmlns:a16="http://schemas.microsoft.com/office/drawing/2014/main" id="{A5143C94-0D54-4C5C-9E58-8B5A162ED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898" y="1618215"/>
            <a:ext cx="5707546" cy="510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422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Plastos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986" y="1444032"/>
            <a:ext cx="11566379" cy="5211967"/>
          </a:xfrm>
        </p:spPr>
        <p:txBody>
          <a:bodyPr>
            <a:normAutofit/>
          </a:bodyPr>
          <a:lstStyle/>
          <a:p>
            <a:r>
              <a:rPr lang="pt-BR" dirty="0"/>
              <a:t>Organelas membranosas de vegetais e algas</a:t>
            </a:r>
          </a:p>
          <a:p>
            <a:r>
              <a:rPr lang="pt-BR" dirty="0"/>
              <a:t>Função de armazenamento</a:t>
            </a:r>
          </a:p>
          <a:p>
            <a:r>
              <a:rPr lang="pt-BR" dirty="0" err="1"/>
              <a:t>Cromoplastos</a:t>
            </a:r>
            <a:r>
              <a:rPr lang="pt-BR" dirty="0"/>
              <a:t>: armazenam pigmento e absorvem luz. Estão relacionados à fotossíntese. </a:t>
            </a:r>
          </a:p>
          <a:p>
            <a:pPr lvl="1"/>
            <a:r>
              <a:rPr lang="pt-BR" dirty="0"/>
              <a:t>Cloroplastos = coloração verde, armazenam clorofila.</a:t>
            </a:r>
          </a:p>
          <a:p>
            <a:pPr lvl="1"/>
            <a:r>
              <a:rPr lang="pt-BR" dirty="0" err="1"/>
              <a:t>Eritroplastos</a:t>
            </a:r>
            <a:r>
              <a:rPr lang="pt-BR" dirty="0"/>
              <a:t> = coloração avermelhada, armazenam eritrofila, licopeno</a:t>
            </a:r>
          </a:p>
          <a:p>
            <a:pPr lvl="1"/>
            <a:r>
              <a:rPr lang="pt-BR" dirty="0" err="1"/>
              <a:t>Xantoplastos</a:t>
            </a:r>
            <a:r>
              <a:rPr lang="pt-BR" dirty="0"/>
              <a:t> = coloração amarelada, armazenam xantofilas</a:t>
            </a:r>
          </a:p>
          <a:p>
            <a:r>
              <a:rPr lang="pt-BR" dirty="0" err="1"/>
              <a:t>Leucoplastos</a:t>
            </a:r>
            <a:r>
              <a:rPr lang="pt-BR" dirty="0"/>
              <a:t>: sem pigmentos, armazenam nutrientes</a:t>
            </a:r>
          </a:p>
          <a:p>
            <a:pPr lvl="1"/>
            <a:r>
              <a:rPr lang="pt-BR" dirty="0" err="1"/>
              <a:t>Amiloplastos</a:t>
            </a:r>
            <a:r>
              <a:rPr lang="pt-BR" dirty="0"/>
              <a:t> : armazenam amido;</a:t>
            </a:r>
          </a:p>
          <a:p>
            <a:pPr lvl="1"/>
            <a:r>
              <a:rPr lang="pt-BR" dirty="0" err="1"/>
              <a:t>Oleoplastos</a:t>
            </a:r>
            <a:r>
              <a:rPr lang="pt-BR" dirty="0"/>
              <a:t>: armazenam óleos;</a:t>
            </a:r>
          </a:p>
          <a:p>
            <a:pPr lvl="1"/>
            <a:r>
              <a:rPr lang="pt-BR" dirty="0" err="1"/>
              <a:t>Proteoplastos</a:t>
            </a:r>
            <a:r>
              <a:rPr lang="pt-BR" dirty="0"/>
              <a:t>: armazenam proteínas</a:t>
            </a:r>
          </a:p>
        </p:txBody>
      </p:sp>
    </p:spTree>
    <p:extLst>
      <p:ext uri="{BB962C8B-B14F-4D97-AF65-F5344CB8AC3E}">
        <p14:creationId xmlns:p14="http://schemas.microsoft.com/office/powerpoint/2010/main" val="2639503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Plastos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158" y="1506039"/>
            <a:ext cx="9032182" cy="5211967"/>
          </a:xfrm>
        </p:spPr>
        <p:txBody>
          <a:bodyPr>
            <a:normAutofit/>
          </a:bodyPr>
          <a:lstStyle/>
          <a:p>
            <a:r>
              <a:rPr lang="pt-BR" dirty="0"/>
              <a:t>Podem se autoduplicar e se converter um no outro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B11E0FE-F64B-4404-B4CD-0087EAAAE13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833" y="2207623"/>
            <a:ext cx="5896555" cy="4162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2062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Cloroplasto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490" y="1504992"/>
            <a:ext cx="9032182" cy="5211967"/>
          </a:xfrm>
        </p:spPr>
        <p:txBody>
          <a:bodyPr>
            <a:normAutofit/>
          </a:bodyPr>
          <a:lstStyle/>
          <a:p>
            <a:r>
              <a:rPr lang="pt-BR" dirty="0"/>
              <a:t>Principal tipo de plasto</a:t>
            </a:r>
          </a:p>
          <a:p>
            <a:r>
              <a:rPr lang="pt-BR" dirty="0"/>
              <a:t>Importantes para a fotossíntese pois possuem o pigmento clorofila</a:t>
            </a:r>
          </a:p>
          <a:p>
            <a:r>
              <a:rPr lang="pt-BR" dirty="0"/>
              <a:t>Possuem DNA próprio e podem se autoduplicar</a:t>
            </a:r>
          </a:p>
          <a:p>
            <a:r>
              <a:rPr lang="pt-BR" dirty="0"/>
              <a:t>Possuem ribossomos 70S</a:t>
            </a:r>
          </a:p>
          <a:p>
            <a:r>
              <a:rPr lang="pt-BR" dirty="0"/>
              <a:t>Ausente em heterótrofos</a:t>
            </a:r>
          </a:p>
        </p:txBody>
      </p:sp>
      <p:pic>
        <p:nvPicPr>
          <p:cNvPr id="50178" name="Picture 2" descr="O que é cloroplasto? - Brasil Escola">
            <a:extLst>
              <a:ext uri="{FF2B5EF4-FFF2-40B4-BE49-F238E27FC236}">
                <a16:creationId xmlns:a16="http://schemas.microsoft.com/office/drawing/2014/main" id="{28F0AF14-29B9-422F-961F-15CD07185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410" y="3451618"/>
            <a:ext cx="5061079" cy="293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300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– Mitocôndria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742" y="1428612"/>
            <a:ext cx="9032182" cy="5211967"/>
          </a:xfrm>
        </p:spPr>
        <p:txBody>
          <a:bodyPr>
            <a:normAutofit/>
          </a:bodyPr>
          <a:lstStyle/>
          <a:p>
            <a:r>
              <a:rPr lang="pt-BR" dirty="0"/>
              <a:t>Responsável pela Respiração Celular (produção de ATP)</a:t>
            </a:r>
          </a:p>
          <a:p>
            <a:r>
              <a:rPr lang="pt-BR" dirty="0"/>
              <a:t>Encontrados em eucariontes (plantas também!)</a:t>
            </a:r>
          </a:p>
          <a:p>
            <a:r>
              <a:rPr lang="pt-BR" dirty="0"/>
              <a:t>Possuem DNA próprio e capacidade de autoduplicação</a:t>
            </a:r>
          </a:p>
          <a:p>
            <a:r>
              <a:rPr lang="pt-BR" dirty="0"/>
              <a:t>Possuem ribossomos 70S</a:t>
            </a:r>
          </a:p>
          <a:p>
            <a:r>
              <a:rPr lang="pt-BR" dirty="0"/>
              <a:t>Origem materna (Mãe para os filhos)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EF53652-139F-44C8-A086-382D937B83B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217" y="4055165"/>
            <a:ext cx="7023653" cy="27822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6434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Teoria da </a:t>
            </a:r>
            <a:r>
              <a:rPr lang="pt-BR" sz="4500" b="1" dirty="0" err="1">
                <a:solidFill>
                  <a:schemeClr val="bg1"/>
                </a:solidFill>
              </a:rPr>
              <a:t>Endossimbiose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199" y="1470157"/>
            <a:ext cx="11444458" cy="5211967"/>
          </a:xfrm>
        </p:spPr>
        <p:txBody>
          <a:bodyPr>
            <a:normAutofit/>
          </a:bodyPr>
          <a:lstStyle/>
          <a:p>
            <a:r>
              <a:rPr lang="pt-BR" dirty="0"/>
              <a:t>Formação da célula eucariótica e surgimento de mitocôndrias e cloroplastos</a:t>
            </a:r>
          </a:p>
          <a:p>
            <a:r>
              <a:rPr lang="pt-BR" dirty="0"/>
              <a:t>Mitocôndrias e cloroplastos eram organismos vivos (procariontes) de vida livre</a:t>
            </a:r>
          </a:p>
          <a:p>
            <a:r>
              <a:rPr lang="pt-BR" dirty="0"/>
              <a:t>Em algum momento foram fagocitados e passaram a evoluir de maneira mutualística com a célula hospedeira</a:t>
            </a:r>
          </a:p>
          <a:p>
            <a:r>
              <a:rPr lang="pt-BR" dirty="0"/>
              <a:t>OBS: primeiro mitocôndria e depois cloroplastos</a:t>
            </a:r>
          </a:p>
          <a:p>
            <a:r>
              <a:rPr lang="pt-BR" dirty="0"/>
              <a:t>OBS2: organelas membranosas surgiram por invaginação da membrana plasmática</a:t>
            </a:r>
          </a:p>
        </p:txBody>
      </p:sp>
    </p:spTree>
    <p:extLst>
      <p:ext uri="{BB962C8B-B14F-4D97-AF65-F5344CB8AC3E}">
        <p14:creationId xmlns:p14="http://schemas.microsoft.com/office/powerpoint/2010/main" val="3441375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Teoria da </a:t>
            </a:r>
            <a:r>
              <a:rPr lang="pt-BR" sz="4500" b="1" dirty="0" err="1">
                <a:solidFill>
                  <a:schemeClr val="bg1"/>
                </a:solidFill>
              </a:rPr>
              <a:t>Endossimbiose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1F720A-5FA4-421F-9C10-25880A8CB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3250" name="Picture 2" descr="Teoria da Endossimbiose – Evolucionários">
            <a:extLst>
              <a:ext uri="{FF2B5EF4-FFF2-40B4-BE49-F238E27FC236}">
                <a16:creationId xmlns:a16="http://schemas.microsoft.com/office/drawing/2014/main" id="{1316E7E1-95DF-4597-8286-BD75E9A0D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24107"/>
            <a:ext cx="9144000" cy="501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63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Teoria da </a:t>
            </a:r>
            <a:r>
              <a:rPr lang="pt-BR" sz="4500" b="1" dirty="0" err="1">
                <a:solidFill>
                  <a:schemeClr val="bg1"/>
                </a:solidFill>
              </a:rPr>
              <a:t>Endossimbiose</a:t>
            </a:r>
            <a:r>
              <a:rPr lang="pt-BR" sz="4500" b="1" dirty="0">
                <a:solidFill>
                  <a:schemeClr val="bg1"/>
                </a:solidFill>
              </a:rPr>
              <a:t> - Evidências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4395C4A-19E9-4979-9BDF-93E893E9C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239" y="1461449"/>
            <a:ext cx="9032182" cy="5211967"/>
          </a:xfrm>
        </p:spPr>
        <p:txBody>
          <a:bodyPr>
            <a:normAutofit/>
          </a:bodyPr>
          <a:lstStyle/>
          <a:p>
            <a:r>
              <a:rPr lang="pt-BR" dirty="0"/>
              <a:t>Tanto mitocôndrias quanto cloroplastos possuem:</a:t>
            </a:r>
          </a:p>
          <a:p>
            <a:pPr lvl="1"/>
            <a:r>
              <a:rPr lang="pt-BR" dirty="0"/>
              <a:t>DNA próprio e circular;</a:t>
            </a:r>
          </a:p>
          <a:p>
            <a:pPr lvl="1"/>
            <a:r>
              <a:rPr lang="pt-BR" dirty="0"/>
              <a:t>Duplas membrana;</a:t>
            </a:r>
          </a:p>
          <a:p>
            <a:pPr lvl="1"/>
            <a:r>
              <a:rPr lang="pt-BR" dirty="0"/>
              <a:t>Ribossomo 70S;</a:t>
            </a:r>
          </a:p>
          <a:p>
            <a:pPr lvl="1"/>
            <a:r>
              <a:rPr lang="pt-BR" dirty="0"/>
              <a:t>Capacidade de autoduplicação</a:t>
            </a:r>
          </a:p>
        </p:txBody>
      </p:sp>
    </p:spTree>
    <p:extLst>
      <p:ext uri="{BB962C8B-B14F-4D97-AF65-F5344CB8AC3E}">
        <p14:creationId xmlns:p14="http://schemas.microsoft.com/office/powerpoint/2010/main" val="3709923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- Resumo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AAF876-38A4-4BB6-A5F9-630323B17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A4EAA71-DD38-40BC-90EA-781811300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596" y="1335640"/>
            <a:ext cx="5728874" cy="533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08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Organelas - Resumo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AAF876-38A4-4BB6-A5F9-630323B17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A1B0628-A9B3-4AED-84D7-1821D0F68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3" y="1366701"/>
            <a:ext cx="5897425" cy="535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553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Célula Animal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AAF876-38A4-4BB6-A5F9-630323B17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CBA22DC-0E4F-47A7-92D8-118DF9BFBDA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103" y="1325563"/>
            <a:ext cx="6549681" cy="5366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957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</a:rPr>
              <a:t>Célula Vegetal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AAF876-38A4-4BB6-A5F9-630323B17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31A6A07-DEC4-43D0-A045-5506EAA4E49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342" y="1346133"/>
            <a:ext cx="6908207" cy="5319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5170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</TotalTime>
  <Words>938</Words>
  <Application>Microsoft Office PowerPoint</Application>
  <PresentationFormat>Widescreen</PresentationFormat>
  <Paragraphs>154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Tema do Office</vt:lpstr>
      <vt:lpstr>Citologia</vt:lpstr>
      <vt:lpstr>Citoplasma</vt:lpstr>
      <vt:lpstr>Citoesqueleto</vt:lpstr>
      <vt:lpstr>Citoesqueleto</vt:lpstr>
      <vt:lpstr>Citoesqueleto</vt:lpstr>
      <vt:lpstr>Organelas - Centríolos</vt:lpstr>
      <vt:lpstr>Organelas - Centríolos</vt:lpstr>
      <vt:lpstr>Organelas - Ribossomos</vt:lpstr>
      <vt:lpstr>Organelas – Retículo Endoplasmático</vt:lpstr>
      <vt:lpstr>Organelas – R.E. Rugoso (Granuloso)</vt:lpstr>
      <vt:lpstr>Organelas – R.E. Liso (Agranuloso)</vt:lpstr>
      <vt:lpstr>Organelas – Complexo de Golgi</vt:lpstr>
      <vt:lpstr>Organelas – Complexo de Golgi</vt:lpstr>
      <vt:lpstr>Organelas – Secreção (R.E. + Golgi)</vt:lpstr>
      <vt:lpstr>Organelas – Lisossomos</vt:lpstr>
      <vt:lpstr>Organelas – Lisossomos</vt:lpstr>
      <vt:lpstr>Organelas – Peroxissomos</vt:lpstr>
      <vt:lpstr>Organelas – Vacúolo</vt:lpstr>
      <vt:lpstr>Organelas – Vacúolo</vt:lpstr>
      <vt:lpstr>Organelas – Plastos</vt:lpstr>
      <vt:lpstr>Organelas – Plastos</vt:lpstr>
      <vt:lpstr>Organelas – Cloroplasto</vt:lpstr>
      <vt:lpstr>Organelas – Mitocôndria</vt:lpstr>
      <vt:lpstr>Teoria da Endossimbiose</vt:lpstr>
      <vt:lpstr>Teoria da Endossimbiose</vt:lpstr>
      <vt:lpstr>Teoria da Endossimbiose - Evidências</vt:lpstr>
      <vt:lpstr>Organelas - Resumo</vt:lpstr>
      <vt:lpstr>Organelas - Resumo</vt:lpstr>
      <vt:lpstr>Célula Animal</vt:lpstr>
      <vt:lpstr>Célula Vegetal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18</cp:revision>
  <dcterms:created xsi:type="dcterms:W3CDTF">2020-06-05T12:13:59Z</dcterms:created>
  <dcterms:modified xsi:type="dcterms:W3CDTF">2021-05-10T02:14:34Z</dcterms:modified>
</cp:coreProperties>
</file>