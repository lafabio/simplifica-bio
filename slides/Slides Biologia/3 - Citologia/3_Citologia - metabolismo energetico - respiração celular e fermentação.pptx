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4" r:id="rId2"/>
    <p:sldId id="257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30" r:id="rId17"/>
    <p:sldId id="329" r:id="rId18"/>
    <p:sldId id="331" r:id="rId19"/>
    <p:sldId id="332" r:id="rId20"/>
    <p:sldId id="333" r:id="rId21"/>
    <p:sldId id="335" r:id="rId22"/>
    <p:sldId id="258" r:id="rId23"/>
    <p:sldId id="25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06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80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54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40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3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22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51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42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27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73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15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0B209112-1446-476C-A639-FBB3F279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6A25F807-3909-494F-A427-7BD5205B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5500" b="1" dirty="0"/>
              <a:t>Metabolismo Energético</a:t>
            </a:r>
          </a:p>
          <a:p>
            <a:pPr>
              <a:lnSpc>
                <a:spcPct val="120000"/>
              </a:lnSpc>
            </a:pPr>
            <a:r>
              <a:rPr lang="pt-BR" sz="5500" b="1" dirty="0"/>
              <a:t>Respiração Celular</a:t>
            </a:r>
          </a:p>
          <a:p>
            <a:pPr>
              <a:lnSpc>
                <a:spcPct val="120000"/>
              </a:lnSpc>
            </a:pPr>
            <a:r>
              <a:rPr lang="pt-BR" sz="5500" b="1" dirty="0"/>
              <a:t>Fermentação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Energia?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Adenosina </a:t>
            </a:r>
            <a:r>
              <a:rPr lang="pt-BR" dirty="0" err="1"/>
              <a:t>tri-fosfato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Nucleosídeo</a:t>
            </a:r>
            <a:r>
              <a:rPr lang="pt-BR" dirty="0"/>
              <a:t> de Adenina (Ribose + Adenina) tri fosfatado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Terceira ligação contém muita energia</a:t>
            </a:r>
          </a:p>
        </p:txBody>
      </p:sp>
      <p:pic>
        <p:nvPicPr>
          <p:cNvPr id="5" name="Imagem 4" descr="Uma imagem contendo desenho&#10;&#10;Descrição gerada automaticamente">
            <a:extLst>
              <a:ext uri="{FF2B5EF4-FFF2-40B4-BE49-F238E27FC236}">
                <a16:creationId xmlns:a16="http://schemas.microsoft.com/office/drawing/2014/main" id="{CA50B108-4196-4CB8-9C35-5CD67C060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092" y="3618158"/>
            <a:ext cx="6261728" cy="255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Gastar e Produzir ATP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B46D2D6-BAED-4B0E-A9EE-3008D37F04A4}"/>
              </a:ext>
            </a:extLst>
          </p:cNvPr>
          <p:cNvSpPr/>
          <p:nvPr/>
        </p:nvSpPr>
        <p:spPr>
          <a:xfrm>
            <a:off x="4693920" y="1741714"/>
            <a:ext cx="2342606" cy="88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ATP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F8D3FA4-1CBD-4D1C-A252-B324EA5D94F1}"/>
              </a:ext>
            </a:extLst>
          </p:cNvPr>
          <p:cNvSpPr/>
          <p:nvPr/>
        </p:nvSpPr>
        <p:spPr>
          <a:xfrm>
            <a:off x="4693920" y="5360125"/>
            <a:ext cx="2342606" cy="88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ADP + 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1A7B12-0B61-4052-BC73-6BE54022685D}"/>
              </a:ext>
            </a:extLst>
          </p:cNvPr>
          <p:cNvSpPr txBox="1"/>
          <p:nvPr/>
        </p:nvSpPr>
        <p:spPr>
          <a:xfrm>
            <a:off x="353248" y="2838994"/>
            <a:ext cx="29124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Fosforilação</a:t>
            </a:r>
          </a:p>
          <a:p>
            <a:pPr algn="ctr"/>
            <a:r>
              <a:rPr lang="pt-BR" sz="2400" dirty="0"/>
              <a:t>(adição de fosfato)</a:t>
            </a:r>
          </a:p>
          <a:p>
            <a:pPr marL="285750" indent="-285750">
              <a:buFontTx/>
              <a:buChar char="-"/>
            </a:pPr>
            <a:r>
              <a:rPr lang="pt-BR" sz="2400" dirty="0"/>
              <a:t>Respiração Celular</a:t>
            </a:r>
          </a:p>
          <a:p>
            <a:pPr marL="285750" indent="-285750">
              <a:buFontTx/>
              <a:buChar char="-"/>
            </a:pPr>
            <a:r>
              <a:rPr lang="pt-BR" sz="2400" dirty="0"/>
              <a:t>Fermentação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7EC307-98BA-44A0-A145-B291FFAF6E3A}"/>
              </a:ext>
            </a:extLst>
          </p:cNvPr>
          <p:cNvSpPr txBox="1"/>
          <p:nvPr/>
        </p:nvSpPr>
        <p:spPr>
          <a:xfrm>
            <a:off x="8595360" y="3029858"/>
            <a:ext cx="3471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Hidrólise</a:t>
            </a:r>
          </a:p>
          <a:p>
            <a:pPr algn="ctr"/>
            <a:r>
              <a:rPr lang="pt-BR" sz="2400" dirty="0"/>
              <a:t>(quebrar)</a:t>
            </a:r>
          </a:p>
          <a:p>
            <a:r>
              <a:rPr lang="pt-BR" sz="2400" dirty="0"/>
              <a:t>- Reações do metabolismo</a:t>
            </a:r>
          </a:p>
        </p:txBody>
      </p:sp>
      <p:sp>
        <p:nvSpPr>
          <p:cNvPr id="12" name="Seta: Curva para a Esquerda 11">
            <a:extLst>
              <a:ext uri="{FF2B5EF4-FFF2-40B4-BE49-F238E27FC236}">
                <a16:creationId xmlns:a16="http://schemas.microsoft.com/office/drawing/2014/main" id="{85D4FCDC-7CFD-4A9D-A4FC-497231FA737E}"/>
              </a:ext>
            </a:extLst>
          </p:cNvPr>
          <p:cNvSpPr/>
          <p:nvPr/>
        </p:nvSpPr>
        <p:spPr>
          <a:xfrm>
            <a:off x="7210697" y="2211976"/>
            <a:ext cx="1210492" cy="403642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Seta: Curva para a Esquerda 13">
            <a:extLst>
              <a:ext uri="{FF2B5EF4-FFF2-40B4-BE49-F238E27FC236}">
                <a16:creationId xmlns:a16="http://schemas.microsoft.com/office/drawing/2014/main" id="{EA9B4680-763B-4776-9225-15DBB3B5D9D3}"/>
              </a:ext>
            </a:extLst>
          </p:cNvPr>
          <p:cNvSpPr/>
          <p:nvPr/>
        </p:nvSpPr>
        <p:spPr>
          <a:xfrm flipH="1" flipV="1">
            <a:off x="3265712" y="2211976"/>
            <a:ext cx="1201783" cy="403642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5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Metabolismo Energético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A1B49E-1621-44E9-8F4A-24E46C935D11}"/>
              </a:ext>
            </a:extLst>
          </p:cNvPr>
          <p:cNvSpPr txBox="1"/>
          <p:nvPr/>
        </p:nvSpPr>
        <p:spPr>
          <a:xfrm>
            <a:off x="507275" y="1822513"/>
            <a:ext cx="7156268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pt-BR" sz="2600" dirty="0">
                <a:latin typeface="+mj-lt"/>
              </a:rPr>
              <a:t>Conjunto de metabolismos relacionados ao ATP:</a:t>
            </a:r>
          </a:p>
          <a:p>
            <a:pPr lvl="1" algn="just">
              <a:lnSpc>
                <a:spcPct val="170000"/>
              </a:lnSpc>
            </a:pPr>
            <a:r>
              <a:rPr lang="pt-BR" sz="2600" b="1" dirty="0">
                <a:latin typeface="+mj-lt"/>
              </a:rPr>
              <a:t>FOTOSSÍNTESE</a:t>
            </a:r>
          </a:p>
          <a:p>
            <a:pPr lvl="1" algn="just">
              <a:lnSpc>
                <a:spcPct val="170000"/>
              </a:lnSpc>
            </a:pPr>
            <a:r>
              <a:rPr lang="pt-BR" sz="2600" b="1" dirty="0">
                <a:latin typeface="+mj-lt"/>
              </a:rPr>
              <a:t>QUIMIOSSÍNTESE</a:t>
            </a:r>
          </a:p>
          <a:p>
            <a:pPr lvl="1" algn="just">
              <a:lnSpc>
                <a:spcPct val="170000"/>
              </a:lnSpc>
            </a:pPr>
            <a:r>
              <a:rPr lang="pt-BR" sz="2600" b="1" dirty="0">
                <a:latin typeface="+mj-lt"/>
              </a:rPr>
              <a:t>RESPIRAÇÃO CELULAR</a:t>
            </a:r>
          </a:p>
          <a:p>
            <a:pPr lvl="1" algn="just">
              <a:lnSpc>
                <a:spcPct val="170000"/>
              </a:lnSpc>
            </a:pPr>
            <a:r>
              <a:rPr lang="pt-BR" sz="2600" b="1" dirty="0">
                <a:latin typeface="+mj-lt"/>
              </a:rPr>
              <a:t>FERMENTAÇÃO</a:t>
            </a:r>
            <a:endParaRPr lang="pt-BR" sz="2600" dirty="0"/>
          </a:p>
        </p:txBody>
      </p:sp>
      <p:sp>
        <p:nvSpPr>
          <p:cNvPr id="11" name="Chave Direita 10">
            <a:extLst>
              <a:ext uri="{FF2B5EF4-FFF2-40B4-BE49-F238E27FC236}">
                <a16:creationId xmlns:a16="http://schemas.microsoft.com/office/drawing/2014/main" id="{D7846E64-7A53-4E14-9E2A-FC6FC8A12F1B}"/>
              </a:ext>
            </a:extLst>
          </p:cNvPr>
          <p:cNvSpPr/>
          <p:nvPr/>
        </p:nvSpPr>
        <p:spPr>
          <a:xfrm>
            <a:off x="3850323" y="2582577"/>
            <a:ext cx="662609" cy="1325563"/>
          </a:xfrm>
          <a:prstGeom prst="rightBrace">
            <a:avLst/>
          </a:prstGeom>
          <a:ln w="38100">
            <a:solidFill>
              <a:srgbClr val="D20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Direita 12">
            <a:extLst>
              <a:ext uri="{FF2B5EF4-FFF2-40B4-BE49-F238E27FC236}">
                <a16:creationId xmlns:a16="http://schemas.microsoft.com/office/drawing/2014/main" id="{D1FF1BFF-1927-4DBD-82B3-9A913E9F1108}"/>
              </a:ext>
            </a:extLst>
          </p:cNvPr>
          <p:cNvSpPr/>
          <p:nvPr/>
        </p:nvSpPr>
        <p:spPr>
          <a:xfrm>
            <a:off x="3850323" y="4000194"/>
            <a:ext cx="662609" cy="1325563"/>
          </a:xfrm>
          <a:prstGeom prst="rightBrace">
            <a:avLst/>
          </a:prstGeom>
          <a:ln w="38100">
            <a:solidFill>
              <a:srgbClr val="D20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E6B62B-E34C-43FB-8AD1-453AF4676183}"/>
              </a:ext>
            </a:extLst>
          </p:cNvPr>
          <p:cNvSpPr txBox="1"/>
          <p:nvPr/>
        </p:nvSpPr>
        <p:spPr>
          <a:xfrm>
            <a:off x="4670856" y="2967335"/>
            <a:ext cx="236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PRODUZ GLICOSE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35C668-79CB-4277-9533-4AAECB423644}"/>
              </a:ext>
            </a:extLst>
          </p:cNvPr>
          <p:cNvSpPr txBox="1"/>
          <p:nvPr/>
        </p:nvSpPr>
        <p:spPr>
          <a:xfrm>
            <a:off x="4670856" y="4432142"/>
            <a:ext cx="1773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PRODUZ ATP</a:t>
            </a:r>
          </a:p>
        </p:txBody>
      </p:sp>
    </p:spTree>
    <p:extLst>
      <p:ext uri="{BB962C8B-B14F-4D97-AF65-F5344CB8AC3E}">
        <p14:creationId xmlns:p14="http://schemas.microsoft.com/office/powerpoint/2010/main" val="251252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Glicose e ATP</a:t>
            </a:r>
          </a:p>
        </p:txBody>
      </p:sp>
      <p:pic>
        <p:nvPicPr>
          <p:cNvPr id="3" name="Picture 2" descr="Respiração celular. Entendendo o processo de respiração celular">
            <a:extLst>
              <a:ext uri="{FF2B5EF4-FFF2-40B4-BE49-F238E27FC236}">
                <a16:creationId xmlns:a16="http://schemas.microsoft.com/office/drawing/2014/main" id="{6D412E26-4401-4E46-9990-EEC24664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23" y="1490392"/>
            <a:ext cx="7257222" cy="499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20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Anabolismo x Catabolismo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5E39D06-A36E-4DEA-95D8-3C980F775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1" y="1651454"/>
            <a:ext cx="11266714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Anabolismo: reações de construção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Moléculas simples </a:t>
            </a:r>
            <a:r>
              <a:rPr lang="pt-BR" dirty="0">
                <a:latin typeface="+mj-lt"/>
                <a:sym typeface="Wingdings" panose="05000000000000000000" pitchFamily="2" charset="2"/>
              </a:rPr>
              <a:t> moléculas complexas</a:t>
            </a:r>
            <a:endParaRPr lang="pt-BR" dirty="0">
              <a:latin typeface="+mj-lt"/>
            </a:endParaRP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Absorvem energia = endotérmicas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 err="1">
                <a:latin typeface="+mj-lt"/>
              </a:rPr>
              <a:t>Ex</a:t>
            </a:r>
            <a:r>
              <a:rPr lang="pt-BR" dirty="0">
                <a:latin typeface="+mj-lt"/>
              </a:rPr>
              <a:t>: Fotossíntese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Catabolismo: reações de quebra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Moléculas complexas </a:t>
            </a:r>
            <a:r>
              <a:rPr lang="pt-BR" dirty="0">
                <a:latin typeface="+mj-lt"/>
                <a:sym typeface="Wingdings" panose="05000000000000000000" pitchFamily="2" charset="2"/>
              </a:rPr>
              <a:t> moléculas simples</a:t>
            </a:r>
            <a:endParaRPr lang="pt-BR" dirty="0">
              <a:latin typeface="+mj-lt"/>
            </a:endParaRP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Liberam energia = exotérmicas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 err="1">
                <a:latin typeface="+mj-lt"/>
              </a:rPr>
              <a:t>Ex</a:t>
            </a:r>
            <a:r>
              <a:rPr lang="pt-BR" dirty="0">
                <a:latin typeface="+mj-lt"/>
              </a:rPr>
              <a:t>: Respiração Celular e Fermentação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48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Relembrando...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Mitocôndria</a:t>
            </a:r>
          </a:p>
        </p:txBody>
      </p:sp>
      <p:pic>
        <p:nvPicPr>
          <p:cNvPr id="8" name="Imagem 7" descr="Uma imagem contendo violão&#10;&#10;Descrição gerada automaticamente">
            <a:extLst>
              <a:ext uri="{FF2B5EF4-FFF2-40B4-BE49-F238E27FC236}">
                <a16:creationId xmlns:a16="http://schemas.microsoft.com/office/drawing/2014/main" id="{6DB9786A-E145-4F44-BA71-0AD8CE3D6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25" y="2255520"/>
            <a:ext cx="6158849" cy="385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1388634" cy="435133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Qual o objetivo da respiração?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ENERGIA (ATP)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Processo de combustão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+mj-lt"/>
              </a:rPr>
              <a:t>Queima de um combustível na presença de um comburente </a:t>
            </a:r>
            <a:r>
              <a:rPr lang="pt-BR" dirty="0">
                <a:latin typeface="+mj-lt"/>
                <a:sym typeface="Wingdings" panose="05000000000000000000" pitchFamily="2" charset="2"/>
              </a:rPr>
              <a:t></a:t>
            </a:r>
            <a:r>
              <a:rPr lang="pt-BR" dirty="0">
                <a:latin typeface="+mj-lt"/>
              </a:rPr>
              <a:t> CO2 , água e Energia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Combustível = Glicose (principal)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Comburente = Oxigênio</a:t>
            </a:r>
          </a:p>
        </p:txBody>
      </p:sp>
    </p:spTree>
    <p:extLst>
      <p:ext uri="{BB962C8B-B14F-4D97-AF65-F5344CB8AC3E}">
        <p14:creationId xmlns:p14="http://schemas.microsoft.com/office/powerpoint/2010/main" val="408791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34" y="2421439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000" dirty="0"/>
              <a:t>Respiração ocorre em ETAPAS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Processo mais lento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Maior rendimento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Menos danoso 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000" dirty="0"/>
              <a:t>Lento e Gradual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000" dirty="0"/>
              <a:t>3 Etapas: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Glicólise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Ciclo de Krebs (Ciclo do ácido cítrico)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Cadeia Respiratória (Cadeia Transportadora de Elétrons)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3F18CB-2075-4E5D-BDDC-BAA973F0D08F}"/>
              </a:ext>
            </a:extLst>
          </p:cNvPr>
          <p:cNvSpPr/>
          <p:nvPr/>
        </p:nvSpPr>
        <p:spPr>
          <a:xfrm>
            <a:off x="3634775" y="1622176"/>
            <a:ext cx="64045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indent="0" algn="ctr">
              <a:buNone/>
            </a:pPr>
            <a:r>
              <a:rPr lang="pt-BR" sz="2800" dirty="0"/>
              <a:t> C</a:t>
            </a:r>
            <a:r>
              <a:rPr lang="pt-BR" sz="2800" baseline="-25000" dirty="0"/>
              <a:t>6</a:t>
            </a:r>
            <a:r>
              <a:rPr lang="pt-BR" sz="2800" dirty="0"/>
              <a:t>H</a:t>
            </a:r>
            <a:r>
              <a:rPr lang="pt-BR" sz="2800" baseline="-25000" dirty="0"/>
              <a:t>12</a:t>
            </a:r>
            <a:r>
              <a:rPr lang="pt-BR" sz="2800" dirty="0"/>
              <a:t>O</a:t>
            </a:r>
            <a:r>
              <a:rPr lang="pt-BR" sz="2800" baseline="-25000" dirty="0"/>
              <a:t>6</a:t>
            </a:r>
            <a:r>
              <a:rPr lang="pt-BR" sz="2800" dirty="0"/>
              <a:t> + 6 O</a:t>
            </a:r>
            <a:r>
              <a:rPr lang="pt-BR" sz="2800" baseline="-25000" dirty="0"/>
              <a:t>2</a:t>
            </a:r>
            <a:r>
              <a:rPr lang="pt-BR" sz="2800" dirty="0"/>
              <a:t> → 6 CO</a:t>
            </a:r>
            <a:r>
              <a:rPr lang="pt-BR" sz="2800" baseline="-25000" dirty="0"/>
              <a:t>2</a:t>
            </a:r>
            <a:r>
              <a:rPr lang="pt-BR" sz="2800" dirty="0"/>
              <a:t> + 6 H</a:t>
            </a:r>
            <a:r>
              <a:rPr lang="pt-BR" sz="2800" baseline="-25000" dirty="0"/>
              <a:t>2</a:t>
            </a:r>
            <a:r>
              <a:rPr lang="pt-BR" sz="2800" dirty="0"/>
              <a:t>O + energia</a:t>
            </a:r>
          </a:p>
        </p:txBody>
      </p:sp>
    </p:spTree>
    <p:extLst>
      <p:ext uri="{BB962C8B-B14F-4D97-AF65-F5344CB8AC3E}">
        <p14:creationId xmlns:p14="http://schemas.microsoft.com/office/powerpoint/2010/main" val="323556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- Transportadores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724754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NAD e FAD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Transportam e</a:t>
            </a:r>
            <a:r>
              <a:rPr lang="pt-BR" sz="2200" baseline="30000" dirty="0">
                <a:latin typeface="+mj-lt"/>
              </a:rPr>
              <a:t>-</a:t>
            </a:r>
            <a:r>
              <a:rPr lang="pt-BR" sz="2200" dirty="0">
                <a:latin typeface="+mj-lt"/>
              </a:rPr>
              <a:t> / H+ / energia para a última etapa da respiração celular, onde fornecerão essa energia para a produção de ATP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81BFCE-68E7-48EE-982D-D500EA1EA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3054522"/>
            <a:ext cx="8686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8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Glicólise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724754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Quebra da Glicose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Citosol (fora da mitocôndria)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Produz 4 </a:t>
            </a:r>
            <a:r>
              <a:rPr lang="pt-BR" sz="2200" dirty="0" err="1">
                <a:latin typeface="+mj-lt"/>
              </a:rPr>
              <a:t>ATPs</a:t>
            </a:r>
            <a:r>
              <a:rPr lang="pt-BR" sz="2200" dirty="0">
                <a:latin typeface="+mj-lt"/>
              </a:rPr>
              <a:t> mas 2 são consumidos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1800" dirty="0">
                <a:latin typeface="+mj-lt"/>
              </a:rPr>
              <a:t>Saldo = 2 ATP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Anaeróbio (sem O2)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  <p:pic>
        <p:nvPicPr>
          <p:cNvPr id="7" name="Imagem 6" descr="Uma imagem contendo relógio&#10;&#10;Descrição gerada automaticamente">
            <a:extLst>
              <a:ext uri="{FF2B5EF4-FFF2-40B4-BE49-F238E27FC236}">
                <a16:creationId xmlns:a16="http://schemas.microsoft.com/office/drawing/2014/main" id="{1AD989B7-AE0E-43C3-8811-7D3D34AE9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589" y="4254745"/>
            <a:ext cx="5311104" cy="18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69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Ciclo de Krebs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1366702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Ciclo do Ácido Cítrico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Ocorre na matriz mitocondrial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Aeróbio (necessita de O2)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Antes de entrar no ciclo de Krebs, o piruvato é transformado em acetil ao passar pela membrana externa da mitocôndria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  <p:pic>
        <p:nvPicPr>
          <p:cNvPr id="4" name="Picture 4" descr="http://gracieteoliveira.pbworks.com/f/1327192747/55555555.jpg">
            <a:extLst>
              <a:ext uri="{FF2B5EF4-FFF2-40B4-BE49-F238E27FC236}">
                <a16:creationId xmlns:a16="http://schemas.microsoft.com/office/drawing/2014/main" id="{F1F0A0B1-AF46-40C8-8994-39504BB46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245" y="3429000"/>
            <a:ext cx="5277394" cy="35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8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Ciclo de Krebs</a:t>
            </a:r>
          </a:p>
        </p:txBody>
      </p:sp>
      <p:pic>
        <p:nvPicPr>
          <p:cNvPr id="9" name="Imagem 8" descr="Mapa colorido com texto preto sobre fundo branco&#10;&#10;Descrição gerada automaticamente">
            <a:extLst>
              <a:ext uri="{FF2B5EF4-FFF2-40B4-BE49-F238E27FC236}">
                <a16:creationId xmlns:a16="http://schemas.microsoft.com/office/drawing/2014/main" id="{69256D9A-FF95-4AA9-BD03-07FF9896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" y="1366702"/>
            <a:ext cx="5447212" cy="5394960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18995F9-326C-4827-B019-43BA1CE06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149" y="1610542"/>
            <a:ext cx="5046063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Este é o ciclo de Krebs completo!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Porém ele só é estudado desta forma na graduação da área da saúde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Vamos para a simplificação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5355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Ciclo de Krebs</a:t>
            </a:r>
          </a:p>
        </p:txBody>
      </p:sp>
      <p:pic>
        <p:nvPicPr>
          <p:cNvPr id="8" name="Picture 2" descr="http://thinkbio.files.wordpress.com/2011/12/f7-25.jpg">
            <a:extLst>
              <a:ext uri="{FF2B5EF4-FFF2-40B4-BE49-F238E27FC236}">
                <a16:creationId xmlns:a16="http://schemas.microsoft.com/office/drawing/2014/main" id="{84CE2694-EE16-41AD-9427-934A23E97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35" y="1366702"/>
            <a:ext cx="4799202" cy="54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0C6B7337-5672-4537-A2B3-D7C42D0CDA77}"/>
              </a:ext>
            </a:extLst>
          </p:cNvPr>
          <p:cNvSpPr txBox="1">
            <a:spLocks/>
          </p:cNvSpPr>
          <p:nvPr/>
        </p:nvSpPr>
        <p:spPr>
          <a:xfrm>
            <a:off x="6035039" y="1724754"/>
            <a:ext cx="571282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Com 1 glicose são feitos 2 ciclos de </a:t>
            </a:r>
            <a:r>
              <a:rPr lang="pt-BR" sz="2200" dirty="0" err="1">
                <a:latin typeface="+mj-lt"/>
              </a:rPr>
              <a:t>krebs</a:t>
            </a:r>
            <a:endParaRPr lang="pt-BR" sz="2200" dirty="0">
              <a:latin typeface="+mj-lt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latin typeface="+mj-lt"/>
              </a:rPr>
              <a:t>O CO2 </a:t>
            </a:r>
            <a:r>
              <a:rPr lang="pt-BR" sz="2200" dirty="0">
                <a:latin typeface="+mj-lt"/>
                <a:sym typeface="Wingdings" panose="05000000000000000000" pitchFamily="2" charset="2"/>
              </a:rPr>
              <a:t>produzido é eliminado nos pulmões através da expiração</a:t>
            </a:r>
            <a:endParaRPr lang="pt-BR" sz="22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793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Cadeia Respiratória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724754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Também chamada de cadeia transportadora de elétrons e fosforilação oxidativa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Última fase da respiração 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Ocorre nas cristas mitocondriais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Aeróbica (necessita de oxigênio)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Utiliza a energia contida no NADH e FADH produzidos na glicólise e ciclo de </a:t>
            </a:r>
            <a:r>
              <a:rPr lang="pt-BR" sz="2400" dirty="0" err="1"/>
              <a:t>krebs</a:t>
            </a:r>
            <a:r>
              <a:rPr lang="pt-BR" sz="2400" dirty="0"/>
              <a:t> para a produção de ATP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4710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Cadeia Respiratória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6" y="1724754"/>
            <a:ext cx="11580223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Elétrons pulam de um citocromo a outro, fornecendo energia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Essa energia é utilizada para remover o H</a:t>
            </a:r>
            <a:r>
              <a:rPr lang="pt-BR" sz="2400" baseline="30000" dirty="0"/>
              <a:t>+</a:t>
            </a:r>
            <a:r>
              <a:rPr lang="pt-BR" sz="2400" dirty="0"/>
              <a:t> dos NADH e FADH</a:t>
            </a:r>
            <a:r>
              <a:rPr lang="pt-BR" sz="2400" baseline="-25000" dirty="0"/>
              <a:t>2</a:t>
            </a:r>
            <a:r>
              <a:rPr lang="pt-BR" sz="2400" dirty="0"/>
              <a:t>, que atravessarão os citocromos em direção ao espaço </a:t>
            </a:r>
            <a:r>
              <a:rPr lang="pt-BR" sz="2400" dirty="0" err="1"/>
              <a:t>intermembranas</a:t>
            </a:r>
            <a:endParaRPr lang="pt-BR" sz="2400" baseline="300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</a:t>
            </a:r>
            <a:r>
              <a:rPr lang="pt-BR" sz="2400" baseline="-25000" dirty="0"/>
              <a:t>2</a:t>
            </a:r>
            <a:r>
              <a:rPr lang="pt-BR" sz="2400" dirty="0"/>
              <a:t> é o aceptor final de elétrons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H</a:t>
            </a:r>
            <a:r>
              <a:rPr lang="pt-BR" sz="2400" baseline="30000" dirty="0"/>
              <a:t>+ </a:t>
            </a:r>
            <a:r>
              <a:rPr lang="pt-BR" sz="2400" dirty="0"/>
              <a:t> atravessam a proteína </a:t>
            </a:r>
            <a:r>
              <a:rPr lang="pt-BR" sz="2400" dirty="0" err="1"/>
              <a:t>ATPsintase</a:t>
            </a:r>
            <a:r>
              <a:rPr lang="pt-BR" sz="2400" dirty="0"/>
              <a:t>, fornecendo energia para produção de ATP</a:t>
            </a:r>
            <a:endParaRPr lang="pt-BR" sz="2400" baseline="300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Produção de H</a:t>
            </a:r>
            <a:r>
              <a:rPr lang="pt-BR" sz="2400" baseline="-25000" dirty="0"/>
              <a:t>2</a:t>
            </a:r>
            <a:r>
              <a:rPr lang="pt-BR" sz="2400" dirty="0"/>
              <a:t>O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47905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Cadeia Respiratória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B1D5DC8E-0E14-40B9-AAA6-D5F43B5BC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53" y="1764665"/>
            <a:ext cx="7914161" cy="4679678"/>
          </a:xfrm>
        </p:spPr>
      </p:pic>
    </p:spTree>
    <p:extLst>
      <p:ext uri="{BB962C8B-B14F-4D97-AF65-F5344CB8AC3E}">
        <p14:creationId xmlns:p14="http://schemas.microsoft.com/office/powerpoint/2010/main" val="150890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Cadeia Respiratória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6" y="1724754"/>
            <a:ext cx="11580223" cy="4351338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pt-BR" sz="2200" dirty="0"/>
              <a:t>Então: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Ocorre nas cristas mitocondriais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Reagentes: NADH</a:t>
            </a:r>
            <a:r>
              <a:rPr lang="pt-BR" sz="2200" baseline="-25000" dirty="0"/>
              <a:t>2</a:t>
            </a:r>
            <a:r>
              <a:rPr lang="pt-BR" sz="2200" dirty="0"/>
              <a:t>, FADH e O</a:t>
            </a:r>
            <a:r>
              <a:rPr lang="pt-BR" sz="2200" baseline="-25000" dirty="0"/>
              <a:t>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Produtos: H</a:t>
            </a:r>
            <a:r>
              <a:rPr lang="pt-BR" sz="2200" baseline="-25000" dirty="0"/>
              <a:t>2</a:t>
            </a:r>
            <a:r>
              <a:rPr lang="pt-BR" sz="2200" dirty="0"/>
              <a:t>O, NAD, FAD e ATP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Quantos ATP? 38 (Varia... 28 – 38 ATP)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52757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Dicas</a:t>
            </a:r>
          </a:p>
        </p:txBody>
      </p:sp>
      <p:pic>
        <p:nvPicPr>
          <p:cNvPr id="8" name="Espaço Reservado para Conteúdo 7" descr="Uma imagem contendo screenshot&#10;&#10;Descrição gerada automaticamente">
            <a:extLst>
              <a:ext uri="{FF2B5EF4-FFF2-40B4-BE49-F238E27FC236}">
                <a16:creationId xmlns:a16="http://schemas.microsoft.com/office/drawing/2014/main" id="{F13BB3B6-D754-43F7-93F9-0BC6B195B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337" y="1492003"/>
            <a:ext cx="9381346" cy="2473343"/>
          </a:xfrm>
        </p:spPr>
      </p:pic>
      <p:pic>
        <p:nvPicPr>
          <p:cNvPr id="10" name="Imagem 9" descr="Mapa colorido com texto preto sobre fundo branco&#10;&#10;Descrição gerada automaticamente">
            <a:extLst>
              <a:ext uri="{FF2B5EF4-FFF2-40B4-BE49-F238E27FC236}">
                <a16:creationId xmlns:a16="http://schemas.microsoft.com/office/drawing/2014/main" id="{A82D1135-A9C7-452D-AF48-45CD868EA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39" y="3965346"/>
            <a:ext cx="6454305" cy="259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3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Respiração Celular – Dicas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523A8400-D793-4044-B0B4-174CC834EEA6}"/>
              </a:ext>
            </a:extLst>
          </p:cNvPr>
          <p:cNvSpPr txBox="1">
            <a:spLocks/>
          </p:cNvSpPr>
          <p:nvPr/>
        </p:nvSpPr>
        <p:spPr>
          <a:xfrm>
            <a:off x="244928" y="1724754"/>
            <a:ext cx="1158022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Arial" panose="020B0604020202020204" pitchFamily="34" charset="0"/>
              <a:buNone/>
            </a:pPr>
            <a:r>
              <a:rPr lang="pt-BR" sz="2400" dirty="0"/>
              <a:t>E se faltar Glicose?</a:t>
            </a:r>
          </a:p>
          <a:p>
            <a:pPr marL="909828" lvl="1" indent="-342900">
              <a:buFont typeface="Wingdings" panose="05000000000000000000" pitchFamily="2" charset="2"/>
              <a:buChar char="Ø"/>
            </a:pPr>
            <a:r>
              <a:rPr lang="pt-BR" sz="2200" dirty="0"/>
              <a:t>Consumo de gorduras e proteínas, que entrarão na respiração celular (ciclo de Krebs)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20247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Fermentação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Produção de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Anaeróbio (SEM O2)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Pouco rendimento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1 Glicose = 2 </a:t>
            </a:r>
            <a:r>
              <a:rPr lang="pt-BR" sz="2600" dirty="0" err="1"/>
              <a:t>ATP’s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Rápida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Sempre inicia com uma Glicólise (quebra da glicose)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Tipos: Láctica e Alcoólica</a:t>
            </a:r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4D54F828-DD1B-46B8-A41A-533B83AFB795}"/>
              </a:ext>
            </a:extLst>
          </p:cNvPr>
          <p:cNvSpPr/>
          <p:nvPr/>
        </p:nvSpPr>
        <p:spPr>
          <a:xfrm>
            <a:off x="3946116" y="1622176"/>
            <a:ext cx="662609" cy="1033938"/>
          </a:xfrm>
          <a:prstGeom prst="rightBrace">
            <a:avLst/>
          </a:prstGeom>
          <a:ln w="38100">
            <a:solidFill>
              <a:srgbClr val="D20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36D3CE-C893-4FBB-80DB-745929E47CBC}"/>
              </a:ext>
            </a:extLst>
          </p:cNvPr>
          <p:cNvSpPr txBox="1"/>
          <p:nvPr/>
        </p:nvSpPr>
        <p:spPr>
          <a:xfrm>
            <a:off x="4838839" y="1908312"/>
            <a:ext cx="1996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ANAEROBIOSE</a:t>
            </a:r>
          </a:p>
        </p:txBody>
      </p:sp>
    </p:spTree>
    <p:extLst>
      <p:ext uri="{BB962C8B-B14F-4D97-AF65-F5344CB8AC3E}">
        <p14:creationId xmlns:p14="http://schemas.microsoft.com/office/powerpoint/2010/main" val="3296367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Fermentação Láctica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Produtos finais: Ácido Láctico e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Realizada por bactérias e animais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Fabricação de derivados do leite (</a:t>
            </a:r>
            <a:r>
              <a:rPr lang="pt-BR" sz="2600" dirty="0" err="1"/>
              <a:t>ex</a:t>
            </a:r>
            <a:r>
              <a:rPr lang="pt-BR" sz="2600" dirty="0"/>
              <a:t>: iogurte)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OBS: acúmulo de ácido láctico nos músculos = fadiga muscular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Em humanos é realizada nos músculos e nas hemácias</a:t>
            </a:r>
          </a:p>
        </p:txBody>
      </p:sp>
      <p:pic>
        <p:nvPicPr>
          <p:cNvPr id="5" name="Imagem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E932793-64CB-4056-A6CA-D30909D9D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73" y="4253977"/>
            <a:ext cx="7640116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68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Fermentação Alcoólica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Produtos finais: álcool (etanol) + CO2 e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Realizada por fungos unicelulares (leveduras)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Fabricação de bebidas alcoólicas, biocombustível e no fermento biológico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244472-BDA2-4007-B693-40002356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99" y="3565208"/>
            <a:ext cx="73056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71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Exercício Físico - Respiração Celular x Fermentação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Exercícios de Resistência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Médio – Longa duração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Musculatura de contração lenta </a:t>
            </a:r>
            <a:r>
              <a:rPr lang="pt-BR" sz="2200" dirty="0">
                <a:sym typeface="Wingdings" panose="05000000000000000000" pitchFamily="2" charset="2"/>
              </a:rPr>
              <a:t> rica em mitocôndrias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Respiração Celular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>
                <a:sym typeface="Wingdings" panose="05000000000000000000" pitchFamily="2" charset="2"/>
              </a:rPr>
              <a:t>Ex</a:t>
            </a:r>
            <a:r>
              <a:rPr lang="pt-BR" sz="2200" dirty="0">
                <a:sym typeface="Wingdings" panose="05000000000000000000" pitchFamily="2" charset="2"/>
              </a:rPr>
              <a:t>: Maratona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>
                <a:sym typeface="Wingdings" panose="05000000000000000000" pitchFamily="2" charset="2"/>
              </a:rPr>
              <a:t>Exercícios de Explosão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Curta Duração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Energia imediata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Musculatura de contração rápida  poucas mitocôndrias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Fermentação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>
                <a:sym typeface="Wingdings" panose="05000000000000000000" pitchFamily="2" charset="2"/>
              </a:rPr>
              <a:t>Ex</a:t>
            </a:r>
            <a:r>
              <a:rPr lang="pt-BR" sz="2200" dirty="0">
                <a:sym typeface="Wingdings" panose="05000000000000000000" pitchFamily="2" charset="2"/>
              </a:rPr>
              <a:t>: 100m rasos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233062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</TotalTime>
  <Words>698</Words>
  <Application>Microsoft Office PowerPoint</Application>
  <PresentationFormat>Widescreen</PresentationFormat>
  <Paragraphs>135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Tema do Office</vt:lpstr>
      <vt:lpstr>Citologia</vt:lpstr>
      <vt:lpstr>Energia?</vt:lpstr>
      <vt:lpstr>Gastar e Produzir ATP</vt:lpstr>
      <vt:lpstr>Metabolismo Energético</vt:lpstr>
      <vt:lpstr>Glicose e ATP</vt:lpstr>
      <vt:lpstr>Anabolismo x Catabolismo</vt:lpstr>
      <vt:lpstr>Relembrando...</vt:lpstr>
      <vt:lpstr>Respiração Celular</vt:lpstr>
      <vt:lpstr>Respiração Celular</vt:lpstr>
      <vt:lpstr>Respiração Celular - Transportadores</vt:lpstr>
      <vt:lpstr>Respiração Celular – Glicólise</vt:lpstr>
      <vt:lpstr>Respiração Celular – Ciclo de Krebs</vt:lpstr>
      <vt:lpstr>Respiração Celular – Ciclo de Krebs</vt:lpstr>
      <vt:lpstr>Respiração Celular – Ciclo de Krebs</vt:lpstr>
      <vt:lpstr>Respiração Celular – Cadeia Respiratória</vt:lpstr>
      <vt:lpstr>Respiração Celular – Cadeia Respiratória</vt:lpstr>
      <vt:lpstr>Respiração Celular – Cadeia Respiratória</vt:lpstr>
      <vt:lpstr>Respiração Celular – Cadeia Respiratória</vt:lpstr>
      <vt:lpstr>Respiração Celular – Dicas</vt:lpstr>
      <vt:lpstr>Respiração Celular – Dicas</vt:lpstr>
      <vt:lpstr>Fermentação</vt:lpstr>
      <vt:lpstr>Fermentação Láctica</vt:lpstr>
      <vt:lpstr>Fermentação Alcoólica</vt:lpstr>
      <vt:lpstr>Exercício Físico - Respiração Celular x Fermentação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23</cp:revision>
  <dcterms:created xsi:type="dcterms:W3CDTF">2020-06-05T12:13:59Z</dcterms:created>
  <dcterms:modified xsi:type="dcterms:W3CDTF">2021-05-10T02:28:14Z</dcterms:modified>
</cp:coreProperties>
</file>