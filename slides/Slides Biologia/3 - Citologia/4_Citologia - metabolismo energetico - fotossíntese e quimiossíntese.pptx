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34" r:id="rId2"/>
    <p:sldId id="335" r:id="rId3"/>
    <p:sldId id="336" r:id="rId4"/>
    <p:sldId id="337" r:id="rId5"/>
    <p:sldId id="33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06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80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542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06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403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538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223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51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242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27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735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15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itologia: tudo o que você precisa saber - Biologia Total">
            <a:extLst>
              <a:ext uri="{FF2B5EF4-FFF2-40B4-BE49-F238E27FC236}">
                <a16:creationId xmlns:a16="http://schemas.microsoft.com/office/drawing/2014/main" id="{0B209112-1446-476C-A639-FBB3F279C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itologia: tudo o que você precisa saber - Biologia Total">
            <a:extLst>
              <a:ext uri="{FF2B5EF4-FFF2-40B4-BE49-F238E27FC236}">
                <a16:creationId xmlns:a16="http://schemas.microsoft.com/office/drawing/2014/main" id="{6A25F807-3909-494F-A427-7BD5205B2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0"/>
            <a:ext cx="12192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82583"/>
            <a:ext cx="12191999" cy="987029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Citologia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561814"/>
            <a:ext cx="12191998" cy="170538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>
              <a:lnSpc>
                <a:spcPct val="120000"/>
              </a:lnSpc>
            </a:pPr>
            <a:r>
              <a:rPr lang="pt-BR" sz="3700" b="1" dirty="0"/>
              <a:t>Metabolismo Energético</a:t>
            </a:r>
          </a:p>
          <a:p>
            <a:pPr>
              <a:lnSpc>
                <a:spcPct val="120000"/>
              </a:lnSpc>
            </a:pPr>
            <a:r>
              <a:rPr lang="pt-BR" sz="3700" b="1" dirty="0"/>
              <a:t>Fotossíntese</a:t>
            </a:r>
          </a:p>
          <a:p>
            <a:pPr>
              <a:lnSpc>
                <a:spcPct val="120000"/>
              </a:lnSpc>
            </a:pPr>
            <a:r>
              <a:rPr lang="pt-BR" sz="3700" b="1" dirty="0"/>
              <a:t>Quimiossíntese</a:t>
            </a:r>
          </a:p>
          <a:p>
            <a:endParaRPr lang="pt-BR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Relembrando...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09" y="164274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Cloroplasto</a:t>
            </a:r>
          </a:p>
        </p:txBody>
      </p:sp>
      <p:pic>
        <p:nvPicPr>
          <p:cNvPr id="5" name="Imagem 4" descr="Uma imagem contendo objeto, relógio&#10;&#10;Descrição gerada automaticamente">
            <a:extLst>
              <a:ext uri="{FF2B5EF4-FFF2-40B4-BE49-F238E27FC236}">
                <a16:creationId xmlns:a16="http://schemas.microsoft.com/office/drawing/2014/main" id="{811F5778-B984-4F92-A121-223FD2F22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006" y="1939356"/>
            <a:ext cx="5957987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1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Fotossíntese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Típico de plantas, algas, cianobactérias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Ocorre via utilização da energia luminosa, que é captura por um pigmento: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Clorofila A = cianobactérias e todos eucariontes fotossintetizantes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Clorofila B – plantas terrestres e algas verdes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Clorofila C – algas pardas e diatomáceas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Bacterioclorofila – luz infravermelha. Em </a:t>
            </a:r>
            <a:r>
              <a:rPr lang="pt-BR" sz="2200" dirty="0" err="1"/>
              <a:t>sulfobactérias</a:t>
            </a:r>
            <a:endParaRPr lang="pt-BR" sz="2200" dirty="0"/>
          </a:p>
          <a:p>
            <a:pPr lvl="1">
              <a:buFont typeface="Wingdings" panose="05000000000000000000" pitchFamily="2" charset="2"/>
              <a:buChar char="Ø"/>
            </a:pPr>
            <a:endParaRPr lang="pt-BR" sz="2200" dirty="0"/>
          </a:p>
          <a:p>
            <a:pPr marL="0" indent="0" algn="ctr">
              <a:buNone/>
            </a:pPr>
            <a:r>
              <a:rPr lang="pt-BR" sz="2400" dirty="0"/>
              <a:t>6 CO</a:t>
            </a:r>
            <a:r>
              <a:rPr lang="pt-BR" sz="2400" baseline="-25000" dirty="0"/>
              <a:t>2</a:t>
            </a:r>
            <a:r>
              <a:rPr lang="pt-BR" sz="2400" dirty="0"/>
              <a:t>  + 6 H</a:t>
            </a:r>
            <a:r>
              <a:rPr lang="pt-BR" sz="2400" baseline="-25000" dirty="0"/>
              <a:t>2</a:t>
            </a:r>
            <a:r>
              <a:rPr lang="pt-BR" sz="2400" dirty="0"/>
              <a:t>O + Luz </a:t>
            </a:r>
            <a:r>
              <a:rPr lang="pt-BR" sz="2400" dirty="0">
                <a:sym typeface="Wingdings" pitchFamily="2" charset="2"/>
              </a:rPr>
              <a:t> C</a:t>
            </a:r>
            <a:r>
              <a:rPr lang="pt-BR" sz="2400" baseline="-25000" dirty="0">
                <a:sym typeface="Wingdings" pitchFamily="2" charset="2"/>
              </a:rPr>
              <a:t>6</a:t>
            </a:r>
            <a:r>
              <a:rPr lang="pt-BR" sz="2400" dirty="0">
                <a:sym typeface="Wingdings" pitchFamily="2" charset="2"/>
              </a:rPr>
              <a:t>H</a:t>
            </a:r>
            <a:r>
              <a:rPr lang="pt-BR" sz="2400" baseline="-25000" dirty="0">
                <a:sym typeface="Wingdings" pitchFamily="2" charset="2"/>
              </a:rPr>
              <a:t>12</a:t>
            </a:r>
            <a:r>
              <a:rPr lang="pt-BR" sz="2400" dirty="0">
                <a:sym typeface="Wingdings" pitchFamily="2" charset="2"/>
              </a:rPr>
              <a:t>O</a:t>
            </a:r>
            <a:r>
              <a:rPr lang="pt-BR" sz="2400" baseline="-25000" dirty="0">
                <a:sym typeface="Wingdings" pitchFamily="2" charset="2"/>
              </a:rPr>
              <a:t>6</a:t>
            </a:r>
            <a:r>
              <a:rPr lang="pt-BR" sz="2400" dirty="0">
                <a:sym typeface="Wingdings" pitchFamily="2" charset="2"/>
              </a:rPr>
              <a:t> e 6 O</a:t>
            </a:r>
            <a:r>
              <a:rPr lang="pt-BR" sz="2400" baseline="-25000" dirty="0">
                <a:sym typeface="Wingdings" pitchFamily="2" charset="2"/>
              </a:rPr>
              <a:t>2</a:t>
            </a:r>
          </a:p>
          <a:p>
            <a:pPr marL="0" indent="0" algn="ctr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NÃO</a:t>
            </a:r>
            <a:r>
              <a:rPr lang="pt-BR" dirty="0"/>
              <a:t> é para produção de energia e sim, produção de carboidrato glicose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2 Fases: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Clara (fotoquímica) </a:t>
            </a:r>
            <a:r>
              <a:rPr lang="pt-BR" dirty="0">
                <a:sym typeface="Wingdings" pitchFamily="2" charset="2"/>
              </a:rPr>
              <a:t> </a:t>
            </a:r>
            <a:r>
              <a:rPr lang="pt-BR" dirty="0" err="1">
                <a:sym typeface="Wingdings" pitchFamily="2" charset="2"/>
              </a:rPr>
              <a:t>Tilacoides</a:t>
            </a:r>
            <a:endParaRPr lang="pt-BR" dirty="0">
              <a:sym typeface="Wingdings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>
                <a:sym typeface="Wingdings" pitchFamily="2" charset="2"/>
              </a:rPr>
              <a:t>Escura (química)  Estroma</a:t>
            </a:r>
            <a:endParaRPr lang="pt-BR" dirty="0"/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1267604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OBS: </a:t>
            </a:r>
            <a:r>
              <a:rPr lang="pt-BR" sz="6000" b="1" dirty="0" err="1">
                <a:solidFill>
                  <a:schemeClr val="bg1"/>
                </a:solidFill>
              </a:rPr>
              <a:t>Oxígena</a:t>
            </a:r>
            <a:r>
              <a:rPr lang="pt-BR" sz="6000" b="1" dirty="0">
                <a:solidFill>
                  <a:schemeClr val="bg1"/>
                </a:solidFill>
              </a:rPr>
              <a:t> x </a:t>
            </a:r>
            <a:r>
              <a:rPr lang="pt-BR" sz="6000" b="1" dirty="0" err="1">
                <a:solidFill>
                  <a:schemeClr val="bg1"/>
                </a:solidFill>
              </a:rPr>
              <a:t>Anoxígena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98447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Oxígena</a:t>
            </a:r>
            <a:endParaRPr lang="pt-BR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Utiliza H</a:t>
            </a:r>
            <a:r>
              <a:rPr lang="pt-BR" sz="2200" baseline="-25000" dirty="0"/>
              <a:t>2</a:t>
            </a:r>
            <a:r>
              <a:rPr lang="pt-BR" sz="2200" dirty="0"/>
              <a:t>O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libera O</a:t>
            </a:r>
            <a:r>
              <a:rPr lang="pt-BR" sz="2200" baseline="-25000" dirty="0"/>
              <a:t>2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Plantas, algas e cianobactérias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Não </a:t>
            </a:r>
            <a:r>
              <a:rPr lang="pt-BR" sz="2600" dirty="0" err="1"/>
              <a:t>oxígena</a:t>
            </a:r>
            <a:endParaRPr lang="pt-BR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Utiliza H</a:t>
            </a:r>
            <a:r>
              <a:rPr lang="pt-BR" sz="2200" baseline="-25000" dirty="0"/>
              <a:t>2</a:t>
            </a:r>
            <a:r>
              <a:rPr lang="pt-BR" sz="2200" dirty="0"/>
              <a:t>S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libera S</a:t>
            </a:r>
            <a:r>
              <a:rPr lang="pt-BR" sz="2200" baseline="-25000" dirty="0"/>
              <a:t>2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Bactérias fotossintetizantes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 marL="109728" indent="0" algn="ctr">
              <a:buNone/>
            </a:pPr>
            <a:r>
              <a:rPr lang="pt-BR" dirty="0"/>
              <a:t>6 CO</a:t>
            </a:r>
            <a:r>
              <a:rPr lang="pt-BR" baseline="-25000" dirty="0"/>
              <a:t>2</a:t>
            </a:r>
            <a:r>
              <a:rPr lang="pt-BR" dirty="0"/>
              <a:t> + 12 H</a:t>
            </a:r>
            <a:r>
              <a:rPr lang="pt-BR" baseline="-25000" dirty="0"/>
              <a:t>2</a:t>
            </a:r>
            <a:r>
              <a:rPr lang="pt-BR" b="1" dirty="0">
                <a:solidFill>
                  <a:srgbClr val="FF0000"/>
                </a:solidFill>
              </a:rPr>
              <a:t>A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C</a:t>
            </a:r>
            <a:r>
              <a:rPr lang="pt-BR" baseline="-25000" dirty="0">
                <a:sym typeface="Wingdings" panose="05000000000000000000" pitchFamily="2" charset="2"/>
              </a:rPr>
              <a:t>6</a:t>
            </a:r>
            <a:r>
              <a:rPr lang="pt-BR" dirty="0">
                <a:sym typeface="Wingdings" panose="05000000000000000000" pitchFamily="2" charset="2"/>
              </a:rPr>
              <a:t>H</a:t>
            </a:r>
            <a:r>
              <a:rPr lang="pt-BR" baseline="-25000" dirty="0">
                <a:sym typeface="Wingdings" panose="05000000000000000000" pitchFamily="2" charset="2"/>
              </a:rPr>
              <a:t>12</a:t>
            </a:r>
            <a:r>
              <a:rPr lang="pt-BR" dirty="0">
                <a:sym typeface="Wingdings" panose="05000000000000000000" pitchFamily="2" charset="2"/>
              </a:rPr>
              <a:t>O</a:t>
            </a:r>
            <a:r>
              <a:rPr lang="pt-BR" baseline="-25000" dirty="0">
                <a:sym typeface="Wingdings" panose="05000000000000000000" pitchFamily="2" charset="2"/>
              </a:rPr>
              <a:t>6</a:t>
            </a:r>
            <a:r>
              <a:rPr lang="pt-BR" dirty="0">
                <a:sym typeface="Wingdings" panose="05000000000000000000" pitchFamily="2" charset="2"/>
              </a:rPr>
              <a:t> + 12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pt-BR" dirty="0">
                <a:sym typeface="Wingdings" panose="05000000000000000000" pitchFamily="2" charset="2"/>
              </a:rPr>
              <a:t> + 6 H</a:t>
            </a:r>
            <a:r>
              <a:rPr lang="pt-BR" baseline="-25000" dirty="0">
                <a:sym typeface="Wingdings" panose="05000000000000000000" pitchFamily="2" charset="2"/>
              </a:rPr>
              <a:t>2</a:t>
            </a:r>
            <a:r>
              <a:rPr lang="pt-BR" dirty="0">
                <a:sym typeface="Wingdings" panose="05000000000000000000" pitchFamily="2" charset="2"/>
              </a:rPr>
              <a:t>O</a:t>
            </a:r>
          </a:p>
          <a:p>
            <a:pPr marL="109728" indent="0">
              <a:buNone/>
            </a:pPr>
            <a:endParaRPr lang="pt-BR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t-BR" sz="2400" dirty="0">
                <a:sym typeface="Wingdings" panose="05000000000000000000" pitchFamily="2" charset="2"/>
              </a:rPr>
              <a:t>*</a:t>
            </a:r>
            <a:r>
              <a:rPr lang="pt-BR" sz="2400" dirty="0" err="1">
                <a:sym typeface="Wingdings" panose="05000000000000000000" pitchFamily="2" charset="2"/>
              </a:rPr>
              <a:t>Oxígena</a:t>
            </a:r>
            <a:r>
              <a:rPr lang="pt-BR" sz="2400" dirty="0">
                <a:sym typeface="Wingdings" panose="05000000000000000000" pitchFamily="2" charset="2"/>
              </a:rPr>
              <a:t>: A = O</a:t>
            </a:r>
          </a:p>
          <a:p>
            <a:pPr marL="0" indent="0">
              <a:buNone/>
            </a:pPr>
            <a:r>
              <a:rPr lang="pt-BR" sz="2400" dirty="0">
                <a:sym typeface="Wingdings" panose="05000000000000000000" pitchFamily="2" charset="2"/>
              </a:rPr>
              <a:t>*Não </a:t>
            </a:r>
            <a:r>
              <a:rPr lang="pt-BR" sz="2400" dirty="0" err="1">
                <a:sym typeface="Wingdings" panose="05000000000000000000" pitchFamily="2" charset="2"/>
              </a:rPr>
              <a:t>oxígena</a:t>
            </a:r>
            <a:r>
              <a:rPr lang="pt-BR" sz="2400" dirty="0">
                <a:sym typeface="Wingdings" panose="05000000000000000000" pitchFamily="2" charset="2"/>
              </a:rPr>
              <a:t>: A = S</a:t>
            </a: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665772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Fotossíntese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Importante: quais comprimentos de onda a planta “gosta”?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Azul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Vermelho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Qual comprimento de onda a planta menos “gosta”?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VERDE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POR ISSO A PLANTA É VERDE! REFLETE</a:t>
            </a:r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8" name="Imagem 7" descr="Texto preto sobre fundo branco&#10;&#10;Descrição gerada automaticamente">
            <a:extLst>
              <a:ext uri="{FF2B5EF4-FFF2-40B4-BE49-F238E27FC236}">
                <a16:creationId xmlns:a16="http://schemas.microsoft.com/office/drawing/2014/main" id="{547168C8-74FB-4C45-8AEA-B2149D14D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646" y="4172888"/>
            <a:ext cx="4807524" cy="248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63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Reações Dependentes de Luz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9844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Fase Clara / Fotoquímica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Transformação de energia luminosa em energia química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Excitação das moléculas de clorofila – doação de 2e- a transportadores (NADP)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H2O é quebrada (</a:t>
            </a:r>
            <a:r>
              <a:rPr lang="pt-BR" sz="2400" dirty="0" err="1"/>
              <a:t>fotólise</a:t>
            </a:r>
            <a:r>
              <a:rPr lang="pt-BR" sz="2400" dirty="0"/>
              <a:t> da água = Reação de Hill)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Formação de NADPH2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e- para a clorofila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O</a:t>
            </a:r>
            <a:r>
              <a:rPr lang="pt-BR" sz="2000" baseline="-25000" dirty="0"/>
              <a:t>2</a:t>
            </a:r>
            <a:r>
              <a:rPr lang="pt-BR" sz="2000" dirty="0"/>
              <a:t> para atmosfera </a:t>
            </a:r>
            <a:r>
              <a:rPr lang="pt-BR" sz="2000" dirty="0">
                <a:sym typeface="Wingdings" panose="05000000000000000000" pitchFamily="2" charset="2"/>
              </a:rPr>
              <a:t></a:t>
            </a:r>
            <a:r>
              <a:rPr lang="pt-BR" sz="2000" dirty="0"/>
              <a:t> respiramos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 err="1"/>
              <a:t>Fotofosforilação</a:t>
            </a:r>
            <a:r>
              <a:rPr lang="pt-BR" sz="2400" dirty="0"/>
              <a:t> </a:t>
            </a:r>
            <a:r>
              <a:rPr lang="pt-BR" sz="2400" dirty="0">
                <a:sym typeface="Wingdings" panose="05000000000000000000" pitchFamily="2" charset="2"/>
              </a:rPr>
              <a:t></a:t>
            </a:r>
            <a:r>
              <a:rPr lang="pt-BR" sz="2400" dirty="0"/>
              <a:t> utiliza energia luminosa para formar ATP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3678097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Como Ocorre a Absorção da Luz?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9844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Complexo Antena </a:t>
            </a:r>
            <a:r>
              <a:rPr lang="pt-BR" sz="2600" dirty="0">
                <a:sym typeface="Wingdings" panose="05000000000000000000" pitchFamily="2" charset="2"/>
              </a:rPr>
              <a:t>localizado Membrana do </a:t>
            </a:r>
            <a:r>
              <a:rPr lang="pt-BR" sz="2600" dirty="0" err="1">
                <a:sym typeface="Wingdings" panose="05000000000000000000" pitchFamily="2" charset="2"/>
              </a:rPr>
              <a:t>Tilacoide</a:t>
            </a:r>
            <a:endParaRPr lang="pt-BR" sz="26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>
                <a:sym typeface="Wingdings" panose="05000000000000000000" pitchFamily="2" charset="2"/>
              </a:rPr>
              <a:t>Conjunto de pigmentos que absorvem a luz</a:t>
            </a: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4" name="Picture 2" descr="http://s3.amazonaws.com/magoo/ABAAAe9ykAC-0.jpg">
            <a:extLst>
              <a:ext uri="{FF2B5EF4-FFF2-40B4-BE49-F238E27FC236}">
                <a16:creationId xmlns:a16="http://schemas.microsoft.com/office/drawing/2014/main" id="{C3E46855-B373-4262-8374-A2250711B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177" y="2501800"/>
            <a:ext cx="3891163" cy="336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832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Como Ocorre a “Fase Clara”?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511510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Fotofosforilação</a:t>
            </a:r>
            <a:r>
              <a:rPr lang="pt-BR" sz="2600" dirty="0"/>
              <a:t> e </a:t>
            </a:r>
            <a:r>
              <a:rPr lang="pt-BR" sz="2600" dirty="0" err="1"/>
              <a:t>Fotólise</a:t>
            </a:r>
            <a:r>
              <a:rPr lang="pt-BR" sz="2600" dirty="0"/>
              <a:t> estão relacionados aos </a:t>
            </a:r>
            <a:r>
              <a:rPr lang="pt-BR" sz="2600" dirty="0" err="1"/>
              <a:t>fotossistemas</a:t>
            </a: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Fotossistema</a:t>
            </a:r>
            <a:r>
              <a:rPr lang="pt-BR" sz="2600" dirty="0"/>
              <a:t> I: Clorofila A P700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Fotossistema</a:t>
            </a:r>
            <a:r>
              <a:rPr lang="pt-BR" sz="2600" dirty="0"/>
              <a:t> II: Clorofila A P680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Fotossistema</a:t>
            </a:r>
            <a:r>
              <a:rPr lang="pt-BR" sz="2600" dirty="0"/>
              <a:t> I é independente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Fotossistema</a:t>
            </a:r>
            <a:r>
              <a:rPr lang="pt-BR" sz="2600" dirty="0"/>
              <a:t> II depende do I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Fotossistema</a:t>
            </a:r>
            <a:r>
              <a:rPr lang="pt-BR" sz="2600" dirty="0"/>
              <a:t> I sozinho: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/>
              <a:t>Fotofosforilação</a:t>
            </a:r>
            <a:r>
              <a:rPr lang="pt-BR" sz="2200" dirty="0"/>
              <a:t> cíclica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Fotossistema</a:t>
            </a:r>
            <a:r>
              <a:rPr lang="pt-BR" sz="2600" dirty="0"/>
              <a:t> II + </a:t>
            </a:r>
            <a:r>
              <a:rPr lang="pt-BR" sz="2600" dirty="0" err="1"/>
              <a:t>Fotossistema</a:t>
            </a:r>
            <a:r>
              <a:rPr lang="pt-BR" sz="2600" dirty="0"/>
              <a:t> 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/>
              <a:t>Fotofosforilação</a:t>
            </a:r>
            <a:r>
              <a:rPr lang="pt-BR" sz="2200" dirty="0"/>
              <a:t> acíclica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893973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</a:rPr>
              <a:t>Fotofosforilação</a:t>
            </a:r>
            <a:r>
              <a:rPr lang="pt-BR" sz="6000" b="1" dirty="0">
                <a:solidFill>
                  <a:schemeClr val="bg1"/>
                </a:solidFill>
              </a:rPr>
              <a:t> Cíclica</a:t>
            </a:r>
          </a:p>
        </p:txBody>
      </p:sp>
      <p:pic>
        <p:nvPicPr>
          <p:cNvPr id="8" name="Espaço Reservado para Conteúdo 7" descr="Uma imagem contendo texto, mapa&#10;&#10;Descrição gerada automaticamente">
            <a:extLst>
              <a:ext uri="{FF2B5EF4-FFF2-40B4-BE49-F238E27FC236}">
                <a16:creationId xmlns:a16="http://schemas.microsoft.com/office/drawing/2014/main" id="{A3E98AEA-9F4C-4680-81B3-1E62A418F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51" y="1860459"/>
            <a:ext cx="7522652" cy="4351338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F76142A-CECF-4E5C-8316-DC457E197A59}"/>
              </a:ext>
            </a:extLst>
          </p:cNvPr>
          <p:cNvSpPr txBox="1"/>
          <p:nvPr/>
        </p:nvSpPr>
        <p:spPr>
          <a:xfrm>
            <a:off x="8264435" y="1860459"/>
            <a:ext cx="3709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É cíclica pois os elétrons perdidos pela P700 voltam a ela no final do processo</a:t>
            </a:r>
          </a:p>
        </p:txBody>
      </p:sp>
    </p:spTree>
    <p:extLst>
      <p:ext uri="{BB962C8B-B14F-4D97-AF65-F5344CB8AC3E}">
        <p14:creationId xmlns:p14="http://schemas.microsoft.com/office/powerpoint/2010/main" val="4117046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</a:rPr>
              <a:t>Fotofosforilação</a:t>
            </a:r>
            <a:r>
              <a:rPr lang="pt-BR" sz="6000" b="1" dirty="0">
                <a:solidFill>
                  <a:schemeClr val="bg1"/>
                </a:solidFill>
              </a:rPr>
              <a:t> Acíclica</a:t>
            </a:r>
          </a:p>
        </p:txBody>
      </p:sp>
      <p:pic>
        <p:nvPicPr>
          <p:cNvPr id="7" name="Espaço Reservado para Conteúdo 6" descr="Mapa colorido com texto preto sobre fundo branco&#10;&#10;Descrição gerada automaticamente">
            <a:extLst>
              <a:ext uri="{FF2B5EF4-FFF2-40B4-BE49-F238E27FC236}">
                <a16:creationId xmlns:a16="http://schemas.microsoft.com/office/drawing/2014/main" id="{5D860528-74FD-4982-8195-A72F0E68E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64" y="1834333"/>
            <a:ext cx="8711921" cy="4636134"/>
          </a:xfr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FBFAC16-7425-4A6D-86A1-7D624D7C316E}"/>
              </a:ext>
            </a:extLst>
          </p:cNvPr>
          <p:cNvSpPr txBox="1"/>
          <p:nvPr/>
        </p:nvSpPr>
        <p:spPr>
          <a:xfrm>
            <a:off x="8891453" y="1834333"/>
            <a:ext cx="31826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É acíclica pois os elétrons perdidos pela P680 não voltam a ela no final do processo</a:t>
            </a:r>
          </a:p>
          <a:p>
            <a:endParaRPr lang="pt-BR" dirty="0"/>
          </a:p>
          <a:p>
            <a:r>
              <a:rPr lang="pt-BR" dirty="0"/>
              <a:t>Seus elétrons são restabelecidos após a </a:t>
            </a:r>
            <a:r>
              <a:rPr lang="pt-BR" dirty="0" err="1"/>
              <a:t>fotólise</a:t>
            </a:r>
            <a:r>
              <a:rPr lang="pt-BR" dirty="0"/>
              <a:t> da água</a:t>
            </a:r>
          </a:p>
        </p:txBody>
      </p:sp>
    </p:spTree>
    <p:extLst>
      <p:ext uri="{BB962C8B-B14F-4D97-AF65-F5344CB8AC3E}">
        <p14:creationId xmlns:p14="http://schemas.microsoft.com/office/powerpoint/2010/main" val="3986459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Reações Não Dependentes de Luz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2" y="1442448"/>
            <a:ext cx="11763103" cy="49844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Fase Escura / Enzimática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Reagentes = Produtos da fase clara + CO2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 NADP2H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 ATP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Estroma do cloroplasto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Produção de Glicose = fixação do carbono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Também pode ser chamado de Ciclo de Calvin / Pentoses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Não depende diretamente da luz, porém necessita dos produtos da fase clara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776604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Ciclo de Calvin</a:t>
            </a:r>
          </a:p>
        </p:txBody>
      </p:sp>
      <p:pic>
        <p:nvPicPr>
          <p:cNvPr id="8" name="Espaço Reservado para Conteúdo 7" descr="Uma imagem contendo texto&#10;&#10;Descrição gerada automaticamente">
            <a:extLst>
              <a:ext uri="{FF2B5EF4-FFF2-40B4-BE49-F238E27FC236}">
                <a16:creationId xmlns:a16="http://schemas.microsoft.com/office/drawing/2014/main" id="{F1C3A381-5EB5-4580-9426-51933325C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340" y="1637212"/>
            <a:ext cx="5313320" cy="4871238"/>
          </a:xfrm>
        </p:spPr>
      </p:pic>
    </p:spTree>
    <p:extLst>
      <p:ext uri="{BB962C8B-B14F-4D97-AF65-F5344CB8AC3E}">
        <p14:creationId xmlns:p14="http://schemas.microsoft.com/office/powerpoint/2010/main" val="4093265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Resumo:</a:t>
            </a:r>
          </a:p>
        </p:txBody>
      </p:sp>
      <p:pic>
        <p:nvPicPr>
          <p:cNvPr id="12" name="Espaço Reservado para Conteúdo 11" descr="Uma imagem contendo relógio, medidor&#10;&#10;Descrição gerada automaticamente">
            <a:extLst>
              <a:ext uri="{FF2B5EF4-FFF2-40B4-BE49-F238E27FC236}">
                <a16:creationId xmlns:a16="http://schemas.microsoft.com/office/drawing/2014/main" id="{68A02302-2BF6-4D20-849B-7F3358FD8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965" y="1973671"/>
            <a:ext cx="7329544" cy="4351338"/>
          </a:xfrm>
        </p:spPr>
      </p:pic>
    </p:spTree>
    <p:extLst>
      <p:ext uri="{BB962C8B-B14F-4D97-AF65-F5344CB8AC3E}">
        <p14:creationId xmlns:p14="http://schemas.microsoft.com/office/powerpoint/2010/main" val="3640998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0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Fatores que influenciam na fotossíntese: Disponibilidade de Luz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Mais luz = Mais fotossíntese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Limite = PSL (ponto de saturação luminoso)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PSL </a:t>
            </a:r>
            <a:r>
              <a:rPr lang="pt-BR" dirty="0" err="1"/>
              <a:t>Heliófitas</a:t>
            </a:r>
            <a:r>
              <a:rPr lang="pt-BR" dirty="0"/>
              <a:t> (plantas de sol) &gt; PSL </a:t>
            </a:r>
            <a:r>
              <a:rPr lang="pt-BR" dirty="0" err="1"/>
              <a:t>umbrófitas</a:t>
            </a:r>
            <a:r>
              <a:rPr lang="pt-BR" dirty="0"/>
              <a:t> (plantas de sombra)</a:t>
            </a:r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7" name="Imagem 6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C5DC8085-ADF2-4FA4-A8C3-999AC683E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09" y="3134230"/>
            <a:ext cx="4613488" cy="311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192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Fatores que influenciam na fotossíntese: Concentração de CO</a:t>
            </a:r>
            <a:r>
              <a:rPr lang="pt-BR" sz="4500" b="1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Mais CO</a:t>
            </a:r>
            <a:r>
              <a:rPr lang="pt-BR" sz="2600" baseline="-25000" dirty="0"/>
              <a:t>2</a:t>
            </a:r>
            <a:r>
              <a:rPr lang="pt-BR" sz="2600" dirty="0"/>
              <a:t> = Mais fotossíntese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Limite = PSG (ponto de saturação gasoso)</a:t>
            </a:r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5" name="Imagem 4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38F1EC4F-2BE0-47BE-BAAF-14458A8A3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01" y="2839919"/>
            <a:ext cx="4123313" cy="320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658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Fatores que influenciam na fotossíntese: Temperatura</a:t>
            </a:r>
            <a:endParaRPr lang="pt-BR" sz="4500" b="1" baseline="-25000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Enzimas possuem temperaturas ótimas de funcionamento</a:t>
            </a:r>
            <a:endParaRPr lang="pt-BR" dirty="0"/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254998-67FD-4BEE-89E5-24BFCB47B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00" y="2598703"/>
            <a:ext cx="4237629" cy="281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33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Fotorrespiração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Enzima </a:t>
            </a:r>
            <a:r>
              <a:rPr lang="pt-BR" sz="2400" dirty="0" err="1"/>
              <a:t>Rubisco</a:t>
            </a:r>
            <a:r>
              <a:rPr lang="pt-BR" sz="2400" dirty="0"/>
              <a:t> capturando Oxigênio no lugar de Gás Carbônico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Quando estômatos fechados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Menor concentração de CO2 nas folhas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Desperdício de energia e prejudicial para a agricultura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Como as plantas evitam a fotorrespiração?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Metabolismos: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C3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MAC</a:t>
            </a:r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3075109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Plantas C3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Maioria das plantas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1800" dirty="0"/>
              <a:t>Trigo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1800" dirty="0"/>
              <a:t>Soja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1800" dirty="0"/>
              <a:t>Arroz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1800" dirty="0"/>
              <a:t>Árvores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Ciclo de Calvin padrão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Não controlam a fotorrespiração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Formação de 3-PGA (ácido 3-fosfoglicérico)</a:t>
            </a:r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495485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Plantas C4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Separação física entre as reações dependentes de luz (mesófilo foliar) e o ciclo de </a:t>
            </a:r>
            <a:r>
              <a:rPr lang="pt-BR" sz="2400" dirty="0" err="1"/>
              <a:t>calvin</a:t>
            </a:r>
            <a:r>
              <a:rPr lang="pt-BR" sz="2400" dirty="0"/>
              <a:t> (células da bainha do feixe vascular)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Mesófilo foliar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1800" dirty="0"/>
              <a:t>Fixação do CO2 em </a:t>
            </a:r>
            <a:r>
              <a:rPr lang="pt-BR" sz="1800" dirty="0" err="1"/>
              <a:t>Oxaloacetato</a:t>
            </a:r>
            <a:r>
              <a:rPr lang="pt-BR" sz="1800" dirty="0"/>
              <a:t> (4 Carbonos) enzima PEP </a:t>
            </a:r>
            <a:r>
              <a:rPr lang="pt-BR" sz="1800" dirty="0" err="1"/>
              <a:t>Carboxilase</a:t>
            </a:r>
            <a:endParaRPr lang="pt-BR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1800" dirty="0" err="1"/>
              <a:t>Oxaloacetato</a:t>
            </a:r>
            <a:r>
              <a:rPr lang="pt-BR" sz="1800" dirty="0"/>
              <a:t> </a:t>
            </a:r>
            <a:r>
              <a:rPr lang="pt-BR" sz="1800" dirty="0">
                <a:sym typeface="Wingdings" panose="05000000000000000000" pitchFamily="2" charset="2"/>
              </a:rPr>
              <a:t> </a:t>
            </a:r>
            <a:r>
              <a:rPr lang="pt-BR" sz="1800" dirty="0" err="1">
                <a:sym typeface="Wingdings" panose="05000000000000000000" pitchFamily="2" charset="2"/>
              </a:rPr>
              <a:t>Malato</a:t>
            </a:r>
            <a:r>
              <a:rPr lang="pt-BR" sz="1800" dirty="0">
                <a:sym typeface="Wingdings" panose="05000000000000000000" pitchFamily="2" charset="2"/>
              </a:rPr>
              <a:t> e vai para as células da bainha do feixe vascular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Nas células da bainha do feixe vascular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1800" dirty="0" err="1">
                <a:sym typeface="Wingdings" panose="05000000000000000000" pitchFamily="2" charset="2"/>
              </a:rPr>
              <a:t>Malato</a:t>
            </a:r>
            <a:r>
              <a:rPr lang="pt-BR" sz="1800" dirty="0">
                <a:sym typeface="Wingdings" panose="05000000000000000000" pitchFamily="2" charset="2"/>
              </a:rPr>
              <a:t> é quebrado, liberando CO2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1800" dirty="0">
                <a:sym typeface="Wingdings" panose="05000000000000000000" pitchFamily="2" charset="2"/>
              </a:rPr>
              <a:t>CO2 é fixado pela </a:t>
            </a:r>
            <a:r>
              <a:rPr lang="pt-BR" sz="1800" dirty="0" err="1">
                <a:sym typeface="Wingdings" panose="05000000000000000000" pitchFamily="2" charset="2"/>
              </a:rPr>
              <a:t>rubisco</a:t>
            </a:r>
            <a:endParaRPr lang="pt-BR" sz="18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Maior gasto de ATP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Comuns em ambientes quentes</a:t>
            </a:r>
            <a:endParaRPr lang="pt-BR" sz="2200" dirty="0"/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767091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Plantas MAC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Metabolismo Ácido das Crassuláceas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Ambientes muito secos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Cactos e Abacaxis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Separação física e temporal das reações dependentes de luz e ciclo de </a:t>
            </a:r>
            <a:r>
              <a:rPr lang="pt-BR" sz="2200" dirty="0" err="1"/>
              <a:t>calvin</a:t>
            </a: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Abertura dos estômatos à noite para capturar CO2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Nas folhas CO2 </a:t>
            </a:r>
            <a:r>
              <a:rPr lang="pt-BR" sz="2200" dirty="0">
                <a:sym typeface="Wingdings" panose="05000000000000000000" pitchFamily="2" charset="2"/>
              </a:rPr>
              <a:t> </a:t>
            </a:r>
            <a:r>
              <a:rPr lang="pt-BR" sz="2200" dirty="0" err="1">
                <a:sym typeface="Wingdings" panose="05000000000000000000" pitchFamily="2" charset="2"/>
              </a:rPr>
              <a:t>Oxaloacetato</a:t>
            </a:r>
            <a:r>
              <a:rPr lang="pt-BR" sz="2200" dirty="0">
                <a:sym typeface="Wingdings" panose="05000000000000000000" pitchFamily="2" charset="2"/>
              </a:rPr>
              <a:t> (Enzima PEP </a:t>
            </a:r>
            <a:r>
              <a:rPr lang="pt-BR" sz="2200" dirty="0" err="1">
                <a:sym typeface="Wingdings" panose="05000000000000000000" pitchFamily="2" charset="2"/>
              </a:rPr>
              <a:t>Carboxilase</a:t>
            </a:r>
            <a:r>
              <a:rPr lang="pt-BR" sz="2200" dirty="0">
                <a:sym typeface="Wingdings" panose="05000000000000000000" pitchFamily="2" charset="2"/>
              </a:rPr>
              <a:t>)  </a:t>
            </a:r>
            <a:r>
              <a:rPr lang="pt-BR" sz="2200" dirty="0" err="1">
                <a:sym typeface="Wingdings" panose="05000000000000000000" pitchFamily="2" charset="2"/>
              </a:rPr>
              <a:t>Malato</a:t>
            </a:r>
            <a:endParaRPr lang="pt-BR" sz="22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 err="1">
                <a:sym typeface="Wingdings" panose="05000000000000000000" pitchFamily="2" charset="2"/>
              </a:rPr>
              <a:t>Malato</a:t>
            </a:r>
            <a:r>
              <a:rPr lang="pt-BR" sz="2200" dirty="0">
                <a:sym typeface="Wingdings" panose="05000000000000000000" pitchFamily="2" charset="2"/>
              </a:rPr>
              <a:t> é armazenado nos vacúolos até o dia seguinte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 err="1">
                <a:sym typeface="Wingdings" panose="05000000000000000000" pitchFamily="2" charset="2"/>
              </a:rPr>
              <a:t>Malato</a:t>
            </a:r>
            <a:r>
              <a:rPr lang="pt-BR" sz="2200" dirty="0">
                <a:sym typeface="Wingdings" panose="05000000000000000000" pitchFamily="2" charset="2"/>
              </a:rPr>
              <a:t> é quebrado em CO2 que é utilizado no ciclo de </a:t>
            </a:r>
            <a:r>
              <a:rPr lang="pt-BR" sz="2200" dirty="0" err="1">
                <a:sym typeface="Wingdings" panose="05000000000000000000" pitchFamily="2" charset="2"/>
              </a:rPr>
              <a:t>calvin</a:t>
            </a:r>
            <a:endParaRPr lang="pt-BR" sz="22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Alto gasto de ATP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Maior eficiência em diminuir a perda de água</a:t>
            </a:r>
            <a:endParaRPr lang="pt-BR" sz="2200" dirty="0"/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1376226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Então...</a:t>
            </a:r>
          </a:p>
        </p:txBody>
      </p:sp>
      <p:pic>
        <p:nvPicPr>
          <p:cNvPr id="8" name="Espaço Reservado para Conteúdo 7" descr="Tela de celular com aplicativo aberto&#10;&#10;Descrição gerada automaticamente">
            <a:extLst>
              <a:ext uri="{FF2B5EF4-FFF2-40B4-BE49-F238E27FC236}">
                <a16:creationId xmlns:a16="http://schemas.microsoft.com/office/drawing/2014/main" id="{FC40B3B0-3696-4202-A5B2-73DBEC2F2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24" y="2453714"/>
            <a:ext cx="8621328" cy="2838846"/>
          </a:xfrm>
        </p:spPr>
      </p:pic>
    </p:spTree>
    <p:extLst>
      <p:ext uri="{BB962C8B-B14F-4D97-AF65-F5344CB8AC3E}">
        <p14:creationId xmlns:p14="http://schemas.microsoft.com/office/powerpoint/2010/main" val="2207885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Fotossíntese x Respiração Celular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174568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Plantas possuem cloroplastos e mitocôndrias, ou seja, fazem fotossíntese e respiração celular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Reações contrárias</a:t>
            </a:r>
            <a:endParaRPr lang="pt-BR" sz="2200" dirty="0"/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62EACD-9D3F-4E5F-96CB-88F7B55EB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02" y="3107987"/>
            <a:ext cx="5411619" cy="315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92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Fotossíntese x Respiração Celular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174568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7" name="Imagem 6" descr="Texto preto sobre fundo branco&#10;&#10;Descrição gerada automaticamente">
            <a:extLst>
              <a:ext uri="{FF2B5EF4-FFF2-40B4-BE49-F238E27FC236}">
                <a16:creationId xmlns:a16="http://schemas.microsoft.com/office/drawing/2014/main" id="{B3D5EFD9-8C43-496D-AC9B-FDABA5EB7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67" y="2252456"/>
            <a:ext cx="6125430" cy="296268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925EC32-01F9-4989-BD44-2C300064AE82}"/>
              </a:ext>
            </a:extLst>
          </p:cNvPr>
          <p:cNvSpPr txBox="1"/>
          <p:nvPr/>
        </p:nvSpPr>
        <p:spPr>
          <a:xfrm>
            <a:off x="383177" y="5793786"/>
            <a:ext cx="7523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PCF = Ponto de Compensação Fótico (PCL = Ponto de Compensação Luminoso)</a:t>
            </a:r>
          </a:p>
          <a:p>
            <a:r>
              <a:rPr lang="pt-BR" dirty="0"/>
              <a:t>Quantidade de luz para que Fotossíntese = Respiração Celular</a:t>
            </a:r>
          </a:p>
        </p:txBody>
      </p:sp>
    </p:spTree>
    <p:extLst>
      <p:ext uri="{BB962C8B-B14F-4D97-AF65-F5344CB8AC3E}">
        <p14:creationId xmlns:p14="http://schemas.microsoft.com/office/powerpoint/2010/main" val="158327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Fotossíntese x Respiração Celular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174568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25EC32-01F9-4989-BD44-2C300064AE82}"/>
              </a:ext>
            </a:extLst>
          </p:cNvPr>
          <p:cNvSpPr txBox="1"/>
          <p:nvPr/>
        </p:nvSpPr>
        <p:spPr>
          <a:xfrm>
            <a:off x="383177" y="5793786"/>
            <a:ext cx="4023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OBS: PCF varia conforme o tipo de planta</a:t>
            </a:r>
          </a:p>
        </p:txBody>
      </p:sp>
      <p:pic>
        <p:nvPicPr>
          <p:cNvPr id="10" name="Imagem 9" descr="Texto preto sobre fundo branco&#10;&#10;Descrição gerada automaticamente">
            <a:extLst>
              <a:ext uri="{FF2B5EF4-FFF2-40B4-BE49-F238E27FC236}">
                <a16:creationId xmlns:a16="http://schemas.microsoft.com/office/drawing/2014/main" id="{F7667566-B24F-46D2-9C81-48275B714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71" y="1717614"/>
            <a:ext cx="5582429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2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Fotossíntese x Respiração Celular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174568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5" name="Imagem 4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437542CC-6E08-4C58-A239-57F3F771F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23" y="1442448"/>
            <a:ext cx="9116697" cy="3029373"/>
          </a:xfrm>
          <a:prstGeom prst="rect">
            <a:avLst/>
          </a:prstGeom>
        </p:spPr>
      </p:pic>
      <p:pic>
        <p:nvPicPr>
          <p:cNvPr id="10" name="Imagem 9" descr="Texto preto sobre fundo branco&#10;&#10;Descrição gerada automaticamente">
            <a:extLst>
              <a:ext uri="{FF2B5EF4-FFF2-40B4-BE49-F238E27FC236}">
                <a16:creationId xmlns:a16="http://schemas.microsoft.com/office/drawing/2014/main" id="{536A2D81-077E-4D52-8253-6CAC13999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2" y="4471821"/>
            <a:ext cx="4830608" cy="233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60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Quimiossíntese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3" y="144244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Metabolismo de produção de glicose sem utilização da energia luminosa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Bactérias</a:t>
            </a:r>
            <a:endParaRPr lang="pt-BR" sz="2200" dirty="0"/>
          </a:p>
          <a:p>
            <a:pPr marL="0" indent="0" algn="just">
              <a:buNone/>
            </a:pPr>
            <a:endParaRPr lang="pt-BR" sz="2400" baseline="-25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</p:txBody>
      </p:sp>
      <p:pic>
        <p:nvPicPr>
          <p:cNvPr id="11" name="Imagem 10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066617AC-DD01-4DDD-83F2-D4ABD9979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19" y="2639758"/>
            <a:ext cx="6893308" cy="339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66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306</TotalTime>
  <Words>790</Words>
  <Application>Microsoft Office PowerPoint</Application>
  <PresentationFormat>Widescreen</PresentationFormat>
  <Paragraphs>158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Tema do Office</vt:lpstr>
      <vt:lpstr>Citologia</vt:lpstr>
      <vt:lpstr>Relembrando...</vt:lpstr>
      <vt:lpstr>Fotossíntese</vt:lpstr>
      <vt:lpstr>OBS: Oxígena x Anoxígena</vt:lpstr>
      <vt:lpstr>Fotossíntese</vt:lpstr>
      <vt:lpstr>Reações Dependentes de Luz</vt:lpstr>
      <vt:lpstr>Como Ocorre a Absorção da Luz?</vt:lpstr>
      <vt:lpstr>Como Ocorre a “Fase Clara”?</vt:lpstr>
      <vt:lpstr>Fotofosforilação Cíclica</vt:lpstr>
      <vt:lpstr>Fotofosforilação Acíclica</vt:lpstr>
      <vt:lpstr>Reações Não Dependentes de Luz</vt:lpstr>
      <vt:lpstr>Ciclo de Calvin</vt:lpstr>
      <vt:lpstr>Resumo:</vt:lpstr>
      <vt:lpstr>Fatores que influenciam na fotossíntese: Disponibilidade de Luz</vt:lpstr>
      <vt:lpstr>Fatores que influenciam na fotossíntese: Concentração de CO2</vt:lpstr>
      <vt:lpstr>Fatores que influenciam na fotossíntese: Temperatura</vt:lpstr>
      <vt:lpstr>Fotorrespiração</vt:lpstr>
      <vt:lpstr>Plantas C3</vt:lpstr>
      <vt:lpstr>Plantas C4</vt:lpstr>
      <vt:lpstr>Plantas MAC</vt:lpstr>
      <vt:lpstr>Então...</vt:lpstr>
      <vt:lpstr>Fotossíntese x Respiração Celular</vt:lpstr>
      <vt:lpstr>Fotossíntese x Respiração Celular</vt:lpstr>
      <vt:lpstr>Fotossíntese x Respiração Celular</vt:lpstr>
      <vt:lpstr>Fotossíntese x Respiração Celular</vt:lpstr>
      <vt:lpstr>Quimiossíntese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23</cp:revision>
  <dcterms:created xsi:type="dcterms:W3CDTF">2020-06-05T12:13:59Z</dcterms:created>
  <dcterms:modified xsi:type="dcterms:W3CDTF">2021-05-10T02:27:41Z</dcterms:modified>
</cp:coreProperties>
</file>