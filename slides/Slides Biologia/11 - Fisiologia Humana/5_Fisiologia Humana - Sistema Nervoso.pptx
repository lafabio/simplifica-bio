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embeddedFontLst>
    <p:embeddedFont>
      <p:font typeface="Tahoma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4" roundtripDataSignature="AMtx7mg+dc+rXzIz+VEjM1DqdCbzCEOL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8F37BC-8B62-400D-A491-AB78C5A9E582}">
  <a:tblStyle styleId="{688F37BC-8B62-400D-A491-AB78C5A9E58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80561D33-CEA2-4CCC-B598-FAF41D94663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Tahoma-bold.fntdata"/><Relationship Id="rId10" Type="http://schemas.openxmlformats.org/officeDocument/2006/relationships/slide" Target="slides/slide5.xml"/><Relationship Id="rId32" Type="http://schemas.openxmlformats.org/officeDocument/2006/relationships/font" Target="fonts/Tahoma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8" name="Google Shape;23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8" name="Google Shape;24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2" name="Google Shape;27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2" name="Google Shape;28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2" name="Google Shape;29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7" name="Google Shape;30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8" name="Google Shape;31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7" name="Google Shape;32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1" name="Google Shape;35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1" name="Google Shape;38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9" name="Google Shape;38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95" name="Google Shape;39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de título">
  <p:cSld name="1_Slide de título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3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3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3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3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los Educacional - PÓS-GRADUAÇÃO EM ANATOMIA E FISIOLOGIA HUMANAS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>
            <p:ph type="ctrTitle"/>
          </p:nvPr>
        </p:nvSpPr>
        <p:spPr>
          <a:xfrm>
            <a:off x="-1" y="1682583"/>
            <a:ext cx="12192000" cy="987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pt-BR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Fisiologia Humana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0" y="2561814"/>
            <a:ext cx="12191998" cy="133164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b" bIns="34275" lIns="68575" spcFirstLastPara="1" rIns="68575" wrap="square" tIns="34275">
            <a:normAutofit fontScale="92500"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t/>
            </a:r>
            <a:endParaRPr b="0" i="0" sz="6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pt-BR" sz="3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t/>
            </a:r>
            <a:endParaRPr b="1" i="0" sz="4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1524003" y="1071564"/>
            <a:ext cx="8715375" cy="36317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/>
            </a:pPr>
            <a:r>
              <a:rPr b="1" i="0" lang="pt-BR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Introdução</a:t>
            </a:r>
            <a:endParaRPr/>
          </a:p>
          <a:p>
            <a:pPr indent="-2286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rgbClr val="1F386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 sistema nervoso é responsável pelo ajustamento do organismo ao ambiente. Sua função é perceber e identificar as condições ambientais externas, bem como as condições reinantes dentro do próprio corpo e elaborar respostas que adaptem a essas condições.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222A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2) Organização do sistema nervoso humano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" name="Google Shape;98;p2"/>
          <p:cNvGraphicFramePr/>
          <p:nvPr/>
        </p:nvGraphicFramePr>
        <p:xfrm>
          <a:off x="2309816" y="32861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{688F37BC-8B62-400D-A491-AB78C5A9E582}</a:tableStyleId>
              </a:tblPr>
              <a:tblGrid>
                <a:gridCol w="2786075"/>
                <a:gridCol w="1065400"/>
                <a:gridCol w="1860475"/>
                <a:gridCol w="1860475"/>
              </a:tblGrid>
              <a:tr h="335275">
                <a:tc row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chemeClr val="dk1"/>
                          </a:solidFill>
                        </a:rPr>
                        <a:t>Sistema Nervoso Central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chemeClr val="dk1"/>
                          </a:solidFill>
                        </a:rPr>
                        <a:t>(SNC)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chemeClr val="dk1"/>
                          </a:solidFill>
                        </a:rPr>
                        <a:t>Encéfalo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chemeClr val="dk1"/>
                          </a:solidFill>
                        </a:rPr>
                        <a:t>Cérebro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3527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>
                          <a:solidFill>
                            <a:schemeClr val="dk1"/>
                          </a:solidFill>
                        </a:rPr>
                        <a:t>Cerebelo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35275">
                <a:tc vMerge="1"/>
                <a:tc vMerge="1"/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>
                          <a:solidFill>
                            <a:schemeClr val="dk1"/>
                          </a:solidFill>
                        </a:rPr>
                        <a:t>Tronco Encefálico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>
                          <a:solidFill>
                            <a:schemeClr val="dk1"/>
                          </a:solidFill>
                        </a:rPr>
                        <a:t>Mesencéfalo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35275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>
                          <a:solidFill>
                            <a:schemeClr val="dk1"/>
                          </a:solidFill>
                        </a:rPr>
                        <a:t>Ponte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35275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>
                          <a:solidFill>
                            <a:schemeClr val="dk1"/>
                          </a:solidFill>
                        </a:rPr>
                        <a:t>Bulbo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352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>
                          <a:solidFill>
                            <a:schemeClr val="dk1"/>
                          </a:solidFill>
                        </a:rPr>
                        <a:t>Medula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35275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>
                          <a:solidFill>
                            <a:schemeClr val="dk1"/>
                          </a:solidFill>
                        </a:rPr>
                        <a:t>Sistema Nervoso Periférico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>
                          <a:solidFill>
                            <a:schemeClr val="dk1"/>
                          </a:solidFill>
                        </a:rPr>
                        <a:t>(SNP)</a:t>
                      </a:r>
                      <a:endParaRPr/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>
                          <a:solidFill>
                            <a:schemeClr val="dk1"/>
                          </a:solidFill>
                        </a:rPr>
                        <a:t>Nervos cranianos (12 pares)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35275">
                <a:tc v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>
                          <a:solidFill>
                            <a:schemeClr val="dk1"/>
                          </a:solidFill>
                        </a:rPr>
                        <a:t>Nervos raquidianos (31</a:t>
                      </a:r>
                      <a:r>
                        <a:rPr b="0" lang="pt-BR" sz="1600">
                          <a:solidFill>
                            <a:schemeClr val="dk1"/>
                          </a:solidFill>
                        </a:rPr>
                        <a:t> pares)</a:t>
                      </a:r>
                      <a:endParaRPr b="0"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 hMerge="1"/>
                <a:tc vMerge="1"/>
              </a:tr>
              <a:tr h="335275">
                <a:tc v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>
                          <a:solidFill>
                            <a:schemeClr val="dk1"/>
                          </a:solidFill>
                        </a:rPr>
                        <a:t>Terminações nervosas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vMerge="1"/>
              </a:tr>
            </a:tbl>
          </a:graphicData>
        </a:graphic>
      </p:graphicFrame>
      <p:sp>
        <p:nvSpPr>
          <p:cNvPr id="99" name="Google Shape;99;p2"/>
          <p:cNvSpPr/>
          <p:nvPr/>
        </p:nvSpPr>
        <p:spPr>
          <a:xfrm>
            <a:off x="4953003" y="3786190"/>
            <a:ext cx="214313" cy="1500187"/>
          </a:xfrm>
          <a:prstGeom prst="leftBrace">
            <a:avLst>
              <a:gd fmla="val 8333" name="adj1"/>
              <a:gd fmla="val 26821" name="adj2"/>
            </a:avLst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5024441" y="5643563"/>
            <a:ext cx="142875" cy="1071562"/>
          </a:xfrm>
          <a:prstGeom prst="leftBrace">
            <a:avLst>
              <a:gd fmla="val 8333" name="adj1"/>
              <a:gd fmla="val 24246" name="adj2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6024563" y="3286126"/>
            <a:ext cx="285750" cy="1285876"/>
          </a:xfrm>
          <a:prstGeom prst="leftBrace">
            <a:avLst>
              <a:gd fmla="val 8333" name="adj1"/>
              <a:gd fmla="val 49657" name="adj2"/>
            </a:avLst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7810500" y="3929063"/>
            <a:ext cx="285750" cy="1071562"/>
          </a:xfrm>
          <a:prstGeom prst="leftBrace">
            <a:avLst>
              <a:gd fmla="val 8333" name="adj1"/>
              <a:gd fmla="val 42658" name="adj2"/>
            </a:avLst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i="0" lang="pt-BR" sz="4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i="0" sz="4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1524000" y="1071564"/>
            <a:ext cx="8929688" cy="3908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3"/>
            </a:pPr>
            <a:r>
              <a:rPr b="1" i="0" lang="pt-BR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Sistema nervoso central (SNC)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Encéfalo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Possui cerca de 1,4 kg nos adultos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 localizado na caixa craniana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Dividido em 3 partes: cérebro, cerebelo e tronco encefálico</a:t>
            </a:r>
            <a:endParaRPr/>
          </a:p>
          <a:p>
            <a:pPr indent="-2286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rgbClr val="1F386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222A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2_jpge2e82fc2-8ba5-4cf4-96c5-8084d9359543Large.jpg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4316" y="2928935"/>
            <a:ext cx="3786187" cy="378618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5381628" y="3000376"/>
            <a:ext cx="157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Encéfalo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7739063" y="4214814"/>
            <a:ext cx="14287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cérebro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7881938" y="5643564"/>
            <a:ext cx="14287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cerebelo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7881938" y="6286500"/>
            <a:ext cx="19288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Tronco encefálico</a:t>
            </a:r>
            <a:endParaRPr/>
          </a:p>
        </p:txBody>
      </p:sp>
      <p:cxnSp>
        <p:nvCxnSpPr>
          <p:cNvPr id="116" name="Google Shape;116;p3"/>
          <p:cNvCxnSpPr/>
          <p:nvPr/>
        </p:nvCxnSpPr>
        <p:spPr>
          <a:xfrm>
            <a:off x="7167566" y="4429126"/>
            <a:ext cx="642937" cy="15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oval"/>
            <a:tailEnd len="sm" w="sm" type="none"/>
          </a:ln>
        </p:spPr>
      </p:cxnSp>
      <p:cxnSp>
        <p:nvCxnSpPr>
          <p:cNvPr id="117" name="Google Shape;117;p3"/>
          <p:cNvCxnSpPr/>
          <p:nvPr/>
        </p:nvCxnSpPr>
        <p:spPr>
          <a:xfrm>
            <a:off x="7024688" y="5857876"/>
            <a:ext cx="857250" cy="15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oval"/>
            <a:tailEnd len="sm" w="sm" type="none"/>
          </a:ln>
        </p:spPr>
      </p:cxnSp>
      <p:cxnSp>
        <p:nvCxnSpPr>
          <p:cNvPr id="118" name="Google Shape;118;p3"/>
          <p:cNvCxnSpPr/>
          <p:nvPr/>
        </p:nvCxnSpPr>
        <p:spPr>
          <a:xfrm>
            <a:off x="6238878" y="6286502"/>
            <a:ext cx="1643063" cy="2143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oval"/>
            <a:tailEnd len="sm" w="sm" type="none"/>
          </a:ln>
        </p:spPr>
      </p:cxnSp>
      <p:sp>
        <p:nvSpPr>
          <p:cNvPr id="119" name="Google Shape;119;p3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1524000" y="1071564"/>
            <a:ext cx="8929688" cy="5416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3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Sistema nervoso central (SNC)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Encéfalo</a:t>
            </a:r>
            <a:endParaRPr/>
          </a:p>
          <a:p>
            <a:pPr indent="-292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sz="800">
              <a:solidFill>
                <a:srgbClr val="1F386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Cérebro</a:t>
            </a:r>
            <a:endParaRPr/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Constitui cerca de 90% da massa encefálica</a:t>
            </a:r>
            <a:endParaRPr/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Sua superfície é bastante pregueada (aumento da superfície)</a:t>
            </a:r>
            <a:endParaRPr/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Dividido em dois hemisférios (esquerdo e direito)</a:t>
            </a:r>
            <a:endParaRPr/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Dividido em duas partes: </a:t>
            </a:r>
            <a:endParaRPr/>
          </a:p>
          <a:p>
            <a:pPr indent="-342900" lvl="4" marL="21717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Córtex (externo) – substância cinzenta (corpos neuronais)</a:t>
            </a:r>
            <a:endParaRPr/>
          </a:p>
          <a:p>
            <a:pPr indent="-342900" lvl="4" marL="21717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Região interna – substância branca (dendritos e axônios)</a:t>
            </a:r>
            <a:endParaRPr/>
          </a:p>
          <a:p>
            <a:pPr indent="-228600" lvl="4" marL="21717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>
              <a:solidFill>
                <a:srgbClr val="222A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www.colegiosaofrancisco.com.br/alfa/corpo-humano-sistema-nervoso/imagens/sistema-nervoso-26.jpg"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7250" y="4017218"/>
            <a:ext cx="2928938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/>
        </p:nvSpPr>
        <p:spPr>
          <a:xfrm>
            <a:off x="1524000" y="1071563"/>
            <a:ext cx="8929688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3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Sistema nervoso central (SNC)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Encéfalo</a:t>
            </a:r>
            <a:endParaRPr/>
          </a:p>
          <a:p>
            <a:pPr indent="-292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sz="800">
              <a:solidFill>
                <a:srgbClr val="1F386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Cérebro</a:t>
            </a:r>
            <a:endParaRPr/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Funções:</a:t>
            </a:r>
            <a:endParaRPr/>
          </a:p>
          <a:p>
            <a:pPr indent="-342900" lvl="4" marL="21717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Sensações</a:t>
            </a:r>
            <a:endParaRPr/>
          </a:p>
          <a:p>
            <a:pPr indent="-342900" lvl="4" marL="21717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Atos conscientes e voluntários (movimentos)</a:t>
            </a:r>
            <a:endParaRPr/>
          </a:p>
          <a:p>
            <a:pPr indent="-342900" lvl="4" marL="21717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Pensamento</a:t>
            </a:r>
            <a:endParaRPr/>
          </a:p>
          <a:p>
            <a:pPr indent="-342900" lvl="4" marL="21717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Memória</a:t>
            </a:r>
            <a:endParaRPr/>
          </a:p>
          <a:p>
            <a:pPr indent="-342900" lvl="4" marL="21717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Inteligência</a:t>
            </a:r>
            <a:endParaRPr/>
          </a:p>
          <a:p>
            <a:pPr indent="-342900" lvl="4" marL="21717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Aprendizagem </a:t>
            </a:r>
            <a:endParaRPr/>
          </a:p>
          <a:p>
            <a:pPr indent="-342900" lvl="4" marL="21717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Sentidos</a:t>
            </a:r>
            <a:endParaRPr/>
          </a:p>
          <a:p>
            <a:pPr indent="-342900" lvl="4" marL="21717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Equilíbrio</a:t>
            </a:r>
            <a:endParaRPr/>
          </a:p>
          <a:p>
            <a:pPr indent="-228600" lvl="4" marL="21717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>
              <a:solidFill>
                <a:srgbClr val="222A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erebro.jpg"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7378" y="3286127"/>
            <a:ext cx="4214813" cy="338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/>
        </p:nvSpPr>
        <p:spPr>
          <a:xfrm>
            <a:off x="1524000" y="1071564"/>
            <a:ext cx="8929718" cy="652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3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Sistema nervoso central (SNC)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Encéfalo</a:t>
            </a:r>
            <a:endParaRPr/>
          </a:p>
          <a:p>
            <a:pPr indent="-292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sz="800">
              <a:solidFill>
                <a:srgbClr val="1F386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Cérebro</a:t>
            </a:r>
            <a:endParaRPr/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Tálamo e Hipotálamo (presentes na região inferior do cérebro)</a:t>
            </a:r>
            <a:endParaRPr/>
          </a:p>
          <a:p>
            <a:pPr indent="-342900" lvl="4" marL="21717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Tálamo</a:t>
            </a:r>
            <a:endParaRPr/>
          </a:p>
          <a:p>
            <a:pPr indent="-342900" lvl="5" marL="2628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Reorganização dos estímulos nervosos</a:t>
            </a:r>
            <a:endParaRPr/>
          </a:p>
          <a:p>
            <a:pPr indent="-342900" lvl="5" marL="2628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Percepção sensorial (consciência)</a:t>
            </a:r>
            <a:endParaRPr/>
          </a:p>
          <a:p>
            <a:pPr indent="-342900" lvl="5" marL="2628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4" marL="21717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Hipotálamo</a:t>
            </a:r>
            <a:endParaRPr/>
          </a:p>
          <a:p>
            <a:pPr indent="-342900" lvl="5" marL="2628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Regulador da homeostase corporal</a:t>
            </a:r>
            <a:endParaRPr/>
          </a:p>
          <a:p>
            <a:pPr indent="-342900" lvl="6" marL="3086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Temperatura</a:t>
            </a:r>
            <a:endParaRPr/>
          </a:p>
          <a:p>
            <a:pPr indent="-342900" lvl="6" marL="3086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Apetite</a:t>
            </a:r>
            <a:endParaRPr/>
          </a:p>
          <a:p>
            <a:pPr indent="-342900" lvl="6" marL="3086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Balanço hídrico</a:t>
            </a:r>
            <a:endParaRPr/>
          </a:p>
          <a:p>
            <a:pPr indent="-342900" lvl="6" marL="3086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Controle da hipófise e outras glândulas</a:t>
            </a:r>
            <a:endParaRPr/>
          </a:p>
          <a:p>
            <a:pPr indent="-2286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>
              <a:solidFill>
                <a:srgbClr val="222A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 txBox="1"/>
          <p:nvPr/>
        </p:nvSpPr>
        <p:spPr>
          <a:xfrm>
            <a:off x="1524000" y="1071564"/>
            <a:ext cx="8929688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3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Sistema nervoso central (SNC)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sz="800">
              <a:solidFill>
                <a:srgbClr val="1F386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Cérebro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Tálamo e Hipotálamo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>
              <a:solidFill>
                <a:srgbClr val="222A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 rot="-5400000">
            <a:off x="5238753" y="3929064"/>
            <a:ext cx="1214437" cy="9286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erebro2.jpg" id="154" name="Google Shape;1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8688" y="2143127"/>
            <a:ext cx="5148262" cy="421481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 txBox="1"/>
          <p:nvPr/>
        </p:nvSpPr>
        <p:spPr>
          <a:xfrm>
            <a:off x="4452938" y="4857750"/>
            <a:ext cx="13573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Tálamo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4953003" y="5286376"/>
            <a:ext cx="13573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Hipotálamo</a:t>
            </a:r>
            <a:endParaRPr/>
          </a:p>
        </p:txBody>
      </p:sp>
      <p:cxnSp>
        <p:nvCxnSpPr>
          <p:cNvPr id="157" name="Google Shape;157;p7"/>
          <p:cNvCxnSpPr/>
          <p:nvPr/>
        </p:nvCxnSpPr>
        <p:spPr>
          <a:xfrm flipH="1" rot="10800000">
            <a:off x="5238753" y="4071939"/>
            <a:ext cx="1643063" cy="8572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oval"/>
          </a:ln>
        </p:spPr>
      </p:cxnSp>
      <p:cxnSp>
        <p:nvCxnSpPr>
          <p:cNvPr id="158" name="Google Shape;158;p7"/>
          <p:cNvCxnSpPr/>
          <p:nvPr/>
        </p:nvCxnSpPr>
        <p:spPr>
          <a:xfrm flipH="1" rot="10800000">
            <a:off x="5667378" y="4429126"/>
            <a:ext cx="1000125" cy="8572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oval"/>
          </a:ln>
        </p:spPr>
      </p:cxnSp>
      <p:sp>
        <p:nvSpPr>
          <p:cNvPr id="159" name="Google Shape;159;p7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/>
          <p:nvPr/>
        </p:nvSpPr>
        <p:spPr>
          <a:xfrm>
            <a:off x="1524000" y="1071564"/>
            <a:ext cx="8929688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3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Sistema nervoso central (SNC)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II) Cerebelo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Responsável pelo equilíbrio do corpo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Tônus e vigor muscular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Orientação espacial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Coordenação dos movimentos</a:t>
            </a:r>
            <a:endParaRPr/>
          </a:p>
          <a:p>
            <a:pPr indent="-292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sz="800">
              <a:solidFill>
                <a:srgbClr val="1F386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>
              <a:solidFill>
                <a:srgbClr val="222A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erebro2.jpg" id="167" name="Google Shape;1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063" y="3071813"/>
            <a:ext cx="4343400" cy="35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 txBox="1"/>
          <p:nvPr/>
        </p:nvSpPr>
        <p:spPr>
          <a:xfrm>
            <a:off x="4524378" y="5643564"/>
            <a:ext cx="107156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7381875" y="5857876"/>
            <a:ext cx="17859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Cerebelo</a:t>
            </a:r>
            <a:endParaRPr/>
          </a:p>
        </p:txBody>
      </p:sp>
      <p:cxnSp>
        <p:nvCxnSpPr>
          <p:cNvPr id="170" name="Google Shape;170;p8"/>
          <p:cNvCxnSpPr/>
          <p:nvPr/>
        </p:nvCxnSpPr>
        <p:spPr>
          <a:xfrm>
            <a:off x="6810375" y="5715001"/>
            <a:ext cx="928688" cy="2857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oval"/>
            <a:tailEnd len="sm" w="sm" type="none"/>
          </a:ln>
        </p:spPr>
      </p:cxnSp>
      <p:sp>
        <p:nvSpPr>
          <p:cNvPr id="171" name="Google Shape;171;p8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 txBox="1"/>
          <p:nvPr/>
        </p:nvSpPr>
        <p:spPr>
          <a:xfrm>
            <a:off x="1524000" y="1071564"/>
            <a:ext cx="8929688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3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Sistema nervoso central (SNC)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III) Tronco encefálico 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divisões: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Mesencéfalo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Ponte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Bulbo</a:t>
            </a:r>
            <a:endParaRPr/>
          </a:p>
          <a:p>
            <a:pPr indent="-292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sz="800">
              <a:solidFill>
                <a:srgbClr val="1F386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>
              <a:solidFill>
                <a:srgbClr val="222A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erebro2.jpg" id="179" name="Google Shape;1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063" y="3071813"/>
            <a:ext cx="4343400" cy="35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 txBox="1"/>
          <p:nvPr/>
        </p:nvSpPr>
        <p:spPr>
          <a:xfrm>
            <a:off x="4524378" y="5643564"/>
            <a:ext cx="107156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2809875" y="5643564"/>
            <a:ext cx="17859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Mesencéfalo</a:t>
            </a:r>
            <a:endParaRPr/>
          </a:p>
        </p:txBody>
      </p:sp>
      <p:cxnSp>
        <p:nvCxnSpPr>
          <p:cNvPr id="182" name="Google Shape;182;p9"/>
          <p:cNvCxnSpPr/>
          <p:nvPr/>
        </p:nvCxnSpPr>
        <p:spPr>
          <a:xfrm flipH="1">
            <a:off x="4381500" y="5143500"/>
            <a:ext cx="1500188" cy="6429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oval"/>
            <a:tailEnd len="sm" w="sm" type="none"/>
          </a:ln>
        </p:spPr>
      </p:cxnSp>
      <p:sp>
        <p:nvSpPr>
          <p:cNvPr id="183" name="Google Shape;183;p9"/>
          <p:cNvSpPr txBox="1"/>
          <p:nvPr/>
        </p:nvSpPr>
        <p:spPr>
          <a:xfrm>
            <a:off x="3595691" y="5929314"/>
            <a:ext cx="17859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Ponte</a:t>
            </a:r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4024316" y="6286500"/>
            <a:ext cx="17859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Bulbo</a:t>
            </a:r>
            <a:endParaRPr/>
          </a:p>
        </p:txBody>
      </p:sp>
      <p:cxnSp>
        <p:nvCxnSpPr>
          <p:cNvPr id="185" name="Google Shape;185;p9"/>
          <p:cNvCxnSpPr/>
          <p:nvPr/>
        </p:nvCxnSpPr>
        <p:spPr>
          <a:xfrm flipH="1">
            <a:off x="4810128" y="5643563"/>
            <a:ext cx="1000125" cy="42862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oval"/>
            <a:tailEnd len="sm" w="sm" type="none"/>
          </a:ln>
        </p:spPr>
      </p:cxnSp>
      <p:cxnSp>
        <p:nvCxnSpPr>
          <p:cNvPr id="186" name="Google Shape;186;p9"/>
          <p:cNvCxnSpPr/>
          <p:nvPr/>
        </p:nvCxnSpPr>
        <p:spPr>
          <a:xfrm flipH="1">
            <a:off x="5238750" y="6072190"/>
            <a:ext cx="857250" cy="35718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oval"/>
            <a:tailEnd len="sm" w="sm" type="none"/>
          </a:ln>
        </p:spPr>
      </p:cxnSp>
      <p:sp>
        <p:nvSpPr>
          <p:cNvPr id="187" name="Google Shape;187;p9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 txBox="1"/>
          <p:nvPr/>
        </p:nvSpPr>
        <p:spPr>
          <a:xfrm>
            <a:off x="1524000" y="1071564"/>
            <a:ext cx="8929688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3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Sistema nervoso central (SNC)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III)  Tronco encefálico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Mesencéfalo</a:t>
            </a:r>
            <a:endParaRPr/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Recepção e coordenação da contração muscular</a:t>
            </a:r>
            <a:endParaRPr/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Postura corporal</a:t>
            </a:r>
            <a:endParaRPr/>
          </a:p>
          <a:p>
            <a:pPr indent="-2286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sz="800">
              <a:solidFill>
                <a:srgbClr val="1F386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>
              <a:solidFill>
                <a:srgbClr val="222A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erebro2.jpg" id="195" name="Google Shape;1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063" y="3071813"/>
            <a:ext cx="4343400" cy="35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0"/>
          <p:cNvSpPr txBox="1"/>
          <p:nvPr/>
        </p:nvSpPr>
        <p:spPr>
          <a:xfrm>
            <a:off x="4524378" y="5643564"/>
            <a:ext cx="107156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2809875" y="5643564"/>
            <a:ext cx="17859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Mesencéfalo</a:t>
            </a:r>
            <a:endParaRPr/>
          </a:p>
        </p:txBody>
      </p:sp>
      <p:cxnSp>
        <p:nvCxnSpPr>
          <p:cNvPr id="198" name="Google Shape;198;p10"/>
          <p:cNvCxnSpPr/>
          <p:nvPr/>
        </p:nvCxnSpPr>
        <p:spPr>
          <a:xfrm flipH="1">
            <a:off x="4381500" y="5143500"/>
            <a:ext cx="1500188" cy="6429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oval"/>
            <a:tailEnd len="sm" w="sm" type="none"/>
          </a:ln>
        </p:spPr>
      </p:cxnSp>
      <p:sp>
        <p:nvSpPr>
          <p:cNvPr id="199" name="Google Shape;199;p10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/>
          <p:nvPr/>
        </p:nvSpPr>
        <p:spPr>
          <a:xfrm>
            <a:off x="1524000" y="1071564"/>
            <a:ext cx="8929688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3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Sistema nervoso central (SNC)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III)  Tronco encefálico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Ponte</a:t>
            </a:r>
            <a:endParaRPr/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Manutenção da postura corporal, equilíbrio do corpo e tônus muscular.</a:t>
            </a:r>
            <a:endParaRPr/>
          </a:p>
          <a:p>
            <a:pPr indent="-2286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sz="800">
              <a:solidFill>
                <a:srgbClr val="1F386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>
              <a:solidFill>
                <a:srgbClr val="222A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erebro2.jpg" id="207" name="Google Shape;2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063" y="3071813"/>
            <a:ext cx="4343400" cy="35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1"/>
          <p:cNvSpPr txBox="1"/>
          <p:nvPr/>
        </p:nvSpPr>
        <p:spPr>
          <a:xfrm>
            <a:off x="4524378" y="5643564"/>
            <a:ext cx="107156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3595691" y="5929314"/>
            <a:ext cx="17859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Ponte</a:t>
            </a:r>
            <a:endParaRPr/>
          </a:p>
        </p:txBody>
      </p:sp>
      <p:cxnSp>
        <p:nvCxnSpPr>
          <p:cNvPr id="210" name="Google Shape;210;p11"/>
          <p:cNvCxnSpPr/>
          <p:nvPr/>
        </p:nvCxnSpPr>
        <p:spPr>
          <a:xfrm flipH="1">
            <a:off x="4810128" y="5643563"/>
            <a:ext cx="1000125" cy="42862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oval"/>
            <a:tailEnd len="sm" w="sm" type="none"/>
          </a:ln>
        </p:spPr>
      </p:cxnSp>
      <p:sp>
        <p:nvSpPr>
          <p:cNvPr id="211" name="Google Shape;211;p11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 txBox="1"/>
          <p:nvPr/>
        </p:nvSpPr>
        <p:spPr>
          <a:xfrm>
            <a:off x="1524000" y="1071566"/>
            <a:ext cx="8929688" cy="4585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3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Sistema nervoso central (SNC)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III)  Tronco encefálico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Bulbo</a:t>
            </a:r>
            <a:endParaRPr/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Controle dos batimentos cardíacos</a:t>
            </a:r>
            <a:endParaRPr/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Controle dos movimentos respiratórios</a:t>
            </a:r>
            <a:endParaRPr/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Controle da deglutição (engolir)</a:t>
            </a:r>
            <a:endParaRPr/>
          </a:p>
          <a:p>
            <a:pPr indent="-2286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sz="800">
              <a:solidFill>
                <a:srgbClr val="1F386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>
              <a:solidFill>
                <a:srgbClr val="222A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erebro2.jpg" id="219" name="Google Shape;2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063" y="3071813"/>
            <a:ext cx="4343400" cy="35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2"/>
          <p:cNvSpPr txBox="1"/>
          <p:nvPr/>
        </p:nvSpPr>
        <p:spPr>
          <a:xfrm>
            <a:off x="4524378" y="5643564"/>
            <a:ext cx="107156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 txBox="1"/>
          <p:nvPr/>
        </p:nvSpPr>
        <p:spPr>
          <a:xfrm>
            <a:off x="4024316" y="6286500"/>
            <a:ext cx="17859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Bulbo</a:t>
            </a:r>
            <a:endParaRPr/>
          </a:p>
        </p:txBody>
      </p:sp>
      <p:cxnSp>
        <p:nvCxnSpPr>
          <p:cNvPr id="222" name="Google Shape;222;p12"/>
          <p:cNvCxnSpPr/>
          <p:nvPr/>
        </p:nvCxnSpPr>
        <p:spPr>
          <a:xfrm flipH="1">
            <a:off x="5238750" y="6072190"/>
            <a:ext cx="857250" cy="35718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oval"/>
            <a:tailEnd len="sm" w="sm" type="none"/>
          </a:ln>
        </p:spPr>
      </p:cxnSp>
      <p:sp>
        <p:nvSpPr>
          <p:cNvPr id="223" name="Google Shape;223;p12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/>
          <p:nvPr/>
        </p:nvSpPr>
        <p:spPr>
          <a:xfrm>
            <a:off x="1524000" y="1071563"/>
            <a:ext cx="8929688" cy="4862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3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Sistema nervoso central (SNC)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b)  Medula Espinhal (raque)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Cordão cilíndrico que parte da base do encéfalo e percorre toda a coluna vertebral.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Aloja-se dentro das perfurações das vértebras.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 medula espinhal partem 31 pares de nervos raquidianos</a:t>
            </a:r>
            <a:endParaRPr/>
          </a:p>
          <a:p>
            <a:pPr indent="-2286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sz="800">
              <a:solidFill>
                <a:srgbClr val="1F386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>
              <a:solidFill>
                <a:srgbClr val="222A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 txBox="1"/>
          <p:nvPr/>
        </p:nvSpPr>
        <p:spPr>
          <a:xfrm>
            <a:off x="4524378" y="5643564"/>
            <a:ext cx="107156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dula.jpg" id="232" name="Google Shape;2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3" y="3214689"/>
            <a:ext cx="2786063" cy="345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dula_espinhal.bmp" id="233" name="Google Shape;23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0788" y="3643313"/>
            <a:ext cx="535940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3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 txBox="1"/>
          <p:nvPr/>
        </p:nvSpPr>
        <p:spPr>
          <a:xfrm>
            <a:off x="1524000" y="1071563"/>
            <a:ext cx="8929688" cy="4939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3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Sistema nervoso central (SNC)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b)  Medula Espinhal (raque)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Funções da medula</a:t>
            </a:r>
            <a:endParaRPr/>
          </a:p>
          <a:p>
            <a:pPr indent="-31115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Noto Sans Symbols"/>
              <a:buNone/>
            </a:pPr>
            <a:r>
              <a:t/>
            </a:r>
            <a:endParaRPr b="1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Recebe as informações de diversas partes do corpo e as enviam para o encéfalo e vice-versa.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Responsável pelos atos reflexos (reflexo medular).</a:t>
            </a:r>
            <a:endParaRPr/>
          </a:p>
          <a:p>
            <a:pPr indent="-2286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sz="800">
              <a:solidFill>
                <a:srgbClr val="1F386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>
              <a:solidFill>
                <a:srgbClr val="222A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 txBox="1"/>
          <p:nvPr/>
        </p:nvSpPr>
        <p:spPr>
          <a:xfrm>
            <a:off x="4524378" y="5643564"/>
            <a:ext cx="107156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_jpge1ca64e6-d9b4-41fe-b95f-cdbb429dd42fLarge.jpg" id="243" name="Google Shape;2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5802" y="3571876"/>
            <a:ext cx="3071810" cy="307181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244" name="Google Shape;244;p14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"/>
          <p:cNvSpPr txBox="1"/>
          <p:nvPr/>
        </p:nvSpPr>
        <p:spPr>
          <a:xfrm>
            <a:off x="1524000" y="1071563"/>
            <a:ext cx="8929688" cy="3677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3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Sistema nervoso central (SNC)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b)  Medula Espinhal (raque)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Reflexo Medular</a:t>
            </a:r>
            <a:endParaRPr/>
          </a:p>
          <a:p>
            <a:pPr indent="-31115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Noto Sans Symbols"/>
              <a:buNone/>
            </a:pPr>
            <a:r>
              <a:t/>
            </a:r>
            <a:endParaRPr b="1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sz="800">
              <a:solidFill>
                <a:srgbClr val="1F386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>
              <a:solidFill>
                <a:srgbClr val="222A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 txBox="1"/>
          <p:nvPr/>
        </p:nvSpPr>
        <p:spPr>
          <a:xfrm>
            <a:off x="4524378" y="5643564"/>
            <a:ext cx="107156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flexo.jpg" id="253" name="Google Shape;253;p15"/>
          <p:cNvPicPr preferRelativeResize="0"/>
          <p:nvPr/>
        </p:nvPicPr>
        <p:blipFill rotWithShape="1">
          <a:blip r:embed="rId3">
            <a:alphaModFix/>
          </a:blip>
          <a:srcRect b="1706" l="0" r="0" t="0"/>
          <a:stretch/>
        </p:blipFill>
        <p:spPr>
          <a:xfrm>
            <a:off x="2096644" y="2378908"/>
            <a:ext cx="8031805" cy="414643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5"/>
          <p:cNvSpPr/>
          <p:nvPr/>
        </p:nvSpPr>
        <p:spPr>
          <a:xfrm>
            <a:off x="4881566" y="1571624"/>
            <a:ext cx="5572125" cy="681038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A6B6DE"/>
              </a:gs>
              <a:gs pos="50000">
                <a:srgbClr val="98AAD9"/>
              </a:gs>
              <a:gs pos="100000">
                <a:srgbClr val="859CD7"/>
              </a:gs>
            </a:gsLst>
            <a:lin ang="5400000" scaled="0"/>
          </a:gradFill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medula espinhal é capaz de elaborar respostas rápidas em situações de emergência, sem a interferência do encéfalo.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"/>
          <p:cNvSpPr txBox="1"/>
          <p:nvPr/>
        </p:nvSpPr>
        <p:spPr>
          <a:xfrm>
            <a:off x="1524000" y="1071563"/>
            <a:ext cx="8929688" cy="4785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3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Sistema nervoso central (SNC)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c)  Meninges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três delicadas membranas que revestem e protegem o sistema nervoso central (SNC).</a:t>
            </a:r>
            <a:endParaRPr/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Dura-máter </a:t>
            </a:r>
            <a:endParaRPr/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Aracnóide </a:t>
            </a:r>
            <a:endParaRPr/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Pia-máter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Noto Sans Symbols"/>
              <a:buNone/>
            </a:pPr>
            <a:r>
              <a:t/>
            </a:r>
            <a:endParaRPr b="1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sz="800">
              <a:solidFill>
                <a:srgbClr val="1F386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>
              <a:solidFill>
                <a:srgbClr val="222A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 txBox="1"/>
          <p:nvPr/>
        </p:nvSpPr>
        <p:spPr>
          <a:xfrm>
            <a:off x="4524378" y="5643564"/>
            <a:ext cx="107156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dula2.jpg" id="264" name="Google Shape;26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3571876"/>
            <a:ext cx="4286250" cy="2390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ninge.jpg" id="265" name="Google Shape;26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4566" y="2714626"/>
            <a:ext cx="4643437" cy="360997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6"/>
          <p:cNvSpPr txBox="1"/>
          <p:nvPr/>
        </p:nvSpPr>
        <p:spPr>
          <a:xfrm>
            <a:off x="2809875" y="6072189"/>
            <a:ext cx="17859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Medula espinhal</a:t>
            </a:r>
            <a:endParaRPr/>
          </a:p>
        </p:txBody>
      </p:sp>
      <p:sp>
        <p:nvSpPr>
          <p:cNvPr id="267" name="Google Shape;267;p16"/>
          <p:cNvSpPr txBox="1"/>
          <p:nvPr/>
        </p:nvSpPr>
        <p:spPr>
          <a:xfrm>
            <a:off x="7739066" y="6215064"/>
            <a:ext cx="17859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Encéfalo</a:t>
            </a:r>
            <a:endParaRPr/>
          </a:p>
        </p:txBody>
      </p:sp>
      <p:sp>
        <p:nvSpPr>
          <p:cNvPr id="268" name="Google Shape;268;p16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rvo1.jpg" id="275" name="Google Shape;27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0176" y="3429001"/>
            <a:ext cx="2952750" cy="30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7"/>
          <p:cNvSpPr txBox="1"/>
          <p:nvPr/>
        </p:nvSpPr>
        <p:spPr>
          <a:xfrm>
            <a:off x="1524000" y="1062890"/>
            <a:ext cx="8929688" cy="56784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4)  Sistema nervoso periférico (SNP)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Constituído por: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Nervos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Gânglios nervosos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Terminações nervosas (receptores para dor, tato, frio, pressão, calor, paladar, etc.).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Noto Sans Symbols"/>
              <a:buNone/>
            </a:pPr>
            <a:r>
              <a:t/>
            </a:r>
            <a:endParaRPr b="1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Nervos</a:t>
            </a:r>
            <a:endParaRPr/>
          </a:p>
          <a:p>
            <a:pPr indent="-292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sz="800">
              <a:solidFill>
                <a:srgbClr val="1F386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São fios finos formados por vários axônios de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neurônios envolvidos por tecido conjuntivo.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Transmitem mensagens de várias partes do corpo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para o sistema nervoso central ou destes para as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regiões corporais.	</a:t>
            </a:r>
            <a:endParaRPr b="0" i="0" sz="1800" u="none" cap="none" strike="noStrike">
              <a:solidFill>
                <a:srgbClr val="222A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 txBox="1"/>
          <p:nvPr/>
        </p:nvSpPr>
        <p:spPr>
          <a:xfrm>
            <a:off x="4524378" y="5480721"/>
            <a:ext cx="107156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"/>
          <p:cNvSpPr txBox="1"/>
          <p:nvPr/>
        </p:nvSpPr>
        <p:spPr>
          <a:xfrm>
            <a:off x="1524000" y="1071564"/>
            <a:ext cx="8929688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4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Sistema nervoso periférico (SNP)</a:t>
            </a:r>
            <a:endParaRPr/>
          </a:p>
          <a:p>
            <a:pPr indent="-2286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Classificação dos nervos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UcParenR"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Quanto ao tipo de neurônio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Sensitivos  ou aferentes (contém apenas neurônios sensitivos)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Motores ou eferentes (contém apenas neurônios motores)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Mistos (contém neurônios sensitivos e motores)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UcParenR"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Quanto à posição anatômica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Cranianos (ligados ao encéfalo) –  12 pares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Raquidianos  ou espinhais (ligados à medula) – 31 pares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 txBox="1"/>
          <p:nvPr/>
        </p:nvSpPr>
        <p:spPr>
          <a:xfrm>
            <a:off x="4524378" y="5643564"/>
            <a:ext cx="107156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ervos.jpg" id="287" name="Google Shape;28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400" y="1628800"/>
            <a:ext cx="18796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8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"/>
          <p:cNvSpPr txBox="1"/>
          <p:nvPr/>
        </p:nvSpPr>
        <p:spPr>
          <a:xfrm>
            <a:off x="1524000" y="1071565"/>
            <a:ext cx="8929688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4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Sistema nervoso periférico (SNP)</a:t>
            </a:r>
            <a:endParaRPr/>
          </a:p>
          <a:p>
            <a:pPr indent="-2286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Gânglios nervosos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Aglomerado de corpos celulares de neurônios encontrados fora do sistema nervo central.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4524378" y="5643564"/>
            <a:ext cx="107156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ervo1.jpg" id="297" name="Google Shape;2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4375" y="3643315"/>
            <a:ext cx="2952750" cy="300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anglios.jpg" id="298" name="Google Shape;2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1691" y="2857500"/>
            <a:ext cx="2270125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9"/>
          <p:cNvSpPr txBox="1"/>
          <p:nvPr/>
        </p:nvSpPr>
        <p:spPr>
          <a:xfrm>
            <a:off x="8096250" y="3571877"/>
            <a:ext cx="200025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Corpos celulares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19"/>
          <p:cNvCxnSpPr/>
          <p:nvPr/>
        </p:nvCxnSpPr>
        <p:spPr>
          <a:xfrm>
            <a:off x="7167566" y="3571876"/>
            <a:ext cx="928687" cy="14287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01" name="Google Shape;301;p19"/>
          <p:cNvCxnSpPr/>
          <p:nvPr/>
        </p:nvCxnSpPr>
        <p:spPr>
          <a:xfrm flipH="1" rot="-5400000">
            <a:off x="7024689" y="3429002"/>
            <a:ext cx="142876" cy="1428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2" name="Google Shape;302;p19"/>
          <p:cNvCxnSpPr/>
          <p:nvPr/>
        </p:nvCxnSpPr>
        <p:spPr>
          <a:xfrm flipH="1" rot="10800000">
            <a:off x="7024691" y="3571875"/>
            <a:ext cx="142875" cy="714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3" name="Google Shape;303;p19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www.afh.bio.br/sentidos/img/sentidos%20pele.jpg" id="310" name="Google Shape;3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8437" y="2286003"/>
            <a:ext cx="6631985" cy="435560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0"/>
          <p:cNvSpPr/>
          <p:nvPr/>
        </p:nvSpPr>
        <p:spPr>
          <a:xfrm>
            <a:off x="8024813" y="3857627"/>
            <a:ext cx="1071562" cy="500063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1524000" y="1071564"/>
            <a:ext cx="892968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4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Sistema nervoso periférico (SNP)</a:t>
            </a:r>
            <a:endParaRPr/>
          </a:p>
          <a:p>
            <a:pPr indent="-2286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Terminações Nervosas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4810125" y="1571627"/>
            <a:ext cx="55006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Captam estímulos do meio interno ou externo e os levam para o sistema nervoso central.</a:t>
            </a:r>
            <a:endParaRPr/>
          </a:p>
        </p:txBody>
      </p:sp>
      <p:sp>
        <p:nvSpPr>
          <p:cNvPr id="314" name="Google Shape;314;p20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"/>
          <p:cNvSpPr txBox="1"/>
          <p:nvPr/>
        </p:nvSpPr>
        <p:spPr>
          <a:xfrm>
            <a:off x="1524000" y="1071564"/>
            <a:ext cx="892968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4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Sistema nervoso periférico (SNP)</a:t>
            </a:r>
            <a:endParaRPr/>
          </a:p>
          <a:p>
            <a:pPr indent="-2286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Divisão do sistema nervoso periférico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2" name="Google Shape;322;p21"/>
          <p:cNvGraphicFramePr/>
          <p:nvPr/>
        </p:nvGraphicFramePr>
        <p:xfrm>
          <a:off x="1666878" y="22860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{80561D33-CEA2-4CCC-B598-FAF41D946636}</a:tableStyleId>
              </a:tblPr>
              <a:tblGrid>
                <a:gridCol w="3214700"/>
                <a:gridCol w="3919900"/>
                <a:gridCol w="1652225"/>
              </a:tblGrid>
              <a:tr h="80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0000"/>
                          </a:solidFill>
                        </a:rPr>
                        <a:t>Sistema Nervoso Voluntário </a:t>
                      </a:r>
                      <a:r>
                        <a:rPr lang="pt-BR" sz="1800"/>
                        <a:t>(somático)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/>
                        <a:t>Ações conscientes:</a:t>
                      </a:r>
                      <a:r>
                        <a:rPr b="1" lang="pt-BR" sz="1800"/>
                        <a:t> </a:t>
                      </a:r>
                      <a:r>
                        <a:rPr lang="pt-BR" sz="1800"/>
                        <a:t>andar, falar, pensar, movimentar um braço, etc.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297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70C0"/>
                          </a:solidFill>
                        </a:rPr>
                        <a:t>Sistema Nervoso Autônomo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(visceral)</a:t>
                      </a:r>
                      <a:endParaRPr/>
                    </a:p>
                  </a:txBody>
                  <a:tcPr marT="45725" marB="45725" marR="91450" marL="91450"/>
                </a:tc>
                <a:tc rowSpan="2"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/>
                        <a:t>Ações inconscientes:</a:t>
                      </a:r>
                      <a:r>
                        <a:rPr lang="pt-BR" sz="1800"/>
                        <a:t> controle</a:t>
                      </a:r>
                      <a:r>
                        <a:rPr lang="pt-BR" sz="1800"/>
                        <a:t> da digestão, batimentos cardíacos, movimento das vísceras, etc.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70C0"/>
                          </a:solidFill>
                        </a:rPr>
                        <a:t>Simpático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414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70C0"/>
                          </a:solidFill>
                        </a:rPr>
                        <a:t>Parassimpático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23" name="Google Shape;323;p21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"/>
          <p:cNvSpPr txBox="1"/>
          <p:nvPr/>
        </p:nvSpPr>
        <p:spPr>
          <a:xfrm>
            <a:off x="1524000" y="1071563"/>
            <a:ext cx="8929688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4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Sistema nervoso periférico (SNP)</a:t>
            </a:r>
            <a:endParaRPr/>
          </a:p>
          <a:p>
            <a:pPr indent="-2286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Nervoso Voluntário (Somático)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Formado por nervos motores que conduzem impulsos do sistema nervoso central (SNC) à musculatura estriada esquelética.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Determina ações conscientes: Andar, falar, abraçar, correr, etc.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2286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3238503" y="4071938"/>
            <a:ext cx="1285875" cy="1143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3309938" y="4286250"/>
            <a:ext cx="1143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SNC</a:t>
            </a:r>
            <a:endParaRPr/>
          </a:p>
        </p:txBody>
      </p:sp>
      <p:cxnSp>
        <p:nvCxnSpPr>
          <p:cNvPr id="333" name="Google Shape;333;p22"/>
          <p:cNvCxnSpPr/>
          <p:nvPr/>
        </p:nvCxnSpPr>
        <p:spPr>
          <a:xfrm>
            <a:off x="3952875" y="4857750"/>
            <a:ext cx="257175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4" name="Google Shape;334;p22"/>
          <p:cNvSpPr/>
          <p:nvPr/>
        </p:nvSpPr>
        <p:spPr>
          <a:xfrm>
            <a:off x="3810000" y="4714876"/>
            <a:ext cx="357188" cy="28575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22"/>
          <p:cNvCxnSpPr/>
          <p:nvPr/>
        </p:nvCxnSpPr>
        <p:spPr>
          <a:xfrm flipH="1" rot="10800000">
            <a:off x="6524625" y="4643439"/>
            <a:ext cx="285750" cy="21431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6" name="Google Shape;336;p22"/>
          <p:cNvCxnSpPr/>
          <p:nvPr/>
        </p:nvCxnSpPr>
        <p:spPr>
          <a:xfrm>
            <a:off x="6524625" y="4857752"/>
            <a:ext cx="285750" cy="21431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7" name="Google Shape;337;p22"/>
          <p:cNvSpPr/>
          <p:nvPr/>
        </p:nvSpPr>
        <p:spPr>
          <a:xfrm rot="5400000">
            <a:off x="6203158" y="4464847"/>
            <a:ext cx="1928813" cy="714375"/>
          </a:xfrm>
          <a:prstGeom prst="flowChartDecision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2"/>
          <p:cNvSpPr txBox="1"/>
          <p:nvPr/>
        </p:nvSpPr>
        <p:spPr>
          <a:xfrm>
            <a:off x="2809878" y="5286377"/>
            <a:ext cx="22145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Corpos celulares dentro do SNC</a:t>
            </a:r>
            <a:endParaRPr/>
          </a:p>
        </p:txBody>
      </p:sp>
      <p:sp>
        <p:nvSpPr>
          <p:cNvPr id="339" name="Google Shape;339;p22"/>
          <p:cNvSpPr txBox="1"/>
          <p:nvPr/>
        </p:nvSpPr>
        <p:spPr>
          <a:xfrm>
            <a:off x="5881688" y="5857877"/>
            <a:ext cx="2500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Axônios controlando a musculatura esquelética</a:t>
            </a:r>
            <a:endParaRPr/>
          </a:p>
        </p:txBody>
      </p:sp>
      <p:cxnSp>
        <p:nvCxnSpPr>
          <p:cNvPr id="340" name="Google Shape;340;p22"/>
          <p:cNvCxnSpPr/>
          <p:nvPr/>
        </p:nvCxnSpPr>
        <p:spPr>
          <a:xfrm>
            <a:off x="5095875" y="4500563"/>
            <a:ext cx="642938" cy="1588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1" name="Google Shape;341;p22"/>
          <p:cNvCxnSpPr/>
          <p:nvPr/>
        </p:nvCxnSpPr>
        <p:spPr>
          <a:xfrm rot="5400000">
            <a:off x="6704013" y="4892675"/>
            <a:ext cx="500062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2" name="Google Shape;342;p22"/>
          <p:cNvCxnSpPr/>
          <p:nvPr/>
        </p:nvCxnSpPr>
        <p:spPr>
          <a:xfrm rot="5400000">
            <a:off x="6632577" y="4821241"/>
            <a:ext cx="785813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3" name="Google Shape;343;p22"/>
          <p:cNvCxnSpPr/>
          <p:nvPr/>
        </p:nvCxnSpPr>
        <p:spPr>
          <a:xfrm rot="5400000">
            <a:off x="7061201" y="4892677"/>
            <a:ext cx="500062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4" name="Google Shape;344;p22"/>
          <p:cNvCxnSpPr/>
          <p:nvPr/>
        </p:nvCxnSpPr>
        <p:spPr>
          <a:xfrm rot="5400000">
            <a:off x="6846889" y="4821238"/>
            <a:ext cx="785813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5" name="Google Shape;345;p22"/>
          <p:cNvCxnSpPr/>
          <p:nvPr/>
        </p:nvCxnSpPr>
        <p:spPr>
          <a:xfrm rot="5400000">
            <a:off x="6453982" y="4785519"/>
            <a:ext cx="1285876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6" name="Google Shape;346;p22"/>
          <p:cNvCxnSpPr/>
          <p:nvPr/>
        </p:nvCxnSpPr>
        <p:spPr>
          <a:xfrm rot="5400000">
            <a:off x="6525420" y="4785522"/>
            <a:ext cx="1285876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7" name="Google Shape;347;p22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3"/>
          <p:cNvSpPr txBox="1"/>
          <p:nvPr/>
        </p:nvSpPr>
        <p:spPr>
          <a:xfrm>
            <a:off x="1524000" y="1071564"/>
            <a:ext cx="8929688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4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Sistema nervoso periférico (SNP)</a:t>
            </a:r>
            <a:endParaRPr/>
          </a:p>
          <a:p>
            <a:pPr indent="-2286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 Sistema Nervoso Autônomo (vegetativo ou visceral)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Constituído por nervos motores que conduzem impulsos do sistema nervoso central à musculatura lisa de órgãos viscerais, músculos cardíacos e glândulas.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Realiza o controle da digestão, sistema cardiovascular, excretor e endócrino.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Os nervos do SNP autônomo possuem dois tipos de neurônios: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U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Pré-ganglionares (corpo celular dentro do SNC)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U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Pós-ganglionares (Corpo celular dentro do gânglio)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2286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3024191" y="5143500"/>
            <a:ext cx="1285875" cy="1143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6" name="Google Shape;356;p23"/>
          <p:cNvGrpSpPr/>
          <p:nvPr/>
        </p:nvGrpSpPr>
        <p:grpSpPr>
          <a:xfrm>
            <a:off x="3667125" y="5715001"/>
            <a:ext cx="1785938" cy="285750"/>
            <a:chOff x="2285984" y="4714884"/>
            <a:chExt cx="2714644" cy="285752"/>
          </a:xfrm>
        </p:grpSpPr>
        <p:cxnSp>
          <p:nvCxnSpPr>
            <p:cNvPr id="357" name="Google Shape;357;p23"/>
            <p:cNvCxnSpPr/>
            <p:nvPr/>
          </p:nvCxnSpPr>
          <p:spPr>
            <a:xfrm>
              <a:off x="2428353" y="4857760"/>
              <a:ext cx="2572275" cy="15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58" name="Google Shape;358;p23"/>
            <p:cNvSpPr/>
            <p:nvPr/>
          </p:nvSpPr>
          <p:spPr>
            <a:xfrm>
              <a:off x="2285984" y="4714884"/>
              <a:ext cx="357126" cy="285752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359;p23"/>
          <p:cNvGrpSpPr/>
          <p:nvPr/>
        </p:nvGrpSpPr>
        <p:grpSpPr>
          <a:xfrm>
            <a:off x="5453063" y="5643563"/>
            <a:ext cx="285750" cy="428626"/>
            <a:chOff x="5000628" y="4643446"/>
            <a:chExt cx="285752" cy="428628"/>
          </a:xfrm>
        </p:grpSpPr>
        <p:cxnSp>
          <p:nvCxnSpPr>
            <p:cNvPr id="360" name="Google Shape;360;p23"/>
            <p:cNvCxnSpPr/>
            <p:nvPr/>
          </p:nvCxnSpPr>
          <p:spPr>
            <a:xfrm flipH="1" rot="10800000">
              <a:off x="5000628" y="4643446"/>
              <a:ext cx="285752" cy="21431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1" name="Google Shape;361;p23"/>
            <p:cNvCxnSpPr/>
            <p:nvPr/>
          </p:nvCxnSpPr>
          <p:spPr>
            <a:xfrm>
              <a:off x="5000628" y="4857759"/>
              <a:ext cx="285752" cy="21431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62" name="Google Shape;362;p23"/>
          <p:cNvGrpSpPr/>
          <p:nvPr/>
        </p:nvGrpSpPr>
        <p:grpSpPr>
          <a:xfrm>
            <a:off x="5810250" y="5715001"/>
            <a:ext cx="1785938" cy="285750"/>
            <a:chOff x="2285984" y="4714884"/>
            <a:chExt cx="2714644" cy="285752"/>
          </a:xfrm>
        </p:grpSpPr>
        <p:cxnSp>
          <p:nvCxnSpPr>
            <p:cNvPr id="363" name="Google Shape;363;p23"/>
            <p:cNvCxnSpPr/>
            <p:nvPr/>
          </p:nvCxnSpPr>
          <p:spPr>
            <a:xfrm>
              <a:off x="2428353" y="4857760"/>
              <a:ext cx="2572275" cy="15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4" name="Google Shape;364;p23"/>
            <p:cNvSpPr/>
            <p:nvPr/>
          </p:nvSpPr>
          <p:spPr>
            <a:xfrm>
              <a:off x="2285984" y="4714884"/>
              <a:ext cx="357126" cy="285752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23"/>
          <p:cNvGrpSpPr/>
          <p:nvPr/>
        </p:nvGrpSpPr>
        <p:grpSpPr>
          <a:xfrm>
            <a:off x="7596188" y="5643563"/>
            <a:ext cx="285750" cy="428626"/>
            <a:chOff x="5000628" y="4643446"/>
            <a:chExt cx="285752" cy="428628"/>
          </a:xfrm>
        </p:grpSpPr>
        <p:cxnSp>
          <p:nvCxnSpPr>
            <p:cNvPr id="366" name="Google Shape;366;p23"/>
            <p:cNvCxnSpPr/>
            <p:nvPr/>
          </p:nvCxnSpPr>
          <p:spPr>
            <a:xfrm flipH="1" rot="10800000">
              <a:off x="5000628" y="4643446"/>
              <a:ext cx="285752" cy="21431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" name="Google Shape;367;p23"/>
            <p:cNvCxnSpPr/>
            <p:nvPr/>
          </p:nvCxnSpPr>
          <p:spPr>
            <a:xfrm>
              <a:off x="5000628" y="4857759"/>
              <a:ext cx="285752" cy="21431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68" name="Google Shape;368;p23"/>
          <p:cNvSpPr/>
          <p:nvPr/>
        </p:nvSpPr>
        <p:spPr>
          <a:xfrm>
            <a:off x="7953375" y="5500688"/>
            <a:ext cx="928688" cy="1000126"/>
          </a:xfrm>
          <a:prstGeom prst="hear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3"/>
          <p:cNvSpPr txBox="1"/>
          <p:nvPr/>
        </p:nvSpPr>
        <p:spPr>
          <a:xfrm>
            <a:off x="3095625" y="5214939"/>
            <a:ext cx="1143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SNC</a:t>
            </a:r>
            <a:endParaRPr/>
          </a:p>
        </p:txBody>
      </p:sp>
      <p:sp>
        <p:nvSpPr>
          <p:cNvPr id="370" name="Google Shape;370;p23"/>
          <p:cNvSpPr/>
          <p:nvPr/>
        </p:nvSpPr>
        <p:spPr>
          <a:xfrm>
            <a:off x="5310191" y="5429251"/>
            <a:ext cx="928687" cy="92868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3"/>
          <p:cNvSpPr txBox="1"/>
          <p:nvPr/>
        </p:nvSpPr>
        <p:spPr>
          <a:xfrm>
            <a:off x="7881941" y="5000626"/>
            <a:ext cx="9286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órgão</a:t>
            </a:r>
            <a:endParaRPr/>
          </a:p>
        </p:txBody>
      </p:sp>
      <p:sp>
        <p:nvSpPr>
          <p:cNvPr id="372" name="Google Shape;372;p23"/>
          <p:cNvSpPr txBox="1"/>
          <p:nvPr/>
        </p:nvSpPr>
        <p:spPr>
          <a:xfrm>
            <a:off x="5310191" y="5072064"/>
            <a:ext cx="9286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gânglio</a:t>
            </a:r>
            <a:endParaRPr/>
          </a:p>
        </p:txBody>
      </p:sp>
      <p:sp>
        <p:nvSpPr>
          <p:cNvPr id="373" name="Google Shape;373;p23"/>
          <p:cNvSpPr txBox="1"/>
          <p:nvPr/>
        </p:nvSpPr>
        <p:spPr>
          <a:xfrm>
            <a:off x="6167438" y="6072190"/>
            <a:ext cx="164306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Neurônio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Pós-ganglionar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3810003" y="6072190"/>
            <a:ext cx="16430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Neurônio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Pré-ganglionar</a:t>
            </a:r>
            <a:endParaRPr/>
          </a:p>
        </p:txBody>
      </p:sp>
      <p:cxnSp>
        <p:nvCxnSpPr>
          <p:cNvPr id="375" name="Google Shape;375;p23"/>
          <p:cNvCxnSpPr/>
          <p:nvPr/>
        </p:nvCxnSpPr>
        <p:spPr>
          <a:xfrm>
            <a:off x="4524378" y="5572126"/>
            <a:ext cx="428625" cy="1588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76" name="Google Shape;376;p23"/>
          <p:cNvCxnSpPr/>
          <p:nvPr/>
        </p:nvCxnSpPr>
        <p:spPr>
          <a:xfrm>
            <a:off x="6738941" y="5643563"/>
            <a:ext cx="428625" cy="1588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377" name="Google Shape;377;p23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4"/>
          <p:cNvSpPr txBox="1"/>
          <p:nvPr/>
        </p:nvSpPr>
        <p:spPr>
          <a:xfrm>
            <a:off x="1524000" y="1071564"/>
            <a:ext cx="914400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4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Sistema nervoso periférico (SNP)</a:t>
            </a:r>
            <a:endParaRPr/>
          </a:p>
          <a:p>
            <a:pPr indent="-2286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 Sistema Nervoso Autônomo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É dividido em duas partes: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U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Simpático</a:t>
            </a:r>
            <a:endParaRPr/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U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Parassimpático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Nervoso Simpático: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Prepara o organismo para o estresse (instinto de fuga ou luta)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Nervos Parassimpático: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Estimula atividades relaxantes (repouso)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Ações antagônicas no organismo!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4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titled.bmp" id="392" name="Google Shape;39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6"/>
          <p:cNvSpPr txBox="1"/>
          <p:nvPr/>
        </p:nvSpPr>
        <p:spPr>
          <a:xfrm>
            <a:off x="1524000" y="1071564"/>
            <a:ext cx="9144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 startAt="4"/>
            </a:pPr>
            <a:r>
              <a:rPr b="1" lang="pt-BR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Sistema nervoso periférico (SNP)</a:t>
            </a:r>
            <a:endParaRPr/>
          </a:p>
          <a:p>
            <a:pPr indent="-2286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Diferenças entre os sistemas nervosos simpático e parassimpático: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9" name="Google Shape;399;p26"/>
          <p:cNvGraphicFramePr/>
          <p:nvPr/>
        </p:nvGraphicFramePr>
        <p:xfrm>
          <a:off x="1738316" y="23574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{80561D33-CEA2-4CCC-B598-FAF41D946636}</a:tableStyleId>
              </a:tblPr>
              <a:tblGrid>
                <a:gridCol w="2571775"/>
                <a:gridCol w="3000400"/>
                <a:gridCol w="3143275"/>
              </a:tblGrid>
              <a:tr h="40232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FF0000"/>
                          </a:solidFill>
                        </a:rPr>
                        <a:t>Sistema Nervoso Autônomo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/>
                        <a:t>Simpático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/>
                        <a:t>Parassimpático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/>
                        <a:t>Fibra</a:t>
                      </a:r>
                      <a:r>
                        <a:rPr b="1" lang="pt-BR" sz="1800"/>
                        <a:t> pré-ganglionar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curta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longa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/>
                        <a:t>Fibra pós-ganglionar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longa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curta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/>
                        <a:t>Origem dos nervos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Região torácica e lombar da medula (somente nervos raquidianos)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Região</a:t>
                      </a:r>
                      <a:r>
                        <a:rPr lang="pt-BR" sz="1800"/>
                        <a:t> cervical (nervos cranianos) e região sacral da medula (nervos raquidianos)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18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/>
                        <a:t>Mediador químico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Fibras</a:t>
                      </a:r>
                      <a:r>
                        <a:rPr lang="pt-BR" sz="1800"/>
                        <a:t> pré-ganglionares: Acetilcolina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Fibras pós-ganglionares: Adrenalina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Fibras pré-ganglionares: Acetilcolina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Fibras pós-ganglionares: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Acetilcolina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00" name="Google Shape;400;p26"/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6"/>
          <p:cNvSpPr txBox="1"/>
          <p:nvPr/>
        </p:nvSpPr>
        <p:spPr>
          <a:xfrm>
            <a:off x="1524000" y="20571"/>
            <a:ext cx="9143999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Nervoso</a:t>
            </a:r>
            <a:endParaRPr b="1"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2020-06-05T12:13:59Z</dcterms:created>
  <dc:creator>Bruno Barbosa</dc:creator>
</cp:coreProperties>
</file>