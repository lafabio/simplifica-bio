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316" r:id="rId2"/>
    <p:sldId id="31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80" r:id="rId23"/>
    <p:sldId id="279" r:id="rId24"/>
    <p:sldId id="281" r:id="rId25"/>
    <p:sldId id="282" r:id="rId26"/>
    <p:sldId id="284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B40D6-FF06-4DA5-BCBD-2C1074F0B84F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2B0DF-BE9B-4D85-ADDA-F454FE79B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70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0D3210-0DE0-4B78-B81F-C53945EFDB8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874103E-1D85-473F-A949-DA3C93F1F20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CB7E73-EE27-4351-8DA1-2DD4DF1D20A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851894-A244-4201-AD82-133272515F1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C76833-3BDE-4293-9A0E-6634F8CA3B8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C96FCC-3DB2-455D-A410-0320C5A8371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05B5CB-4328-492E-AA51-D22A5254780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7F08A8-034E-4603-B11F-B4263BB6D0C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F6D51F-00C3-4530-8807-7C5D4EE6452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EF2881-E785-440D-B82A-66104D7337B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38DCE2-967B-4352-8D1D-40AA622AE35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779EDE-52F2-4C1D-B00E-0E85615C9BA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21894D-17B2-497C-808C-590C393198C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4FAD17B-43F6-4B3B-B003-B162F2A82FC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0F473F-2A5D-431B-8A8E-786E91993AF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4526CB-CDA1-41D0-80E6-1C5461206A5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4F6199-FED2-4EE7-8091-6257C9A1271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AAA5B5-6BFF-41A4-A337-75B30F2B9AF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0CF297-F588-41FF-844F-F4D388E7466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C2A3BF-A585-434E-B8CC-B32C4270E82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3A6458-0E02-4253-813F-DF0EEF7701F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B57ECD-9693-48A4-B947-B3FCFC9F3C3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E20412-62E4-46AA-BA74-EC22A3941B11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1163751-8669-4C98-9C77-0996351A587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CC0848-B853-4286-BC68-07E570AD55B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102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CBA572-059F-4413-94AF-32A6F7A235E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los Educacional - PÓS-GRADUAÇÃO EM ANATOMIA E FISIOLOGIA HUMANAS">
            <a:extLst>
              <a:ext uri="{FF2B5EF4-FFF2-40B4-BE49-F238E27FC236}">
                <a16:creationId xmlns:a16="http://schemas.microsoft.com/office/drawing/2014/main" id="{E34BC489-C785-426B-8415-F4C9C3E27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Fisiologia Humana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Sistema Endócrino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42465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Introdução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O </a:t>
            </a:r>
            <a:r>
              <a:rPr lang="pt-BR" b="1" dirty="0">
                <a:latin typeface="+mn-lt"/>
                <a:cs typeface="Tahoma" pitchFamily="34" charset="0"/>
              </a:rPr>
              <a:t>sistema endócrino </a:t>
            </a:r>
            <a:r>
              <a:rPr lang="pt-BR" dirty="0">
                <a:latin typeface="+mn-lt"/>
                <a:cs typeface="Tahoma" pitchFamily="34" charset="0"/>
              </a:rPr>
              <a:t>é responsável pelo controle das atividades metabólicas do organismo. Atua a longo prazo, através de sinais químicos, executados por substâncias denominadas hormônios.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Hormônios</a:t>
            </a:r>
            <a:r>
              <a:rPr lang="pt-BR" dirty="0">
                <a:latin typeface="+mn-lt"/>
                <a:cs typeface="Tahoma" pitchFamily="34" charset="0"/>
              </a:rPr>
              <a:t> são substâncias produzidas e liberadas por determinadas células de glândulas endócrinas e atuam controlando o funcionamento de alguns órgãos.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A ação do hormônio se dá quando este é lançado através da corrente sanguínea pelas glândulas endócrinas, e assim, chegando ao órgão-alvo, se liga a receptores específicos localizado na superfície das células.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3076" name="Imagem 12" descr="celula.JPG"/>
          <p:cNvPicPr>
            <a:picLocks noChangeAspect="1"/>
          </p:cNvPicPr>
          <p:nvPr/>
        </p:nvPicPr>
        <p:blipFill>
          <a:blip r:embed="rId4" cstate="print">
            <a:lum contrast="20000"/>
          </a:blip>
          <a:srcRect/>
          <a:stretch>
            <a:fillRect/>
          </a:stretch>
        </p:blipFill>
        <p:spPr bwMode="auto">
          <a:xfrm>
            <a:off x="4167188" y="4572000"/>
            <a:ext cx="373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52E0CED-BE33-4EA3-838B-C0C137BB7E78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3FD08AD-3932-48C8-989B-E2859A8D0F2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4100" name="Imagem 13" descr="img_glandula_endocrina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76664" y="1428750"/>
            <a:ext cx="3533775" cy="516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9401883-643C-4E2A-AD8A-9F01D50FF35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EEE0788-470E-45F3-9E36-A2F1154DA33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3"/>
            <a:ext cx="8929688" cy="5632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I) Hipotálamo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Recebe informações do sistema nervoso e secreta hormônios que atuam sobre a hipófise anterior (</a:t>
            </a:r>
            <a:r>
              <a:rPr lang="pt-BR" dirty="0" err="1">
                <a:latin typeface="+mn-lt"/>
                <a:cs typeface="Tahoma" pitchFamily="34" charset="0"/>
              </a:rPr>
              <a:t>adenohipófise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3024188" y="2928938"/>
          <a:ext cx="6096000" cy="2677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62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Hormônios produzidos no Hipotálamo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Atuação</a:t>
                      </a:r>
                      <a:endParaRPr lang="pt-BR" sz="1600" dirty="0">
                        <a:sym typeface="Wingdings" pitchFamily="2" charset="2"/>
                      </a:endParaRPr>
                    </a:p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pt-BR" sz="1600" dirty="0">
                          <a:sym typeface="Wingdings" pitchFamily="2" charset="2"/>
                        </a:rPr>
                        <a:t>(Estimulação: )</a:t>
                      </a:r>
                    </a:p>
                    <a:p>
                      <a:pPr algn="ctr">
                        <a:buFont typeface="Wingdings" pitchFamily="2" charset="2"/>
                        <a:buNone/>
                      </a:pPr>
                      <a:r>
                        <a:rPr lang="pt-BR" sz="1600" baseline="0" dirty="0">
                          <a:sym typeface="Wingdings" pitchFamily="2" charset="2"/>
                        </a:rPr>
                        <a:t>(Inibição: X)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Hormônios produzidos na </a:t>
                      </a:r>
                      <a:r>
                        <a:rPr lang="pt-BR" sz="1600" dirty="0" err="1"/>
                        <a:t>Adenoipófise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TRH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ym typeface="Wingdings" pitchFamily="2" charset="2"/>
                        </a:rPr>
                        <a:t>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Tireotrofina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ym typeface="Wingdings" pitchFamily="2" charset="2"/>
                        </a:rPr>
                        <a:t>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Adrenocorticotrófico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GHRH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ym typeface="Wingdings" pitchFamily="2" charset="2"/>
                        </a:rPr>
                        <a:t> 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Somatotrófico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GnRH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ym typeface="Wingdings" pitchFamily="2" charset="2"/>
                        </a:rPr>
                        <a:t> 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LH e FSH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PiF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Prolactina</a:t>
                      </a:r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318A225F-51C6-4BF3-9CAD-A9168DEB16A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A15927F-234A-4161-AA3E-5D6FF6B625D7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30" descr="hipo1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7189" y="2859088"/>
            <a:ext cx="3677447" cy="388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928688"/>
            <a:ext cx="8501090" cy="592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I) Hipotálamo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Possui neurônios que produzem os hormônios (</a:t>
            </a:r>
            <a:r>
              <a:rPr lang="pt-BR" dirty="0" err="1">
                <a:latin typeface="+mn-lt"/>
                <a:cs typeface="Tahoma" pitchFamily="34" charset="0"/>
              </a:rPr>
              <a:t>oxitocina</a:t>
            </a:r>
            <a:r>
              <a:rPr lang="pt-BR" dirty="0">
                <a:latin typeface="+mn-lt"/>
                <a:cs typeface="Tahoma" pitchFamily="34" charset="0"/>
              </a:rPr>
              <a:t> e Antidiurético “ADH”) que são armazenados e liberados pela hipófise posterior (</a:t>
            </a:r>
            <a:r>
              <a:rPr lang="pt-BR" dirty="0" err="1">
                <a:latin typeface="+mn-lt"/>
                <a:cs typeface="Tahoma" pitchFamily="34" charset="0"/>
              </a:rPr>
              <a:t>neurohipófise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7667626" y="3071813"/>
            <a:ext cx="1632209" cy="370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Neurônios</a:t>
            </a:r>
          </a:p>
        </p:txBody>
      </p:sp>
      <p:cxnSp>
        <p:nvCxnSpPr>
          <p:cNvPr id="19" name="Conector reto 18"/>
          <p:cNvCxnSpPr/>
          <p:nvPr/>
        </p:nvCxnSpPr>
        <p:spPr>
          <a:xfrm>
            <a:off x="7167564" y="3286125"/>
            <a:ext cx="476061" cy="1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2738439" y="5214938"/>
            <a:ext cx="1632209" cy="833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Liberação de hormônios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ADH e </a:t>
            </a:r>
            <a:r>
              <a:rPr lang="pt-BR" sz="1600" dirty="0" err="1">
                <a:latin typeface="+mn-lt"/>
              </a:rPr>
              <a:t>Oxitocina</a:t>
            </a:r>
            <a:endParaRPr lang="pt-BR" sz="1600" dirty="0">
              <a:latin typeface="+mn-lt"/>
            </a:endParaRPr>
          </a:p>
        </p:txBody>
      </p:sp>
      <p:cxnSp>
        <p:nvCxnSpPr>
          <p:cNvPr id="25" name="Conector reto 24"/>
          <p:cNvCxnSpPr/>
          <p:nvPr/>
        </p:nvCxnSpPr>
        <p:spPr>
          <a:xfrm>
            <a:off x="4238626" y="5643564"/>
            <a:ext cx="1156149" cy="1515"/>
          </a:xfrm>
          <a:prstGeom prst="line">
            <a:avLst/>
          </a:prstGeom>
          <a:ln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3881439" y="4643438"/>
            <a:ext cx="1564200" cy="3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1600" dirty="0" err="1">
                <a:latin typeface="+mn-lt"/>
              </a:rPr>
              <a:t>Neurohipófise</a:t>
            </a:r>
            <a:endParaRPr lang="pt-BR" sz="1600" dirty="0">
              <a:latin typeface="+mn-lt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53189" y="6488113"/>
            <a:ext cx="1564200" cy="3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1600" dirty="0" err="1">
                <a:latin typeface="+mn-lt"/>
              </a:rPr>
              <a:t>Adenohipófise</a:t>
            </a:r>
            <a:endParaRPr lang="pt-BR" sz="16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C31866C-FBFB-41E2-AAF0-93A9B24B2F8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E85E0C1-A112-402B-90D1-9A94FEEFFC0E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53546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II) Hipófise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	a) </a:t>
            </a:r>
            <a:r>
              <a:rPr lang="pt-BR" b="1" dirty="0" err="1">
                <a:latin typeface="+mn-lt"/>
                <a:cs typeface="Tahoma" pitchFamily="34" charset="0"/>
              </a:rPr>
              <a:t>Adenohipófise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7172" name="Imagem 14" descr="Adeno1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81500" y="1196975"/>
            <a:ext cx="5500688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880CA5F-DCD2-45E6-BF8B-6ABA80270F7F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F84ADAD-9988-4056-9BB8-C22AAD81B90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7262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a) </a:t>
            </a:r>
            <a:r>
              <a:rPr lang="pt-BR" b="1" dirty="0" err="1">
                <a:latin typeface="+mn-lt"/>
                <a:cs typeface="Tahoma" pitchFamily="34" charset="0"/>
              </a:rPr>
              <a:t>Adenohipófise</a:t>
            </a:r>
            <a:r>
              <a:rPr lang="pt-BR" b="1" dirty="0">
                <a:latin typeface="+mn-lt"/>
                <a:cs typeface="Tahoma" pitchFamily="34" charset="0"/>
              </a:rPr>
              <a:t> (Hormônios)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Hormônio do crescimento ou </a:t>
            </a:r>
            <a:r>
              <a:rPr lang="pt-BR" b="1" dirty="0" err="1">
                <a:latin typeface="+mn-lt"/>
                <a:cs typeface="Tahoma" pitchFamily="34" charset="0"/>
              </a:rPr>
              <a:t>somatotrófico</a:t>
            </a:r>
            <a:r>
              <a:rPr lang="pt-BR" b="1" dirty="0">
                <a:latin typeface="+mn-lt"/>
                <a:cs typeface="Tahoma" pitchFamily="34" charset="0"/>
              </a:rPr>
              <a:t> (GH/SH)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crescimento das cartilagens e dos ossos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Influencia o metabolismo das proteínas, carboidratos e lipídios.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Deficiência na infância provoca o nanismo. (A)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Excesso na infância provoca o gigantismo. (B)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Excesso no adulto provoca a acromegalia. (C)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8197" name="Imagem 5" descr="untitled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9814" y="3929063"/>
            <a:ext cx="1849437" cy="268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Imagem 6" descr="gigantism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67251" y="3929064"/>
            <a:ext cx="171767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Imagem 7" descr="acromegalia2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81813" y="4071938"/>
            <a:ext cx="3541712" cy="249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9"/>
          <p:cNvSpPr txBox="1"/>
          <p:nvPr/>
        </p:nvSpPr>
        <p:spPr>
          <a:xfrm>
            <a:off x="1738313" y="3929064"/>
            <a:ext cx="500062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167188" y="3857625"/>
            <a:ext cx="5000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B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453188" y="4143375"/>
            <a:ext cx="5000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C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AE44F71-31A7-42A6-ACB5-F7888855B2A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F09C73F-1014-4FFE-9C5B-8164F8716A1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81708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a) </a:t>
            </a:r>
            <a:r>
              <a:rPr lang="pt-BR" b="1" dirty="0" err="1">
                <a:latin typeface="+mn-lt"/>
                <a:cs typeface="Tahoma" pitchFamily="34" charset="0"/>
              </a:rPr>
              <a:t>Adenohipófise</a:t>
            </a:r>
            <a:r>
              <a:rPr lang="pt-BR" b="1" dirty="0">
                <a:latin typeface="+mn-lt"/>
                <a:cs typeface="Tahoma" pitchFamily="34" charset="0"/>
              </a:rPr>
              <a:t> (Hormônios)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II)    </a:t>
            </a:r>
            <a:r>
              <a:rPr lang="pt-BR" b="1" dirty="0" err="1">
                <a:latin typeface="+mn-lt"/>
                <a:cs typeface="Tahoma" pitchFamily="34" charset="0"/>
              </a:rPr>
              <a:t>Tireotrofina</a:t>
            </a:r>
            <a:r>
              <a:rPr lang="pt-BR" b="1" dirty="0">
                <a:latin typeface="+mn-lt"/>
                <a:cs typeface="Tahoma" pitchFamily="34" charset="0"/>
              </a:rPr>
              <a:t> (TSH)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glândula tireóide a produzir o hormônio </a:t>
            </a:r>
            <a:r>
              <a:rPr lang="pt-BR" dirty="0" err="1">
                <a:latin typeface="+mn-lt"/>
                <a:cs typeface="Tahoma" pitchFamily="34" charset="0"/>
              </a:rPr>
              <a:t>Tiroxina</a:t>
            </a:r>
            <a:endParaRPr lang="pt-BR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300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 Deficiência pode causar o </a:t>
            </a:r>
            <a:r>
              <a:rPr lang="pt-BR" dirty="0" err="1">
                <a:latin typeface="+mn-lt"/>
                <a:cs typeface="Tahoma" pitchFamily="34" charset="0"/>
              </a:rPr>
              <a:t>hipotiroidismo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Excesso pode casar o </a:t>
            </a:r>
            <a:r>
              <a:rPr lang="pt-BR" dirty="0" err="1">
                <a:latin typeface="+mn-lt"/>
                <a:cs typeface="Tahoma" pitchFamily="34" charset="0"/>
              </a:rPr>
              <a:t>hipertireoidismo</a:t>
            </a:r>
            <a:endParaRPr lang="pt-BR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3"/>
              <a:defRPr/>
            </a:pPr>
            <a:r>
              <a:rPr lang="pt-BR" b="1" dirty="0">
                <a:latin typeface="+mn-lt"/>
                <a:cs typeface="Tahoma" pitchFamily="34" charset="0"/>
              </a:rPr>
              <a:t>Adrenocorticotrófico (ACTH)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3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o córtex da glândula supra-renal a produzir os hormônios glicocorticóides (cortisol)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9221" name="Imagem 12" descr="tireoid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7563" y="1285875"/>
            <a:ext cx="14287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Imagem 13" descr="suprarenal2.jpg"/>
          <p:cNvPicPr>
            <a:picLocks noChangeAspect="1"/>
          </p:cNvPicPr>
          <p:nvPr/>
        </p:nvPicPr>
        <p:blipFill>
          <a:blip r:embed="rId5" cstate="print">
            <a:lum contrast="20000"/>
          </a:blip>
          <a:srcRect/>
          <a:stretch>
            <a:fillRect/>
          </a:stretch>
        </p:blipFill>
        <p:spPr bwMode="auto">
          <a:xfrm>
            <a:off x="5738813" y="5214939"/>
            <a:ext cx="1471612" cy="132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Imagem 14" descr="supra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24314" y="5214938"/>
            <a:ext cx="12858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Conector de seta reta 16"/>
          <p:cNvCxnSpPr/>
          <p:nvPr/>
        </p:nvCxnSpPr>
        <p:spPr>
          <a:xfrm>
            <a:off x="4953000" y="5357814"/>
            <a:ext cx="928688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>
            <a:off x="6524625" y="5500689"/>
            <a:ext cx="57150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096125" y="5286375"/>
            <a:ext cx="8572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Córtex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453439" y="2000250"/>
            <a:ext cx="121443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Tireóide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C7B888C-3B6E-40CB-994A-EB155C30EF4C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69F0A-BD0C-4379-83D7-FE398C42688B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92329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a) </a:t>
            </a:r>
            <a:r>
              <a:rPr lang="pt-BR" b="1" dirty="0" err="1">
                <a:latin typeface="+mn-lt"/>
                <a:cs typeface="Tahoma" pitchFamily="34" charset="0"/>
              </a:rPr>
              <a:t>Adenohipófise</a:t>
            </a:r>
            <a:r>
              <a:rPr lang="pt-BR" b="1" dirty="0">
                <a:latin typeface="+mn-lt"/>
                <a:cs typeface="Tahoma" pitchFamily="34" charset="0"/>
              </a:rPr>
              <a:t> (Hormônios)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IV)    </a:t>
            </a:r>
            <a:r>
              <a:rPr lang="pt-BR" b="1" dirty="0" err="1">
                <a:latin typeface="+mn-lt"/>
                <a:cs typeface="Tahoma" pitchFamily="34" charset="0"/>
              </a:rPr>
              <a:t>Prolactina</a:t>
            </a:r>
            <a:r>
              <a:rPr lang="pt-BR" b="1" dirty="0">
                <a:latin typeface="+mn-lt"/>
                <a:cs typeface="Tahoma" pitchFamily="34" charset="0"/>
              </a:rPr>
              <a:t> (LTH)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Desenvolvimento das mamas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Produção de leite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Homens (função desconhecida)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V)    Folículo estimulante (FSH)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 startAt="3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Homem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Induz a produção de espermatozóide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Mulher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o desenvolvimento do folículo ovariano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o ovário a produzir estrógeno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0245" name="Imagem 4" descr="mam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3188" y="2071688"/>
            <a:ext cx="17335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7667626" y="2214564"/>
            <a:ext cx="18573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Glândulas mamárias</a:t>
            </a:r>
          </a:p>
        </p:txBody>
      </p:sp>
      <p:pic>
        <p:nvPicPr>
          <p:cNvPr id="10247" name="Imagem 6" descr="gonadas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53439" y="4572001"/>
            <a:ext cx="1984375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4128C95-EED3-475B-A2ED-1AF8BB75219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1F5D7F5-6841-4A51-B048-BE20279A479D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7570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a) </a:t>
            </a:r>
            <a:r>
              <a:rPr lang="pt-BR" b="1" dirty="0" err="1">
                <a:latin typeface="+mn-lt"/>
                <a:cs typeface="Tahoma" pitchFamily="34" charset="0"/>
              </a:rPr>
              <a:t>Adenohipófise</a:t>
            </a:r>
            <a:r>
              <a:rPr lang="pt-BR" b="1" dirty="0">
                <a:latin typeface="+mn-lt"/>
                <a:cs typeface="Tahoma" pitchFamily="34" charset="0"/>
              </a:rPr>
              <a:t> (Hormônios)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VI)    Luteinizante (LH)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Homem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Induz o testículo a produzir testosterona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Mulher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ovulação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Desenvolvimento do corpo lúteo (amarelo)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1269" name="Imagem 4" descr="gonada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53376" y="2643188"/>
            <a:ext cx="1984375" cy="192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DF67C5E3-A0C2-47AB-86B0-985A66F9BAB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01CCF76-BB65-457F-8CD1-56B18C854EE1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784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b) </a:t>
            </a:r>
            <a:r>
              <a:rPr lang="pt-BR" b="1" dirty="0" err="1">
                <a:latin typeface="+mn-lt"/>
                <a:cs typeface="Tahoma" pitchFamily="34" charset="0"/>
              </a:rPr>
              <a:t>Neurohipófise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Armazena e libera dois hormônios produzidos pelo hipotálamo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Antidiurético (ADH) ou </a:t>
            </a:r>
            <a:r>
              <a:rPr lang="pt-BR" b="1" dirty="0" err="1">
                <a:latin typeface="+mn-lt"/>
                <a:cs typeface="Tahoma" pitchFamily="34" charset="0"/>
              </a:rPr>
              <a:t>Vasopressina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É liberado quando o volume de sangue cai abaixo de certo nível.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a reabsorção de água nos rins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Diminui o volume de urina excretado (antidiurético)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Retém água no organismo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romanUcParenR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Sua deficiência provoca uma perda de água excessiva e muita sede, síndrome denominada </a:t>
            </a:r>
            <a:r>
              <a:rPr lang="pt-BR" b="1" i="1" dirty="0">
                <a:latin typeface="+mn-lt"/>
                <a:cs typeface="Tahoma" pitchFamily="34" charset="0"/>
              </a:rPr>
              <a:t>diabetes insípidos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4F9D65-E40F-4FA7-82AD-387AB090EE3E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A03BF65-A6BB-4F0A-855A-2F0DDEA21F7E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Arquivos de programas\Moderna\imagens\c18\F18-2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9814" y="1571625"/>
            <a:ext cx="7500937" cy="5063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928689"/>
            <a:ext cx="8929688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	Antidiurético (ADH)</a:t>
            </a:r>
            <a:endParaRPr lang="pt-BR" i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8596313" y="4714876"/>
            <a:ext cx="1928812" cy="919163"/>
          </a:xfrm>
          <a:prstGeom prst="round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/>
              <a:t>ADH: </a:t>
            </a:r>
            <a:r>
              <a:rPr lang="pt-BR" sz="1600" dirty="0"/>
              <a:t>Aumenta a permeabilidade dos ductos coletores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FA8177-C02C-4784-BEC4-688055014870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CC6CFEC-F5A6-4A13-B8BE-56432F073F2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5908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</a:t>
            </a:r>
            <a:r>
              <a:rPr lang="pt-BR" b="1" dirty="0">
                <a:latin typeface="+mn-lt"/>
                <a:cs typeface="Tahoma" pitchFamily="34" charset="0"/>
              </a:rPr>
              <a:t>b) </a:t>
            </a:r>
            <a:r>
              <a:rPr lang="pt-BR" b="1" dirty="0" err="1">
                <a:latin typeface="+mn-lt"/>
                <a:cs typeface="Tahoma" pitchFamily="34" charset="0"/>
              </a:rPr>
              <a:t>Neurohipófise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II)     </a:t>
            </a:r>
            <a:r>
              <a:rPr lang="pt-BR" b="1" dirty="0" err="1">
                <a:latin typeface="+mn-lt"/>
                <a:cs typeface="Tahoma" pitchFamily="34" charset="0"/>
              </a:rPr>
              <a:t>Oxitocina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Promove contrações no útero durante o parto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Contração da musculatura lisa das glândulas mamárias, causando a ejeção do leite.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O Estímulo para a liberação da </a:t>
            </a:r>
            <a:r>
              <a:rPr lang="pt-BR" dirty="0" err="1">
                <a:latin typeface="+mn-lt"/>
                <a:cs typeface="Tahoma" pitchFamily="34" charset="0"/>
              </a:rPr>
              <a:t>oxitocina</a:t>
            </a:r>
            <a:r>
              <a:rPr lang="pt-BR" dirty="0">
                <a:latin typeface="+mn-lt"/>
                <a:cs typeface="Tahoma" pitchFamily="34" charset="0"/>
              </a:rPr>
              <a:t> é a </a:t>
            </a:r>
            <a:r>
              <a:rPr lang="pt-BR" dirty="0" err="1">
                <a:latin typeface="+mn-lt"/>
                <a:cs typeface="Tahoma" pitchFamily="34" charset="0"/>
              </a:rPr>
              <a:t>succão</a:t>
            </a:r>
            <a:r>
              <a:rPr lang="pt-BR" dirty="0">
                <a:latin typeface="+mn-lt"/>
                <a:cs typeface="Tahoma" pitchFamily="34" charset="0"/>
              </a:rPr>
              <a:t> da mama pelo bebê.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4341" name="Imagem 4" descr="oxitocina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67250" y="3500438"/>
            <a:ext cx="2889250" cy="3096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DCBD187-1C38-4FA4-8CBE-93DACD956C4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56C695A-B7D5-4DA3-B7B8-D57A2A65B20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m 5" descr="tireoid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750" y="2000251"/>
            <a:ext cx="3143250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928688"/>
            <a:ext cx="8929688" cy="64627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III</a:t>
            </a:r>
            <a:r>
              <a:rPr lang="pt-BR" b="1" dirty="0">
                <a:latin typeface="+mn-lt"/>
                <a:cs typeface="Tahoma" pitchFamily="34" charset="0"/>
              </a:rPr>
              <a:t>) Tireóide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no pescoço, logo abaixo das cartilagens da glote.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Produz três hormônios: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Triiodotironina</a:t>
            </a:r>
            <a:r>
              <a:rPr lang="pt-BR" dirty="0">
                <a:latin typeface="+mn-lt"/>
                <a:cs typeface="Tahoma" pitchFamily="34" charset="0"/>
              </a:rPr>
              <a:t> (T</a:t>
            </a:r>
            <a:r>
              <a:rPr lang="pt-BR" baseline="-25000" dirty="0">
                <a:latin typeface="+mn-lt"/>
                <a:cs typeface="Tahoma" pitchFamily="34" charset="0"/>
              </a:rPr>
              <a:t>3</a:t>
            </a:r>
            <a:r>
              <a:rPr lang="pt-BR" dirty="0">
                <a:latin typeface="+mn-lt"/>
                <a:cs typeface="Tahoma" pitchFamily="34" charset="0"/>
              </a:rPr>
              <a:t>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Tiroxina</a:t>
            </a:r>
            <a:r>
              <a:rPr lang="pt-BR" dirty="0">
                <a:latin typeface="+mn-lt"/>
                <a:cs typeface="Tahoma" pitchFamily="34" charset="0"/>
              </a:rPr>
              <a:t> (T</a:t>
            </a:r>
            <a:r>
              <a:rPr lang="pt-BR" baseline="-25000" dirty="0">
                <a:latin typeface="+mn-lt"/>
                <a:cs typeface="Tahoma" pitchFamily="34" charset="0"/>
              </a:rPr>
              <a:t>4</a:t>
            </a:r>
            <a:r>
              <a:rPr lang="pt-BR" dirty="0">
                <a:latin typeface="+mn-lt"/>
                <a:cs typeface="Tahoma" pitchFamily="34" charset="0"/>
              </a:rPr>
              <a:t>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dirty="0">
                <a:latin typeface="+mn-lt"/>
                <a:cs typeface="Tahoma" pitchFamily="34" charset="0"/>
              </a:rPr>
              <a:t>Calcitonina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a) </a:t>
            </a:r>
            <a:r>
              <a:rPr lang="pt-BR" b="1">
                <a:latin typeface="+mn-lt"/>
                <a:cs typeface="Tahoma" pitchFamily="34" charset="0"/>
              </a:rPr>
              <a:t>Triiodotironina</a:t>
            </a:r>
            <a:r>
              <a:rPr lang="pt-BR" b="1" dirty="0">
                <a:latin typeface="+mn-lt"/>
                <a:cs typeface="Tahoma" pitchFamily="34" charset="0"/>
              </a:rPr>
              <a:t> (T</a:t>
            </a:r>
            <a:r>
              <a:rPr lang="pt-BR" b="1" baseline="-25000" dirty="0">
                <a:latin typeface="+mn-lt"/>
                <a:cs typeface="Tahoma" pitchFamily="34" charset="0"/>
              </a:rPr>
              <a:t>3</a:t>
            </a:r>
            <a:r>
              <a:rPr lang="pt-BR" b="1" dirty="0">
                <a:latin typeface="+mn-lt"/>
                <a:cs typeface="Tahoma" pitchFamily="34" charset="0"/>
              </a:rPr>
              <a:t>) e </a:t>
            </a:r>
            <a:r>
              <a:rPr lang="pt-BR" b="1" dirty="0" err="1">
                <a:latin typeface="+mn-lt"/>
                <a:cs typeface="Tahoma" pitchFamily="34" charset="0"/>
              </a:rPr>
              <a:t>Tiroxina</a:t>
            </a:r>
            <a:r>
              <a:rPr lang="pt-BR" b="1" dirty="0">
                <a:latin typeface="+mn-lt"/>
                <a:cs typeface="Tahoma" pitchFamily="34" charset="0"/>
              </a:rPr>
              <a:t> (T</a:t>
            </a:r>
            <a:r>
              <a:rPr lang="pt-BR" b="1" baseline="-25000" dirty="0">
                <a:latin typeface="+mn-lt"/>
                <a:cs typeface="Tahoma" pitchFamily="34" charset="0"/>
              </a:rPr>
              <a:t>4</a:t>
            </a:r>
            <a:r>
              <a:rPr lang="pt-BR" b="1" dirty="0">
                <a:latin typeface="+mn-lt"/>
                <a:cs typeface="Tahoma" pitchFamily="34" charset="0"/>
              </a:rPr>
              <a:t>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Estimulam o metabolismo energético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Aumentam a taxa de respiração celular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O </a:t>
            </a:r>
            <a:r>
              <a:rPr lang="pt-BR" b="1" dirty="0">
                <a:latin typeface="+mn-lt"/>
                <a:cs typeface="Tahoma" pitchFamily="34" charset="0"/>
              </a:rPr>
              <a:t>excesso</a:t>
            </a:r>
            <a:r>
              <a:rPr lang="pt-BR" dirty="0">
                <a:latin typeface="+mn-lt"/>
                <a:cs typeface="Tahoma" pitchFamily="34" charset="0"/>
              </a:rPr>
              <a:t> desses hormônios causa o </a:t>
            </a:r>
            <a:r>
              <a:rPr lang="pt-BR" b="1" dirty="0" err="1">
                <a:latin typeface="+mn-lt"/>
                <a:cs typeface="Tahoma" pitchFamily="34" charset="0"/>
              </a:rPr>
              <a:t>hipertireoidismo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Hiperatividade (calor, sudorese)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Perda de peso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Nervosismo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Exoftalmia</a:t>
            </a:r>
            <a:r>
              <a:rPr lang="pt-BR" dirty="0">
                <a:latin typeface="+mn-lt"/>
                <a:cs typeface="Tahoma" pitchFamily="34" charset="0"/>
              </a:rPr>
              <a:t> (olhos arregalados para fora das órbitas)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Bócio (inchaço do pescoço formando um papo)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4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BD0FEB-9568-4498-9A6B-CE90A83F210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8F23CF-F04F-4860-8AAE-75C78AD9399E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2462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III</a:t>
            </a:r>
            <a:r>
              <a:rPr lang="pt-BR" b="1" dirty="0">
                <a:latin typeface="+mn-lt"/>
                <a:cs typeface="Tahoma" pitchFamily="34" charset="0"/>
              </a:rPr>
              <a:t>) Tireóide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Hipertireoidismo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Sintomas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6389" name="Imagem 7" descr="f04-12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6938" y="3000375"/>
            <a:ext cx="2786062" cy="210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2166938" y="5143500"/>
            <a:ext cx="27860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 err="1">
                <a:latin typeface="+mn-lt"/>
              </a:rPr>
              <a:t>exoftalmia</a:t>
            </a:r>
            <a:endParaRPr lang="pt-BR" dirty="0">
              <a:latin typeface="+mn-lt"/>
            </a:endParaRPr>
          </a:p>
        </p:txBody>
      </p:sp>
      <p:pic>
        <p:nvPicPr>
          <p:cNvPr id="16391" name="Picture 8" descr="http://www.juntadeandalucia.es/averroes/~29701428/salud/nuevima/bocio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53063" y="2000250"/>
            <a:ext cx="3752850" cy="321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5810251" y="5214939"/>
            <a:ext cx="2786063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bócio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3CAE9F-99B3-4E99-80D7-C367EFD9756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B685AC9-26AB-4D34-B0A3-DC0C559918B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6062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III</a:t>
            </a:r>
            <a:r>
              <a:rPr lang="pt-BR" b="1" dirty="0">
                <a:latin typeface="+mn-lt"/>
                <a:cs typeface="Tahoma" pitchFamily="34" charset="0"/>
              </a:rPr>
              <a:t>) Tireóide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Hipotireoidismo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Deficiência na produção dos hormônios T</a:t>
            </a:r>
            <a:r>
              <a:rPr lang="pt-BR" baseline="-25000" dirty="0">
                <a:latin typeface="+mn-lt"/>
                <a:cs typeface="Tahoma" pitchFamily="34" charset="0"/>
              </a:rPr>
              <a:t>3</a:t>
            </a:r>
            <a:r>
              <a:rPr lang="pt-BR" dirty="0">
                <a:latin typeface="+mn-lt"/>
                <a:cs typeface="Tahoma" pitchFamily="34" charset="0"/>
              </a:rPr>
              <a:t> e </a:t>
            </a:r>
            <a:r>
              <a:rPr lang="pt-BR" dirty="0" err="1">
                <a:latin typeface="+mn-lt"/>
                <a:cs typeface="Tahoma" pitchFamily="34" charset="0"/>
              </a:rPr>
              <a:t>Tiroxina</a:t>
            </a:r>
            <a:r>
              <a:rPr lang="pt-BR" dirty="0">
                <a:latin typeface="+mn-lt"/>
                <a:cs typeface="Tahoma" pitchFamily="34" charset="0"/>
              </a:rPr>
              <a:t> (T</a:t>
            </a:r>
            <a:r>
              <a:rPr lang="pt-BR" baseline="-25000" dirty="0">
                <a:latin typeface="+mn-lt"/>
                <a:cs typeface="Tahoma" pitchFamily="34" charset="0"/>
              </a:rPr>
              <a:t>4</a:t>
            </a:r>
            <a:r>
              <a:rPr lang="pt-BR" dirty="0">
                <a:latin typeface="+mn-lt"/>
                <a:cs typeface="Tahoma" pitchFamily="34" charset="0"/>
              </a:rPr>
              <a:t>) pela tireóide.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Pode ser causada devido à carência de iodo na alimentação, pois o iodo é parte constituinte dos hormônios da tireóide.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Destruição auto-imune da tireóide (tireoidite)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Consequências</a:t>
            </a:r>
            <a:endParaRPr lang="pt-BR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Diminuição do metabolismo celular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Ganho de peso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Bradicardia</a:t>
            </a:r>
            <a:r>
              <a:rPr lang="pt-BR" dirty="0">
                <a:latin typeface="+mn-lt"/>
                <a:cs typeface="Tahoma" pitchFamily="34" charset="0"/>
              </a:rPr>
              <a:t> (desaceleração dos batimentos cardíacos)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 err="1">
                <a:latin typeface="+mn-lt"/>
                <a:cs typeface="Tahoma" pitchFamily="34" charset="0"/>
              </a:rPr>
              <a:t>Mixedema</a:t>
            </a:r>
            <a:r>
              <a:rPr lang="pt-BR" dirty="0">
                <a:latin typeface="+mn-lt"/>
                <a:cs typeface="Tahoma" pitchFamily="34" charset="0"/>
              </a:rPr>
              <a:t> (inchaço da pele)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Bócio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Hipotireoidismo</a:t>
            </a:r>
            <a:r>
              <a:rPr lang="pt-BR" b="1" dirty="0">
                <a:latin typeface="+mn-lt"/>
                <a:cs typeface="Tahoma" pitchFamily="34" charset="0"/>
              </a:rPr>
              <a:t> na infância: </a:t>
            </a:r>
            <a:r>
              <a:rPr lang="pt-BR" b="1" u="sng" dirty="0">
                <a:latin typeface="+mn-lt"/>
                <a:cs typeface="Tahoma" pitchFamily="34" charset="0"/>
              </a:rPr>
              <a:t>Cretinismo</a:t>
            </a:r>
            <a:r>
              <a:rPr lang="pt-BR" dirty="0">
                <a:latin typeface="+mn-lt"/>
                <a:cs typeface="Tahoma" pitchFamily="34" charset="0"/>
              </a:rPr>
              <a:t> </a:t>
            </a:r>
            <a:r>
              <a:rPr lang="pt-BR" sz="1200" dirty="0">
                <a:latin typeface="+mn-lt"/>
                <a:cs typeface="Tahoma" pitchFamily="34" charset="0"/>
                <a:sym typeface="Wingdings" pitchFamily="2" charset="2"/>
              </a:rPr>
              <a:t></a:t>
            </a:r>
            <a:r>
              <a:rPr lang="pt-BR" dirty="0">
                <a:latin typeface="+mn-lt"/>
                <a:cs typeface="Tahoma" pitchFamily="34" charset="0"/>
                <a:sym typeface="Wingdings" pitchFamily="2" charset="2"/>
              </a:rPr>
              <a:t> Quadro que se caracteriza pelo comprometimento do crescimento dos ossos e dos dentes e retardamento mental.</a:t>
            </a:r>
            <a:endParaRPr lang="pt-BR" dirty="0">
              <a:latin typeface="+mn-lt"/>
              <a:cs typeface="Tahoma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0A36D3-8754-4EB1-850F-96BB230DACC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24B5591-F2C8-4E32-B047-607A9C43DBE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5032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III</a:t>
            </a:r>
            <a:r>
              <a:rPr lang="pt-BR" b="1" dirty="0">
                <a:latin typeface="+mn-lt"/>
                <a:cs typeface="Tahoma" pitchFamily="34" charset="0"/>
              </a:rPr>
              <a:t>) Tireóide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b) Calcitonina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Atua diminuindo a quantidade do íon cálcio (</a:t>
            </a:r>
            <a:r>
              <a:rPr lang="pt-BR" dirty="0" err="1">
                <a:latin typeface="+mn-lt"/>
                <a:cs typeface="Tahoma" pitchFamily="34" charset="0"/>
              </a:rPr>
              <a:t>Ca²</a:t>
            </a:r>
            <a:r>
              <a:rPr lang="pt-BR" baseline="40000" dirty="0">
                <a:latin typeface="+mn-lt"/>
                <a:cs typeface="Tahoma" pitchFamily="34" charset="0"/>
              </a:rPr>
              <a:t>+</a:t>
            </a:r>
            <a:r>
              <a:rPr lang="pt-BR" dirty="0">
                <a:latin typeface="+mn-lt"/>
                <a:cs typeface="Tahoma" pitchFamily="34" charset="0"/>
              </a:rPr>
              <a:t>) do sangue e aumentando a concentração deste íon nos ossos.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500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Ação: </a:t>
            </a:r>
            <a:r>
              <a:rPr lang="pt-BR" dirty="0" err="1">
                <a:latin typeface="+mn-lt"/>
                <a:cs typeface="Tahoma" pitchFamily="34" charset="0"/>
              </a:rPr>
              <a:t>Hipocalcemiante</a:t>
            </a: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IV) Paratireóides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Duas de cada lado, atrás da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glândula tireóide.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Produz um hormônio: Paratormônio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18437" name="Imagem 5" descr="voceesuatireoide_clip_imag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8376" y="3356993"/>
            <a:ext cx="3063875" cy="315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Elipse 10"/>
          <p:cNvSpPr/>
          <p:nvPr/>
        </p:nvSpPr>
        <p:spPr>
          <a:xfrm>
            <a:off x="8310578" y="5071504"/>
            <a:ext cx="204790" cy="276228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8239140" y="4642876"/>
            <a:ext cx="204790" cy="276228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9167834" y="5071504"/>
            <a:ext cx="204790" cy="276228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9239272" y="4642876"/>
            <a:ext cx="204790" cy="276228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6238875" y="4214243"/>
            <a:ext cx="1500188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b="1" dirty="0">
                <a:latin typeface="+mn-lt"/>
              </a:rPr>
              <a:t>Paratireóides</a:t>
            </a:r>
          </a:p>
        </p:txBody>
      </p:sp>
      <p:cxnSp>
        <p:nvCxnSpPr>
          <p:cNvPr id="17" name="Conector reto 16"/>
          <p:cNvCxnSpPr/>
          <p:nvPr/>
        </p:nvCxnSpPr>
        <p:spPr>
          <a:xfrm rot="10800000">
            <a:off x="7167563" y="4571430"/>
            <a:ext cx="1143000" cy="638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 rot="10800000" flipV="1">
            <a:off x="7810501" y="4780979"/>
            <a:ext cx="428625" cy="147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754FE68D-A1D9-44DE-A65A-6D6D29087B05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A43CE1B6-047A-446D-A1AD-E15F2BB56EC0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IV) Paratireóides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Paratormônio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2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     Responsável pelo aumento do nível de cálcio (</a:t>
            </a:r>
            <a:r>
              <a:rPr lang="pt-BR" dirty="0" err="1">
                <a:latin typeface="+mn-lt"/>
                <a:cs typeface="Tahoma" pitchFamily="34" charset="0"/>
              </a:rPr>
              <a:t>Ca²</a:t>
            </a:r>
            <a:r>
              <a:rPr lang="pt-BR" baseline="40000" dirty="0">
                <a:latin typeface="+mn-lt"/>
                <a:cs typeface="Tahoma" pitchFamily="34" charset="0"/>
              </a:rPr>
              <a:t>+</a:t>
            </a:r>
            <a:r>
              <a:rPr lang="pt-BR" dirty="0">
                <a:latin typeface="+mn-lt"/>
                <a:cs typeface="Tahoma" pitchFamily="34" charset="0"/>
              </a:rPr>
              <a:t>) no sangue</a:t>
            </a:r>
            <a:r>
              <a:rPr lang="pt-BR" dirty="0">
                <a:cs typeface="Tahoma" pitchFamily="34" charset="0"/>
              </a:rPr>
              <a:t>.</a:t>
            </a:r>
          </a:p>
          <a:p>
            <a:pPr lvl="2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     Retira cálcio dos ossos, aumentando o nível deste íon na corrente sanguínea.</a:t>
            </a:r>
          </a:p>
          <a:p>
            <a:pPr lvl="2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2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O paratormônio e a calcitonina realizam o controle dos níveis normais de cálcio no organismo.</a:t>
            </a: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19461" name="CaixaDeTexto 23"/>
          <p:cNvSpPr txBox="1">
            <a:spLocks noChangeArrowheads="1"/>
          </p:cNvSpPr>
          <p:nvPr/>
        </p:nvSpPr>
        <p:spPr bwMode="auto">
          <a:xfrm>
            <a:off x="2595564" y="4714875"/>
            <a:ext cx="2071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↑ cálcio no sangue</a:t>
            </a:r>
            <a:endParaRPr lang="pt-BR"/>
          </a:p>
        </p:txBody>
      </p:sp>
      <p:cxnSp>
        <p:nvCxnSpPr>
          <p:cNvPr id="26" name="Conector de seta reta 25"/>
          <p:cNvCxnSpPr/>
          <p:nvPr/>
        </p:nvCxnSpPr>
        <p:spPr>
          <a:xfrm>
            <a:off x="4738689" y="4929189"/>
            <a:ext cx="714375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63" name="CaixaDeTexto 27"/>
          <p:cNvSpPr txBox="1">
            <a:spLocks noChangeArrowheads="1"/>
          </p:cNvSpPr>
          <p:nvPr/>
        </p:nvSpPr>
        <p:spPr bwMode="auto">
          <a:xfrm>
            <a:off x="5310188" y="4714875"/>
            <a:ext cx="1643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Calcitonina</a:t>
            </a:r>
            <a:endParaRPr lang="pt-BR"/>
          </a:p>
        </p:txBody>
      </p:sp>
      <p:cxnSp>
        <p:nvCxnSpPr>
          <p:cNvPr id="30" name="Conector de seta reta 29"/>
          <p:cNvCxnSpPr/>
          <p:nvPr/>
        </p:nvCxnSpPr>
        <p:spPr>
          <a:xfrm>
            <a:off x="6810376" y="4929189"/>
            <a:ext cx="714375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65" name="CaixaDeTexto 30"/>
          <p:cNvSpPr txBox="1">
            <a:spLocks noChangeArrowheads="1"/>
          </p:cNvSpPr>
          <p:nvPr/>
        </p:nvSpPr>
        <p:spPr bwMode="auto">
          <a:xfrm>
            <a:off x="7667625" y="4643438"/>
            <a:ext cx="207168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Deposição de cálcio nos ossos</a:t>
            </a:r>
            <a:endParaRPr lang="pt-BR"/>
          </a:p>
        </p:txBody>
      </p:sp>
      <p:sp>
        <p:nvSpPr>
          <p:cNvPr id="19466" name="CaixaDeTexto 31"/>
          <p:cNvSpPr txBox="1">
            <a:spLocks noChangeArrowheads="1"/>
          </p:cNvSpPr>
          <p:nvPr/>
        </p:nvSpPr>
        <p:spPr bwMode="auto">
          <a:xfrm>
            <a:off x="7739064" y="5786439"/>
            <a:ext cx="2071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↓ cálcio no sangue</a:t>
            </a:r>
            <a:endParaRPr lang="pt-BR"/>
          </a:p>
        </p:txBody>
      </p:sp>
      <p:cxnSp>
        <p:nvCxnSpPr>
          <p:cNvPr id="33" name="Conector de seta reta 32"/>
          <p:cNvCxnSpPr/>
          <p:nvPr/>
        </p:nvCxnSpPr>
        <p:spPr>
          <a:xfrm>
            <a:off x="4667251" y="5929314"/>
            <a:ext cx="714375" cy="1587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68" name="CaixaDeTexto 33"/>
          <p:cNvSpPr txBox="1">
            <a:spLocks noChangeArrowheads="1"/>
          </p:cNvSpPr>
          <p:nvPr/>
        </p:nvSpPr>
        <p:spPr bwMode="auto">
          <a:xfrm>
            <a:off x="5381626" y="5715000"/>
            <a:ext cx="164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Paratormônio</a:t>
            </a:r>
            <a:endParaRPr lang="pt-BR"/>
          </a:p>
        </p:txBody>
      </p:sp>
      <p:cxnSp>
        <p:nvCxnSpPr>
          <p:cNvPr id="35" name="Conector de seta reta 34"/>
          <p:cNvCxnSpPr/>
          <p:nvPr/>
        </p:nvCxnSpPr>
        <p:spPr>
          <a:xfrm>
            <a:off x="7024689" y="5929314"/>
            <a:ext cx="714375" cy="1587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70" name="CaixaDeTexto 35"/>
          <p:cNvSpPr txBox="1">
            <a:spLocks noChangeArrowheads="1"/>
          </p:cNvSpPr>
          <p:nvPr/>
        </p:nvSpPr>
        <p:spPr bwMode="auto">
          <a:xfrm>
            <a:off x="2524125" y="5715001"/>
            <a:ext cx="20716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>
                <a:latin typeface="Calibri" pitchFamily="34" charset="0"/>
              </a:rPr>
              <a:t>Retirada de cálcio dos ossos</a:t>
            </a:r>
            <a:endParaRPr lang="pt-BR"/>
          </a:p>
        </p:txBody>
      </p:sp>
      <p:cxnSp>
        <p:nvCxnSpPr>
          <p:cNvPr id="38" name="Conector de seta reta 37"/>
          <p:cNvCxnSpPr/>
          <p:nvPr/>
        </p:nvCxnSpPr>
        <p:spPr>
          <a:xfrm rot="5400000" flipH="1" flipV="1">
            <a:off x="3380582" y="5358607"/>
            <a:ext cx="42862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 rot="5400000">
            <a:off x="8347076" y="5537201"/>
            <a:ext cx="500062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8B73124-3C1C-40F1-8E49-2FC42D9135E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A37F30E-BC13-4D6F-9B61-0001DBA44168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4232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</a:t>
            </a:r>
            <a:r>
              <a:rPr lang="pt-BR" b="1" dirty="0">
                <a:latin typeface="+mn-lt"/>
                <a:cs typeface="Tahoma" pitchFamily="34" charset="0"/>
              </a:rPr>
              <a:t>) </a:t>
            </a:r>
            <a:r>
              <a:rPr lang="pt-BR" b="1" dirty="0" err="1">
                <a:latin typeface="+mn-lt"/>
                <a:cs typeface="Tahoma" pitchFamily="34" charset="0"/>
              </a:rPr>
              <a:t>Supra-renais</a:t>
            </a:r>
            <a:r>
              <a:rPr lang="pt-BR" b="1" dirty="0">
                <a:latin typeface="+mn-lt"/>
                <a:cs typeface="Tahoma" pitchFamily="34" charset="0"/>
              </a:rPr>
              <a:t> (adrenais)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sobre os rins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Dividida em duas regiões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dirty="0">
                <a:latin typeface="+mn-lt"/>
                <a:cs typeface="Tahoma" pitchFamily="34" charset="0"/>
              </a:rPr>
              <a:t>Córtex: Região mais externa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Produz os hormônios: Glicocorticóides (cortisol) e Mineralocorticóides (</a:t>
            </a:r>
            <a:r>
              <a:rPr lang="pt-BR" dirty="0" err="1">
                <a:latin typeface="+mn-lt"/>
                <a:cs typeface="Tahoma" pitchFamily="34" charset="0"/>
              </a:rPr>
              <a:t>aldosterona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300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r>
              <a:rPr lang="pt-BR" dirty="0">
                <a:latin typeface="+mn-lt"/>
                <a:cs typeface="Tahoma" pitchFamily="34" charset="0"/>
              </a:rPr>
              <a:t>Medula: Região interna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pt-BR" dirty="0">
                <a:latin typeface="+mn-lt"/>
                <a:cs typeface="Tahoma" pitchFamily="34" charset="0"/>
              </a:rPr>
              <a:t>Produz os hormônios: </a:t>
            </a:r>
            <a:r>
              <a:rPr lang="pt-BR" dirty="0" err="1">
                <a:latin typeface="+mn-lt"/>
                <a:cs typeface="Tahoma" pitchFamily="34" charset="0"/>
              </a:rPr>
              <a:t>Epinefrina</a:t>
            </a:r>
            <a:r>
              <a:rPr lang="pt-BR" dirty="0">
                <a:latin typeface="+mn-lt"/>
                <a:cs typeface="Tahoma" pitchFamily="34" charset="0"/>
              </a:rPr>
              <a:t> ou (Adrenalina) e </a:t>
            </a:r>
            <a:r>
              <a:rPr lang="pt-BR" dirty="0" err="1">
                <a:latin typeface="+mn-lt"/>
                <a:cs typeface="Tahoma" pitchFamily="34" charset="0"/>
              </a:rPr>
              <a:t>Norepinefrina</a:t>
            </a:r>
            <a:r>
              <a:rPr lang="pt-BR" dirty="0">
                <a:latin typeface="+mn-lt"/>
                <a:cs typeface="Tahoma" pitchFamily="34" charset="0"/>
              </a:rPr>
              <a:t> ou (Noradrenalina)</a:t>
            </a: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20485" name="Imagem 17" descr="adrenai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1501" y="4344988"/>
            <a:ext cx="2214563" cy="2252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Imagem 20" descr="suprarenal.jpg"/>
          <p:cNvPicPr>
            <a:picLocks noChangeAspect="1"/>
          </p:cNvPicPr>
          <p:nvPr/>
        </p:nvPicPr>
        <p:blipFill>
          <a:blip r:embed="rId4" cstate="print">
            <a:lum contrast="20000"/>
          </a:blip>
          <a:srcRect/>
          <a:stretch>
            <a:fillRect/>
          </a:stretch>
        </p:blipFill>
        <p:spPr bwMode="auto">
          <a:xfrm>
            <a:off x="1666875" y="4019550"/>
            <a:ext cx="1809750" cy="264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ector de seta reta 22"/>
          <p:cNvCxnSpPr/>
          <p:nvPr/>
        </p:nvCxnSpPr>
        <p:spPr>
          <a:xfrm>
            <a:off x="3452813" y="4786314"/>
            <a:ext cx="114300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6238875" y="4286250"/>
            <a:ext cx="9286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Córtex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524626" y="5072064"/>
            <a:ext cx="100012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Medula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95501" y="5786439"/>
            <a:ext cx="7143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RIM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167564" y="4143376"/>
            <a:ext cx="207168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Cortisol</a:t>
            </a:r>
          </a:p>
          <a:p>
            <a:pPr>
              <a:defRPr/>
            </a:pPr>
            <a:r>
              <a:rPr lang="pt-BR" dirty="0" err="1">
                <a:latin typeface="+mn-lt"/>
              </a:rPr>
              <a:t>Aldosterona</a:t>
            </a:r>
            <a:endParaRPr lang="pt-BR" dirty="0">
              <a:latin typeface="+mn-lt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7596189" y="4929188"/>
            <a:ext cx="2071687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 err="1">
                <a:latin typeface="+mn-lt"/>
              </a:rPr>
              <a:t>Epinefrina</a:t>
            </a:r>
            <a:endParaRPr lang="pt-BR" dirty="0">
              <a:latin typeface="+mn-lt"/>
            </a:endParaRPr>
          </a:p>
          <a:p>
            <a:pPr>
              <a:defRPr/>
            </a:pPr>
            <a:r>
              <a:rPr lang="pt-BR" dirty="0" err="1">
                <a:latin typeface="+mn-lt"/>
              </a:rPr>
              <a:t>Norepinefrina</a:t>
            </a:r>
            <a:endParaRPr lang="pt-BR" dirty="0">
              <a:latin typeface="+mn-lt"/>
            </a:endParaRPr>
          </a:p>
        </p:txBody>
      </p:sp>
      <p:sp>
        <p:nvSpPr>
          <p:cNvPr id="29" name="Chave direita 28"/>
          <p:cNvSpPr/>
          <p:nvPr/>
        </p:nvSpPr>
        <p:spPr>
          <a:xfrm>
            <a:off x="7024689" y="4214813"/>
            <a:ext cx="142875" cy="5715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0" name="Chave direita 29"/>
          <p:cNvSpPr/>
          <p:nvPr/>
        </p:nvSpPr>
        <p:spPr>
          <a:xfrm>
            <a:off x="7381876" y="5000625"/>
            <a:ext cx="142875" cy="5715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537B21B-3B59-4B14-9F68-F4F9D54FBDF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18E5A5D-10D7-42B7-AAEC-3609D360FF87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Circulatório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8186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</a:t>
            </a:r>
            <a:r>
              <a:rPr lang="pt-BR" b="1" dirty="0">
                <a:latin typeface="+mn-lt"/>
                <a:cs typeface="Tahoma" pitchFamily="34" charset="0"/>
              </a:rPr>
              <a:t>) </a:t>
            </a:r>
            <a:r>
              <a:rPr lang="pt-BR" b="1" dirty="0" err="1">
                <a:latin typeface="+mn-lt"/>
                <a:cs typeface="Tahoma" pitchFamily="34" charset="0"/>
              </a:rPr>
              <a:t>Supra-renais</a:t>
            </a:r>
            <a:r>
              <a:rPr lang="pt-BR" b="1" dirty="0">
                <a:latin typeface="+mn-lt"/>
                <a:cs typeface="Tahoma" pitchFamily="34" charset="0"/>
              </a:rPr>
              <a:t> (Hormônios da córtex)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Glicocorticóides </a:t>
            </a:r>
            <a:r>
              <a:rPr lang="pt-BR" dirty="0">
                <a:latin typeface="+mn-lt"/>
                <a:cs typeface="Tahoma" pitchFamily="34" charset="0"/>
              </a:rPr>
              <a:t>(derivados do colesterol)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Hormônio mais importante: </a:t>
            </a:r>
            <a:r>
              <a:rPr lang="pt-BR" b="1" dirty="0">
                <a:latin typeface="+mn-lt"/>
                <a:cs typeface="Tahoma" pitchFamily="34" charset="0"/>
              </a:rPr>
              <a:t>Cortisol</a:t>
            </a:r>
            <a:r>
              <a:rPr lang="pt-BR" dirty="0">
                <a:latin typeface="+mn-lt"/>
                <a:cs typeface="Tahoma" pitchFamily="34" charset="0"/>
              </a:rPr>
              <a:t> ou Hidrocortisona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Liberado em situações de estresse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Atua na produção de glicose a partir de proteínas e gorduras (</a:t>
            </a:r>
            <a:r>
              <a:rPr lang="pt-BR" dirty="0">
                <a:latin typeface="Calibri"/>
                <a:cs typeface="Tahoma" pitchFamily="34" charset="0"/>
              </a:rPr>
              <a:t>↑ glicemia).</a:t>
            </a: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Reduz  inflamações e alergias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Obs.: É controlado pelo hormônio ACTH produzido pela </a:t>
            </a:r>
            <a:r>
              <a:rPr lang="pt-BR" dirty="0" err="1">
                <a:latin typeface="+mn-lt"/>
                <a:cs typeface="Tahoma" pitchFamily="34" charset="0"/>
              </a:rPr>
              <a:t>adenohipófise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r>
              <a:rPr lang="pt-BR" b="1" dirty="0">
                <a:latin typeface="+mn-lt"/>
                <a:cs typeface="Tahoma" pitchFamily="34" charset="0"/>
              </a:rPr>
              <a:t>Mineralocorticóides</a:t>
            </a:r>
            <a:r>
              <a:rPr lang="pt-BR" dirty="0">
                <a:latin typeface="+mn-lt"/>
                <a:cs typeface="Tahoma" pitchFamily="34" charset="0"/>
              </a:rPr>
              <a:t> (derivados do colesterol)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Hormônio mais importante: </a:t>
            </a:r>
            <a:r>
              <a:rPr lang="pt-BR" b="1" dirty="0" err="1">
                <a:latin typeface="+mn-lt"/>
                <a:cs typeface="Tahoma" pitchFamily="34" charset="0"/>
              </a:rPr>
              <a:t>Aldosterona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Realiza a reabsorção de sódio (Na</a:t>
            </a:r>
            <a:r>
              <a:rPr lang="pt-BR" baseline="30000" dirty="0">
                <a:latin typeface="+mn-lt"/>
                <a:cs typeface="Tahoma" pitchFamily="34" charset="0"/>
              </a:rPr>
              <a:t>+</a:t>
            </a:r>
            <a:r>
              <a:rPr lang="pt-BR" dirty="0">
                <a:latin typeface="+mn-lt"/>
                <a:cs typeface="Tahoma" pitchFamily="34" charset="0"/>
              </a:rPr>
              <a:t>) e a excreção de potássio (K</a:t>
            </a:r>
            <a:r>
              <a:rPr lang="pt-BR" baseline="30000" dirty="0">
                <a:latin typeface="+mn-lt"/>
                <a:cs typeface="Tahoma" pitchFamily="34" charset="0"/>
              </a:rPr>
              <a:t>+</a:t>
            </a:r>
            <a:r>
              <a:rPr lang="pt-BR" dirty="0">
                <a:latin typeface="+mn-lt"/>
                <a:cs typeface="Tahoma" pitchFamily="34" charset="0"/>
              </a:rPr>
              <a:t>) nos rins.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Aumenta a pressão arterial e a </a:t>
            </a:r>
            <a:r>
              <a:rPr lang="pt-BR" dirty="0" err="1">
                <a:latin typeface="+mn-lt"/>
              </a:rPr>
              <a:t>volemia</a:t>
            </a:r>
            <a:r>
              <a:rPr lang="pt-BR" dirty="0">
                <a:latin typeface="+mn-lt"/>
              </a:rPr>
              <a:t> (volume de sangue circulante).</a:t>
            </a: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Obs.: É controlado pelo hormônio ACTH produzido pela </a:t>
            </a:r>
            <a:r>
              <a:rPr lang="pt-BR" dirty="0" err="1">
                <a:latin typeface="+mn-lt"/>
                <a:cs typeface="Tahoma" pitchFamily="34" charset="0"/>
              </a:rPr>
              <a:t>adenohipófise</a:t>
            </a:r>
            <a:r>
              <a:rPr lang="pt-BR" dirty="0">
                <a:latin typeface="+mn-lt"/>
                <a:cs typeface="Tahoma" pitchFamily="34" charset="0"/>
              </a:rPr>
              <a:t>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A87FB2-DE93-4D45-B9D9-6CFC6C70FC3A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F1C9B4D-389E-436B-96D1-9C7D7F031C19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6956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 V</a:t>
            </a:r>
            <a:r>
              <a:rPr lang="pt-BR" b="1" dirty="0">
                <a:latin typeface="+mn-lt"/>
                <a:cs typeface="Tahoma" pitchFamily="34" charset="0"/>
              </a:rPr>
              <a:t>) </a:t>
            </a:r>
            <a:r>
              <a:rPr lang="pt-BR" b="1" dirty="0" err="1">
                <a:latin typeface="+mn-lt"/>
                <a:cs typeface="Tahoma" pitchFamily="34" charset="0"/>
              </a:rPr>
              <a:t>Supra-renais</a:t>
            </a:r>
            <a:r>
              <a:rPr lang="pt-BR" b="1" dirty="0">
                <a:latin typeface="+mn-lt"/>
                <a:cs typeface="Tahoma" pitchFamily="34" charset="0"/>
              </a:rPr>
              <a:t> (Hormônios da medula)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Epinefrina</a:t>
            </a:r>
            <a:r>
              <a:rPr lang="pt-BR" b="1" dirty="0">
                <a:latin typeface="+mn-lt"/>
                <a:cs typeface="Tahoma" pitchFamily="34" charset="0"/>
              </a:rPr>
              <a:t> </a:t>
            </a:r>
            <a:r>
              <a:rPr lang="pt-BR" dirty="0">
                <a:latin typeface="+mn-lt"/>
                <a:cs typeface="Tahoma" pitchFamily="34" charset="0"/>
              </a:rPr>
              <a:t>(adrenalina)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Prepara organismo para enfrentar situações de estresse.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Contração dos vasos sanguíneos (</a:t>
            </a:r>
            <a:r>
              <a:rPr lang="pt-BR" dirty="0" err="1">
                <a:latin typeface="+mn-lt"/>
                <a:cs typeface="Tahoma" pitchFamily="34" charset="0"/>
              </a:rPr>
              <a:t>vasoconstrição</a:t>
            </a:r>
            <a:r>
              <a:rPr lang="pt-BR" dirty="0">
                <a:latin typeface="+mn-lt"/>
                <a:cs typeface="Tahoma" pitchFamily="34" charset="0"/>
              </a:rPr>
              <a:t>).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Aumenta a taxa de açúcares no sangue.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Redistribui sangue para os órgãos e músculos.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r>
              <a:rPr lang="pt-BR" b="1" dirty="0" err="1">
                <a:latin typeface="+mn-lt"/>
                <a:cs typeface="Tahoma" pitchFamily="34" charset="0"/>
              </a:rPr>
              <a:t>Norepinefrina</a:t>
            </a:r>
            <a:r>
              <a:rPr lang="pt-BR" dirty="0">
                <a:latin typeface="+mn-lt"/>
                <a:cs typeface="Tahoma" pitchFamily="34" charset="0"/>
              </a:rPr>
              <a:t> (noradrenalina)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 startAt="2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Atua em conjunto com a </a:t>
            </a:r>
            <a:r>
              <a:rPr lang="pt-BR" dirty="0" err="1">
                <a:latin typeface="+mn-lt"/>
                <a:cs typeface="Tahoma" pitchFamily="34" charset="0"/>
              </a:rPr>
              <a:t>epinefrina</a:t>
            </a:r>
            <a:r>
              <a:rPr lang="pt-BR" dirty="0">
                <a:latin typeface="+mn-lt"/>
                <a:cs typeface="Tahoma" pitchFamily="34" charset="0"/>
              </a:rPr>
              <a:t> nas respostas à situações de estresse.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Acelera os batimentos cardíacos (taquicardia).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Mantém a pressão sanguínea em níveis normais.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2171700" lvl="4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lvl="1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BEE815-3AC1-4646-8983-9A4E9CE6D1C5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0E2F345-12B5-490E-8A73-842B8630F0A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m 19" descr="pancreas2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8876" y="2780928"/>
            <a:ext cx="4156075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928688"/>
            <a:ext cx="8929688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</a:t>
            </a:r>
            <a:r>
              <a:rPr lang="pt-BR" b="1" dirty="0">
                <a:latin typeface="+mn-lt"/>
                <a:cs typeface="Tahoma" pitchFamily="34" charset="0"/>
              </a:rPr>
              <a:t>) Pâncreas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Localização: No lado esquerdo da cavidade abdominal.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Glândula mista ou </a:t>
            </a:r>
            <a:r>
              <a:rPr lang="pt-BR" dirty="0" err="1">
                <a:latin typeface="+mn-lt"/>
                <a:cs typeface="Tahoma" pitchFamily="34" charset="0"/>
              </a:rPr>
              <a:t>anfícrina</a:t>
            </a:r>
            <a:r>
              <a:rPr lang="pt-BR" dirty="0">
                <a:latin typeface="+mn-lt"/>
                <a:cs typeface="Tahoma" pitchFamily="34" charset="0"/>
              </a:rPr>
              <a:t> (possui porção exócrina e endócrina)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Produz dois hormônios: insulina e </a:t>
            </a:r>
            <a:r>
              <a:rPr lang="pt-BR" dirty="0" err="1">
                <a:latin typeface="+mn-lt"/>
                <a:cs typeface="Tahoma" pitchFamily="34" charset="0"/>
              </a:rPr>
              <a:t>glucagon</a:t>
            </a:r>
            <a:r>
              <a:rPr lang="pt-BR" dirty="0">
                <a:latin typeface="+mn-lt"/>
                <a:cs typeface="Tahoma" pitchFamily="34" charset="0"/>
              </a:rPr>
              <a:t> (porção endócrina)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Produz o suco pancreático (porção exócrina)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23558" name="Imagem 17" descr="pancrea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9750" y="3643314"/>
            <a:ext cx="387350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80F225B-8C07-44EF-A652-690E9A45333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662B3FC-2F4C-40AE-8236-A6633B9E4854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5786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</a:t>
            </a:r>
            <a:r>
              <a:rPr lang="pt-BR" b="1" dirty="0">
                <a:latin typeface="+mn-lt"/>
                <a:cs typeface="Tahoma" pitchFamily="34" charset="0"/>
              </a:rPr>
              <a:t>) Pâncreas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r>
              <a:rPr lang="pt-BR" b="1" dirty="0">
                <a:latin typeface="+mn-lt"/>
                <a:cs typeface="Tahoma" pitchFamily="34" charset="0"/>
              </a:rPr>
              <a:t>Insulina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lphaLcParenR"/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Aumenta a permeabilidade da membrana celular à glicose.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No fígado a insulina promove a formação do glicogênio.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Ação hipoglicemiante (diminui a quantidade de glicose no sangue).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Produzido pelas células </a:t>
            </a:r>
            <a:r>
              <a:rPr lang="el-GR" dirty="0">
                <a:latin typeface="Calibri"/>
                <a:cs typeface="Tahoma" pitchFamily="34" charset="0"/>
              </a:rPr>
              <a:t>β</a:t>
            </a:r>
            <a:r>
              <a:rPr lang="pt-BR" dirty="0">
                <a:latin typeface="Calibri"/>
                <a:cs typeface="Tahoma" pitchFamily="34" charset="0"/>
              </a:rPr>
              <a:t> (beta) das ilhotas de </a:t>
            </a:r>
            <a:r>
              <a:rPr lang="pt-BR" dirty="0" err="1">
                <a:latin typeface="Calibri"/>
                <a:cs typeface="Tahoma" pitchFamily="34" charset="0"/>
              </a:rPr>
              <a:t>Langerhans</a:t>
            </a:r>
            <a:r>
              <a:rPr lang="pt-BR" dirty="0">
                <a:latin typeface="Calibri"/>
                <a:cs typeface="Tahoma" pitchFamily="34" charset="0"/>
              </a:rPr>
              <a:t>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dirty="0">
              <a:latin typeface="Calibri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Calibri"/>
                <a:cs typeface="Tahoma" pitchFamily="34" charset="0"/>
              </a:rPr>
              <a:t>b)   </a:t>
            </a:r>
            <a:r>
              <a:rPr lang="pt-BR" b="1" dirty="0" err="1">
                <a:latin typeface="Calibri"/>
                <a:cs typeface="Tahoma" pitchFamily="34" charset="0"/>
              </a:rPr>
              <a:t>Glucagon</a:t>
            </a:r>
            <a:endParaRPr lang="pt-BR" b="1" dirty="0">
              <a:latin typeface="Calibri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Efeito inverso ao da insulina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No fígado o </a:t>
            </a:r>
            <a:r>
              <a:rPr lang="pt-BR" dirty="0" err="1">
                <a:latin typeface="+mn-lt"/>
                <a:cs typeface="Tahoma" pitchFamily="34" charset="0"/>
              </a:rPr>
              <a:t>glucagon</a:t>
            </a:r>
            <a:r>
              <a:rPr lang="pt-BR" dirty="0">
                <a:latin typeface="+mn-lt"/>
                <a:cs typeface="Tahoma" pitchFamily="34" charset="0"/>
              </a:rPr>
              <a:t> estimula a transformação do glicogênio em várias moléculas de glicose, que serão enviadas para o sangue.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Ação hiperglicemiante (aumenta a quantidade de glicose no sangue).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  <a:cs typeface="Tahoma" pitchFamily="34" charset="0"/>
              </a:rPr>
              <a:t>Produzido pelas células </a:t>
            </a:r>
            <a:r>
              <a:rPr lang="el-GR" dirty="0">
                <a:latin typeface="Calibri"/>
                <a:cs typeface="Tahoma" pitchFamily="34" charset="0"/>
              </a:rPr>
              <a:t>α</a:t>
            </a:r>
            <a:r>
              <a:rPr lang="pt-BR" dirty="0">
                <a:latin typeface="Calibri"/>
                <a:cs typeface="Tahoma" pitchFamily="34" charset="0"/>
              </a:rPr>
              <a:t> (alfa) das ilhotas de </a:t>
            </a:r>
            <a:r>
              <a:rPr lang="pt-BR" dirty="0" err="1">
                <a:latin typeface="Calibri"/>
                <a:cs typeface="Tahoma" pitchFamily="34" charset="0"/>
              </a:rPr>
              <a:t>Langerhans</a:t>
            </a:r>
            <a:r>
              <a:rPr lang="pt-BR" dirty="0">
                <a:latin typeface="Calibri"/>
                <a:cs typeface="Tahoma" pitchFamily="34" charset="0"/>
              </a:rPr>
              <a:t>.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881689" y="2143125"/>
            <a:ext cx="264318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i="1" dirty="0">
                <a:latin typeface="+mn-lt"/>
              </a:rPr>
              <a:t>Atua após as refeições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810250" y="4286250"/>
            <a:ext cx="37861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i="1" dirty="0">
                <a:latin typeface="+mn-lt"/>
              </a:rPr>
              <a:t>Atua nos períodos entre as refeições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8FD199-CF3E-421B-A1FC-6E4B58E241B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C3C2D23-4E69-4F55-924F-34FB386631E6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9"/>
            <a:ext cx="8929688" cy="1908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</a:t>
            </a:r>
            <a:r>
              <a:rPr lang="pt-BR" b="1" dirty="0">
                <a:latin typeface="+mn-lt"/>
                <a:cs typeface="Tahoma" pitchFamily="34" charset="0"/>
              </a:rPr>
              <a:t>) Pâncreas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25605" name="Imagem 5" descr="ilhot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8313" y="2071688"/>
            <a:ext cx="5257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5024439" y="2000250"/>
            <a:ext cx="12144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 err="1">
                <a:latin typeface="+mn-lt"/>
              </a:rPr>
              <a:t>Ácino</a:t>
            </a:r>
            <a:endParaRPr lang="pt-BR" dirty="0">
              <a:latin typeface="+mn-lt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452939" y="5214939"/>
            <a:ext cx="1214437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Células </a:t>
            </a:r>
            <a:r>
              <a:rPr lang="el-GR" dirty="0">
                <a:latin typeface="+mn-lt"/>
              </a:rPr>
              <a:t>β</a:t>
            </a:r>
            <a:endParaRPr lang="pt-BR" dirty="0">
              <a:latin typeface="+mn-lt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309814" y="2857501"/>
            <a:ext cx="12144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Vaso sanguíneo</a:t>
            </a:r>
          </a:p>
        </p:txBody>
      </p:sp>
      <p:cxnSp>
        <p:nvCxnSpPr>
          <p:cNvPr id="12" name="Conector reto 11"/>
          <p:cNvCxnSpPr/>
          <p:nvPr/>
        </p:nvCxnSpPr>
        <p:spPr>
          <a:xfrm rot="5400000">
            <a:off x="3559970" y="5179220"/>
            <a:ext cx="1000125" cy="71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452814" y="5715000"/>
            <a:ext cx="12144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Células </a:t>
            </a:r>
            <a:r>
              <a:rPr lang="el-GR" dirty="0">
                <a:latin typeface="Calibri"/>
              </a:rPr>
              <a:t>α</a:t>
            </a:r>
            <a:endParaRPr lang="pt-BR" dirty="0">
              <a:latin typeface="+mn-lt"/>
            </a:endParaRPr>
          </a:p>
        </p:txBody>
      </p:sp>
      <p:sp>
        <p:nvSpPr>
          <p:cNvPr id="25611" name="CaixaDeTexto 15"/>
          <p:cNvSpPr txBox="1">
            <a:spLocks noChangeArrowheads="1"/>
          </p:cNvSpPr>
          <p:nvPr/>
        </p:nvSpPr>
        <p:spPr bwMode="auto">
          <a:xfrm>
            <a:off x="2095501" y="2000250"/>
            <a:ext cx="24288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/>
              <a:t>Ilhota de Langerhans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6596063" y="1857375"/>
            <a:ext cx="3929062" cy="4216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solidFill>
                  <a:srgbClr val="FF0000"/>
                </a:solidFill>
              </a:rPr>
              <a:t>Diabetes </a:t>
            </a:r>
            <a:r>
              <a:rPr lang="pt-BR" b="1" dirty="0" err="1">
                <a:solidFill>
                  <a:srgbClr val="FF0000"/>
                </a:solidFill>
              </a:rPr>
              <a:t>Mellitus</a:t>
            </a:r>
            <a:endParaRPr lang="pt-BR" b="1" dirty="0">
              <a:solidFill>
                <a:srgbClr val="FF0000"/>
              </a:solidFill>
            </a:endParaRP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/>
              <a:t>Doença em que o indivíduo apresenta altas taxas de glicose no sangue.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b="1" dirty="0"/>
              <a:t>Diabetes Tipo I</a:t>
            </a:r>
          </a:p>
          <a:p>
            <a:pPr>
              <a:defRPr/>
            </a:pPr>
            <a:endParaRPr lang="pt-BR" sz="800" dirty="0"/>
          </a:p>
          <a:p>
            <a:pPr>
              <a:defRPr/>
            </a:pPr>
            <a:r>
              <a:rPr lang="pt-BR" dirty="0"/>
              <a:t>Causa: Redução das células </a:t>
            </a:r>
            <a:r>
              <a:rPr lang="el-GR" dirty="0"/>
              <a:t>β</a:t>
            </a:r>
            <a:r>
              <a:rPr lang="pt-BR" dirty="0"/>
              <a:t> do pâncreas, o que leva a uma diminuição da produção de insulina.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b="1" dirty="0"/>
              <a:t>Diabetes Tipo II</a:t>
            </a:r>
          </a:p>
          <a:p>
            <a:pPr>
              <a:defRPr/>
            </a:pPr>
            <a:endParaRPr lang="pt-BR" sz="800" dirty="0"/>
          </a:p>
          <a:p>
            <a:pPr>
              <a:defRPr/>
            </a:pPr>
            <a:r>
              <a:rPr lang="pt-BR" dirty="0"/>
              <a:t>Causa: Redução do  número de receptores de insulina nas membranas das células.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4FB11C2-0AB7-46D5-94F1-B0AA0F237269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4CBAB9D8-B99F-4601-97F2-1EF2924BFD7D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26463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VII</a:t>
            </a:r>
            <a:r>
              <a:rPr lang="pt-BR" b="1" dirty="0">
                <a:latin typeface="+mn-lt"/>
                <a:cs typeface="Tahoma" pitchFamily="34" charset="0"/>
              </a:rPr>
              <a:t>) Gônadas (Testículos e Ovários)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a) Testículos </a:t>
            </a:r>
            <a:r>
              <a:rPr lang="pt-BR" dirty="0">
                <a:latin typeface="+mn-lt"/>
                <a:cs typeface="Tahoma" pitchFamily="34" charset="0"/>
              </a:rPr>
              <a:t>(homem): Localizados no interior da bolsa escrotal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Sofre influência dos hormônios FSH e LH produzidos pela </a:t>
            </a:r>
            <a:r>
              <a:rPr lang="pt-BR" dirty="0" err="1">
                <a:latin typeface="+mn-lt"/>
                <a:cs typeface="Tahoma" pitchFamily="34" charset="0"/>
              </a:rPr>
              <a:t>adenohipófise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26629" name="Imagem 6" descr="testicul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2708921"/>
            <a:ext cx="3236913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4881563" y="2708920"/>
            <a:ext cx="5643562" cy="37861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b="1" dirty="0"/>
              <a:t>Testículos</a:t>
            </a:r>
          </a:p>
          <a:p>
            <a:pPr>
              <a:defRPr/>
            </a:pPr>
            <a:endParaRPr lang="pt-BR" sz="800" dirty="0"/>
          </a:p>
          <a:p>
            <a:pPr algn="just">
              <a:defRPr/>
            </a:pPr>
            <a:r>
              <a:rPr lang="pt-BR" dirty="0"/>
              <a:t>FSH </a:t>
            </a:r>
            <a:r>
              <a:rPr lang="pt-BR" dirty="0">
                <a:sym typeface="Wingdings" pitchFamily="2" charset="2"/>
              </a:rPr>
              <a:t> induz a produção de Espermatozóides</a:t>
            </a:r>
          </a:p>
          <a:p>
            <a:pPr algn="just">
              <a:defRPr/>
            </a:pPr>
            <a:endParaRPr lang="pt-BR" sz="800" dirty="0">
              <a:sym typeface="Wingdings" pitchFamily="2" charset="2"/>
            </a:endParaRPr>
          </a:p>
          <a:p>
            <a:pPr algn="just">
              <a:defRPr/>
            </a:pPr>
            <a:r>
              <a:rPr lang="pt-BR" dirty="0">
                <a:sym typeface="Wingdings" pitchFamily="2" charset="2"/>
              </a:rPr>
              <a:t>LH  Induz a produção de Testosterona</a:t>
            </a:r>
          </a:p>
          <a:p>
            <a:pPr algn="just">
              <a:defRPr/>
            </a:pPr>
            <a:endParaRPr lang="pt-BR" sz="800" dirty="0">
              <a:sym typeface="Wingdings" pitchFamily="2" charset="2"/>
            </a:endParaRPr>
          </a:p>
          <a:p>
            <a:pPr algn="just">
              <a:defRPr/>
            </a:pPr>
            <a:r>
              <a:rPr lang="pt-BR" b="1" dirty="0">
                <a:solidFill>
                  <a:srgbClr val="FF0000"/>
                </a:solidFill>
                <a:sym typeface="Wingdings" pitchFamily="2" charset="2"/>
              </a:rPr>
              <a:t>Testosterona</a:t>
            </a:r>
            <a:r>
              <a:rPr lang="pt-BR" dirty="0">
                <a:sym typeface="Wingdings" pitchFamily="2" charset="2"/>
              </a:rPr>
              <a:t> (hormônio sexual masculino), produzido no interior dos testículos pelas células de </a:t>
            </a:r>
            <a:r>
              <a:rPr lang="pt-BR" dirty="0" err="1">
                <a:sym typeface="Wingdings" pitchFamily="2" charset="2"/>
              </a:rPr>
              <a:t>Leydig</a:t>
            </a:r>
            <a:r>
              <a:rPr lang="pt-BR" dirty="0">
                <a:sym typeface="Wingdings" pitchFamily="2" charset="2"/>
              </a:rPr>
              <a:t>.</a:t>
            </a:r>
          </a:p>
          <a:p>
            <a:pPr algn="just">
              <a:defRPr/>
            </a:pPr>
            <a:endParaRPr lang="pt-BR" sz="800" dirty="0">
              <a:sym typeface="Wingdings" pitchFamily="2" charset="2"/>
            </a:endParaRPr>
          </a:p>
          <a:p>
            <a:pPr algn="just">
              <a:defRPr/>
            </a:pPr>
            <a:r>
              <a:rPr lang="pt-BR" dirty="0">
                <a:sym typeface="Wingdings" pitchFamily="2" charset="2"/>
              </a:rPr>
              <a:t>Ação: </a:t>
            </a:r>
          </a:p>
          <a:p>
            <a:pPr algn="just">
              <a:defRPr/>
            </a:pPr>
            <a:endParaRPr lang="pt-BR" sz="300" dirty="0"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  <a:defRPr/>
            </a:pPr>
            <a:r>
              <a:rPr lang="pt-BR" dirty="0">
                <a:sym typeface="Wingdings" pitchFamily="2" charset="2"/>
              </a:rPr>
              <a:t> Aparecimento dos características sexuais secundárias masculinas (barba, pêlos pubianos, engrossamento da voz, desenvolvimento da musculatura, </a:t>
            </a:r>
            <a:r>
              <a:rPr lang="pt-BR" dirty="0" err="1">
                <a:sym typeface="Wingdings" pitchFamily="2" charset="2"/>
              </a:rPr>
              <a:t>etc</a:t>
            </a:r>
            <a:r>
              <a:rPr lang="pt-BR" dirty="0">
                <a:sym typeface="Wingdings" pitchFamily="2" charset="2"/>
              </a:rPr>
              <a:t>).</a:t>
            </a:r>
          </a:p>
          <a:p>
            <a:pPr algn="just">
              <a:buFont typeface="Wingdings" pitchFamily="2" charset="2"/>
              <a:buChar char="ü"/>
              <a:defRPr/>
            </a:pPr>
            <a:endParaRPr lang="pt-BR" sz="200" dirty="0">
              <a:sym typeface="Wingdings" pitchFamily="2" charset="2"/>
            </a:endParaRPr>
          </a:p>
          <a:p>
            <a:pPr algn="just">
              <a:buFont typeface="Wingdings" pitchFamily="2" charset="2"/>
              <a:buChar char="ü"/>
              <a:defRPr/>
            </a:pPr>
            <a:r>
              <a:rPr lang="pt-BR" dirty="0">
                <a:sym typeface="Wingdings" pitchFamily="2" charset="2"/>
              </a:rPr>
              <a:t> Amadurecimento dos órgãos genitais.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pt-BR" dirty="0">
                <a:sym typeface="Wingdings" pitchFamily="2" charset="2"/>
              </a:rPr>
              <a:t> Libido sexual.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603580-38C9-46CB-BD8B-14582EEEFB0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365572-3BAF-47EA-90F6-FA866B6D14F4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3016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VII</a:t>
            </a:r>
            <a:r>
              <a:rPr lang="pt-BR" b="1" dirty="0">
                <a:latin typeface="+mn-lt"/>
                <a:cs typeface="Tahoma" pitchFamily="34" charset="0"/>
              </a:rPr>
              <a:t>) Gônadas (Testículos e Ovários)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b) Ovários </a:t>
            </a:r>
            <a:r>
              <a:rPr lang="pt-BR" dirty="0">
                <a:latin typeface="+mn-lt"/>
                <a:cs typeface="Tahoma" pitchFamily="34" charset="0"/>
              </a:rPr>
              <a:t>(mulher) localizados no interior da cavidade pélvica.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Hormônios produzidos: Estrógeno e Progesterona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Tahoma" pitchFamily="34" charset="0"/>
              </a:rPr>
              <a:t>Sofrem influência dos hormônios FSH e LH produzidos pela </a:t>
            </a:r>
            <a:r>
              <a:rPr lang="pt-BR" dirty="0" err="1">
                <a:latin typeface="+mn-lt"/>
                <a:cs typeface="Tahoma" pitchFamily="34" charset="0"/>
              </a:rPr>
              <a:t>adenohipófise</a:t>
            </a: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pic>
        <p:nvPicPr>
          <p:cNvPr id="27653" name="Imagem 10" descr="ovario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714625"/>
            <a:ext cx="4071938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CaixaDeTexto 13"/>
          <p:cNvSpPr txBox="1">
            <a:spLocks noChangeArrowheads="1"/>
          </p:cNvSpPr>
          <p:nvPr/>
        </p:nvSpPr>
        <p:spPr bwMode="auto">
          <a:xfrm>
            <a:off x="1524000" y="2786064"/>
            <a:ext cx="1500188" cy="307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00"/>
              <a:t>Tuba uterina</a:t>
            </a:r>
          </a:p>
        </p:txBody>
      </p:sp>
      <p:pic>
        <p:nvPicPr>
          <p:cNvPr id="27655" name="Imagem 14" descr="foliculo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4938" y="3643314"/>
            <a:ext cx="5453062" cy="2882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Conector de seta reta 16"/>
          <p:cNvCxnSpPr/>
          <p:nvPr/>
        </p:nvCxnSpPr>
        <p:spPr>
          <a:xfrm>
            <a:off x="4738688" y="3786188"/>
            <a:ext cx="857250" cy="5715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5881689" y="2928938"/>
            <a:ext cx="4429125" cy="646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FSH induz a formação dos </a:t>
            </a:r>
            <a:r>
              <a:rPr lang="pt-BR" dirty="0" err="1"/>
              <a:t>foliculos</a:t>
            </a:r>
            <a:r>
              <a:rPr lang="pt-BR" dirty="0"/>
              <a:t> ovarianos (</a:t>
            </a:r>
            <a:r>
              <a:rPr lang="pt-BR" dirty="0" err="1"/>
              <a:t>Graaf</a:t>
            </a:r>
            <a:r>
              <a:rPr lang="pt-BR" dirty="0"/>
              <a:t>) e estes produzem </a:t>
            </a:r>
            <a:r>
              <a:rPr lang="pt-BR" b="1" dirty="0"/>
              <a:t>estrógeno</a:t>
            </a:r>
            <a:r>
              <a:rPr lang="pt-BR" dirty="0"/>
              <a:t>.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524000" y="5072063"/>
            <a:ext cx="3714750" cy="14779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Com o aumento do estrógeno, ocorre o aumento da liberação do hormônio LH, o qual promove a ovulação e a formação do corpo </a:t>
            </a:r>
            <a:r>
              <a:rPr lang="pt-BR" dirty="0" err="1"/>
              <a:t>amerelo</a:t>
            </a:r>
            <a:r>
              <a:rPr lang="pt-BR" dirty="0"/>
              <a:t> (lúteo) que irá produzir </a:t>
            </a:r>
            <a:r>
              <a:rPr lang="pt-BR" b="1" dirty="0"/>
              <a:t>progesterona</a:t>
            </a:r>
            <a:r>
              <a:rPr lang="pt-BR" dirty="0"/>
              <a:t>.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452938" y="4572001"/>
            <a:ext cx="1143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>
                <a:latin typeface="+mn-lt"/>
              </a:rPr>
              <a:t>Corpo lúteo</a:t>
            </a:r>
          </a:p>
        </p:txBody>
      </p:sp>
      <p:cxnSp>
        <p:nvCxnSpPr>
          <p:cNvPr id="24" name="Conector reto 23"/>
          <p:cNvCxnSpPr/>
          <p:nvPr/>
        </p:nvCxnSpPr>
        <p:spPr>
          <a:xfrm rot="16200000" flipV="1">
            <a:off x="5095876" y="4929188"/>
            <a:ext cx="714375" cy="571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0E1E11B9-F37F-46A2-B8E1-4B61C7D5A025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F822E19-DE96-43E8-8617-306003EE41D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28688"/>
            <a:ext cx="8929688" cy="7110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2)  Principais glândulas endócrinas humanas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  <a:cs typeface="Tahoma" pitchFamily="34" charset="0"/>
              </a:rPr>
              <a:t>	VII</a:t>
            </a:r>
            <a:r>
              <a:rPr lang="pt-BR" b="1" dirty="0">
                <a:latin typeface="+mn-lt"/>
                <a:cs typeface="Tahoma" pitchFamily="34" charset="0"/>
              </a:rPr>
              <a:t>) Gônadas (Testículos e Ovários)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400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Estrógeno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Produzido pelos folículos ovarianos (folículos de </a:t>
            </a:r>
            <a:r>
              <a:rPr lang="pt-BR" dirty="0" err="1">
                <a:latin typeface="+mn-lt"/>
                <a:cs typeface="Tahoma" pitchFamily="34" charset="0"/>
              </a:rPr>
              <a:t>Graaf</a:t>
            </a:r>
            <a:r>
              <a:rPr lang="pt-BR" dirty="0">
                <a:latin typeface="+mn-lt"/>
                <a:cs typeface="Tahoma" pitchFamily="34" charset="0"/>
              </a:rPr>
              <a:t>);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determina o aparecimento das características sexuais secundárias femininas (mamas, pêlos pubianos, acúmulo de gordura em algumas regiões, etc.); 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Estimula o desenvolvimento do endométrio para receber o embrião;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induz o amadurecimento dos órgãos genitais;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libido sexual.</a:t>
            </a: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  <a:cs typeface="Tahoma" pitchFamily="34" charset="0"/>
              </a:rPr>
              <a:t>Progesterona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Produzida pelo corpo amarelo (corpo lúteo) que se origina do folículo ovariano rompido durante a ovulação.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Juntamente com o estrógeno, a progesterona atua preparando a parede do endométrio uterino para receber o embrião.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  <a:cs typeface="Tahoma" pitchFamily="34" charset="0"/>
              </a:rPr>
              <a:t>Estimula o desenvolvimento das glândulas mamárias.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  <a:cs typeface="Tahoma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  <a:cs typeface="Tahoma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1E0FEA-5773-4732-B806-EDD44680006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513D5C6-28F1-4AE1-BD7D-0A78661C9A5E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Endócrino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</TotalTime>
  <Words>1834</Words>
  <Application>Microsoft Office PowerPoint</Application>
  <PresentationFormat>Widescreen</PresentationFormat>
  <Paragraphs>576</Paragraphs>
  <Slides>27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Tahoma</vt:lpstr>
      <vt:lpstr>Wingdings</vt:lpstr>
      <vt:lpstr>Tema do Office</vt:lpstr>
      <vt:lpstr>Fisiologia Humana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26</cp:revision>
  <dcterms:created xsi:type="dcterms:W3CDTF">2020-06-05T12:13:59Z</dcterms:created>
  <dcterms:modified xsi:type="dcterms:W3CDTF">2021-05-14T13:10:12Z</dcterms:modified>
</cp:coreProperties>
</file>