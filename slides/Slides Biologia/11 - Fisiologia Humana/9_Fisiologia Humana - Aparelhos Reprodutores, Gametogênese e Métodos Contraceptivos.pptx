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316" r:id="rId2"/>
    <p:sldId id="304" r:id="rId3"/>
    <p:sldId id="259" r:id="rId4"/>
    <p:sldId id="260" r:id="rId5"/>
    <p:sldId id="261" r:id="rId6"/>
    <p:sldId id="262" r:id="rId7"/>
    <p:sldId id="266" r:id="rId8"/>
    <p:sldId id="267" r:id="rId9"/>
    <p:sldId id="274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305" r:id="rId35"/>
    <p:sldId id="292" r:id="rId36"/>
    <p:sldId id="293" r:id="rId37"/>
    <p:sldId id="294" r:id="rId38"/>
    <p:sldId id="296" r:id="rId39"/>
    <p:sldId id="29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B40D6-FF06-4DA5-BCBD-2C1074F0B84F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2B0DF-BE9B-4D85-ADDA-F454FE79BC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708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>
            <a:extLst>
              <a:ext uri="{FF2B5EF4-FFF2-40B4-BE49-F238E27FC236}">
                <a16:creationId xmlns:a16="http://schemas.microsoft.com/office/drawing/2014/main" id="{05DCFF65-0749-4D33-8E02-C82AC2A35B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Espaço Reservado para Anotações 2">
            <a:extLst>
              <a:ext uri="{FF2B5EF4-FFF2-40B4-BE49-F238E27FC236}">
                <a16:creationId xmlns:a16="http://schemas.microsoft.com/office/drawing/2014/main" id="{4FE034D0-D4CF-4972-BA98-D741F95B76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82D4F52D-4A1A-4B86-A3B2-B193E00EF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9927A3-2790-41B5-AC90-7A137BCAE3C3}" type="slidenum">
              <a:rPr lang="pt-BR" altLang="pt-BR">
                <a:latin typeface="Calibri" panose="020F0502020204030204" pitchFamily="34" charset="0"/>
              </a:rPr>
              <a:pPr eaLnBrk="1" hangingPunct="1"/>
              <a:t>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>
            <a:extLst>
              <a:ext uri="{FF2B5EF4-FFF2-40B4-BE49-F238E27FC236}">
                <a16:creationId xmlns:a16="http://schemas.microsoft.com/office/drawing/2014/main" id="{3C3F1A8D-AAEC-4E95-B793-6C45BFF478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Espaço Reservado para Anotações 2">
            <a:extLst>
              <a:ext uri="{FF2B5EF4-FFF2-40B4-BE49-F238E27FC236}">
                <a16:creationId xmlns:a16="http://schemas.microsoft.com/office/drawing/2014/main" id="{DF3E994D-A9C6-4050-8145-3E1E68A7CC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1748" name="Espaço Reservado para Número de Slide 3">
            <a:extLst>
              <a:ext uri="{FF2B5EF4-FFF2-40B4-BE49-F238E27FC236}">
                <a16:creationId xmlns:a16="http://schemas.microsoft.com/office/drawing/2014/main" id="{04B518E6-5308-463F-B158-4073EC7E0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AB57C3-A4F2-4BF7-B7FD-6DB5AF52CC4D}" type="slidenum">
              <a:rPr lang="pt-BR" altLang="pt-BR">
                <a:latin typeface="Calibri" panose="020F0502020204030204" pitchFamily="34" charset="0"/>
              </a:rPr>
              <a:pPr eaLnBrk="1" hangingPunct="1"/>
              <a:t>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67339E59-6824-4875-8FE0-B985F1622C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0932AF75-1A04-485E-9FEC-0F613AF7A1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2772" name="Espaço Reservado para Número de Slide 3">
            <a:extLst>
              <a:ext uri="{FF2B5EF4-FFF2-40B4-BE49-F238E27FC236}">
                <a16:creationId xmlns:a16="http://schemas.microsoft.com/office/drawing/2014/main" id="{9616665D-135D-4E38-A60A-F799378D5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8ED99D-2BCC-44D0-9A18-B61C10499801}" type="slidenum">
              <a:rPr lang="pt-BR" altLang="pt-BR">
                <a:latin typeface="Calibri" panose="020F0502020204030204" pitchFamily="34" charset="0"/>
              </a:rPr>
              <a:pPr eaLnBrk="1" hangingPunct="1"/>
              <a:t>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>
            <a:extLst>
              <a:ext uri="{FF2B5EF4-FFF2-40B4-BE49-F238E27FC236}">
                <a16:creationId xmlns:a16="http://schemas.microsoft.com/office/drawing/2014/main" id="{92A72F59-07E9-4CFA-9705-ECBE4F2440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Espaço Reservado para Anotações 2">
            <a:extLst>
              <a:ext uri="{FF2B5EF4-FFF2-40B4-BE49-F238E27FC236}">
                <a16:creationId xmlns:a16="http://schemas.microsoft.com/office/drawing/2014/main" id="{791BFC96-4998-4ACA-89AD-3BA79FFF3F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3796" name="Espaço Reservado para Número de Slide 3">
            <a:extLst>
              <a:ext uri="{FF2B5EF4-FFF2-40B4-BE49-F238E27FC236}">
                <a16:creationId xmlns:a16="http://schemas.microsoft.com/office/drawing/2014/main" id="{0475FAFF-3696-43D0-9F85-6DF09D520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76F6B6-8EED-4058-8DB7-01094B12B4C4}" type="slidenum">
              <a:rPr lang="pt-BR" altLang="pt-BR">
                <a:latin typeface="Calibri" panose="020F0502020204030204" pitchFamily="34" charset="0"/>
              </a:rPr>
              <a:pPr eaLnBrk="1" hangingPunct="1"/>
              <a:t>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>
            <a:extLst>
              <a:ext uri="{FF2B5EF4-FFF2-40B4-BE49-F238E27FC236}">
                <a16:creationId xmlns:a16="http://schemas.microsoft.com/office/drawing/2014/main" id="{9B1A79B2-07F3-4EFC-AE4F-54FF895076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Espaço Reservado para Anotações 2">
            <a:extLst>
              <a:ext uri="{FF2B5EF4-FFF2-40B4-BE49-F238E27FC236}">
                <a16:creationId xmlns:a16="http://schemas.microsoft.com/office/drawing/2014/main" id="{FC6800B2-C602-4035-9C44-69AB9916BB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4820" name="Espaço Reservado para Número de Slide 3">
            <a:extLst>
              <a:ext uri="{FF2B5EF4-FFF2-40B4-BE49-F238E27FC236}">
                <a16:creationId xmlns:a16="http://schemas.microsoft.com/office/drawing/2014/main" id="{EBC09F81-B54A-40A1-8D56-3F5C5330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E391C8-4ED2-4FCD-A924-D02D715F9DC1}" type="slidenum">
              <a:rPr lang="pt-BR" altLang="pt-BR">
                <a:latin typeface="Calibri" panose="020F0502020204030204" pitchFamily="34" charset="0"/>
              </a:rPr>
              <a:pPr eaLnBrk="1" hangingPunct="1"/>
              <a:t>6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>
            <a:extLst>
              <a:ext uri="{FF2B5EF4-FFF2-40B4-BE49-F238E27FC236}">
                <a16:creationId xmlns:a16="http://schemas.microsoft.com/office/drawing/2014/main" id="{E374F148-8F98-4BC7-BBEA-C8CA01A191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Espaço Reservado para Anotações 2">
            <a:extLst>
              <a:ext uri="{FF2B5EF4-FFF2-40B4-BE49-F238E27FC236}">
                <a16:creationId xmlns:a16="http://schemas.microsoft.com/office/drawing/2014/main" id="{FEB46AB1-CF21-4DF7-A472-67295BA557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5844" name="Espaço Reservado para Número de Slide 3">
            <a:extLst>
              <a:ext uri="{FF2B5EF4-FFF2-40B4-BE49-F238E27FC236}">
                <a16:creationId xmlns:a16="http://schemas.microsoft.com/office/drawing/2014/main" id="{3C94C84B-0C8A-46A1-BC5D-FD5E17CB9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07703BC-F2FD-4E0A-9980-F0932A6E202E}" type="slidenum">
              <a:rPr lang="pt-BR" altLang="pt-BR">
                <a:latin typeface="Calibri" panose="020F0502020204030204" pitchFamily="34" charset="0"/>
              </a:rPr>
              <a:pPr eaLnBrk="1" hangingPunct="1"/>
              <a:t>10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>
            <a:extLst>
              <a:ext uri="{FF2B5EF4-FFF2-40B4-BE49-F238E27FC236}">
                <a16:creationId xmlns:a16="http://schemas.microsoft.com/office/drawing/2014/main" id="{6CD1700E-6008-4292-B85A-FDFBBD4357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Espaço Reservado para Anotações 2">
            <a:extLst>
              <a:ext uri="{FF2B5EF4-FFF2-40B4-BE49-F238E27FC236}">
                <a16:creationId xmlns:a16="http://schemas.microsoft.com/office/drawing/2014/main" id="{105CD3B0-7306-4C66-BEE0-D61E9A18C2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6868" name="Espaço Reservado para Número de Slide 3">
            <a:extLst>
              <a:ext uri="{FF2B5EF4-FFF2-40B4-BE49-F238E27FC236}">
                <a16:creationId xmlns:a16="http://schemas.microsoft.com/office/drawing/2014/main" id="{26C71BBB-0F0F-4E67-A529-42B9B1A12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517357C-4EFA-4D6E-8CE1-1435CBAF6926}" type="slidenum">
              <a:rPr lang="pt-BR" altLang="pt-BR">
                <a:latin typeface="Calibri" panose="020F0502020204030204" pitchFamily="34" charset="0"/>
              </a:rPr>
              <a:pPr eaLnBrk="1" hangingPunct="1"/>
              <a:t>11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id="{D0DACAFE-D0CF-4FBD-85D9-B32ECE7A17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id="{803EEC69-B8C4-4C96-963F-EA03DDB0BC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7892" name="Espaço Reservado para Número de Slide 3">
            <a:extLst>
              <a:ext uri="{FF2B5EF4-FFF2-40B4-BE49-F238E27FC236}">
                <a16:creationId xmlns:a16="http://schemas.microsoft.com/office/drawing/2014/main" id="{7AD7C779-EC18-4DF6-B26D-78B8C867F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9000AF-44BD-4160-9710-C5D6297B1180}" type="slidenum">
              <a:rPr lang="pt-BR" altLang="pt-BR">
                <a:latin typeface="Calibri" panose="020F0502020204030204" pitchFamily="34" charset="0"/>
              </a:rPr>
              <a:pPr eaLnBrk="1" hangingPunct="1"/>
              <a:t>12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>
            <a:extLst>
              <a:ext uri="{FF2B5EF4-FFF2-40B4-BE49-F238E27FC236}">
                <a16:creationId xmlns:a16="http://schemas.microsoft.com/office/drawing/2014/main" id="{374A0DA5-A835-4C07-AD4B-90AE499AD2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Espaço Reservado para Anotações 2">
            <a:extLst>
              <a:ext uri="{FF2B5EF4-FFF2-40B4-BE49-F238E27FC236}">
                <a16:creationId xmlns:a16="http://schemas.microsoft.com/office/drawing/2014/main" id="{B1590A8C-3023-4720-9509-A30DFCEEFA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8916" name="Espaço Reservado para Número de Slide 3">
            <a:extLst>
              <a:ext uri="{FF2B5EF4-FFF2-40B4-BE49-F238E27FC236}">
                <a16:creationId xmlns:a16="http://schemas.microsoft.com/office/drawing/2014/main" id="{1211ED75-0D7B-4428-AD3F-72CBC8616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EE4987-AE35-418C-97DE-199D092D98E9}" type="slidenum">
              <a:rPr lang="pt-BR" altLang="pt-BR">
                <a:latin typeface="Calibri" panose="020F0502020204030204" pitchFamily="34" charset="0"/>
              </a:rPr>
              <a:pPr eaLnBrk="1" hangingPunct="1"/>
              <a:t>13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>
            <a:extLst>
              <a:ext uri="{FF2B5EF4-FFF2-40B4-BE49-F238E27FC236}">
                <a16:creationId xmlns:a16="http://schemas.microsoft.com/office/drawing/2014/main" id="{CE31A12E-7588-4AAB-A56A-3FBA1F2408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Espaço Reservado para Anotações 2">
            <a:extLst>
              <a:ext uri="{FF2B5EF4-FFF2-40B4-BE49-F238E27FC236}">
                <a16:creationId xmlns:a16="http://schemas.microsoft.com/office/drawing/2014/main" id="{CEC30B01-8F71-4471-B01E-F289772CD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9940" name="Espaço Reservado para Número de Slide 3">
            <a:extLst>
              <a:ext uri="{FF2B5EF4-FFF2-40B4-BE49-F238E27FC236}">
                <a16:creationId xmlns:a16="http://schemas.microsoft.com/office/drawing/2014/main" id="{04B71386-F1CE-48CB-8202-4236AAEBF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B2C9E5-F36A-41AA-A97E-5C290039EAE1}" type="slidenum">
              <a:rPr lang="pt-BR" altLang="pt-BR">
                <a:latin typeface="Calibri" panose="020F0502020204030204" pitchFamily="34" charset="0"/>
              </a:rPr>
              <a:pPr eaLnBrk="1" hangingPunct="1"/>
              <a:t>14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>
            <a:extLst>
              <a:ext uri="{FF2B5EF4-FFF2-40B4-BE49-F238E27FC236}">
                <a16:creationId xmlns:a16="http://schemas.microsoft.com/office/drawing/2014/main" id="{ABEA7AD7-D000-474B-8C23-72BBAD5D06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Espaço Reservado para Anotações 2">
            <a:extLst>
              <a:ext uri="{FF2B5EF4-FFF2-40B4-BE49-F238E27FC236}">
                <a16:creationId xmlns:a16="http://schemas.microsoft.com/office/drawing/2014/main" id="{C0ADACA4-8AFE-454F-B211-13226E3693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0964" name="Espaço Reservado para Número de Slide 3">
            <a:extLst>
              <a:ext uri="{FF2B5EF4-FFF2-40B4-BE49-F238E27FC236}">
                <a16:creationId xmlns:a16="http://schemas.microsoft.com/office/drawing/2014/main" id="{25FC3B8A-3A0B-4BAA-B685-719AE7853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E004C7-4D1C-41C3-8CF4-C9470DD70D72}" type="slidenum">
              <a:rPr lang="pt-BR" altLang="pt-BR">
                <a:latin typeface="Calibri" panose="020F0502020204030204" pitchFamily="34" charset="0"/>
              </a:rPr>
              <a:pPr eaLnBrk="1" hangingPunct="1"/>
              <a:t>15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>
            <a:extLst>
              <a:ext uri="{FF2B5EF4-FFF2-40B4-BE49-F238E27FC236}">
                <a16:creationId xmlns:a16="http://schemas.microsoft.com/office/drawing/2014/main" id="{AE8F62FC-A008-4C18-A45A-DE0139F55C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ço Reservado para Anotações 2">
            <a:extLst>
              <a:ext uri="{FF2B5EF4-FFF2-40B4-BE49-F238E27FC236}">
                <a16:creationId xmlns:a16="http://schemas.microsoft.com/office/drawing/2014/main" id="{2CDC07AC-8E62-41A1-A2B3-4FA55C43E6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988" name="Espaço Reservado para Número de Slide 3">
            <a:extLst>
              <a:ext uri="{FF2B5EF4-FFF2-40B4-BE49-F238E27FC236}">
                <a16:creationId xmlns:a16="http://schemas.microsoft.com/office/drawing/2014/main" id="{C87B44E2-36F3-446D-9661-5E75FCDE3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77E250C-6D51-43A1-B535-BAD747C7CEBA}" type="slidenum">
              <a:rPr lang="pt-BR" altLang="pt-BR">
                <a:latin typeface="Calibri" panose="020F0502020204030204" pitchFamily="34" charset="0"/>
              </a:rPr>
              <a:pPr eaLnBrk="1" hangingPunct="1"/>
              <a:t>16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>
            <a:extLst>
              <a:ext uri="{FF2B5EF4-FFF2-40B4-BE49-F238E27FC236}">
                <a16:creationId xmlns:a16="http://schemas.microsoft.com/office/drawing/2014/main" id="{02900B46-0956-4A9A-953E-231B5F377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Espaço Reservado para Anotações 2">
            <a:extLst>
              <a:ext uri="{FF2B5EF4-FFF2-40B4-BE49-F238E27FC236}">
                <a16:creationId xmlns:a16="http://schemas.microsoft.com/office/drawing/2014/main" id="{97C1AE8F-4A81-4738-9698-BD2EB25A07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E01C179C-DC91-4CB3-A6DF-56079413E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3518C3-5C58-4E05-BA20-017302B832E6}" type="slidenum">
              <a:rPr lang="pt-BR" altLang="pt-BR">
                <a:latin typeface="Calibri" panose="020F0502020204030204" pitchFamily="34" charset="0"/>
              </a:rPr>
              <a:pPr eaLnBrk="1" hangingPunct="1"/>
              <a:t>17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>
            <a:extLst>
              <a:ext uri="{FF2B5EF4-FFF2-40B4-BE49-F238E27FC236}">
                <a16:creationId xmlns:a16="http://schemas.microsoft.com/office/drawing/2014/main" id="{BB1709D6-C771-438E-92FF-58B9DFCF5C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Espaço Reservado para Anotações 2">
            <a:extLst>
              <a:ext uri="{FF2B5EF4-FFF2-40B4-BE49-F238E27FC236}">
                <a16:creationId xmlns:a16="http://schemas.microsoft.com/office/drawing/2014/main" id="{675D3111-E495-43F2-9B61-7E042127EE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4036" name="Espaço Reservado para Número de Slide 3">
            <a:extLst>
              <a:ext uri="{FF2B5EF4-FFF2-40B4-BE49-F238E27FC236}">
                <a16:creationId xmlns:a16="http://schemas.microsoft.com/office/drawing/2014/main" id="{5DF44C99-AEBD-457F-B84D-929BF5DAA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C6B168-08C5-4A15-B83F-29DABEEEEC17}" type="slidenum">
              <a:rPr lang="pt-BR" altLang="pt-BR">
                <a:latin typeface="Calibri" panose="020F0502020204030204" pitchFamily="34" charset="0"/>
              </a:rPr>
              <a:pPr eaLnBrk="1" hangingPunct="1"/>
              <a:t>18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>
            <a:extLst>
              <a:ext uri="{FF2B5EF4-FFF2-40B4-BE49-F238E27FC236}">
                <a16:creationId xmlns:a16="http://schemas.microsoft.com/office/drawing/2014/main" id="{C2213C2D-0CAD-47F5-9348-A2458397F5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Espaço Reservado para Anotações 2">
            <a:extLst>
              <a:ext uri="{FF2B5EF4-FFF2-40B4-BE49-F238E27FC236}">
                <a16:creationId xmlns:a16="http://schemas.microsoft.com/office/drawing/2014/main" id="{186F7EF4-7F02-4547-A907-17E1D8B8B1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5060" name="Espaço Reservado para Número de Slide 3">
            <a:extLst>
              <a:ext uri="{FF2B5EF4-FFF2-40B4-BE49-F238E27FC236}">
                <a16:creationId xmlns:a16="http://schemas.microsoft.com/office/drawing/2014/main" id="{DEA09A90-E2CF-477F-95B6-ECAE98A66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EC2AE0-2540-485D-8D10-C899AA0A38CC}" type="slidenum">
              <a:rPr lang="pt-BR" altLang="pt-BR">
                <a:latin typeface="Calibri" panose="020F0502020204030204" pitchFamily="34" charset="0"/>
              </a:rPr>
              <a:pPr eaLnBrk="1" hangingPunct="1"/>
              <a:t>19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>
            <a:extLst>
              <a:ext uri="{FF2B5EF4-FFF2-40B4-BE49-F238E27FC236}">
                <a16:creationId xmlns:a16="http://schemas.microsoft.com/office/drawing/2014/main" id="{832BA7D2-632C-44D4-8088-DBFDEF30B4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Espaço Reservado para Anotações 2">
            <a:extLst>
              <a:ext uri="{FF2B5EF4-FFF2-40B4-BE49-F238E27FC236}">
                <a16:creationId xmlns:a16="http://schemas.microsoft.com/office/drawing/2014/main" id="{B373664F-E3F7-4817-9E10-0CC87E1007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6084" name="Espaço Reservado para Número de Slide 3">
            <a:extLst>
              <a:ext uri="{FF2B5EF4-FFF2-40B4-BE49-F238E27FC236}">
                <a16:creationId xmlns:a16="http://schemas.microsoft.com/office/drawing/2014/main" id="{73435DA1-45E8-494A-B77B-7F034F5CF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AA000B2-77A1-449B-A33E-46870134D1C9}" type="slidenum">
              <a:rPr lang="pt-BR" altLang="pt-BR">
                <a:latin typeface="Calibri" panose="020F0502020204030204" pitchFamily="34" charset="0"/>
              </a:rPr>
              <a:pPr eaLnBrk="1" hangingPunct="1"/>
              <a:t>20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ço Reservado para Imagem de Slide 1">
            <a:extLst>
              <a:ext uri="{FF2B5EF4-FFF2-40B4-BE49-F238E27FC236}">
                <a16:creationId xmlns:a16="http://schemas.microsoft.com/office/drawing/2014/main" id="{70B2B013-A930-441F-9B5A-9834CF7221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Espaço Reservado para Anotações 2">
            <a:extLst>
              <a:ext uri="{FF2B5EF4-FFF2-40B4-BE49-F238E27FC236}">
                <a16:creationId xmlns:a16="http://schemas.microsoft.com/office/drawing/2014/main" id="{93AB46FF-982F-477A-AEBA-455D620419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7108" name="Espaço Reservado para Número de Slide 3">
            <a:extLst>
              <a:ext uri="{FF2B5EF4-FFF2-40B4-BE49-F238E27FC236}">
                <a16:creationId xmlns:a16="http://schemas.microsoft.com/office/drawing/2014/main" id="{0FE31CA8-EE7C-4E55-8B67-90264908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18CFDC9-05B3-4EA1-8F0B-E5ED4B2E8980}" type="slidenum">
              <a:rPr lang="pt-BR" altLang="pt-BR">
                <a:latin typeface="Calibri" panose="020F0502020204030204" pitchFamily="34" charset="0"/>
              </a:rPr>
              <a:pPr eaLnBrk="1" hangingPunct="1"/>
              <a:t>21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>
            <a:extLst>
              <a:ext uri="{FF2B5EF4-FFF2-40B4-BE49-F238E27FC236}">
                <a16:creationId xmlns:a16="http://schemas.microsoft.com/office/drawing/2014/main" id="{30A7B701-B954-4D12-93E8-BF7DC92E29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Espaço Reservado para Anotações 2">
            <a:extLst>
              <a:ext uri="{FF2B5EF4-FFF2-40B4-BE49-F238E27FC236}">
                <a16:creationId xmlns:a16="http://schemas.microsoft.com/office/drawing/2014/main" id="{C597EFA1-7411-4ECC-BB2F-48351DA104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8132" name="Espaço Reservado para Número de Slide 3">
            <a:extLst>
              <a:ext uri="{FF2B5EF4-FFF2-40B4-BE49-F238E27FC236}">
                <a16:creationId xmlns:a16="http://schemas.microsoft.com/office/drawing/2014/main" id="{43F23A8F-BF0C-44CD-82A6-2556E4391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0B45E2-2C8D-4591-8AEC-81AD96925B90}" type="slidenum">
              <a:rPr lang="pt-BR" altLang="pt-BR">
                <a:latin typeface="Calibri" panose="020F0502020204030204" pitchFamily="34" charset="0"/>
              </a:rPr>
              <a:pPr eaLnBrk="1" hangingPunct="1"/>
              <a:t>22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Imagem de Slide 1">
            <a:extLst>
              <a:ext uri="{FF2B5EF4-FFF2-40B4-BE49-F238E27FC236}">
                <a16:creationId xmlns:a16="http://schemas.microsoft.com/office/drawing/2014/main" id="{42C45A66-1303-4505-9CE1-40785B9754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Espaço Reservado para Anotações 2">
            <a:extLst>
              <a:ext uri="{FF2B5EF4-FFF2-40B4-BE49-F238E27FC236}">
                <a16:creationId xmlns:a16="http://schemas.microsoft.com/office/drawing/2014/main" id="{129922E7-AC26-4BF4-BE5D-B33D9280EC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9156" name="Espaço Reservado para Número de Slide 3">
            <a:extLst>
              <a:ext uri="{FF2B5EF4-FFF2-40B4-BE49-F238E27FC236}">
                <a16:creationId xmlns:a16="http://schemas.microsoft.com/office/drawing/2014/main" id="{5E9C919A-0235-4DBE-BBFA-25D76869F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89FC00-0F3E-4F02-BED7-B8149F10228D}" type="slidenum">
              <a:rPr lang="pt-BR" altLang="pt-BR">
                <a:latin typeface="Calibri" panose="020F0502020204030204" pitchFamily="34" charset="0"/>
              </a:rPr>
              <a:pPr eaLnBrk="1" hangingPunct="1"/>
              <a:t>23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419F02EC-3299-4FA7-8BCE-4A8AD91642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FAFE1869-C4EE-4E49-A279-8FA93955DF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0180" name="Espaço Reservado para Número de Slide 3">
            <a:extLst>
              <a:ext uri="{FF2B5EF4-FFF2-40B4-BE49-F238E27FC236}">
                <a16:creationId xmlns:a16="http://schemas.microsoft.com/office/drawing/2014/main" id="{18F0DC61-AE0C-430F-AFA1-A9B7E99E3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DD1DBB-E0A9-434E-893D-0886E60F97CA}" type="slidenum">
              <a:rPr lang="pt-BR" altLang="pt-BR">
                <a:latin typeface="Calibri" panose="020F0502020204030204" pitchFamily="34" charset="0"/>
              </a:rPr>
              <a:pPr eaLnBrk="1" hangingPunct="1"/>
              <a:t>24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ço Reservado para Imagem de Slide 1">
            <a:extLst>
              <a:ext uri="{FF2B5EF4-FFF2-40B4-BE49-F238E27FC236}">
                <a16:creationId xmlns:a16="http://schemas.microsoft.com/office/drawing/2014/main" id="{4519EA5D-7C27-4918-84FD-8C63C98803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Espaço Reservado para Anotações 2">
            <a:extLst>
              <a:ext uri="{FF2B5EF4-FFF2-40B4-BE49-F238E27FC236}">
                <a16:creationId xmlns:a16="http://schemas.microsoft.com/office/drawing/2014/main" id="{692D4741-E2F7-4A0D-818C-49026EFF1B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1204" name="Espaço Reservado para Número de Slide 3">
            <a:extLst>
              <a:ext uri="{FF2B5EF4-FFF2-40B4-BE49-F238E27FC236}">
                <a16:creationId xmlns:a16="http://schemas.microsoft.com/office/drawing/2014/main" id="{6E7E2EF8-3192-4952-AF02-A72985F01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D4E7482-3C56-4EC2-A0F8-D0890D0C373A}" type="slidenum">
              <a:rPr lang="pt-BR" altLang="pt-BR">
                <a:latin typeface="Calibri" panose="020F0502020204030204" pitchFamily="34" charset="0"/>
              </a:rPr>
              <a:pPr eaLnBrk="1" hangingPunct="1"/>
              <a:t>25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>
            <a:extLst>
              <a:ext uri="{FF2B5EF4-FFF2-40B4-BE49-F238E27FC236}">
                <a16:creationId xmlns:a16="http://schemas.microsoft.com/office/drawing/2014/main" id="{BA1DB322-A211-40A4-BB43-E6B5F9239A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Espaço Reservado para Anotações 2">
            <a:extLst>
              <a:ext uri="{FF2B5EF4-FFF2-40B4-BE49-F238E27FC236}">
                <a16:creationId xmlns:a16="http://schemas.microsoft.com/office/drawing/2014/main" id="{5F8665D2-6338-4050-B63D-B78C95D694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4AEFC86C-8B56-458E-BE4B-FDA03B099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1F6695-8C0B-450C-B833-02082F35D541}" type="slidenum">
              <a:rPr lang="pt-BR" altLang="pt-BR">
                <a:latin typeface="Calibri" panose="020F0502020204030204" pitchFamily="34" charset="0"/>
              </a:rPr>
              <a:pPr eaLnBrk="1" hangingPunct="1"/>
              <a:t>26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ço Reservado para Imagem de Slide 1">
            <a:extLst>
              <a:ext uri="{FF2B5EF4-FFF2-40B4-BE49-F238E27FC236}">
                <a16:creationId xmlns:a16="http://schemas.microsoft.com/office/drawing/2014/main" id="{D3277537-B992-40E1-9F7A-9984A652D8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Espaço Reservado para Anotações 2">
            <a:extLst>
              <a:ext uri="{FF2B5EF4-FFF2-40B4-BE49-F238E27FC236}">
                <a16:creationId xmlns:a16="http://schemas.microsoft.com/office/drawing/2014/main" id="{6AB8319B-5889-4DAB-BADB-BF68A8A8A3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06B6E1CB-5342-4D94-8C74-F94B80414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324738-F0B2-4507-A656-545DD23DACE3}" type="slidenum">
              <a:rPr lang="pt-BR" altLang="pt-BR">
                <a:latin typeface="Calibri" panose="020F0502020204030204" pitchFamily="34" charset="0"/>
              </a:rPr>
              <a:pPr eaLnBrk="1" hangingPunct="1"/>
              <a:t>27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>
            <a:extLst>
              <a:ext uri="{FF2B5EF4-FFF2-40B4-BE49-F238E27FC236}">
                <a16:creationId xmlns:a16="http://schemas.microsoft.com/office/drawing/2014/main" id="{5C1F3973-7353-43E1-80A2-0870D19992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Espaço Reservado para Anotações 2">
            <a:extLst>
              <a:ext uri="{FF2B5EF4-FFF2-40B4-BE49-F238E27FC236}">
                <a16:creationId xmlns:a16="http://schemas.microsoft.com/office/drawing/2014/main" id="{B92B9523-B0BC-4E52-9016-ADDD3AB6BA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A7FF219D-A4E1-47BC-BA54-3D29B7ED8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E908B2-C6D0-4391-9467-1F2D971131D7}" type="slidenum">
              <a:rPr lang="pt-BR" altLang="pt-BR">
                <a:latin typeface="Calibri" panose="020F0502020204030204" pitchFamily="34" charset="0"/>
              </a:rPr>
              <a:pPr eaLnBrk="1" hangingPunct="1"/>
              <a:t>28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ço Reservado para Imagem de Slide 1">
            <a:extLst>
              <a:ext uri="{FF2B5EF4-FFF2-40B4-BE49-F238E27FC236}">
                <a16:creationId xmlns:a16="http://schemas.microsoft.com/office/drawing/2014/main" id="{59B2B944-1371-4DFC-9226-F122919680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Espaço Reservado para Anotações 2">
            <a:extLst>
              <a:ext uri="{FF2B5EF4-FFF2-40B4-BE49-F238E27FC236}">
                <a16:creationId xmlns:a16="http://schemas.microsoft.com/office/drawing/2014/main" id="{33EE557E-3076-4AAB-9FCB-A375021B18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C45D301E-21C0-4FD2-A7E6-DA0F6653F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50FC24-A270-4108-83B7-6141173E7366}" type="slidenum">
              <a:rPr lang="pt-BR" altLang="pt-BR">
                <a:latin typeface="Calibri" panose="020F0502020204030204" pitchFamily="34" charset="0"/>
              </a:rPr>
              <a:pPr eaLnBrk="1" hangingPunct="1"/>
              <a:t>29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ço Reservado para Imagem de Slide 1">
            <a:extLst>
              <a:ext uri="{FF2B5EF4-FFF2-40B4-BE49-F238E27FC236}">
                <a16:creationId xmlns:a16="http://schemas.microsoft.com/office/drawing/2014/main" id="{8A36A300-80B9-4EC7-88D0-8E209D7DF0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Espaço Reservado para Anotações 2">
            <a:extLst>
              <a:ext uri="{FF2B5EF4-FFF2-40B4-BE49-F238E27FC236}">
                <a16:creationId xmlns:a16="http://schemas.microsoft.com/office/drawing/2014/main" id="{00CCBDFB-735C-4DB1-8A4A-1F2E671FD3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CCCBF665-3AF4-446C-97A2-3FD1EFB85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57D9E0-286E-4D79-8916-FCF17CBF5F77}" type="slidenum">
              <a:rPr lang="pt-BR" altLang="pt-BR">
                <a:latin typeface="Calibri" panose="020F0502020204030204" pitchFamily="34" charset="0"/>
              </a:rPr>
              <a:pPr eaLnBrk="1" hangingPunct="1"/>
              <a:t>30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ço Reservado para Imagem de Slide 1">
            <a:extLst>
              <a:ext uri="{FF2B5EF4-FFF2-40B4-BE49-F238E27FC236}">
                <a16:creationId xmlns:a16="http://schemas.microsoft.com/office/drawing/2014/main" id="{39AAC4EB-957A-4B5A-81D9-9F616F10B0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Espaço Reservado para Anotações 2">
            <a:extLst>
              <a:ext uri="{FF2B5EF4-FFF2-40B4-BE49-F238E27FC236}">
                <a16:creationId xmlns:a16="http://schemas.microsoft.com/office/drawing/2014/main" id="{567F5F46-CB73-4AC6-9E38-4240D41CD5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2B147C08-5C1A-42EE-9EE4-D6C12701E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6F27F2-807E-4255-A012-CC4C9791233D}" type="slidenum">
              <a:rPr lang="pt-BR" altLang="pt-BR">
                <a:latin typeface="Calibri" panose="020F0502020204030204" pitchFamily="34" charset="0"/>
              </a:rPr>
              <a:pPr eaLnBrk="1" hangingPunct="1"/>
              <a:t>31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ço Reservado para Imagem de Slide 1">
            <a:extLst>
              <a:ext uri="{FF2B5EF4-FFF2-40B4-BE49-F238E27FC236}">
                <a16:creationId xmlns:a16="http://schemas.microsoft.com/office/drawing/2014/main" id="{C041BAEF-A8A5-4A01-97E6-5F053F9C35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Espaço Reservado para Anotações 2">
            <a:extLst>
              <a:ext uri="{FF2B5EF4-FFF2-40B4-BE49-F238E27FC236}">
                <a16:creationId xmlns:a16="http://schemas.microsoft.com/office/drawing/2014/main" id="{74431F56-9D07-410F-AAF1-FE6F317494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4C8E7DC6-31A7-4DD4-ADCF-938961E5F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2AD7D99-70FF-48F0-8BC5-15077FB28E7C}" type="slidenum">
              <a:rPr lang="pt-BR" altLang="pt-BR">
                <a:latin typeface="Calibri" panose="020F0502020204030204" pitchFamily="34" charset="0"/>
              </a:rPr>
              <a:pPr eaLnBrk="1" hangingPunct="1"/>
              <a:t>32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ço Reservado para Imagem de Slide 1">
            <a:extLst>
              <a:ext uri="{FF2B5EF4-FFF2-40B4-BE49-F238E27FC236}">
                <a16:creationId xmlns:a16="http://schemas.microsoft.com/office/drawing/2014/main" id="{0714BE2A-5834-49FF-A18C-89922D655A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Espaço Reservado para Anotações 2">
            <a:extLst>
              <a:ext uri="{FF2B5EF4-FFF2-40B4-BE49-F238E27FC236}">
                <a16:creationId xmlns:a16="http://schemas.microsoft.com/office/drawing/2014/main" id="{8331FC48-ED04-497F-A26A-199E104F70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5DFBA3B7-DFC0-4BF8-8CCE-435DAF312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81E2B9-BC36-4B25-A374-2B8455F7BDC7}" type="slidenum">
              <a:rPr lang="pt-BR" altLang="pt-BR">
                <a:latin typeface="Calibri" panose="020F0502020204030204" pitchFamily="34" charset="0"/>
              </a:rPr>
              <a:pPr eaLnBrk="1" hangingPunct="1"/>
              <a:t>33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ço Reservado para Imagem de Slide 1">
            <a:extLst>
              <a:ext uri="{FF2B5EF4-FFF2-40B4-BE49-F238E27FC236}">
                <a16:creationId xmlns:a16="http://schemas.microsoft.com/office/drawing/2014/main" id="{77461CEF-76BF-4F2D-BC1B-05A1FD3064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Espaço Reservado para Anotações 2">
            <a:extLst>
              <a:ext uri="{FF2B5EF4-FFF2-40B4-BE49-F238E27FC236}">
                <a16:creationId xmlns:a16="http://schemas.microsoft.com/office/drawing/2014/main" id="{0594B63A-C2E4-4D2F-B148-83D5DBBA1D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3A505B75-7411-43EB-8BD5-7805B0BA7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E60219A-6CCE-4281-815E-DDFBE52D9F8C}" type="slidenum">
              <a:rPr lang="pt-BR" altLang="pt-BR">
                <a:latin typeface="Calibri" panose="020F0502020204030204" pitchFamily="34" charset="0"/>
              </a:rPr>
              <a:pPr eaLnBrk="1" hangingPunct="1"/>
              <a:t>34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>
            <a:extLst>
              <a:ext uri="{FF2B5EF4-FFF2-40B4-BE49-F238E27FC236}">
                <a16:creationId xmlns:a16="http://schemas.microsoft.com/office/drawing/2014/main" id="{75AE16E0-7159-438C-8E91-B15B447B7A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Espaço Reservado para Anotações 2">
            <a:extLst>
              <a:ext uri="{FF2B5EF4-FFF2-40B4-BE49-F238E27FC236}">
                <a16:creationId xmlns:a16="http://schemas.microsoft.com/office/drawing/2014/main" id="{C37EB49D-F967-4F0E-8937-77D5729645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97411B90-F905-4F88-9723-BC6876D68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DEB9C7-49A8-47A0-BC63-44EC57C32EFF}" type="slidenum">
              <a:rPr lang="pt-BR" altLang="pt-BR">
                <a:latin typeface="Calibri" panose="020F0502020204030204" pitchFamily="34" charset="0"/>
              </a:rPr>
              <a:pPr eaLnBrk="1" hangingPunct="1"/>
              <a:t>35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ço Reservado para Imagem de Slide 1">
            <a:extLst>
              <a:ext uri="{FF2B5EF4-FFF2-40B4-BE49-F238E27FC236}">
                <a16:creationId xmlns:a16="http://schemas.microsoft.com/office/drawing/2014/main" id="{648B2F6D-A2C8-46B6-8AB4-108A23910D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Espaço Reservado para Anotações 2">
            <a:extLst>
              <a:ext uri="{FF2B5EF4-FFF2-40B4-BE49-F238E27FC236}">
                <a16:creationId xmlns:a16="http://schemas.microsoft.com/office/drawing/2014/main" id="{FCD1EFA5-CE2D-421B-B819-21AD6F190A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E598698D-97CD-463A-878E-014B6FD49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095D48-C026-4473-BAC5-8E880882D652}" type="slidenum">
              <a:rPr lang="pt-BR" altLang="pt-BR">
                <a:latin typeface="Calibri" panose="020F0502020204030204" pitchFamily="34" charset="0"/>
              </a:rPr>
              <a:pPr eaLnBrk="1" hangingPunct="1"/>
              <a:t>36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ço Reservado para Imagem de Slide 1">
            <a:extLst>
              <a:ext uri="{FF2B5EF4-FFF2-40B4-BE49-F238E27FC236}">
                <a16:creationId xmlns:a16="http://schemas.microsoft.com/office/drawing/2014/main" id="{AF660185-4267-4F17-A346-B528ACBC34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Espaço Reservado para Anotações 2">
            <a:extLst>
              <a:ext uri="{FF2B5EF4-FFF2-40B4-BE49-F238E27FC236}">
                <a16:creationId xmlns:a16="http://schemas.microsoft.com/office/drawing/2014/main" id="{F7D70C72-C02F-4A55-999C-35D5288BF9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53F780D2-8226-425E-9860-DDDC2AA4A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C68417-F86D-486D-AF02-83DC7A76B4F7}" type="slidenum">
              <a:rPr lang="pt-BR" altLang="pt-BR">
                <a:latin typeface="Calibri" panose="020F0502020204030204" pitchFamily="34" charset="0"/>
              </a:rPr>
              <a:pPr eaLnBrk="1" hangingPunct="1"/>
              <a:t>37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Imagem de Slide 1">
            <a:extLst>
              <a:ext uri="{FF2B5EF4-FFF2-40B4-BE49-F238E27FC236}">
                <a16:creationId xmlns:a16="http://schemas.microsoft.com/office/drawing/2014/main" id="{B7DA6E18-FB01-4F2D-8ACA-68BD7C7FF3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Espaço Reservado para Anotações 2">
            <a:extLst>
              <a:ext uri="{FF2B5EF4-FFF2-40B4-BE49-F238E27FC236}">
                <a16:creationId xmlns:a16="http://schemas.microsoft.com/office/drawing/2014/main" id="{0A4EFA38-F0EB-4A02-947D-069AAF21EF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AA6EAC64-3250-41AC-91B7-1903DEC9A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CC7AA6-B56E-4F6E-BF56-37120A2C5FFF}" type="slidenum">
              <a:rPr lang="pt-BR" altLang="pt-BR">
                <a:latin typeface="Calibri" panose="020F0502020204030204" pitchFamily="34" charset="0"/>
              </a:rPr>
              <a:pPr eaLnBrk="1" hangingPunct="1"/>
              <a:t>38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ço Reservado para Imagem de Slide 1">
            <a:extLst>
              <a:ext uri="{FF2B5EF4-FFF2-40B4-BE49-F238E27FC236}">
                <a16:creationId xmlns:a16="http://schemas.microsoft.com/office/drawing/2014/main" id="{E09E2822-1D38-4624-A6F3-AD80F5B7A8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Espaço Reservado para Anotações 2">
            <a:extLst>
              <a:ext uri="{FF2B5EF4-FFF2-40B4-BE49-F238E27FC236}">
                <a16:creationId xmlns:a16="http://schemas.microsoft.com/office/drawing/2014/main" id="{4549051E-E4AB-44C8-A43E-0FB0DC11D5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ço Reservado para Número de Slide 3">
            <a:extLst>
              <a:ext uri="{FF2B5EF4-FFF2-40B4-BE49-F238E27FC236}">
                <a16:creationId xmlns:a16="http://schemas.microsoft.com/office/drawing/2014/main" id="{AA14946B-4A18-4502-AFD9-210E6AD1A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2847FDC-4A98-4A66-9D24-52272D17BD74}" type="slidenum">
              <a:rPr lang="pt-BR" altLang="pt-BR">
                <a:latin typeface="Calibri" panose="020F0502020204030204" pitchFamily="34" charset="0"/>
              </a:rPr>
              <a:pPr eaLnBrk="1" hangingPunct="1"/>
              <a:t>39</a:t>
            </a:fld>
            <a:endParaRPr lang="pt-BR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4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4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0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0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873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231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50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los Educacional - PÓS-GRADUAÇÃO EM ANATOMIA E FISIOLOGIA HUMANAS">
            <a:extLst>
              <a:ext uri="{FF2B5EF4-FFF2-40B4-BE49-F238E27FC236}">
                <a16:creationId xmlns:a16="http://schemas.microsoft.com/office/drawing/2014/main" id="{E34BC489-C785-426B-8415-F4C9C3E27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Fisiologia Humana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Aparelhos Reprodutores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Gametogênese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Métodos Contraceptivos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6" descr="ciclo diplobionte.jpg">
            <a:extLst>
              <a:ext uri="{FF2B5EF4-FFF2-40B4-BE49-F238E27FC236}">
                <a16:creationId xmlns:a16="http://schemas.microsoft.com/office/drawing/2014/main" id="{B2FA47D2-4225-44D6-9906-4EB64804C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3516314"/>
            <a:ext cx="4643438" cy="334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CaixaDeTexto 8">
            <a:extLst>
              <a:ext uri="{FF2B5EF4-FFF2-40B4-BE49-F238E27FC236}">
                <a16:creationId xmlns:a16="http://schemas.microsoft.com/office/drawing/2014/main" id="{35171CAD-791B-4D0B-A43A-C2690CC91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077" name="CaixaDeTexto 4">
            <a:extLst>
              <a:ext uri="{FF2B5EF4-FFF2-40B4-BE49-F238E27FC236}">
                <a16:creationId xmlns:a16="http://schemas.microsoft.com/office/drawing/2014/main" id="{C3E7AEE5-B8CA-415A-8D18-91F3AEF12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8786813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14450" indent="-400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arenR"/>
            </a:pPr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Introdução</a:t>
            </a:r>
          </a:p>
          <a:p>
            <a:pPr eaLnBrk="1" hangingPunct="1">
              <a:buFontTx/>
              <a:buAutoNum type="arabicParenR"/>
            </a:pPr>
            <a:endParaRPr lang="pt-BR" altLang="pt-BR" sz="2000" b="1">
              <a:solidFill>
                <a:schemeClr val="tx2"/>
              </a:solidFill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	</a:t>
            </a:r>
            <a:r>
              <a:rPr lang="pt-BR" altLang="pt-BR">
                <a:latin typeface="Calibri" panose="020F0502020204030204" pitchFamily="34" charset="0"/>
              </a:rPr>
              <a:t>O sistema reprodutor humano possui uma série de órgãos e estruturas que permitem a realização da reprodução sexuada.</a:t>
            </a:r>
          </a:p>
          <a:p>
            <a:pPr eaLnBrk="1" hangingPunct="1"/>
            <a:endParaRPr lang="pt-BR" altLang="pt-BR" sz="100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Reprodução sexuada: </a:t>
            </a:r>
            <a:r>
              <a:rPr lang="pt-BR" altLang="pt-BR">
                <a:latin typeface="Calibri" panose="020F0502020204030204" pitchFamily="34" charset="0"/>
              </a:rPr>
              <a:t>Tipo de reprodução entre indivíduos da mesma espécie em que ocorre a troca ou mistura de material genético.</a:t>
            </a:r>
          </a:p>
          <a:p>
            <a:pPr lvl="2" eaLnBrk="1" hangingPunct="1"/>
            <a:endParaRPr lang="pt-BR" altLang="pt-BR" sz="100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	</a:t>
            </a:r>
            <a:r>
              <a:rPr lang="pt-BR" altLang="pt-BR" b="1">
                <a:latin typeface="Calibri" panose="020F0502020204030204" pitchFamily="34" charset="0"/>
              </a:rPr>
              <a:t>Ciclo reprodutivo da espécie humana: </a:t>
            </a:r>
            <a:r>
              <a:rPr lang="pt-BR" altLang="pt-BR">
                <a:latin typeface="Calibri" panose="020F0502020204030204" pitchFamily="34" charset="0"/>
              </a:rPr>
              <a:t>Diplobionte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8AE90E-8214-46B8-B4EF-F4FCA072C823}"/>
              </a:ext>
            </a:extLst>
          </p:cNvPr>
          <p:cNvSpPr txBox="1"/>
          <p:nvPr/>
        </p:nvSpPr>
        <p:spPr>
          <a:xfrm>
            <a:off x="8382001" y="3357564"/>
            <a:ext cx="1857375" cy="163512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M = meiose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F = fecundação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Adultos = 2n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Gametas = 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/>
              <a:t>Zigoto = 2n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601037-7EC7-465A-9DAE-7E3EBC2E5AE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07EDFA5-72A7-4CEE-9C9F-1C1C4FE5C499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aixaDeTexto 8">
            <a:extLst>
              <a:ext uri="{FF2B5EF4-FFF2-40B4-BE49-F238E27FC236}">
                <a16:creationId xmlns:a16="http://schemas.microsoft.com/office/drawing/2014/main" id="{D3E6D49A-2270-4B60-9ED2-C01D83B7D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59B853-DCA9-467E-8BEB-BFA0E84327A6}"/>
              </a:ext>
            </a:extLst>
          </p:cNvPr>
          <p:cNvSpPr txBox="1"/>
          <p:nvPr/>
        </p:nvSpPr>
        <p:spPr>
          <a:xfrm>
            <a:off x="1666876" y="1071564"/>
            <a:ext cx="8786813" cy="4770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Introdução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2000" b="1" dirty="0">
              <a:solidFill>
                <a:schemeClr val="tx2"/>
              </a:solidFill>
              <a:latin typeface="+mn-lt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pt-BR" b="1" dirty="0">
                <a:latin typeface="+mn-lt"/>
              </a:rPr>
              <a:t>Vantagens da reprodução sexuada: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Promove o aumento da variabilidade genética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Aumenta a chance de adaptação da espécie caso o ambiente sofra alterações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dirty="0">
                <a:latin typeface="+mn-lt"/>
              </a:rPr>
              <a:t>Permite a evolução das espécies para novas formas</a:t>
            </a: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 err="1">
                <a:latin typeface="+mn-lt"/>
              </a:rPr>
              <a:t>Crossing-over</a:t>
            </a:r>
            <a:endParaRPr lang="pt-BR" dirty="0">
              <a:latin typeface="+mn-lt"/>
            </a:endParaRP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Segregação independente dos cromossomos homólogos</a:t>
            </a:r>
          </a:p>
          <a:p>
            <a:pPr marL="1314450" lvl="2" indent="-40005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000" dirty="0">
              <a:latin typeface="+mn-lt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</a:rPr>
              <a:t>	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Desvantagens da reprodução sexuada: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b="1" dirty="0">
                <a:latin typeface="+mn-lt"/>
              </a:rPr>
              <a:t>	</a:t>
            </a:r>
            <a:r>
              <a:rPr lang="pt-BR" dirty="0">
                <a:latin typeface="+mn-lt"/>
              </a:rPr>
              <a:t>Alto consumo de energia</a:t>
            </a: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Formação dos gametas</a:t>
            </a: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Cópula (ato sexual)</a:t>
            </a:r>
          </a:p>
          <a:p>
            <a:pPr marL="1257300" lvl="2" indent="-342900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dirty="0">
                <a:latin typeface="+mn-lt"/>
              </a:rPr>
              <a:t>Competição por parceiro sexual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95826D8-006A-423D-B681-00411358142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A7EA306-08F3-4E16-845D-A9458830C6C6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m 7" descr="aparelho masculino.jpg">
            <a:extLst>
              <a:ext uri="{FF2B5EF4-FFF2-40B4-BE49-F238E27FC236}">
                <a16:creationId xmlns:a16="http://schemas.microsoft.com/office/drawing/2014/main" id="{FA50109D-FE70-4DD5-9D9D-7A2DC1CA7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3000376"/>
            <a:ext cx="6659563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CaixaDeTexto 8">
            <a:extLst>
              <a:ext uri="{FF2B5EF4-FFF2-40B4-BE49-F238E27FC236}">
                <a16:creationId xmlns:a16="http://schemas.microsoft.com/office/drawing/2014/main" id="{C393EC09-4FAD-4A0A-86F2-95B57E325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5125" name="CaixaDeTexto 4">
            <a:extLst>
              <a:ext uri="{FF2B5EF4-FFF2-40B4-BE49-F238E27FC236}">
                <a16:creationId xmlns:a16="http://schemas.microsoft.com/office/drawing/2014/main" id="{2783B67D-C71F-468E-A0D8-5C655807D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8786813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a) Bolsa escrotal (Escroto): </a:t>
            </a:r>
            <a:r>
              <a:rPr lang="pt-BR" altLang="pt-BR">
                <a:latin typeface="Calibri" panose="020F0502020204030204" pitchFamily="34" charset="0"/>
              </a:rPr>
              <a:t>Armazena e protege os testículos (gônadas masculinas)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Possui músculo (cremáster) que controla a temperatura dos testículos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↑ Temperatura: bolsa distende (diminui a temperatura interna)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↓ Temperatura: bolsa contrai (aumenta a temperatura interna)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O controle da temperatura dos testículos é importante para a espermatogênese</a:t>
            </a: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7711D875-9B73-4BF1-9DFB-18DF8F2840EC}"/>
              </a:ext>
            </a:extLst>
          </p:cNvPr>
          <p:cNvSpPr/>
          <p:nvPr/>
        </p:nvSpPr>
        <p:spPr>
          <a:xfrm>
            <a:off x="2309813" y="6357938"/>
            <a:ext cx="500062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D7DB9AB-821F-477B-A6AF-C32742D0D784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E919B2F-B796-4143-8B44-62BDEB87130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7" descr="aparelho masculino.jpg">
            <a:extLst>
              <a:ext uri="{FF2B5EF4-FFF2-40B4-BE49-F238E27FC236}">
                <a16:creationId xmlns:a16="http://schemas.microsoft.com/office/drawing/2014/main" id="{BAD2D282-AF96-481F-A337-59F7EC6DF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3000376"/>
            <a:ext cx="6659563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CaixaDeTexto 8">
            <a:extLst>
              <a:ext uri="{FF2B5EF4-FFF2-40B4-BE49-F238E27FC236}">
                <a16:creationId xmlns:a16="http://schemas.microsoft.com/office/drawing/2014/main" id="{60724A6A-AFFF-4C6C-8C66-2D8E51F92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6149" name="CaixaDeTexto 4">
            <a:extLst>
              <a:ext uri="{FF2B5EF4-FFF2-40B4-BE49-F238E27FC236}">
                <a16:creationId xmlns:a16="http://schemas.microsoft.com/office/drawing/2014/main" id="{3A300B55-BDD4-4698-A288-780820349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8786813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b) Testículos</a:t>
            </a:r>
            <a:r>
              <a:rPr lang="pt-BR" altLang="pt-BR">
                <a:latin typeface="Calibri" panose="020F0502020204030204" pitchFamily="34" charset="0"/>
              </a:rPr>
              <a:t> (gônadas masculina) – 1 par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Produz os gametas masculinos (espermatozóides)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Produz o hormônio sexual masculino (Testosterona)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18248B1F-0BFF-4550-9EB8-6CFC0FF932DA}"/>
              </a:ext>
            </a:extLst>
          </p:cNvPr>
          <p:cNvSpPr/>
          <p:nvPr/>
        </p:nvSpPr>
        <p:spPr>
          <a:xfrm>
            <a:off x="2309813" y="6000750"/>
            <a:ext cx="500062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6C2C11-D723-4FB8-A339-3FB3EEFE4BFA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EE2A1FA-A527-425F-A032-BB4C05282135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m 11" descr="testiculo.jpg">
            <a:extLst>
              <a:ext uri="{FF2B5EF4-FFF2-40B4-BE49-F238E27FC236}">
                <a16:creationId xmlns:a16="http://schemas.microsoft.com/office/drawing/2014/main" id="{8D382489-4FE4-441E-B318-AC5E43D43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9" y="3071814"/>
            <a:ext cx="414337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CaixaDeTexto 8">
            <a:extLst>
              <a:ext uri="{FF2B5EF4-FFF2-40B4-BE49-F238E27FC236}">
                <a16:creationId xmlns:a16="http://schemas.microsoft.com/office/drawing/2014/main" id="{FA47143B-D94E-4A6C-9946-AB22A250C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7173" name="CaixaDeTexto 4">
            <a:extLst>
              <a:ext uri="{FF2B5EF4-FFF2-40B4-BE49-F238E27FC236}">
                <a16:creationId xmlns:a16="http://schemas.microsoft.com/office/drawing/2014/main" id="{9B2469E3-E914-43B0-A4AA-1A131CC94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1071563"/>
            <a:ext cx="88582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b) Testículos</a:t>
            </a:r>
            <a:r>
              <a:rPr lang="pt-BR" altLang="pt-BR">
                <a:latin typeface="Calibri" panose="020F0502020204030204" pitchFamily="34" charset="0"/>
              </a:rPr>
              <a:t> (Visão interna)</a:t>
            </a:r>
          </a:p>
          <a:p>
            <a:pPr eaLnBrk="1" hangingPunct="1"/>
            <a:endParaRPr lang="pt-BR" altLang="pt-BR" sz="5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 b="1">
                <a:latin typeface="Calibri" panose="020F0502020204030204" pitchFamily="34" charset="0"/>
              </a:rPr>
              <a:t>Túbulos Seminíferos: </a:t>
            </a:r>
            <a:r>
              <a:rPr lang="pt-BR" altLang="pt-BR">
                <a:latin typeface="Calibri" panose="020F0502020204030204" pitchFamily="34" charset="0"/>
              </a:rPr>
              <a:t>Local onde ocorre a espermatogênese (formação de espermatozóides).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7175" name="CaixaDeTexto 12">
            <a:extLst>
              <a:ext uri="{FF2B5EF4-FFF2-40B4-BE49-F238E27FC236}">
                <a16:creationId xmlns:a16="http://schemas.microsoft.com/office/drawing/2014/main" id="{51F828AA-836B-48F5-9B87-2129999DF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357689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Epidídimo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49E3847-4652-4326-90CE-B290F4A7B520}"/>
              </a:ext>
            </a:extLst>
          </p:cNvPr>
          <p:cNvCxnSpPr/>
          <p:nvPr/>
        </p:nvCxnSpPr>
        <p:spPr>
          <a:xfrm rot="5400000">
            <a:off x="4810920" y="5642770"/>
            <a:ext cx="428625" cy="1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77" name="CaixaDeTexto 15">
            <a:extLst>
              <a:ext uri="{FF2B5EF4-FFF2-40B4-BE49-F238E27FC236}">
                <a16:creationId xmlns:a16="http://schemas.microsoft.com/office/drawing/2014/main" id="{1815CCEE-3DED-4D65-B365-DB0ED8CB1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76" y="5929314"/>
            <a:ext cx="1928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Túbulo Seminífero</a:t>
            </a:r>
          </a:p>
        </p:txBody>
      </p:sp>
      <p:pic>
        <p:nvPicPr>
          <p:cNvPr id="7178" name="Imagem 20" descr="tubulo seminifero corte.jpg">
            <a:extLst>
              <a:ext uri="{FF2B5EF4-FFF2-40B4-BE49-F238E27FC236}">
                <a16:creationId xmlns:a16="http://schemas.microsoft.com/office/drawing/2014/main" id="{661A204D-4A49-49BD-961C-F7B3EDA30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50" y="2500314"/>
            <a:ext cx="559435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eta entalhada para a direita 21">
            <a:extLst>
              <a:ext uri="{FF2B5EF4-FFF2-40B4-BE49-F238E27FC236}">
                <a16:creationId xmlns:a16="http://schemas.microsoft.com/office/drawing/2014/main" id="{72727F96-E6AA-46CF-9653-958098D00789}"/>
              </a:ext>
            </a:extLst>
          </p:cNvPr>
          <p:cNvSpPr/>
          <p:nvPr/>
        </p:nvSpPr>
        <p:spPr>
          <a:xfrm>
            <a:off x="5238751" y="5000626"/>
            <a:ext cx="785813" cy="428625"/>
          </a:xfrm>
          <a:prstGeom prst="notch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38E4D28-3CDC-420E-BA77-0D1ECCD05830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47F4E638-D923-412D-B683-A6096E8E50D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Espaço Reservado para Conteúdo 3" descr="espermatogenese1.jpg">
            <a:extLst>
              <a:ext uri="{FF2B5EF4-FFF2-40B4-BE49-F238E27FC236}">
                <a16:creationId xmlns:a16="http://schemas.microsoft.com/office/drawing/2014/main" id="{4246CFE1-3CC1-49A7-AB32-659BDC22962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38813" y="0"/>
            <a:ext cx="3890962" cy="685800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5D00B05-433F-4E68-8899-900E48BF5D8E}"/>
              </a:ext>
            </a:extLst>
          </p:cNvPr>
          <p:cNvSpPr txBox="1"/>
          <p:nvPr/>
        </p:nvSpPr>
        <p:spPr>
          <a:xfrm>
            <a:off x="1666876" y="214314"/>
            <a:ext cx="5286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b="1" dirty="0">
                <a:latin typeface="+mn-lt"/>
              </a:rPr>
              <a:t>Espermatogênese</a:t>
            </a:r>
          </a:p>
          <a:p>
            <a:pPr>
              <a:defRPr/>
            </a:pPr>
            <a:endParaRPr lang="pt-BR" dirty="0">
              <a:latin typeface="+mn-lt"/>
            </a:endParaRPr>
          </a:p>
          <a:p>
            <a:pPr>
              <a:defRPr/>
            </a:pPr>
            <a:r>
              <a:rPr lang="pt-BR" dirty="0">
                <a:latin typeface="+mn-lt"/>
              </a:rPr>
              <a:t>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7E0140-E910-402A-986A-7F94F98F132F}"/>
              </a:ext>
            </a:extLst>
          </p:cNvPr>
          <p:cNvSpPr txBox="1"/>
          <p:nvPr/>
        </p:nvSpPr>
        <p:spPr>
          <a:xfrm>
            <a:off x="1952625" y="642939"/>
            <a:ext cx="3714750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Período de multiplicação das </a:t>
            </a:r>
            <a:r>
              <a:rPr lang="pt-BR" dirty="0" err="1">
                <a:latin typeface="+mn-lt"/>
              </a:rPr>
              <a:t>espermatogônias</a:t>
            </a:r>
            <a:endParaRPr lang="pt-BR" dirty="0">
              <a:latin typeface="+mn-lt"/>
            </a:endParaRPr>
          </a:p>
          <a:p>
            <a:pPr algn="ctr">
              <a:defRPr/>
            </a:pPr>
            <a:r>
              <a:rPr lang="pt-BR" dirty="0">
                <a:latin typeface="+mn-lt"/>
              </a:rPr>
              <a:t>Inicia-se aos 7 anos de 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72E406-8467-4B04-BE23-4765B1ABB0A1}"/>
              </a:ext>
            </a:extLst>
          </p:cNvPr>
          <p:cNvSpPr txBox="1"/>
          <p:nvPr/>
        </p:nvSpPr>
        <p:spPr>
          <a:xfrm>
            <a:off x="1881189" y="2000251"/>
            <a:ext cx="3857625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Inicia-se na puberdade sob estímulo da testosterona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Formação </a:t>
            </a:r>
            <a:r>
              <a:rPr lang="pt-BR" sz="1600" dirty="0">
                <a:latin typeface="+mn-lt"/>
                <a:sym typeface="Wingdings" pitchFamily="2" charset="2"/>
              </a:rPr>
              <a:t> </a:t>
            </a:r>
            <a:r>
              <a:rPr lang="pt-BR" sz="1600" dirty="0" err="1">
                <a:latin typeface="+mn-lt"/>
                <a:sym typeface="Wingdings" pitchFamily="2" charset="2"/>
              </a:rPr>
              <a:t>Espermatócitos</a:t>
            </a:r>
            <a:r>
              <a:rPr lang="pt-BR" sz="1600" dirty="0">
                <a:latin typeface="+mn-lt"/>
                <a:sym typeface="Wingdings" pitchFamily="2" charset="2"/>
              </a:rPr>
              <a:t> 1ºs</a:t>
            </a:r>
            <a:endParaRPr lang="pt-BR" sz="1600" dirty="0">
              <a:latin typeface="+mn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A6C65B-5471-4B71-A9FA-D8370A9F0433}"/>
              </a:ext>
            </a:extLst>
          </p:cNvPr>
          <p:cNvSpPr txBox="1"/>
          <p:nvPr/>
        </p:nvSpPr>
        <p:spPr>
          <a:xfrm>
            <a:off x="1809751" y="3214689"/>
            <a:ext cx="3857625" cy="1138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Ocorre a meiose e a formação de 4 </a:t>
            </a:r>
            <a:r>
              <a:rPr lang="pt-BR" dirty="0" err="1">
                <a:latin typeface="+mn-lt"/>
              </a:rPr>
              <a:t>espermátides</a:t>
            </a:r>
            <a:r>
              <a:rPr lang="pt-BR" dirty="0">
                <a:latin typeface="+mn-lt"/>
              </a:rPr>
              <a:t>.</a:t>
            </a:r>
          </a:p>
          <a:p>
            <a:pPr algn="ctr">
              <a:defRPr/>
            </a:pPr>
            <a:r>
              <a:rPr lang="pt-BR" sz="1600" dirty="0">
                <a:latin typeface="+mn-lt"/>
              </a:rPr>
              <a:t>Formação </a:t>
            </a:r>
            <a:r>
              <a:rPr lang="pt-BR" sz="1600" dirty="0">
                <a:latin typeface="+mn-lt"/>
                <a:sym typeface="Wingdings" pitchFamily="2" charset="2"/>
              </a:rPr>
              <a:t> 2 </a:t>
            </a:r>
            <a:r>
              <a:rPr lang="pt-BR" sz="1600" dirty="0" err="1">
                <a:latin typeface="+mn-lt"/>
                <a:sym typeface="Wingdings" pitchFamily="2" charset="2"/>
              </a:rPr>
              <a:t>espermatócitos</a:t>
            </a:r>
            <a:r>
              <a:rPr lang="pt-BR" sz="1600" dirty="0">
                <a:latin typeface="+mn-lt"/>
                <a:sym typeface="Wingdings" pitchFamily="2" charset="2"/>
              </a:rPr>
              <a:t> 2ºs (meiose I) e 4 </a:t>
            </a:r>
            <a:r>
              <a:rPr lang="pt-BR" sz="1600" dirty="0" err="1">
                <a:latin typeface="+mn-lt"/>
                <a:sym typeface="Wingdings" pitchFamily="2" charset="2"/>
              </a:rPr>
              <a:t>espermátides</a:t>
            </a:r>
            <a:r>
              <a:rPr lang="pt-BR" sz="1600" dirty="0">
                <a:latin typeface="+mn-lt"/>
                <a:sym typeface="Wingdings" pitchFamily="2" charset="2"/>
              </a:rPr>
              <a:t> (meiose II)</a:t>
            </a:r>
            <a:endParaRPr lang="pt-BR" sz="1600" dirty="0">
              <a:latin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1ED13C-6E23-46FE-A28A-A5245AB2D1A8}"/>
              </a:ext>
            </a:extLst>
          </p:cNvPr>
          <p:cNvSpPr txBox="1"/>
          <p:nvPr/>
        </p:nvSpPr>
        <p:spPr>
          <a:xfrm>
            <a:off x="8596313" y="2357439"/>
            <a:ext cx="192881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 err="1">
                <a:latin typeface="+mn-lt"/>
              </a:rPr>
              <a:t>Espermatócito</a:t>
            </a:r>
            <a:r>
              <a:rPr lang="pt-BR" sz="1400" dirty="0">
                <a:latin typeface="+mn-lt"/>
              </a:rPr>
              <a:t> primário</a:t>
            </a:r>
          </a:p>
          <a:p>
            <a:pPr algn="ctr">
              <a:defRPr/>
            </a:pPr>
            <a:r>
              <a:rPr lang="pt-BR" sz="1400" dirty="0">
                <a:latin typeface="+mn-lt"/>
              </a:rPr>
              <a:t>(2n)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FD2CA7A-BED2-4323-8DA1-3297E6F06214}"/>
              </a:ext>
            </a:extLst>
          </p:cNvPr>
          <p:cNvSpPr txBox="1"/>
          <p:nvPr/>
        </p:nvSpPr>
        <p:spPr>
          <a:xfrm>
            <a:off x="8596314" y="1357314"/>
            <a:ext cx="15716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 err="1">
                <a:latin typeface="+mn-lt"/>
              </a:rPr>
              <a:t>Espermatogônia</a:t>
            </a:r>
            <a:endParaRPr lang="pt-BR" sz="1400" dirty="0">
              <a:latin typeface="+mn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79F24-F7B9-4AC7-8C86-A7D9DB439E9B}"/>
              </a:ext>
            </a:extLst>
          </p:cNvPr>
          <p:cNvSpPr txBox="1"/>
          <p:nvPr/>
        </p:nvSpPr>
        <p:spPr>
          <a:xfrm>
            <a:off x="9096376" y="3071814"/>
            <a:ext cx="15716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 err="1">
                <a:latin typeface="+mn-lt"/>
              </a:rPr>
              <a:t>Espermatócito</a:t>
            </a:r>
            <a:r>
              <a:rPr lang="pt-BR" sz="1400" dirty="0">
                <a:latin typeface="+mn-lt"/>
              </a:rPr>
              <a:t> secundário (n)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8D0F94-78A1-4DF0-B630-F133EC0D7D1E}"/>
              </a:ext>
            </a:extLst>
          </p:cNvPr>
          <p:cNvSpPr txBox="1"/>
          <p:nvPr/>
        </p:nvSpPr>
        <p:spPr>
          <a:xfrm>
            <a:off x="9310688" y="5715001"/>
            <a:ext cx="135731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Espermatozóide</a:t>
            </a:r>
          </a:p>
          <a:p>
            <a:pPr algn="ctr">
              <a:defRPr/>
            </a:pPr>
            <a:r>
              <a:rPr lang="pt-BR" sz="1400" dirty="0">
                <a:latin typeface="+mn-lt"/>
              </a:rPr>
              <a:t>(n)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088776-6F31-44E2-8788-528A380D9FC4}"/>
              </a:ext>
            </a:extLst>
          </p:cNvPr>
          <p:cNvSpPr txBox="1"/>
          <p:nvPr/>
        </p:nvSpPr>
        <p:spPr>
          <a:xfrm>
            <a:off x="2738439" y="4857751"/>
            <a:ext cx="3000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Diferenciação das </a:t>
            </a:r>
            <a:r>
              <a:rPr lang="pt-BR" dirty="0" err="1">
                <a:latin typeface="+mn-lt"/>
              </a:rPr>
              <a:t>espermátides</a:t>
            </a:r>
            <a:r>
              <a:rPr lang="pt-BR" dirty="0">
                <a:latin typeface="+mn-lt"/>
              </a:rPr>
              <a:t> e formação dos espermatozóides.</a:t>
            </a:r>
            <a:endParaRPr lang="pt-BR" sz="1600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0C6E171-A96D-471D-A95F-84F55D1B6BFF}"/>
              </a:ext>
            </a:extLst>
          </p:cNvPr>
          <p:cNvSpPr txBox="1"/>
          <p:nvPr/>
        </p:nvSpPr>
        <p:spPr>
          <a:xfrm>
            <a:off x="9310689" y="3857626"/>
            <a:ext cx="15716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 err="1">
                <a:latin typeface="+mn-lt"/>
              </a:rPr>
              <a:t>Espermátides</a:t>
            </a:r>
            <a:endParaRPr lang="pt-BR" sz="1400" dirty="0">
              <a:latin typeface="+mn-lt"/>
            </a:endParaRPr>
          </a:p>
          <a:p>
            <a:pPr algn="ctr">
              <a:defRPr/>
            </a:pPr>
            <a:r>
              <a:rPr lang="pt-BR" sz="1400" dirty="0">
                <a:latin typeface="+mn-lt"/>
              </a:rPr>
              <a:t> (n)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m 4" descr="espermiogenese.jpg">
            <a:extLst>
              <a:ext uri="{FF2B5EF4-FFF2-40B4-BE49-F238E27FC236}">
                <a16:creationId xmlns:a16="http://schemas.microsoft.com/office/drawing/2014/main" id="{6F422CBA-F4F7-4B57-B6BF-08084F388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38" y="1928814"/>
            <a:ext cx="6697662" cy="417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Retângulo 7">
            <a:extLst>
              <a:ext uri="{FF2B5EF4-FFF2-40B4-BE49-F238E27FC236}">
                <a16:creationId xmlns:a16="http://schemas.microsoft.com/office/drawing/2014/main" id="{118F0D1A-F854-46BA-AD47-91E0378F7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28688"/>
            <a:ext cx="47863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2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Espermiogênse</a:t>
            </a:r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1A16585-E5FE-4FE3-88B5-C4D843F67EE8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7BEB68D-5B05-4DDE-ACAF-C45621C8DD48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tângulo 7">
            <a:extLst>
              <a:ext uri="{FF2B5EF4-FFF2-40B4-BE49-F238E27FC236}">
                <a16:creationId xmlns:a16="http://schemas.microsoft.com/office/drawing/2014/main" id="{23F7A43E-F43C-406C-9DAE-B467DA99E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28688"/>
            <a:ext cx="47863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2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Estrutura do espermatozóide</a:t>
            </a:r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0245" name="CaixaDeTexto 9">
            <a:extLst>
              <a:ext uri="{FF2B5EF4-FFF2-40B4-BE49-F238E27FC236}">
                <a16:creationId xmlns:a16="http://schemas.microsoft.com/office/drawing/2014/main" id="{86D464AA-B4A2-404B-A0FC-D481D8E50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4" y="1785938"/>
            <a:ext cx="8715375" cy="2862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Cabeça </a:t>
            </a:r>
            <a:r>
              <a:rPr lang="pt-BR" altLang="pt-BR">
                <a:latin typeface="Calibri" panose="020F0502020204030204" pitchFamily="34" charset="0"/>
              </a:rPr>
              <a:t>– com o </a:t>
            </a:r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pró-núcleo</a:t>
            </a:r>
            <a:r>
              <a:rPr lang="pt-BR" altLang="pt-BR">
                <a:latin typeface="Calibri" panose="020F0502020204030204" pitchFamily="34" charset="0"/>
              </a:rPr>
              <a:t> masculino haplóide (n) e o </a:t>
            </a:r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acrossoma</a:t>
            </a:r>
            <a:r>
              <a:rPr lang="pt-BR" altLang="pt-BR">
                <a:latin typeface="Calibri" panose="020F0502020204030204" pitchFamily="34" charset="0"/>
              </a:rPr>
              <a:t>, capuz formado por vesículas do Complexo de Golgi, contendo enzimas digestivas que permitirão pefurar a camada protetora do ovócito II (óvulo) no momento da fecundação.</a:t>
            </a:r>
          </a:p>
          <a:p>
            <a:pPr eaLnBrk="1" hangingPunct="1"/>
            <a:endParaRPr lang="pt-BR" altLang="pt-BR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Peça intermédia </a:t>
            </a:r>
            <a:r>
              <a:rPr lang="pt-BR" altLang="pt-BR">
                <a:latin typeface="Calibri" panose="020F0502020204030204" pitchFamily="34" charset="0"/>
              </a:rPr>
              <a:t>– Os </a:t>
            </a:r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centríolos</a:t>
            </a:r>
            <a:r>
              <a:rPr lang="pt-BR" altLang="pt-BR">
                <a:latin typeface="Calibri" panose="020F0502020204030204" pitchFamily="34" charset="0"/>
              </a:rPr>
              <a:t>, dispostos no pólo oposto ao acrossoma, originam os microtúbulos que constituem o </a:t>
            </a:r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flagelo</a:t>
            </a:r>
            <a:r>
              <a:rPr lang="pt-BR" altLang="pt-BR">
                <a:latin typeface="Calibri" panose="020F0502020204030204" pitchFamily="34" charset="0"/>
              </a:rPr>
              <a:t>. Concentração de mitocôndrias fornecedoras de energia (ATP) para os batimentos do flagelo.</a:t>
            </a:r>
          </a:p>
          <a:p>
            <a:pPr eaLnBrk="1" hangingPunct="1"/>
            <a:endParaRPr lang="pt-BR" altLang="pt-BR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Cauda</a:t>
            </a:r>
            <a:r>
              <a:rPr lang="pt-BR" altLang="pt-BR">
                <a:latin typeface="Calibri" panose="020F0502020204030204" pitchFamily="34" charset="0"/>
              </a:rPr>
              <a:t> – formada pelo</a:t>
            </a:r>
            <a:r>
              <a:rPr lang="pt-BR" altLang="pt-BR" b="1">
                <a:solidFill>
                  <a:srgbClr val="0070C0"/>
                </a:solidFill>
                <a:latin typeface="Calibri" panose="020F0502020204030204" pitchFamily="34" charset="0"/>
              </a:rPr>
              <a:t> flagelo</a:t>
            </a:r>
            <a:r>
              <a:rPr lang="pt-BR" altLang="pt-BR">
                <a:latin typeface="Calibri" panose="020F0502020204030204" pitchFamily="34" charset="0"/>
              </a:rPr>
              <a:t>, cujos batimentos impulsionam o espermatozóide.</a:t>
            </a:r>
          </a:p>
          <a:p>
            <a:pPr eaLnBrk="1" hangingPunct="1"/>
            <a:endParaRPr lang="pt-BR" altLang="pt-BR">
              <a:latin typeface="Calibri" panose="020F0502020204030204" pitchFamily="34" charset="0"/>
            </a:endParaRPr>
          </a:p>
        </p:txBody>
      </p:sp>
      <p:pic>
        <p:nvPicPr>
          <p:cNvPr id="10246" name="Imagem 11" descr="espermatozoide2.jpg">
            <a:extLst>
              <a:ext uri="{FF2B5EF4-FFF2-40B4-BE49-F238E27FC236}">
                <a16:creationId xmlns:a16="http://schemas.microsoft.com/office/drawing/2014/main" id="{4AAAEC14-E932-45D7-9B90-EB7294CB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8" y="4406900"/>
            <a:ext cx="4102100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CaixaDeTexto 12">
            <a:extLst>
              <a:ext uri="{FF2B5EF4-FFF2-40B4-BE49-F238E27FC236}">
                <a16:creationId xmlns:a16="http://schemas.microsoft.com/office/drawing/2014/main" id="{EF088F31-06BA-485D-99A8-947D321DC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26" y="5072064"/>
            <a:ext cx="13573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>
                <a:latin typeface="Calibri" panose="020F0502020204030204" pitchFamily="34" charset="0"/>
              </a:rPr>
              <a:t>Acrossomo</a:t>
            </a:r>
          </a:p>
        </p:txBody>
      </p:sp>
      <p:sp>
        <p:nvSpPr>
          <p:cNvPr id="10248" name="CaixaDeTexto 13">
            <a:extLst>
              <a:ext uri="{FF2B5EF4-FFF2-40B4-BE49-F238E27FC236}">
                <a16:creationId xmlns:a16="http://schemas.microsoft.com/office/drawing/2014/main" id="{B9924681-AA8C-4445-B215-008DE3E12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3" y="5786438"/>
            <a:ext cx="13573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>
                <a:latin typeface="Calibri" panose="020F0502020204030204" pitchFamily="34" charset="0"/>
              </a:rPr>
              <a:t>Pró-núcleo</a:t>
            </a:r>
          </a:p>
          <a:p>
            <a:pPr algn="ctr" eaLnBrk="1" hangingPunct="1"/>
            <a:r>
              <a:rPr lang="pt-BR" altLang="pt-BR" sz="1600">
                <a:latin typeface="Calibri" panose="020F0502020204030204" pitchFamily="34" charset="0"/>
              </a:rPr>
              <a:t>(n)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2E0B49C2-9953-4AB6-8E81-00206E59ECBC}"/>
              </a:ext>
            </a:extLst>
          </p:cNvPr>
          <p:cNvCxnSpPr>
            <a:endCxn id="10247" idx="1"/>
          </p:cNvCxnSpPr>
          <p:nvPr/>
        </p:nvCxnSpPr>
        <p:spPr>
          <a:xfrm>
            <a:off x="7810501" y="5000625"/>
            <a:ext cx="428625" cy="241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63EA7E1-502D-42CE-AD32-4EDBE57BA95D}"/>
              </a:ext>
            </a:extLst>
          </p:cNvPr>
          <p:cNvCxnSpPr/>
          <p:nvPr/>
        </p:nvCxnSpPr>
        <p:spPr>
          <a:xfrm>
            <a:off x="7453314" y="5072063"/>
            <a:ext cx="928687" cy="785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51" name="CaixaDeTexto 22">
            <a:extLst>
              <a:ext uri="{FF2B5EF4-FFF2-40B4-BE49-F238E27FC236}">
                <a16:creationId xmlns:a16="http://schemas.microsoft.com/office/drawing/2014/main" id="{7514E69A-6584-4346-B616-D9670B4A3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3" y="4286250"/>
            <a:ext cx="13573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600">
                <a:latin typeface="Calibri" panose="020F0502020204030204" pitchFamily="34" charset="0"/>
              </a:rPr>
              <a:t>Mitocôndrias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46A386F-F75F-4DB6-AE3C-D76E6FEC3364}"/>
              </a:ext>
            </a:extLst>
          </p:cNvPr>
          <p:cNvCxnSpPr>
            <a:stCxn id="10251" idx="2"/>
          </p:cNvCxnSpPr>
          <p:nvPr/>
        </p:nvCxnSpPr>
        <p:spPr>
          <a:xfrm rot="16200000" flipH="1">
            <a:off x="6569076" y="4759326"/>
            <a:ext cx="304800" cy="349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05F0EFA6-35D8-4D29-AC44-37FB962DDC4D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78050135-CAFD-418D-B6C2-CC867F0BF926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m 11" descr="testiculo.jpg">
            <a:extLst>
              <a:ext uri="{FF2B5EF4-FFF2-40B4-BE49-F238E27FC236}">
                <a16:creationId xmlns:a16="http://schemas.microsoft.com/office/drawing/2014/main" id="{72E042AD-3241-48CB-8E8F-2EAA4A6A8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9" y="3071814"/>
            <a:ext cx="414337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CaixaDeTexto 8">
            <a:extLst>
              <a:ext uri="{FF2B5EF4-FFF2-40B4-BE49-F238E27FC236}">
                <a16:creationId xmlns:a16="http://schemas.microsoft.com/office/drawing/2014/main" id="{2E3D8C55-40B2-4931-8636-8B16C6D0B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1269" name="CaixaDeTexto 4">
            <a:extLst>
              <a:ext uri="{FF2B5EF4-FFF2-40B4-BE49-F238E27FC236}">
                <a16:creationId xmlns:a16="http://schemas.microsoft.com/office/drawing/2014/main" id="{3A2FAFBB-7B52-49E8-A143-396FF207F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1071564"/>
            <a:ext cx="885825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b) Testículos</a:t>
            </a:r>
            <a:r>
              <a:rPr lang="pt-BR" altLang="pt-BR">
                <a:latin typeface="Calibri" panose="020F0502020204030204" pitchFamily="34" charset="0"/>
              </a:rPr>
              <a:t> (Visão interna)</a:t>
            </a:r>
          </a:p>
          <a:p>
            <a:pPr eaLnBrk="1" hangingPunct="1"/>
            <a:endParaRPr lang="pt-BR" altLang="pt-BR" sz="5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 b="1">
                <a:latin typeface="Calibri" panose="020F0502020204030204" pitchFamily="34" charset="0"/>
              </a:rPr>
              <a:t>Células de Leydig (intesticial): </a:t>
            </a:r>
            <a:r>
              <a:rPr lang="pt-BR" altLang="pt-BR">
                <a:latin typeface="Calibri" panose="020F0502020204030204" pitchFamily="34" charset="0"/>
              </a:rPr>
              <a:t>Sob influência do LH produz a testosterona.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11271" name="CaixaDeTexto 12">
            <a:extLst>
              <a:ext uri="{FF2B5EF4-FFF2-40B4-BE49-F238E27FC236}">
                <a16:creationId xmlns:a16="http://schemas.microsoft.com/office/drawing/2014/main" id="{B548008E-ACA7-456F-A21D-F585BE11F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357689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Epidídimo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E14BF27-667D-4446-AFE8-FB18DE500D11}"/>
              </a:ext>
            </a:extLst>
          </p:cNvPr>
          <p:cNvCxnSpPr/>
          <p:nvPr/>
        </p:nvCxnSpPr>
        <p:spPr>
          <a:xfrm rot="5400000">
            <a:off x="4810920" y="5642770"/>
            <a:ext cx="428625" cy="1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73" name="CaixaDeTexto 15">
            <a:extLst>
              <a:ext uri="{FF2B5EF4-FFF2-40B4-BE49-F238E27FC236}">
                <a16:creationId xmlns:a16="http://schemas.microsoft.com/office/drawing/2014/main" id="{830A5CEF-F06B-472B-B37D-6EE0E8AC6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76" y="5929314"/>
            <a:ext cx="1928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Túbulo Seminífero</a:t>
            </a:r>
          </a:p>
        </p:txBody>
      </p:sp>
      <p:pic>
        <p:nvPicPr>
          <p:cNvPr id="11274" name="Imagem 20" descr="tubulo seminifero corte.jpg">
            <a:extLst>
              <a:ext uri="{FF2B5EF4-FFF2-40B4-BE49-F238E27FC236}">
                <a16:creationId xmlns:a16="http://schemas.microsoft.com/office/drawing/2014/main" id="{A4C1EF5C-672A-458D-A546-46E0FC5C4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50" y="2500314"/>
            <a:ext cx="559435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eta entalhada para a direita 21">
            <a:extLst>
              <a:ext uri="{FF2B5EF4-FFF2-40B4-BE49-F238E27FC236}">
                <a16:creationId xmlns:a16="http://schemas.microsoft.com/office/drawing/2014/main" id="{B7E43B47-6239-4FF5-9F4C-161E9EC30481}"/>
              </a:ext>
            </a:extLst>
          </p:cNvPr>
          <p:cNvSpPr/>
          <p:nvPr/>
        </p:nvSpPr>
        <p:spPr>
          <a:xfrm>
            <a:off x="5238751" y="5000626"/>
            <a:ext cx="785813" cy="428625"/>
          </a:xfrm>
          <a:prstGeom prst="notch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DB0F16-C446-4DBA-94E6-62DE2CA855D3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68923D0-A56B-4EB2-8524-3C49EBC9A476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m 11" descr="testiculo.jpg">
            <a:extLst>
              <a:ext uri="{FF2B5EF4-FFF2-40B4-BE49-F238E27FC236}">
                <a16:creationId xmlns:a16="http://schemas.microsoft.com/office/drawing/2014/main" id="{6AA6129B-5392-454A-9545-A2DD0E835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9" y="3071814"/>
            <a:ext cx="414337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CaixaDeTexto 8">
            <a:extLst>
              <a:ext uri="{FF2B5EF4-FFF2-40B4-BE49-F238E27FC236}">
                <a16:creationId xmlns:a16="http://schemas.microsoft.com/office/drawing/2014/main" id="{A4772937-E0E7-4B34-9B60-6B097995A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2293" name="CaixaDeTexto 4">
            <a:extLst>
              <a:ext uri="{FF2B5EF4-FFF2-40B4-BE49-F238E27FC236}">
                <a16:creationId xmlns:a16="http://schemas.microsoft.com/office/drawing/2014/main" id="{14E7EC86-1CDA-46BF-94A8-3C4FA3F93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1071564"/>
            <a:ext cx="885825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b) Testículos</a:t>
            </a:r>
            <a:r>
              <a:rPr lang="pt-BR" altLang="pt-BR">
                <a:latin typeface="Calibri" panose="020F0502020204030204" pitchFamily="34" charset="0"/>
              </a:rPr>
              <a:t> (Visão interna)</a:t>
            </a:r>
          </a:p>
          <a:p>
            <a:pPr eaLnBrk="1" hangingPunct="1"/>
            <a:endParaRPr lang="pt-BR" altLang="pt-BR" sz="5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 b="1">
                <a:latin typeface="Calibri" panose="020F0502020204030204" pitchFamily="34" charset="0"/>
              </a:rPr>
              <a:t>Célula de Sertoli: </a:t>
            </a:r>
            <a:r>
              <a:rPr lang="pt-BR" altLang="pt-BR">
                <a:latin typeface="Calibri" panose="020F0502020204030204" pitchFamily="34" charset="0"/>
              </a:rPr>
              <a:t>Produz substâncias que nutrem os espermatozóides.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12295" name="CaixaDeTexto 12">
            <a:extLst>
              <a:ext uri="{FF2B5EF4-FFF2-40B4-BE49-F238E27FC236}">
                <a16:creationId xmlns:a16="http://schemas.microsoft.com/office/drawing/2014/main" id="{9A85B4B6-ECE7-416A-96CA-45CAA626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357689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Epidídimo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4553717-CBA6-4ADD-9DED-5A225691C3EC}"/>
              </a:ext>
            </a:extLst>
          </p:cNvPr>
          <p:cNvCxnSpPr/>
          <p:nvPr/>
        </p:nvCxnSpPr>
        <p:spPr>
          <a:xfrm rot="5400000">
            <a:off x="4810920" y="5642770"/>
            <a:ext cx="428625" cy="1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97" name="CaixaDeTexto 15">
            <a:extLst>
              <a:ext uri="{FF2B5EF4-FFF2-40B4-BE49-F238E27FC236}">
                <a16:creationId xmlns:a16="http://schemas.microsoft.com/office/drawing/2014/main" id="{650F85CA-439B-4571-9F9E-62BEC4D01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76" y="5929314"/>
            <a:ext cx="1928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Túbulo Seminífero</a:t>
            </a:r>
          </a:p>
        </p:txBody>
      </p:sp>
      <p:pic>
        <p:nvPicPr>
          <p:cNvPr id="12298" name="Imagem 20" descr="tubulo seminifero corte.jpg">
            <a:extLst>
              <a:ext uri="{FF2B5EF4-FFF2-40B4-BE49-F238E27FC236}">
                <a16:creationId xmlns:a16="http://schemas.microsoft.com/office/drawing/2014/main" id="{A1CA2DB4-3112-4FA9-B1B8-4535C93EB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50" y="2500314"/>
            <a:ext cx="5594350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Seta entalhada para a direita 21">
            <a:extLst>
              <a:ext uri="{FF2B5EF4-FFF2-40B4-BE49-F238E27FC236}">
                <a16:creationId xmlns:a16="http://schemas.microsoft.com/office/drawing/2014/main" id="{E17455EC-65E9-4CFE-A3E9-242AFCA1241A}"/>
              </a:ext>
            </a:extLst>
          </p:cNvPr>
          <p:cNvSpPr/>
          <p:nvPr/>
        </p:nvSpPr>
        <p:spPr>
          <a:xfrm>
            <a:off x="5238751" y="5000626"/>
            <a:ext cx="785813" cy="428625"/>
          </a:xfrm>
          <a:prstGeom prst="notched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32B5E09-221D-4942-A98C-5C2ED3B79F3D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E67D10D-D9C5-4038-A948-145516CC6773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m 11" descr="testiculo.jpg">
            <a:extLst>
              <a:ext uri="{FF2B5EF4-FFF2-40B4-BE49-F238E27FC236}">
                <a16:creationId xmlns:a16="http://schemas.microsoft.com/office/drawing/2014/main" id="{0BC65FD2-1160-423D-BA0C-AFE4417F3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928939"/>
            <a:ext cx="414337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CaixaDeTexto 8">
            <a:extLst>
              <a:ext uri="{FF2B5EF4-FFF2-40B4-BE49-F238E27FC236}">
                <a16:creationId xmlns:a16="http://schemas.microsoft.com/office/drawing/2014/main" id="{DDFF882D-153C-46B9-A434-0A709ACA0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3317" name="CaixaDeTexto 4">
            <a:extLst>
              <a:ext uri="{FF2B5EF4-FFF2-40B4-BE49-F238E27FC236}">
                <a16:creationId xmlns:a16="http://schemas.microsoft.com/office/drawing/2014/main" id="{9E1F6F7E-0817-463D-BDB9-6BCA24576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1071564"/>
            <a:ext cx="885825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c) Epidídimo</a:t>
            </a:r>
          </a:p>
          <a:p>
            <a:pPr eaLnBrk="1" hangingPunct="1"/>
            <a:endParaRPr lang="pt-BR" altLang="pt-BR" sz="5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Local de amadurecimento e armazenamento de espermatozóides.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13319" name="CaixaDeTexto 12">
            <a:extLst>
              <a:ext uri="{FF2B5EF4-FFF2-40B4-BE49-F238E27FC236}">
                <a16:creationId xmlns:a16="http://schemas.microsoft.com/office/drawing/2014/main" id="{8A3A91B3-48C4-4D20-B86B-E9E3F34DE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357689"/>
            <a:ext cx="1285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FF0000"/>
                </a:solidFill>
                <a:latin typeface="Calibri" panose="020F0502020204030204" pitchFamily="34" charset="0"/>
              </a:rPr>
              <a:t>Epidídimo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FDC5D6E-9A68-4013-87F1-7CA371014D78}"/>
              </a:ext>
            </a:extLst>
          </p:cNvPr>
          <p:cNvCxnSpPr/>
          <p:nvPr/>
        </p:nvCxnSpPr>
        <p:spPr>
          <a:xfrm rot="5400000">
            <a:off x="5525295" y="5571333"/>
            <a:ext cx="428625" cy="15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21" name="CaixaDeTexto 15">
            <a:extLst>
              <a:ext uri="{FF2B5EF4-FFF2-40B4-BE49-F238E27FC236}">
                <a16:creationId xmlns:a16="http://schemas.microsoft.com/office/drawing/2014/main" id="{FCD771AD-55DC-44AB-A3D0-E6B7C2EEF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5857875"/>
            <a:ext cx="192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Túbulo Seminífero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B6C0A9B-D6EC-4127-82B8-35C44AD04C98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7D18F77-BAD2-47E0-9D23-89CF56AE2B85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7" descr="aparelho masculino.jpg">
            <a:extLst>
              <a:ext uri="{FF2B5EF4-FFF2-40B4-BE49-F238E27FC236}">
                <a16:creationId xmlns:a16="http://schemas.microsoft.com/office/drawing/2014/main" id="{9A755D57-E027-45DC-9529-A17B24342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2000250"/>
            <a:ext cx="8015288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CaixaDeTexto 8">
            <a:extLst>
              <a:ext uri="{FF2B5EF4-FFF2-40B4-BE49-F238E27FC236}">
                <a16:creationId xmlns:a16="http://schemas.microsoft.com/office/drawing/2014/main" id="{B57E356E-FD5F-47E8-8C8B-FED4A86C0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4341" name="CaixaDeTexto 4">
            <a:extLst>
              <a:ext uri="{FF2B5EF4-FFF2-40B4-BE49-F238E27FC236}">
                <a16:creationId xmlns:a16="http://schemas.microsoft.com/office/drawing/2014/main" id="{3297613E-BB5C-47CB-AD04-71E5A085A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878681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d) Canal deferente: </a:t>
            </a:r>
            <a:r>
              <a:rPr lang="pt-BR" altLang="pt-BR">
                <a:latin typeface="Calibri" panose="020F0502020204030204" pitchFamily="34" charset="0"/>
              </a:rPr>
              <a:t>Comunica o epidídimo à vesícula seminal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95F7A3E0-21C1-4A42-9402-B6FAAC34E9E7}"/>
              </a:ext>
            </a:extLst>
          </p:cNvPr>
          <p:cNvSpPr/>
          <p:nvPr/>
        </p:nvSpPr>
        <p:spPr>
          <a:xfrm>
            <a:off x="1738313" y="3929063"/>
            <a:ext cx="500062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4169B1-2732-44DA-B0EB-05F8688558BF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0170C01-620E-4325-A429-6891A774265D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m 7" descr="aparelho masculino.jpg">
            <a:extLst>
              <a:ext uri="{FF2B5EF4-FFF2-40B4-BE49-F238E27FC236}">
                <a16:creationId xmlns:a16="http://schemas.microsoft.com/office/drawing/2014/main" id="{CFC08E86-0CBF-4D79-8AE5-3D9C78D49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643188"/>
            <a:ext cx="727551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CaixaDeTexto 8">
            <a:extLst>
              <a:ext uri="{FF2B5EF4-FFF2-40B4-BE49-F238E27FC236}">
                <a16:creationId xmlns:a16="http://schemas.microsoft.com/office/drawing/2014/main" id="{85C7387C-5B6D-4688-94F7-667F5D56A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5365" name="CaixaDeTexto 4">
            <a:extLst>
              <a:ext uri="{FF2B5EF4-FFF2-40B4-BE49-F238E27FC236}">
                <a16:creationId xmlns:a16="http://schemas.microsoft.com/office/drawing/2014/main" id="{2C88DDAE-1294-4860-ABF6-8075EE02D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8786813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e) Vesícula Seminal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Produz o líquido seminal, o qual contém substâncias nutritivas, principalmente frutose, que irá nutrir o espermatozóide fora do organismo masculino.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B36E7326-4A4C-43E9-BA89-8BECED99548D}"/>
              </a:ext>
            </a:extLst>
          </p:cNvPr>
          <p:cNvSpPr/>
          <p:nvPr/>
        </p:nvSpPr>
        <p:spPr>
          <a:xfrm rot="10800000">
            <a:off x="9739313" y="4929188"/>
            <a:ext cx="500062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AA029C-0928-4E4B-AE57-0E5F18F458DE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654330D-6F50-41A3-9548-9649E6E9B470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m 7" descr="aparelho masculino.jpg">
            <a:extLst>
              <a:ext uri="{FF2B5EF4-FFF2-40B4-BE49-F238E27FC236}">
                <a16:creationId xmlns:a16="http://schemas.microsoft.com/office/drawing/2014/main" id="{902F8A88-60F6-4B85-A67C-D4AABC8DD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643188"/>
            <a:ext cx="727551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CaixaDeTexto 8">
            <a:extLst>
              <a:ext uri="{FF2B5EF4-FFF2-40B4-BE49-F238E27FC236}">
                <a16:creationId xmlns:a16="http://schemas.microsoft.com/office/drawing/2014/main" id="{03277154-BCC3-4CA4-8CEB-C870D6B3B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6389" name="CaixaDeTexto 4">
            <a:extLst>
              <a:ext uri="{FF2B5EF4-FFF2-40B4-BE49-F238E27FC236}">
                <a16:creationId xmlns:a16="http://schemas.microsoft.com/office/drawing/2014/main" id="{68A927FC-A653-48CC-AE73-533582789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8786813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f) Próstata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Produz a secreção prostática (alcalina) que reduz a acidez da vagina, favorecendo a sobrevivência dos espermatozóides naquele ambiente.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1DC983D7-16F0-4101-A642-A9B5DE5431F0}"/>
              </a:ext>
            </a:extLst>
          </p:cNvPr>
          <p:cNvSpPr/>
          <p:nvPr/>
        </p:nvSpPr>
        <p:spPr>
          <a:xfrm rot="10800000">
            <a:off x="9667876" y="5715000"/>
            <a:ext cx="500063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9F98557-AA80-4F90-A1DC-719DCB009E0D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55E976B-0B52-4476-8987-74BC5D520BF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m 7" descr="aparelho masculino.jpg">
            <a:extLst>
              <a:ext uri="{FF2B5EF4-FFF2-40B4-BE49-F238E27FC236}">
                <a16:creationId xmlns:a16="http://schemas.microsoft.com/office/drawing/2014/main" id="{499970BE-1059-4C88-B15F-6FC79DEC5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643188"/>
            <a:ext cx="727551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CaixaDeTexto 8">
            <a:extLst>
              <a:ext uri="{FF2B5EF4-FFF2-40B4-BE49-F238E27FC236}">
                <a16:creationId xmlns:a16="http://schemas.microsoft.com/office/drawing/2014/main" id="{24A53088-1BEC-4A57-B559-0FDFFEF67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7413" name="CaixaDeTexto 4">
            <a:extLst>
              <a:ext uri="{FF2B5EF4-FFF2-40B4-BE49-F238E27FC236}">
                <a16:creationId xmlns:a16="http://schemas.microsoft.com/office/drawing/2014/main" id="{5DBE389F-F0D4-459E-9F1B-A2A5FAF94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8786813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g) Glândula Bulbouretral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Produz uma secreção que lubrifica o canal da uretra e facilita a motilidade dos espermatozóides.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F369E08A-43C1-46FC-BDBA-8D1A7A4FCEEC}"/>
              </a:ext>
            </a:extLst>
          </p:cNvPr>
          <p:cNvSpPr/>
          <p:nvPr/>
        </p:nvSpPr>
        <p:spPr>
          <a:xfrm rot="10800000">
            <a:off x="9667876" y="6215063"/>
            <a:ext cx="500063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630DA40-4B9F-4504-AB01-AA5726ED0237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BF369B8-3E0C-4232-B7E8-13A37645AB09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m 7" descr="aparelho masculino.jpg">
            <a:extLst>
              <a:ext uri="{FF2B5EF4-FFF2-40B4-BE49-F238E27FC236}">
                <a16:creationId xmlns:a16="http://schemas.microsoft.com/office/drawing/2014/main" id="{15C6823E-2885-4437-8790-005326906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643188"/>
            <a:ext cx="727551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CaixaDeTexto 8">
            <a:extLst>
              <a:ext uri="{FF2B5EF4-FFF2-40B4-BE49-F238E27FC236}">
                <a16:creationId xmlns:a16="http://schemas.microsoft.com/office/drawing/2014/main" id="{A7077E7E-E710-4419-9E75-7477DC77C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8437" name="CaixaDeTexto 4">
            <a:extLst>
              <a:ext uri="{FF2B5EF4-FFF2-40B4-BE49-F238E27FC236}">
                <a16:creationId xmlns:a16="http://schemas.microsoft.com/office/drawing/2014/main" id="{757C635C-B3C1-4E04-A5EB-BB2CBBC1F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h) Uretra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Canal que comunica o sistema excretor (micção) e o sistema reprodutor (ejaculação) com o meio externo.</a:t>
            </a:r>
            <a:r>
              <a:rPr lang="pt-BR" altLang="pt-BR" b="1">
                <a:latin typeface="Calibri" panose="020F0502020204030204" pitchFamily="34" charset="0"/>
              </a:rPr>
              <a:t>	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3198B5B1-77B6-4208-B02E-E5BB7FB5D4DE}"/>
              </a:ext>
            </a:extLst>
          </p:cNvPr>
          <p:cNvSpPr/>
          <p:nvPr/>
        </p:nvSpPr>
        <p:spPr>
          <a:xfrm>
            <a:off x="1881188" y="5214938"/>
            <a:ext cx="500062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5DFABDD-29A4-42DD-B621-0088C455350C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32882C9-F171-4335-9016-6C3C17C4151B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m 7" descr="aparelho masculino.jpg">
            <a:extLst>
              <a:ext uri="{FF2B5EF4-FFF2-40B4-BE49-F238E27FC236}">
                <a16:creationId xmlns:a16="http://schemas.microsoft.com/office/drawing/2014/main" id="{AA782286-1264-4FFB-88F3-ACFD589B7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1" y="2643188"/>
            <a:ext cx="727551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CaixaDeTexto 8">
            <a:extLst>
              <a:ext uri="{FF2B5EF4-FFF2-40B4-BE49-F238E27FC236}">
                <a16:creationId xmlns:a16="http://schemas.microsoft.com/office/drawing/2014/main" id="{87B3F5E1-6776-44EC-A0B1-0E93B80FC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19461" name="CaixaDeTexto 4">
            <a:extLst>
              <a:ext uri="{FF2B5EF4-FFF2-40B4-BE49-F238E27FC236}">
                <a16:creationId xmlns:a16="http://schemas.microsoft.com/office/drawing/2014/main" id="{2972202F-088C-4548-A108-E824C9386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i) Pênis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Órgão copulador masculino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Quando estimulado, torna-se ereto, devido a entrada de sangue sem seu interior.</a:t>
            </a:r>
          </a:p>
        </p:txBody>
      </p:sp>
      <p:sp>
        <p:nvSpPr>
          <p:cNvPr id="9" name="Seta para a direita 8">
            <a:extLst>
              <a:ext uri="{FF2B5EF4-FFF2-40B4-BE49-F238E27FC236}">
                <a16:creationId xmlns:a16="http://schemas.microsoft.com/office/drawing/2014/main" id="{6C95FB1C-1F11-4C8E-A1F0-5082D18BA698}"/>
              </a:ext>
            </a:extLst>
          </p:cNvPr>
          <p:cNvSpPr/>
          <p:nvPr/>
        </p:nvSpPr>
        <p:spPr>
          <a:xfrm>
            <a:off x="1881188" y="4857750"/>
            <a:ext cx="500062" cy="285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8C4C54-CB7D-4BAA-A350-41A8F6E6F45C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538AAE1-F430-465F-9377-4A99AA9512F6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aixaDeTexto 8">
            <a:extLst>
              <a:ext uri="{FF2B5EF4-FFF2-40B4-BE49-F238E27FC236}">
                <a16:creationId xmlns:a16="http://schemas.microsoft.com/office/drawing/2014/main" id="{3BECFC85-061D-4607-80FA-95FF2DB67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0484" name="CaixaDeTexto 4">
            <a:extLst>
              <a:ext uri="{FF2B5EF4-FFF2-40B4-BE49-F238E27FC236}">
                <a16:creationId xmlns:a16="http://schemas.microsoft.com/office/drawing/2014/main" id="{72B404CD-C4E0-4E61-9B7A-A08271833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i) Pênis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Corpos cavernosos e corpo esponjoso, enchem de sangue e promovem a ereção do pênis.</a:t>
            </a: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Glande:</a:t>
            </a:r>
            <a:r>
              <a:rPr lang="pt-BR" altLang="pt-BR">
                <a:latin typeface="Calibri" panose="020F0502020204030204" pitchFamily="34" charset="0"/>
              </a:rPr>
              <a:t> Região do pênis que possui grande sensibilidade à estimulação sexual</a:t>
            </a:r>
            <a:endParaRPr lang="pt-BR" altLang="pt-BR" b="1">
              <a:latin typeface="Calibri" panose="020F0502020204030204" pitchFamily="34" charset="0"/>
            </a:endParaRPr>
          </a:p>
        </p:txBody>
      </p:sp>
      <p:pic>
        <p:nvPicPr>
          <p:cNvPr id="20486" name="Imagem 9" descr="penis.jpg">
            <a:extLst>
              <a:ext uri="{FF2B5EF4-FFF2-40B4-BE49-F238E27FC236}">
                <a16:creationId xmlns:a16="http://schemas.microsoft.com/office/drawing/2014/main" id="{D4DC84E9-45D1-4C73-8E39-17C763723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1" y="2847976"/>
            <a:ext cx="5857875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F8FDB45-6C4D-4344-AB30-BF058AD323C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66DCF0-21FC-46DB-9408-C52A6B718453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aixaDeTexto 8">
            <a:extLst>
              <a:ext uri="{FF2B5EF4-FFF2-40B4-BE49-F238E27FC236}">
                <a16:creationId xmlns:a16="http://schemas.microsoft.com/office/drawing/2014/main" id="{6E337D6B-4890-4847-8BB2-71FBE3C2A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1508" name="CaixaDeTexto 4">
            <a:extLst>
              <a:ext uri="{FF2B5EF4-FFF2-40B4-BE49-F238E27FC236}">
                <a16:creationId xmlns:a16="http://schemas.microsoft.com/office/drawing/2014/main" id="{98C82490-B2ED-43B0-9232-8552D4995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2)   Aparelho reprodutor masculino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i) Pêni</a:t>
            </a:r>
            <a:r>
              <a:rPr lang="pt-BR" altLang="pt-BR">
                <a:latin typeface="Calibri" panose="020F0502020204030204" pitchFamily="34" charset="0"/>
              </a:rPr>
              <a:t>s</a:t>
            </a: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</a:t>
            </a: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	Prepúcio: </a:t>
            </a:r>
            <a:r>
              <a:rPr lang="pt-BR" altLang="pt-BR">
                <a:latin typeface="Calibri" panose="020F0502020204030204" pitchFamily="34" charset="0"/>
              </a:rPr>
              <a:t> Pele que reveste e protege a glande</a:t>
            </a:r>
            <a:endParaRPr lang="pt-BR" altLang="pt-BR" b="1">
              <a:latin typeface="Calibri" panose="020F0502020204030204" pitchFamily="34" charset="0"/>
            </a:endParaRPr>
          </a:p>
        </p:txBody>
      </p:sp>
      <p:pic>
        <p:nvPicPr>
          <p:cNvPr id="21510" name="Imagem 6" descr="prepucio.jpg">
            <a:extLst>
              <a:ext uri="{FF2B5EF4-FFF2-40B4-BE49-F238E27FC236}">
                <a16:creationId xmlns:a16="http://schemas.microsoft.com/office/drawing/2014/main" id="{6F8A6460-A447-4182-9AC9-D135D3039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6" y="2643189"/>
            <a:ext cx="2786063" cy="390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CaixaDeTexto 7">
            <a:extLst>
              <a:ext uri="{FF2B5EF4-FFF2-40B4-BE49-F238E27FC236}">
                <a16:creationId xmlns:a16="http://schemas.microsoft.com/office/drawing/2014/main" id="{A49E2D75-253F-4E2A-B96C-62A3C0774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857501"/>
            <a:ext cx="39290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Circuncisão (judeus) – Operação que remove parte do prepúcio em torno da glande.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66A6E11-15E0-4FBA-8163-86FD45D502DA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02754F-EAAE-4418-A46A-94480B5B1998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aixaDeTexto 8">
            <a:extLst>
              <a:ext uri="{FF2B5EF4-FFF2-40B4-BE49-F238E27FC236}">
                <a16:creationId xmlns:a16="http://schemas.microsoft.com/office/drawing/2014/main" id="{F9D3666D-E1EC-4B6F-ADB3-E1162EC7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2532" name="CaixaDeTexto 4">
            <a:extLst>
              <a:ext uri="{FF2B5EF4-FFF2-40B4-BE49-F238E27FC236}">
                <a16:creationId xmlns:a16="http://schemas.microsoft.com/office/drawing/2014/main" id="{06D46D3A-5BFF-46DF-BE8D-A033582F1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I) Externo</a:t>
            </a:r>
          </a:p>
        </p:txBody>
      </p:sp>
      <p:pic>
        <p:nvPicPr>
          <p:cNvPr id="22534" name="Imagem 8" descr="vulva.jpg">
            <a:extLst>
              <a:ext uri="{FF2B5EF4-FFF2-40B4-BE49-F238E27FC236}">
                <a16:creationId xmlns:a16="http://schemas.microsoft.com/office/drawing/2014/main" id="{E2DA3C28-C007-43BB-9AB3-9D8714A61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2143125"/>
            <a:ext cx="6488113" cy="446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CaixaDeTexto 9">
            <a:extLst>
              <a:ext uri="{FF2B5EF4-FFF2-40B4-BE49-F238E27FC236}">
                <a16:creationId xmlns:a16="http://schemas.microsoft.com/office/drawing/2014/main" id="{8C0FAF59-7F12-46C4-95C6-827EAD26B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1" y="6357939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Ânus</a:t>
            </a:r>
          </a:p>
        </p:txBody>
      </p:sp>
      <p:sp>
        <p:nvSpPr>
          <p:cNvPr id="22536" name="CaixaDeTexto 11">
            <a:extLst>
              <a:ext uri="{FF2B5EF4-FFF2-40B4-BE49-F238E27FC236}">
                <a16:creationId xmlns:a16="http://schemas.microsoft.com/office/drawing/2014/main" id="{AD561C1D-A43F-433C-BE0B-34E1365BC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4214814"/>
            <a:ext cx="2357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Abertura da vagina</a:t>
            </a:r>
          </a:p>
        </p:txBody>
      </p:sp>
      <p:sp>
        <p:nvSpPr>
          <p:cNvPr id="22537" name="CaixaDeTexto 12">
            <a:extLst>
              <a:ext uri="{FF2B5EF4-FFF2-40B4-BE49-F238E27FC236}">
                <a16:creationId xmlns:a16="http://schemas.microsoft.com/office/drawing/2014/main" id="{7D10C78B-DA89-4035-868E-95E3218AC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4" y="3000375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Pequeno lábio</a:t>
            </a:r>
          </a:p>
        </p:txBody>
      </p:sp>
      <p:sp>
        <p:nvSpPr>
          <p:cNvPr id="22538" name="CaixaDeTexto 13">
            <a:extLst>
              <a:ext uri="{FF2B5EF4-FFF2-40B4-BE49-F238E27FC236}">
                <a16:creationId xmlns:a16="http://schemas.microsoft.com/office/drawing/2014/main" id="{293437DC-FFF9-4E0F-97B3-74AD1C810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9" y="2286000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Grande lábio</a:t>
            </a:r>
          </a:p>
        </p:txBody>
      </p:sp>
      <p:sp>
        <p:nvSpPr>
          <p:cNvPr id="22539" name="CaixaDeTexto 14">
            <a:extLst>
              <a:ext uri="{FF2B5EF4-FFF2-40B4-BE49-F238E27FC236}">
                <a16:creationId xmlns:a16="http://schemas.microsoft.com/office/drawing/2014/main" id="{DF5EC954-56C4-4C9B-A29E-D5ADE2FBA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75" y="2143125"/>
            <a:ext cx="235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solidFill>
                  <a:srgbClr val="FF0000"/>
                </a:solidFill>
                <a:latin typeface="Calibri" panose="020F0502020204030204" pitchFamily="34" charset="0"/>
              </a:rPr>
              <a:t>Clitóris</a:t>
            </a:r>
          </a:p>
        </p:txBody>
      </p:sp>
      <p:sp>
        <p:nvSpPr>
          <p:cNvPr id="22540" name="CaixaDeTexto 15">
            <a:extLst>
              <a:ext uri="{FF2B5EF4-FFF2-40B4-BE49-F238E27FC236}">
                <a16:creationId xmlns:a16="http://schemas.microsoft.com/office/drawing/2014/main" id="{6BBF74CE-9146-4399-923D-8906263AB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4" y="2714625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>
                <a:latin typeface="Calibri" panose="020F0502020204030204" pitchFamily="34" charset="0"/>
              </a:rPr>
              <a:t>Abertura da uretra</a:t>
            </a:r>
          </a:p>
        </p:txBody>
      </p:sp>
      <p:sp>
        <p:nvSpPr>
          <p:cNvPr id="22541" name="CaixaDeTexto 12">
            <a:extLst>
              <a:ext uri="{FF2B5EF4-FFF2-40B4-BE49-F238E27FC236}">
                <a16:creationId xmlns:a16="http://schemas.microsoft.com/office/drawing/2014/main" id="{0FAC1819-3D18-41C6-B5B9-1A066DC60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8813" y="1143001"/>
            <a:ext cx="45005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b="1">
                <a:solidFill>
                  <a:srgbClr val="FF0000"/>
                </a:solidFill>
              </a:rPr>
              <a:t>Você homem conhece o sistema reprodutor feminino?</a:t>
            </a:r>
          </a:p>
          <a:p>
            <a:pPr algn="ctr" eaLnBrk="1" hangingPunct="1"/>
            <a:r>
              <a:rPr lang="pt-BR" altLang="pt-BR" b="1">
                <a:solidFill>
                  <a:srgbClr val="FF0000"/>
                </a:solidFill>
              </a:rPr>
              <a:t>Responda: Aonde está o clitóris?</a:t>
            </a:r>
          </a:p>
        </p:txBody>
      </p:sp>
      <p:sp>
        <p:nvSpPr>
          <p:cNvPr id="22542" name="CaixaDeTexto 13">
            <a:extLst>
              <a:ext uri="{FF2B5EF4-FFF2-40B4-BE49-F238E27FC236}">
                <a16:creationId xmlns:a16="http://schemas.microsoft.com/office/drawing/2014/main" id="{A275C580-FC44-4542-9D4C-ADCD18564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4" y="242887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b="1">
                <a:solidFill>
                  <a:srgbClr val="002060"/>
                </a:solidFill>
              </a:rPr>
              <a:t>A</a:t>
            </a:r>
          </a:p>
        </p:txBody>
      </p:sp>
      <p:sp>
        <p:nvSpPr>
          <p:cNvPr id="22543" name="CaixaDeTexto 14">
            <a:extLst>
              <a:ext uri="{FF2B5EF4-FFF2-40B4-BE49-F238E27FC236}">
                <a16:creationId xmlns:a16="http://schemas.microsoft.com/office/drawing/2014/main" id="{3CA8022C-100E-4BD5-9510-5A87EAC5A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4" y="300037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b="1">
                <a:solidFill>
                  <a:srgbClr val="002060"/>
                </a:solidFill>
              </a:rPr>
              <a:t>B</a:t>
            </a:r>
          </a:p>
        </p:txBody>
      </p:sp>
      <p:sp>
        <p:nvSpPr>
          <p:cNvPr id="22544" name="CaixaDeTexto 15">
            <a:extLst>
              <a:ext uri="{FF2B5EF4-FFF2-40B4-BE49-F238E27FC236}">
                <a16:creationId xmlns:a16="http://schemas.microsoft.com/office/drawing/2014/main" id="{8B2DD3CE-1FF6-4466-8DF2-C34904FA8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64" y="4071939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b="1">
                <a:solidFill>
                  <a:srgbClr val="002060"/>
                </a:solidFill>
              </a:rPr>
              <a:t>C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023E6FE-81D1-4311-8581-778EB8ED4D1C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A9DEA71F-8FF4-417D-8781-55D704B3782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aixaDeTexto 8">
            <a:extLst>
              <a:ext uri="{FF2B5EF4-FFF2-40B4-BE49-F238E27FC236}">
                <a16:creationId xmlns:a16="http://schemas.microsoft.com/office/drawing/2014/main" id="{EC1DCCA0-A32F-4A1F-BC73-5349DDAC7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3556" name="CaixaDeTexto 4">
            <a:extLst>
              <a:ext uri="{FF2B5EF4-FFF2-40B4-BE49-F238E27FC236}">
                <a16:creationId xmlns:a16="http://schemas.microsoft.com/office/drawing/2014/main" id="{794FDC3A-BB09-4963-8E6D-36C793D71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a) Pequenos e grandes lábios: </a:t>
            </a:r>
            <a:r>
              <a:rPr lang="pt-BR" altLang="pt-BR">
                <a:latin typeface="Calibri" panose="020F0502020204030204" pitchFamily="34" charset="0"/>
              </a:rPr>
              <a:t>Delimitam a entrada da vagina</a:t>
            </a:r>
            <a:endParaRPr lang="pt-BR" altLang="pt-BR" b="1">
              <a:latin typeface="Calibri" panose="020F0502020204030204" pitchFamily="34" charset="0"/>
            </a:endParaRPr>
          </a:p>
        </p:txBody>
      </p:sp>
      <p:pic>
        <p:nvPicPr>
          <p:cNvPr id="23558" name="Imagem 8" descr="vulva.jpg">
            <a:extLst>
              <a:ext uri="{FF2B5EF4-FFF2-40B4-BE49-F238E27FC236}">
                <a16:creationId xmlns:a16="http://schemas.microsoft.com/office/drawing/2014/main" id="{E0F23E1A-7064-406C-85B1-AC6684528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2392364"/>
            <a:ext cx="648811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CaixaDeTexto 9">
            <a:extLst>
              <a:ext uri="{FF2B5EF4-FFF2-40B4-BE49-F238E27FC236}">
                <a16:creationId xmlns:a16="http://schemas.microsoft.com/office/drawing/2014/main" id="{35846895-AE2A-48C0-8844-4980F9270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1" y="6488114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Ânus</a:t>
            </a:r>
          </a:p>
        </p:txBody>
      </p:sp>
      <p:sp>
        <p:nvSpPr>
          <p:cNvPr id="23560" name="CaixaDeTexto 11">
            <a:extLst>
              <a:ext uri="{FF2B5EF4-FFF2-40B4-BE49-F238E27FC236}">
                <a16:creationId xmlns:a16="http://schemas.microsoft.com/office/drawing/2014/main" id="{1EE65113-4075-4C2B-A38C-6CEFBB44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4" y="4500564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Abertura da vagina</a:t>
            </a:r>
          </a:p>
        </p:txBody>
      </p:sp>
      <p:sp>
        <p:nvSpPr>
          <p:cNvPr id="23561" name="CaixaDeTexto 12">
            <a:extLst>
              <a:ext uri="{FF2B5EF4-FFF2-40B4-BE49-F238E27FC236}">
                <a16:creationId xmlns:a16="http://schemas.microsoft.com/office/drawing/2014/main" id="{032B4BE6-4C32-4A7A-B391-4E3802C12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286125"/>
            <a:ext cx="235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FF0000"/>
                </a:solidFill>
                <a:latin typeface="Calibri" panose="020F0502020204030204" pitchFamily="34" charset="0"/>
              </a:rPr>
              <a:t>Pequeno lábio</a:t>
            </a:r>
          </a:p>
        </p:txBody>
      </p:sp>
      <p:sp>
        <p:nvSpPr>
          <p:cNvPr id="23562" name="CaixaDeTexto 13">
            <a:extLst>
              <a:ext uri="{FF2B5EF4-FFF2-40B4-BE49-F238E27FC236}">
                <a16:creationId xmlns:a16="http://schemas.microsoft.com/office/drawing/2014/main" id="{43613884-7861-44C2-9EBB-8D98951D7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9" y="2643189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FF0000"/>
                </a:solidFill>
                <a:latin typeface="Calibri" panose="020F0502020204030204" pitchFamily="34" charset="0"/>
              </a:rPr>
              <a:t>Grande lábio</a:t>
            </a:r>
          </a:p>
        </p:txBody>
      </p:sp>
      <p:sp>
        <p:nvSpPr>
          <p:cNvPr id="23563" name="CaixaDeTexto 14">
            <a:extLst>
              <a:ext uri="{FF2B5EF4-FFF2-40B4-BE49-F238E27FC236}">
                <a16:creationId xmlns:a16="http://schemas.microsoft.com/office/drawing/2014/main" id="{F29E119B-0348-4FA6-82E1-9846E6C03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2500314"/>
            <a:ext cx="2357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Clitóris</a:t>
            </a:r>
          </a:p>
        </p:txBody>
      </p:sp>
      <p:sp>
        <p:nvSpPr>
          <p:cNvPr id="23564" name="CaixaDeTexto 15">
            <a:extLst>
              <a:ext uri="{FF2B5EF4-FFF2-40B4-BE49-F238E27FC236}">
                <a16:creationId xmlns:a16="http://schemas.microsoft.com/office/drawing/2014/main" id="{704F272A-733E-4151-8A94-8BFC064BF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3000375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>
                <a:latin typeface="Calibri" panose="020F0502020204030204" pitchFamily="34" charset="0"/>
              </a:rPr>
              <a:t>Abertura da uretra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D21C119-0B2C-4656-8B3C-CD64812D6728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0AE922E-34CE-401E-B2DF-F3B910C6E46B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aixaDeTexto 8">
            <a:extLst>
              <a:ext uri="{FF2B5EF4-FFF2-40B4-BE49-F238E27FC236}">
                <a16:creationId xmlns:a16="http://schemas.microsoft.com/office/drawing/2014/main" id="{816DF759-109D-4D08-B44D-C5A87E9D1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4580" name="CaixaDeTexto 4">
            <a:extLst>
              <a:ext uri="{FF2B5EF4-FFF2-40B4-BE49-F238E27FC236}">
                <a16:creationId xmlns:a16="http://schemas.microsoft.com/office/drawing/2014/main" id="{3231F0F4-139C-4ADB-A98D-ECC966769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b) Abertura da vagina: </a:t>
            </a:r>
            <a:r>
              <a:rPr lang="pt-BR" altLang="pt-BR">
                <a:latin typeface="Calibri" panose="020F0502020204030204" pitchFamily="34" charset="0"/>
              </a:rPr>
              <a:t>Entrada do sistema reprodutor feminino</a:t>
            </a:r>
            <a:endParaRPr lang="pt-BR" altLang="pt-BR" b="1">
              <a:latin typeface="Calibri" panose="020F0502020204030204" pitchFamily="34" charset="0"/>
            </a:endParaRPr>
          </a:p>
        </p:txBody>
      </p:sp>
      <p:pic>
        <p:nvPicPr>
          <p:cNvPr id="24582" name="Imagem 8" descr="vulva.jpg">
            <a:extLst>
              <a:ext uri="{FF2B5EF4-FFF2-40B4-BE49-F238E27FC236}">
                <a16:creationId xmlns:a16="http://schemas.microsoft.com/office/drawing/2014/main" id="{B377731A-0851-4CD9-9B67-045435010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2392364"/>
            <a:ext cx="648811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CaixaDeTexto 9">
            <a:extLst>
              <a:ext uri="{FF2B5EF4-FFF2-40B4-BE49-F238E27FC236}">
                <a16:creationId xmlns:a16="http://schemas.microsoft.com/office/drawing/2014/main" id="{32CF0A7C-FAB6-491A-8930-90F8D2462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1" y="6488114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Ânus</a:t>
            </a:r>
          </a:p>
        </p:txBody>
      </p:sp>
      <p:sp>
        <p:nvSpPr>
          <p:cNvPr id="24584" name="CaixaDeTexto 11">
            <a:extLst>
              <a:ext uri="{FF2B5EF4-FFF2-40B4-BE49-F238E27FC236}">
                <a16:creationId xmlns:a16="http://schemas.microsoft.com/office/drawing/2014/main" id="{652EE091-F049-4BDE-8080-11634959E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4" y="4500564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FF0000"/>
                </a:solidFill>
                <a:latin typeface="Calibri" panose="020F0502020204030204" pitchFamily="34" charset="0"/>
              </a:rPr>
              <a:t>Abertura da vagina</a:t>
            </a:r>
          </a:p>
        </p:txBody>
      </p:sp>
      <p:sp>
        <p:nvSpPr>
          <p:cNvPr id="24585" name="CaixaDeTexto 12">
            <a:extLst>
              <a:ext uri="{FF2B5EF4-FFF2-40B4-BE49-F238E27FC236}">
                <a16:creationId xmlns:a16="http://schemas.microsoft.com/office/drawing/2014/main" id="{9852C3F3-8176-45D2-BDDD-30F060898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286125"/>
            <a:ext cx="235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Pequeno lábio</a:t>
            </a:r>
          </a:p>
        </p:txBody>
      </p:sp>
      <p:sp>
        <p:nvSpPr>
          <p:cNvPr id="24586" name="CaixaDeTexto 13">
            <a:extLst>
              <a:ext uri="{FF2B5EF4-FFF2-40B4-BE49-F238E27FC236}">
                <a16:creationId xmlns:a16="http://schemas.microsoft.com/office/drawing/2014/main" id="{3518DAF4-3EE3-44E5-861F-B8CA899AF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9" y="2643189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Grande lábio</a:t>
            </a:r>
          </a:p>
        </p:txBody>
      </p:sp>
      <p:sp>
        <p:nvSpPr>
          <p:cNvPr id="24587" name="CaixaDeTexto 14">
            <a:extLst>
              <a:ext uri="{FF2B5EF4-FFF2-40B4-BE49-F238E27FC236}">
                <a16:creationId xmlns:a16="http://schemas.microsoft.com/office/drawing/2014/main" id="{7451D309-015B-4C32-9139-D8FBEAE8B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2500314"/>
            <a:ext cx="2357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Clitóris</a:t>
            </a:r>
          </a:p>
        </p:txBody>
      </p:sp>
      <p:sp>
        <p:nvSpPr>
          <p:cNvPr id="24588" name="CaixaDeTexto 15">
            <a:extLst>
              <a:ext uri="{FF2B5EF4-FFF2-40B4-BE49-F238E27FC236}">
                <a16:creationId xmlns:a16="http://schemas.microsoft.com/office/drawing/2014/main" id="{83BFAB12-8A99-4C04-B519-788F38CAF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3000375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>
                <a:latin typeface="Calibri" panose="020F0502020204030204" pitchFamily="34" charset="0"/>
              </a:rPr>
              <a:t>Abertura da uretra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AEED513-0046-4FDE-8A0A-D1D0419CD3AA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EAB6AAD-FC65-4029-856F-EB3AC290CAF7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aixaDeTexto 8">
            <a:extLst>
              <a:ext uri="{FF2B5EF4-FFF2-40B4-BE49-F238E27FC236}">
                <a16:creationId xmlns:a16="http://schemas.microsoft.com/office/drawing/2014/main" id="{6E7B012A-9EEA-4B4A-B705-CBC1B8C11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5604" name="CaixaDeTexto 4">
            <a:extLst>
              <a:ext uri="{FF2B5EF4-FFF2-40B4-BE49-F238E27FC236}">
                <a16:creationId xmlns:a16="http://schemas.microsoft.com/office/drawing/2014/main" id="{62D932F0-A06C-48B0-882A-FCDE63F35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c) Abertura da uretra: </a:t>
            </a:r>
            <a:r>
              <a:rPr lang="pt-BR" altLang="pt-BR">
                <a:latin typeface="Calibri" panose="020F0502020204030204" pitchFamily="34" charset="0"/>
              </a:rPr>
              <a:t>Entrada do sistema excretor</a:t>
            </a:r>
            <a:endParaRPr lang="pt-BR" altLang="pt-BR" b="1">
              <a:latin typeface="Calibri" panose="020F0502020204030204" pitchFamily="34" charset="0"/>
            </a:endParaRPr>
          </a:p>
        </p:txBody>
      </p:sp>
      <p:pic>
        <p:nvPicPr>
          <p:cNvPr id="25606" name="Imagem 8" descr="vulva.jpg">
            <a:extLst>
              <a:ext uri="{FF2B5EF4-FFF2-40B4-BE49-F238E27FC236}">
                <a16:creationId xmlns:a16="http://schemas.microsoft.com/office/drawing/2014/main" id="{B02ABE67-8BAA-43C8-B5AB-BA1FD884E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2392364"/>
            <a:ext cx="648811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CaixaDeTexto 9">
            <a:extLst>
              <a:ext uri="{FF2B5EF4-FFF2-40B4-BE49-F238E27FC236}">
                <a16:creationId xmlns:a16="http://schemas.microsoft.com/office/drawing/2014/main" id="{FE7693A2-9325-4EFC-BB42-469DEE8F3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1" y="6488114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Ânus</a:t>
            </a:r>
          </a:p>
        </p:txBody>
      </p:sp>
      <p:sp>
        <p:nvSpPr>
          <p:cNvPr id="25608" name="CaixaDeTexto 11">
            <a:extLst>
              <a:ext uri="{FF2B5EF4-FFF2-40B4-BE49-F238E27FC236}">
                <a16:creationId xmlns:a16="http://schemas.microsoft.com/office/drawing/2014/main" id="{8D5BA4CF-CADC-452E-A94B-AA8C9FF1B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4" y="4500564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Abertura da vagina</a:t>
            </a:r>
          </a:p>
        </p:txBody>
      </p:sp>
      <p:sp>
        <p:nvSpPr>
          <p:cNvPr id="25609" name="CaixaDeTexto 12">
            <a:extLst>
              <a:ext uri="{FF2B5EF4-FFF2-40B4-BE49-F238E27FC236}">
                <a16:creationId xmlns:a16="http://schemas.microsoft.com/office/drawing/2014/main" id="{DCCEC64D-4BE1-4194-B48E-5A06A6A58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286125"/>
            <a:ext cx="235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Pequeno lábio</a:t>
            </a:r>
          </a:p>
        </p:txBody>
      </p:sp>
      <p:sp>
        <p:nvSpPr>
          <p:cNvPr id="25610" name="CaixaDeTexto 13">
            <a:extLst>
              <a:ext uri="{FF2B5EF4-FFF2-40B4-BE49-F238E27FC236}">
                <a16:creationId xmlns:a16="http://schemas.microsoft.com/office/drawing/2014/main" id="{F9C7C2BB-E5AE-4F08-BFF7-8B38BA657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9" y="2643189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Grande lábio</a:t>
            </a:r>
          </a:p>
        </p:txBody>
      </p:sp>
      <p:sp>
        <p:nvSpPr>
          <p:cNvPr id="25611" name="CaixaDeTexto 14">
            <a:extLst>
              <a:ext uri="{FF2B5EF4-FFF2-40B4-BE49-F238E27FC236}">
                <a16:creationId xmlns:a16="http://schemas.microsoft.com/office/drawing/2014/main" id="{C938919D-219A-4AAA-A15A-EF1F367E0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2500314"/>
            <a:ext cx="2357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latin typeface="Calibri" panose="020F0502020204030204" pitchFamily="34" charset="0"/>
              </a:rPr>
              <a:t>Clitóris</a:t>
            </a:r>
          </a:p>
        </p:txBody>
      </p:sp>
      <p:sp>
        <p:nvSpPr>
          <p:cNvPr id="25612" name="CaixaDeTexto 15">
            <a:extLst>
              <a:ext uri="{FF2B5EF4-FFF2-40B4-BE49-F238E27FC236}">
                <a16:creationId xmlns:a16="http://schemas.microsoft.com/office/drawing/2014/main" id="{8EE153F4-5DA0-40CE-B6C8-BE20192D0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3000375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>
                <a:solidFill>
                  <a:srgbClr val="FF0000"/>
                </a:solidFill>
                <a:latin typeface="Calibri" panose="020F0502020204030204" pitchFamily="34" charset="0"/>
              </a:rPr>
              <a:t>Abertura da uretra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CDC99-C491-4051-9001-AA8300A7E0D9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50E0341-EF0A-45D4-81D4-ECAD0A8BE5F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aixaDeTexto 8">
            <a:extLst>
              <a:ext uri="{FF2B5EF4-FFF2-40B4-BE49-F238E27FC236}">
                <a16:creationId xmlns:a16="http://schemas.microsoft.com/office/drawing/2014/main" id="{1BAA9918-CB12-4AEC-A673-BFCD8C4D4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6628" name="CaixaDeTexto 4">
            <a:extLst>
              <a:ext uri="{FF2B5EF4-FFF2-40B4-BE49-F238E27FC236}">
                <a16:creationId xmlns:a16="http://schemas.microsoft.com/office/drawing/2014/main" id="{BF092B6E-C36B-445F-9BA8-2BC9EE9A6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d) Clitóris: </a:t>
            </a:r>
            <a:r>
              <a:rPr lang="pt-BR" altLang="pt-BR">
                <a:latin typeface="Calibri" panose="020F0502020204030204" pitchFamily="34" charset="0"/>
              </a:rPr>
              <a:t>Órgão erétil dotado de grande sensibilidade (órgão do prazer)</a:t>
            </a:r>
            <a:endParaRPr lang="pt-BR" altLang="pt-BR" b="1">
              <a:latin typeface="Calibri" panose="020F0502020204030204" pitchFamily="34" charset="0"/>
            </a:endParaRPr>
          </a:p>
        </p:txBody>
      </p:sp>
      <p:pic>
        <p:nvPicPr>
          <p:cNvPr id="26630" name="Imagem 8" descr="vulva.jpg">
            <a:extLst>
              <a:ext uri="{FF2B5EF4-FFF2-40B4-BE49-F238E27FC236}">
                <a16:creationId xmlns:a16="http://schemas.microsoft.com/office/drawing/2014/main" id="{C0E23665-4179-4749-86C9-EB2B8DC13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6" y="2392364"/>
            <a:ext cx="648811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CaixaDeTexto 9">
            <a:extLst>
              <a:ext uri="{FF2B5EF4-FFF2-40B4-BE49-F238E27FC236}">
                <a16:creationId xmlns:a16="http://schemas.microsoft.com/office/drawing/2014/main" id="{6486BB7D-34AE-4D83-9B51-97A663E71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1" y="6488114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Ânus</a:t>
            </a:r>
          </a:p>
        </p:txBody>
      </p:sp>
      <p:sp>
        <p:nvSpPr>
          <p:cNvPr id="26632" name="CaixaDeTexto 11">
            <a:extLst>
              <a:ext uri="{FF2B5EF4-FFF2-40B4-BE49-F238E27FC236}">
                <a16:creationId xmlns:a16="http://schemas.microsoft.com/office/drawing/2014/main" id="{CD012CC3-4FAA-433B-9928-1660E9D7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4" y="4500564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Abertura da vagina</a:t>
            </a:r>
          </a:p>
        </p:txBody>
      </p:sp>
      <p:sp>
        <p:nvSpPr>
          <p:cNvPr id="26633" name="CaixaDeTexto 12">
            <a:extLst>
              <a:ext uri="{FF2B5EF4-FFF2-40B4-BE49-F238E27FC236}">
                <a16:creationId xmlns:a16="http://schemas.microsoft.com/office/drawing/2014/main" id="{97871444-0FDF-4E65-BE01-A381529A8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0" y="3286125"/>
            <a:ext cx="2357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Pequeno lábio</a:t>
            </a:r>
          </a:p>
        </p:txBody>
      </p:sp>
      <p:sp>
        <p:nvSpPr>
          <p:cNvPr id="26634" name="CaixaDeTexto 13">
            <a:extLst>
              <a:ext uri="{FF2B5EF4-FFF2-40B4-BE49-F238E27FC236}">
                <a16:creationId xmlns:a16="http://schemas.microsoft.com/office/drawing/2014/main" id="{B88C66E6-7DEB-48FD-ACB4-D4A3322D6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9" y="2643189"/>
            <a:ext cx="2357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latin typeface="Calibri" panose="020F0502020204030204" pitchFamily="34" charset="0"/>
              </a:rPr>
              <a:t>Grande lábio</a:t>
            </a:r>
          </a:p>
        </p:txBody>
      </p:sp>
      <p:sp>
        <p:nvSpPr>
          <p:cNvPr id="26635" name="CaixaDeTexto 14">
            <a:extLst>
              <a:ext uri="{FF2B5EF4-FFF2-40B4-BE49-F238E27FC236}">
                <a16:creationId xmlns:a16="http://schemas.microsoft.com/office/drawing/2014/main" id="{D869B1FE-2707-4C0D-AB10-9BC32CE5B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2500314"/>
            <a:ext cx="2357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>
                <a:solidFill>
                  <a:srgbClr val="FF0000"/>
                </a:solidFill>
                <a:latin typeface="Calibri" panose="020F0502020204030204" pitchFamily="34" charset="0"/>
              </a:rPr>
              <a:t>Clitóris</a:t>
            </a:r>
          </a:p>
        </p:txBody>
      </p:sp>
      <p:sp>
        <p:nvSpPr>
          <p:cNvPr id="26636" name="CaixaDeTexto 15">
            <a:extLst>
              <a:ext uri="{FF2B5EF4-FFF2-40B4-BE49-F238E27FC236}">
                <a16:creationId xmlns:a16="http://schemas.microsoft.com/office/drawing/2014/main" id="{04355929-1DF1-4E76-93DF-C933D3055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9" y="3000375"/>
            <a:ext cx="2357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>
                <a:latin typeface="Calibri" panose="020F0502020204030204" pitchFamily="34" charset="0"/>
              </a:rPr>
              <a:t>Abertura da uretra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D0137BE-2D96-47BF-B5B7-10F5E77A6CE5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924443F-410D-48F3-A208-B1620B3A1864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aixaDeTexto 8">
            <a:extLst>
              <a:ext uri="{FF2B5EF4-FFF2-40B4-BE49-F238E27FC236}">
                <a16:creationId xmlns:a16="http://schemas.microsoft.com/office/drawing/2014/main" id="{B6C665D7-E4BC-4D43-A46B-E5429AB56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7652" name="CaixaDeTexto 4">
            <a:extLst>
              <a:ext uri="{FF2B5EF4-FFF2-40B4-BE49-F238E27FC236}">
                <a16:creationId xmlns:a16="http://schemas.microsoft.com/office/drawing/2014/main" id="{C4279507-8B6E-4DFA-B0F7-EC08489E3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4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II) Interno</a:t>
            </a:r>
          </a:p>
        </p:txBody>
      </p:sp>
      <p:pic>
        <p:nvPicPr>
          <p:cNvPr id="27654" name="Imagem 7" descr="srf2.jpg">
            <a:extLst>
              <a:ext uri="{FF2B5EF4-FFF2-40B4-BE49-F238E27FC236}">
                <a16:creationId xmlns:a16="http://schemas.microsoft.com/office/drawing/2014/main" id="{128CA5D7-22A6-4A5E-8B9F-F3DE697F27C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6" y="2143126"/>
            <a:ext cx="6672263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3728428-C863-45F6-BA93-29DA712DB5B8}"/>
              </a:ext>
            </a:extLst>
          </p:cNvPr>
          <p:cNvSpPr txBox="1"/>
          <p:nvPr/>
        </p:nvSpPr>
        <p:spPr>
          <a:xfrm>
            <a:off x="8096251" y="5357813"/>
            <a:ext cx="1643063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Colo do Útero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F39C5C0-BFCA-4E10-852A-5B6DB6C71500}"/>
              </a:ext>
            </a:extLst>
          </p:cNvPr>
          <p:cNvSpPr txBox="1"/>
          <p:nvPr/>
        </p:nvSpPr>
        <p:spPr>
          <a:xfrm>
            <a:off x="8096251" y="5786438"/>
            <a:ext cx="1643063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Canal da vagina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7367185-40E7-4D70-AE6A-AB471312658C}"/>
              </a:ext>
            </a:extLst>
          </p:cNvPr>
          <p:cNvSpPr txBox="1"/>
          <p:nvPr/>
        </p:nvSpPr>
        <p:spPr>
          <a:xfrm>
            <a:off x="1952626" y="4643438"/>
            <a:ext cx="1643063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Útero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2383095-D70E-4161-A516-FFAD08F633CB}"/>
              </a:ext>
            </a:extLst>
          </p:cNvPr>
          <p:cNvSpPr txBox="1"/>
          <p:nvPr/>
        </p:nvSpPr>
        <p:spPr>
          <a:xfrm>
            <a:off x="1952626" y="4143376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Tuba Uterina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7C132B-A789-4923-A884-4842ACEC86EB}"/>
              </a:ext>
            </a:extLst>
          </p:cNvPr>
          <p:cNvSpPr txBox="1"/>
          <p:nvPr/>
        </p:nvSpPr>
        <p:spPr>
          <a:xfrm>
            <a:off x="2024063" y="378618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Ovário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D337C73-537E-4D79-9E7E-1B6E0398AF30}"/>
              </a:ext>
            </a:extLst>
          </p:cNvPr>
          <p:cNvSpPr txBox="1"/>
          <p:nvPr/>
        </p:nvSpPr>
        <p:spPr>
          <a:xfrm>
            <a:off x="5453064" y="207168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Endométrio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A91811C-AEC0-4244-A76B-0056BC6FB0CD}"/>
              </a:ext>
            </a:extLst>
          </p:cNvPr>
          <p:cNvCxnSpPr/>
          <p:nvPr/>
        </p:nvCxnSpPr>
        <p:spPr>
          <a:xfrm rot="5400000" flipH="1" flipV="1">
            <a:off x="5238751" y="2714626"/>
            <a:ext cx="1000125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8EFE216-9276-43DB-8D28-C96BC1509389}"/>
              </a:ext>
            </a:extLst>
          </p:cNvPr>
          <p:cNvSpPr txBox="1"/>
          <p:nvPr/>
        </p:nvSpPr>
        <p:spPr>
          <a:xfrm>
            <a:off x="4667251" y="178593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Miométrio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16B59891-654C-44D8-9E0A-858EE578543D}"/>
              </a:ext>
            </a:extLst>
          </p:cNvPr>
          <p:cNvCxnSpPr/>
          <p:nvPr/>
        </p:nvCxnSpPr>
        <p:spPr>
          <a:xfrm rot="16200000" flipV="1">
            <a:off x="4631532" y="2607470"/>
            <a:ext cx="1285875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07D68A8C-6339-45D8-8E65-B5C51ED1EF1D}"/>
              </a:ext>
            </a:extLst>
          </p:cNvPr>
          <p:cNvCxnSpPr/>
          <p:nvPr/>
        </p:nvCxnSpPr>
        <p:spPr>
          <a:xfrm>
            <a:off x="5524501" y="6072188"/>
            <a:ext cx="334963" cy="619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8245C7D-A4C8-4377-BE87-22B6C174D7B9}"/>
              </a:ext>
            </a:extLst>
          </p:cNvPr>
          <p:cNvCxnSpPr/>
          <p:nvPr/>
        </p:nvCxnSpPr>
        <p:spPr>
          <a:xfrm rot="10800000" flipV="1">
            <a:off x="6096000" y="6072189"/>
            <a:ext cx="285750" cy="714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F6C095F-55A4-4F1B-A9FB-B372EAD6B478}"/>
              </a:ext>
            </a:extLst>
          </p:cNvPr>
          <p:cNvSpPr txBox="1"/>
          <p:nvPr/>
        </p:nvSpPr>
        <p:spPr>
          <a:xfrm>
            <a:off x="3524251" y="6000751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Hímen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0732A31-47D3-47B5-A8F0-17A49E6EC084}"/>
              </a:ext>
            </a:extLst>
          </p:cNvPr>
          <p:cNvCxnSpPr/>
          <p:nvPr/>
        </p:nvCxnSpPr>
        <p:spPr>
          <a:xfrm rot="10800000" flipV="1">
            <a:off x="5095875" y="6072189"/>
            <a:ext cx="642938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tângulo 21">
            <a:extLst>
              <a:ext uri="{FF2B5EF4-FFF2-40B4-BE49-F238E27FC236}">
                <a16:creationId xmlns:a16="http://schemas.microsoft.com/office/drawing/2014/main" id="{1E40D743-505A-4DA7-8A1E-132481E9C142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1A9F92CD-7DE5-4282-8DED-372F7463234D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aixaDeTexto 8">
            <a:extLst>
              <a:ext uri="{FF2B5EF4-FFF2-40B4-BE49-F238E27FC236}">
                <a16:creationId xmlns:a16="http://schemas.microsoft.com/office/drawing/2014/main" id="{1174DC34-6668-448C-B648-97613FFE6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8676" name="CaixaDeTexto 4">
            <a:extLst>
              <a:ext uri="{FF2B5EF4-FFF2-40B4-BE49-F238E27FC236}">
                <a16:creationId xmlns:a16="http://schemas.microsoft.com/office/drawing/2014/main" id="{806E8465-C111-4272-BE3F-8CDF68075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Hímen: </a:t>
            </a:r>
            <a:r>
              <a:rPr lang="pt-BR" altLang="pt-BR">
                <a:latin typeface="Calibri" panose="020F0502020204030204" pitchFamily="34" charset="0"/>
              </a:rPr>
              <a:t>Película que delimita a entrada da vagina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Protege contra infecção na infância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Rompido, geralmente, no primeiro ato sexual</a:t>
            </a:r>
          </a:p>
        </p:txBody>
      </p:sp>
      <p:pic>
        <p:nvPicPr>
          <p:cNvPr id="28678" name="Imagem 7" descr="srf2.jpg">
            <a:extLst>
              <a:ext uri="{FF2B5EF4-FFF2-40B4-BE49-F238E27FC236}">
                <a16:creationId xmlns:a16="http://schemas.microsoft.com/office/drawing/2014/main" id="{F52B57EB-A542-48AF-B319-4A661B78186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00313"/>
            <a:ext cx="6672263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4393896-E671-4E1C-B2D5-7A0F7E474B31}"/>
              </a:ext>
            </a:extLst>
          </p:cNvPr>
          <p:cNvSpPr txBox="1"/>
          <p:nvPr/>
        </p:nvSpPr>
        <p:spPr>
          <a:xfrm>
            <a:off x="8239126" y="5715001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Colo do Útero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02FD3C4-E83F-457A-91CD-D59C626C5A4A}"/>
              </a:ext>
            </a:extLst>
          </p:cNvPr>
          <p:cNvSpPr txBox="1"/>
          <p:nvPr/>
        </p:nvSpPr>
        <p:spPr>
          <a:xfrm>
            <a:off x="8167688" y="607218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Canal da vagina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0B1DDA-7B93-4BF7-90E2-B65CEF87D101}"/>
              </a:ext>
            </a:extLst>
          </p:cNvPr>
          <p:cNvSpPr txBox="1"/>
          <p:nvPr/>
        </p:nvSpPr>
        <p:spPr>
          <a:xfrm>
            <a:off x="2166938" y="50006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Útero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4B90CE7-363A-4FF3-A477-5D887AC9D86D}"/>
              </a:ext>
            </a:extLst>
          </p:cNvPr>
          <p:cNvSpPr txBox="1"/>
          <p:nvPr/>
        </p:nvSpPr>
        <p:spPr>
          <a:xfrm>
            <a:off x="2166938" y="44291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Tuba Uterina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74C2F36-02D9-4CDE-8A97-CFB7740A2C5C}"/>
              </a:ext>
            </a:extLst>
          </p:cNvPr>
          <p:cNvSpPr txBox="1"/>
          <p:nvPr/>
        </p:nvSpPr>
        <p:spPr>
          <a:xfrm>
            <a:off x="2166938" y="407193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Ovário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297DBA1-0E12-4622-8D03-33F0DA8ECDE6}"/>
              </a:ext>
            </a:extLst>
          </p:cNvPr>
          <p:cNvSpPr txBox="1"/>
          <p:nvPr/>
        </p:nvSpPr>
        <p:spPr>
          <a:xfrm>
            <a:off x="5524501" y="2500314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Endométrio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A6CE682-7C83-46CD-A33A-38BAA811D950}"/>
              </a:ext>
            </a:extLst>
          </p:cNvPr>
          <p:cNvCxnSpPr/>
          <p:nvPr/>
        </p:nvCxnSpPr>
        <p:spPr>
          <a:xfrm rot="5400000" flipH="1" flipV="1">
            <a:off x="5381626" y="3143251"/>
            <a:ext cx="1000125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44BD395-EDB5-45DC-B37B-0D2465671039}"/>
              </a:ext>
            </a:extLst>
          </p:cNvPr>
          <p:cNvSpPr txBox="1"/>
          <p:nvPr/>
        </p:nvSpPr>
        <p:spPr>
          <a:xfrm>
            <a:off x="4595814" y="264318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Miométrio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BA07BF75-E380-444D-9625-81EA649067C0}"/>
              </a:ext>
            </a:extLst>
          </p:cNvPr>
          <p:cNvCxnSpPr/>
          <p:nvPr/>
        </p:nvCxnSpPr>
        <p:spPr>
          <a:xfrm rot="16200000" flipV="1">
            <a:off x="5060157" y="3250407"/>
            <a:ext cx="714375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FA6547A-3EF3-41F4-9F17-206A1A9A51CF}"/>
              </a:ext>
            </a:extLst>
          </p:cNvPr>
          <p:cNvCxnSpPr>
            <a:endCxn id="8" idx="2"/>
          </p:cNvCxnSpPr>
          <p:nvPr/>
        </p:nvCxnSpPr>
        <p:spPr>
          <a:xfrm>
            <a:off x="5667376" y="6500813"/>
            <a:ext cx="334963" cy="619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668D1909-B746-4228-B3EE-BE6C42BAE4B2}"/>
              </a:ext>
            </a:extLst>
          </p:cNvPr>
          <p:cNvCxnSpPr/>
          <p:nvPr/>
        </p:nvCxnSpPr>
        <p:spPr>
          <a:xfrm rot="10800000" flipV="1">
            <a:off x="6238875" y="6500814"/>
            <a:ext cx="285750" cy="714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27FE83D-D81C-4A87-81C9-770F209077A8}"/>
              </a:ext>
            </a:extLst>
          </p:cNvPr>
          <p:cNvSpPr txBox="1"/>
          <p:nvPr/>
        </p:nvSpPr>
        <p:spPr>
          <a:xfrm>
            <a:off x="3667126" y="6429376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Hímen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5EA74D8-7450-48EA-A876-0E14A884B466}"/>
              </a:ext>
            </a:extLst>
          </p:cNvPr>
          <p:cNvCxnSpPr/>
          <p:nvPr/>
        </p:nvCxnSpPr>
        <p:spPr>
          <a:xfrm rot="10800000" flipV="1">
            <a:off x="5238750" y="6500814"/>
            <a:ext cx="642938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2284FB59-76AF-48BA-8B1D-ADDBF212444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4A216100-871B-415A-94CC-9712C58DA1E4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aixaDeTexto 8">
            <a:extLst>
              <a:ext uri="{FF2B5EF4-FFF2-40B4-BE49-F238E27FC236}">
                <a16:creationId xmlns:a16="http://schemas.microsoft.com/office/drawing/2014/main" id="{DBC5C72B-8006-4DDC-8C50-2CA0EF5EE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29700" name="CaixaDeTexto 4">
            <a:extLst>
              <a:ext uri="{FF2B5EF4-FFF2-40B4-BE49-F238E27FC236}">
                <a16:creationId xmlns:a16="http://schemas.microsoft.com/office/drawing/2014/main" id="{40F80B56-CC49-4D9D-BCEF-FE7BA2075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Vagina: </a:t>
            </a:r>
            <a:r>
              <a:rPr lang="pt-BR" altLang="pt-BR">
                <a:latin typeface="Calibri" panose="020F0502020204030204" pitchFamily="34" charset="0"/>
              </a:rPr>
              <a:t>Comunica o útero com o meio externo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Possui em média 10 cm de comprimento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Dilata-se durante o parto e o ato sexual</a:t>
            </a:r>
          </a:p>
        </p:txBody>
      </p:sp>
      <p:pic>
        <p:nvPicPr>
          <p:cNvPr id="29702" name="Imagem 7" descr="srf2.jpg">
            <a:extLst>
              <a:ext uri="{FF2B5EF4-FFF2-40B4-BE49-F238E27FC236}">
                <a16:creationId xmlns:a16="http://schemas.microsoft.com/office/drawing/2014/main" id="{92E2233E-BA7A-44E8-B558-F36E088F7CB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00313"/>
            <a:ext cx="6672263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B953F8B-3571-4724-B611-BFAEE39CB8B7}"/>
              </a:ext>
            </a:extLst>
          </p:cNvPr>
          <p:cNvSpPr txBox="1"/>
          <p:nvPr/>
        </p:nvSpPr>
        <p:spPr>
          <a:xfrm>
            <a:off x="8239126" y="5715001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Colo do Útero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639B00-BDBE-4539-8FC5-CCE96C854FE6}"/>
              </a:ext>
            </a:extLst>
          </p:cNvPr>
          <p:cNvSpPr txBox="1"/>
          <p:nvPr/>
        </p:nvSpPr>
        <p:spPr>
          <a:xfrm>
            <a:off x="8167688" y="607218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Canal da vagina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F84A3B-E87A-4821-99D0-385F45865119}"/>
              </a:ext>
            </a:extLst>
          </p:cNvPr>
          <p:cNvSpPr txBox="1"/>
          <p:nvPr/>
        </p:nvSpPr>
        <p:spPr>
          <a:xfrm>
            <a:off x="2166938" y="50006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Útero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7B5055-134A-4135-AD61-E0AC8E06AFFE}"/>
              </a:ext>
            </a:extLst>
          </p:cNvPr>
          <p:cNvSpPr txBox="1"/>
          <p:nvPr/>
        </p:nvSpPr>
        <p:spPr>
          <a:xfrm>
            <a:off x="2166938" y="44291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Tuba Uterina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666872F-F832-46C6-8945-9A0508129A65}"/>
              </a:ext>
            </a:extLst>
          </p:cNvPr>
          <p:cNvSpPr txBox="1"/>
          <p:nvPr/>
        </p:nvSpPr>
        <p:spPr>
          <a:xfrm>
            <a:off x="2166938" y="407193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Ovário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E8C5FE3-4F9F-42B0-A187-708345DE5709}"/>
              </a:ext>
            </a:extLst>
          </p:cNvPr>
          <p:cNvSpPr txBox="1"/>
          <p:nvPr/>
        </p:nvSpPr>
        <p:spPr>
          <a:xfrm>
            <a:off x="5524501" y="2500314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Endométrio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610DD97-AB1C-4826-A168-6C78D2B1671A}"/>
              </a:ext>
            </a:extLst>
          </p:cNvPr>
          <p:cNvCxnSpPr/>
          <p:nvPr/>
        </p:nvCxnSpPr>
        <p:spPr>
          <a:xfrm rot="5400000" flipH="1" flipV="1">
            <a:off x="5381626" y="3143251"/>
            <a:ext cx="1000125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0FFFBCE-43E0-4F17-8AB4-D2D88B574015}"/>
              </a:ext>
            </a:extLst>
          </p:cNvPr>
          <p:cNvSpPr txBox="1"/>
          <p:nvPr/>
        </p:nvSpPr>
        <p:spPr>
          <a:xfrm>
            <a:off x="4595814" y="264318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Miométrio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3D7EA9AE-E07D-4A00-9439-457BA4DF2EC4}"/>
              </a:ext>
            </a:extLst>
          </p:cNvPr>
          <p:cNvCxnSpPr/>
          <p:nvPr/>
        </p:nvCxnSpPr>
        <p:spPr>
          <a:xfrm rot="16200000" flipV="1">
            <a:off x="5060157" y="3250407"/>
            <a:ext cx="714375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5731590-426A-4595-9F2B-E9D63BFA81B5}"/>
              </a:ext>
            </a:extLst>
          </p:cNvPr>
          <p:cNvCxnSpPr>
            <a:endCxn id="8" idx="2"/>
          </p:cNvCxnSpPr>
          <p:nvPr/>
        </p:nvCxnSpPr>
        <p:spPr>
          <a:xfrm>
            <a:off x="5667376" y="6500813"/>
            <a:ext cx="334963" cy="619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CC8B866-6D29-4ABD-9DAD-84808820D174}"/>
              </a:ext>
            </a:extLst>
          </p:cNvPr>
          <p:cNvCxnSpPr/>
          <p:nvPr/>
        </p:nvCxnSpPr>
        <p:spPr>
          <a:xfrm rot="10800000" flipV="1">
            <a:off x="6238875" y="6500814"/>
            <a:ext cx="285750" cy="714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3875605-1335-4BC9-82F2-1331837BC8D4}"/>
              </a:ext>
            </a:extLst>
          </p:cNvPr>
          <p:cNvSpPr txBox="1"/>
          <p:nvPr/>
        </p:nvSpPr>
        <p:spPr>
          <a:xfrm>
            <a:off x="3667126" y="6429376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Hímen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05D01B8-25AB-49F4-937D-37B3241E23CE}"/>
              </a:ext>
            </a:extLst>
          </p:cNvPr>
          <p:cNvCxnSpPr/>
          <p:nvPr/>
        </p:nvCxnSpPr>
        <p:spPr>
          <a:xfrm rot="10800000" flipV="1">
            <a:off x="5238750" y="6500814"/>
            <a:ext cx="642938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42AC7B29-99DE-41A8-93F1-CD2C7C85C8E7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340508E-4925-4145-9448-DCFBC922AC0C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aixaDeTexto 8">
            <a:extLst>
              <a:ext uri="{FF2B5EF4-FFF2-40B4-BE49-F238E27FC236}">
                <a16:creationId xmlns:a16="http://schemas.microsoft.com/office/drawing/2014/main" id="{C292C38C-ACAB-48A9-855D-878DDA80D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0724" name="CaixaDeTexto 4">
            <a:extLst>
              <a:ext uri="{FF2B5EF4-FFF2-40B4-BE49-F238E27FC236}">
                <a16:creationId xmlns:a16="http://schemas.microsoft.com/office/drawing/2014/main" id="{ADE39A2C-34DE-4047-8CD4-4300D9AFE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Útero: </a:t>
            </a:r>
            <a:r>
              <a:rPr lang="pt-BR" altLang="pt-BR">
                <a:latin typeface="Calibri" panose="020F0502020204030204" pitchFamily="34" charset="0"/>
              </a:rPr>
              <a:t>Órgão muscular oco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Expande-se durante a gravidez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Miométrio (tecido muscular), Endométrio (mucosa que reveste o útero)</a:t>
            </a:r>
          </a:p>
        </p:txBody>
      </p:sp>
      <p:pic>
        <p:nvPicPr>
          <p:cNvPr id="30726" name="Imagem 7" descr="srf2.jpg">
            <a:extLst>
              <a:ext uri="{FF2B5EF4-FFF2-40B4-BE49-F238E27FC236}">
                <a16:creationId xmlns:a16="http://schemas.microsoft.com/office/drawing/2014/main" id="{B31FFA73-417B-40C0-8C72-7416AEC63DE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00313"/>
            <a:ext cx="6672263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5EFAB47-169D-494F-A782-40821F57ED01}"/>
              </a:ext>
            </a:extLst>
          </p:cNvPr>
          <p:cNvSpPr txBox="1"/>
          <p:nvPr/>
        </p:nvSpPr>
        <p:spPr>
          <a:xfrm>
            <a:off x="8239126" y="5715001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Colo do Útero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1FCD26-2D34-4A43-BDD2-92EA55EBB907}"/>
              </a:ext>
            </a:extLst>
          </p:cNvPr>
          <p:cNvSpPr txBox="1"/>
          <p:nvPr/>
        </p:nvSpPr>
        <p:spPr>
          <a:xfrm>
            <a:off x="8167688" y="607218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Canal da vagina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D7895E3-240B-4F30-86A0-0460FB3F89DF}"/>
              </a:ext>
            </a:extLst>
          </p:cNvPr>
          <p:cNvSpPr txBox="1"/>
          <p:nvPr/>
        </p:nvSpPr>
        <p:spPr>
          <a:xfrm>
            <a:off x="2166938" y="50006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Útero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8B1E96-4B05-4510-83BC-EFAF7EC2170F}"/>
              </a:ext>
            </a:extLst>
          </p:cNvPr>
          <p:cNvSpPr txBox="1"/>
          <p:nvPr/>
        </p:nvSpPr>
        <p:spPr>
          <a:xfrm>
            <a:off x="2166938" y="44291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Tuba Uterina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494C5C-87B0-4408-8DF2-6A483B89304C}"/>
              </a:ext>
            </a:extLst>
          </p:cNvPr>
          <p:cNvSpPr txBox="1"/>
          <p:nvPr/>
        </p:nvSpPr>
        <p:spPr>
          <a:xfrm>
            <a:off x="2166938" y="407193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Ovário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11C9606-E683-44A3-9155-09663279FD82}"/>
              </a:ext>
            </a:extLst>
          </p:cNvPr>
          <p:cNvSpPr txBox="1"/>
          <p:nvPr/>
        </p:nvSpPr>
        <p:spPr>
          <a:xfrm>
            <a:off x="5524501" y="2500314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solidFill>
                  <a:srgbClr val="FF0000"/>
                </a:solidFill>
                <a:latin typeface="+mn-lt"/>
              </a:rPr>
              <a:t>Endométrio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B41AA2F-6CF0-407D-A063-4E1313B83800}"/>
              </a:ext>
            </a:extLst>
          </p:cNvPr>
          <p:cNvCxnSpPr/>
          <p:nvPr/>
        </p:nvCxnSpPr>
        <p:spPr>
          <a:xfrm rot="5400000" flipH="1" flipV="1">
            <a:off x="5381626" y="3143251"/>
            <a:ext cx="1000125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D6B5087-A06B-4F1D-9414-CC016EF89687}"/>
              </a:ext>
            </a:extLst>
          </p:cNvPr>
          <p:cNvSpPr txBox="1"/>
          <p:nvPr/>
        </p:nvSpPr>
        <p:spPr>
          <a:xfrm>
            <a:off x="4595814" y="264318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solidFill>
                  <a:srgbClr val="FF0000"/>
                </a:solidFill>
                <a:latin typeface="+mn-lt"/>
              </a:rPr>
              <a:t>Miométrio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B46CF572-5E6E-4CFE-A429-37B2117A650E}"/>
              </a:ext>
            </a:extLst>
          </p:cNvPr>
          <p:cNvCxnSpPr/>
          <p:nvPr/>
        </p:nvCxnSpPr>
        <p:spPr>
          <a:xfrm rot="16200000" flipV="1">
            <a:off x="5060157" y="3250407"/>
            <a:ext cx="714375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7A23D6E-48B3-4283-BAC2-F5A197016880}"/>
              </a:ext>
            </a:extLst>
          </p:cNvPr>
          <p:cNvCxnSpPr>
            <a:endCxn id="8" idx="2"/>
          </p:cNvCxnSpPr>
          <p:nvPr/>
        </p:nvCxnSpPr>
        <p:spPr>
          <a:xfrm>
            <a:off x="5667376" y="6500813"/>
            <a:ext cx="334963" cy="619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CBBB44C-25FE-41E2-B8CD-E2F569CCBF71}"/>
              </a:ext>
            </a:extLst>
          </p:cNvPr>
          <p:cNvCxnSpPr/>
          <p:nvPr/>
        </p:nvCxnSpPr>
        <p:spPr>
          <a:xfrm rot="10800000" flipV="1">
            <a:off x="6238875" y="6500814"/>
            <a:ext cx="285750" cy="714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2958CDE-52BE-49BE-BB61-298B37696B6E}"/>
              </a:ext>
            </a:extLst>
          </p:cNvPr>
          <p:cNvSpPr txBox="1"/>
          <p:nvPr/>
        </p:nvSpPr>
        <p:spPr>
          <a:xfrm>
            <a:off x="3667126" y="6429376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Hímen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37C7283-0509-4F3F-8DE4-549F8CCD541B}"/>
              </a:ext>
            </a:extLst>
          </p:cNvPr>
          <p:cNvCxnSpPr/>
          <p:nvPr/>
        </p:nvCxnSpPr>
        <p:spPr>
          <a:xfrm rot="10800000" flipV="1">
            <a:off x="5238750" y="6500814"/>
            <a:ext cx="642938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E4CEE5B-7104-455C-A070-022D9C9D172F}"/>
              </a:ext>
            </a:extLst>
          </p:cNvPr>
          <p:cNvSpPr txBox="1"/>
          <p:nvPr/>
        </p:nvSpPr>
        <p:spPr>
          <a:xfrm>
            <a:off x="8667751" y="2786064"/>
            <a:ext cx="1857375" cy="11382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700" b="1" dirty="0"/>
              <a:t>Endométrio</a:t>
            </a:r>
            <a:r>
              <a:rPr lang="pt-BR" sz="1700" dirty="0"/>
              <a:t> </a:t>
            </a:r>
          </a:p>
          <a:p>
            <a:pPr algn="ctr">
              <a:defRPr/>
            </a:pPr>
            <a:r>
              <a:rPr lang="pt-BR" sz="1700" dirty="0"/>
              <a:t>Local onde ocorre a </a:t>
            </a:r>
            <a:r>
              <a:rPr lang="pt-BR" sz="1700" dirty="0" err="1"/>
              <a:t>nidação</a:t>
            </a:r>
            <a:r>
              <a:rPr lang="pt-BR" sz="1700" dirty="0"/>
              <a:t> (fixação do embrião)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5F64CE2-8104-49CF-9344-86168E25BC53}"/>
              </a:ext>
            </a:extLst>
          </p:cNvPr>
          <p:cNvSpPr txBox="1"/>
          <p:nvPr/>
        </p:nvSpPr>
        <p:spPr>
          <a:xfrm>
            <a:off x="8667751" y="4143376"/>
            <a:ext cx="1857375" cy="14001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1700" b="1" dirty="0"/>
              <a:t>Colo do útero</a:t>
            </a:r>
            <a:endParaRPr lang="pt-BR" sz="1700" dirty="0"/>
          </a:p>
          <a:p>
            <a:pPr algn="ctr">
              <a:defRPr/>
            </a:pPr>
            <a:r>
              <a:rPr lang="pt-BR" sz="1700" dirty="0"/>
              <a:t>(</a:t>
            </a:r>
            <a:r>
              <a:rPr lang="pt-BR" sz="1700" dirty="0" err="1"/>
              <a:t>cérvix</a:t>
            </a:r>
            <a:r>
              <a:rPr lang="pt-BR" sz="1700" dirty="0"/>
              <a:t>) – Porção estreita do útero</a:t>
            </a:r>
          </a:p>
          <a:p>
            <a:pPr algn="ctr">
              <a:defRPr/>
            </a:pPr>
            <a:r>
              <a:rPr lang="pt-BR" sz="1700" dirty="0"/>
              <a:t>Local típico de ação do vírus HPV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CB8AACD-4D16-4B70-87F9-529CF8B6603B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A86D13AD-B0A2-48E9-A348-E3D0C8894CE9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aixaDeTexto 8">
            <a:extLst>
              <a:ext uri="{FF2B5EF4-FFF2-40B4-BE49-F238E27FC236}">
                <a16:creationId xmlns:a16="http://schemas.microsoft.com/office/drawing/2014/main" id="{E6C1EB23-174E-4899-8581-4D86609E7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1748" name="CaixaDeTexto 4">
            <a:extLst>
              <a:ext uri="{FF2B5EF4-FFF2-40B4-BE49-F238E27FC236}">
                <a16:creationId xmlns:a16="http://schemas.microsoft.com/office/drawing/2014/main" id="{FEDA3BEF-1E2E-4E8E-B701-2D15BC5D6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Tuba uterina: </a:t>
            </a:r>
            <a:r>
              <a:rPr lang="pt-BR" altLang="pt-BR">
                <a:latin typeface="Calibri" panose="020F0502020204030204" pitchFamily="34" charset="0"/>
              </a:rPr>
              <a:t>(Trompa de Falópio) – Comunica as gônadas femininas (ovários) ao útero.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Possui três regiões</a:t>
            </a:r>
          </a:p>
          <a:p>
            <a:pPr lvl="2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Terço distal, Terço médio e Terço proximal</a:t>
            </a:r>
          </a:p>
        </p:txBody>
      </p:sp>
      <p:pic>
        <p:nvPicPr>
          <p:cNvPr id="31750" name="Imagem 7" descr="srf2.jpg">
            <a:extLst>
              <a:ext uri="{FF2B5EF4-FFF2-40B4-BE49-F238E27FC236}">
                <a16:creationId xmlns:a16="http://schemas.microsoft.com/office/drawing/2014/main" id="{873CAD7B-6AC2-4FB4-8A75-C4673D0D512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00313"/>
            <a:ext cx="6672263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C602619-2A7F-4A20-B032-9587BA455225}"/>
              </a:ext>
            </a:extLst>
          </p:cNvPr>
          <p:cNvSpPr txBox="1"/>
          <p:nvPr/>
        </p:nvSpPr>
        <p:spPr>
          <a:xfrm>
            <a:off x="8239126" y="5715001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Colo do Útero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55E8DD-EA4F-43FA-8D71-96A45C16B580}"/>
              </a:ext>
            </a:extLst>
          </p:cNvPr>
          <p:cNvSpPr txBox="1"/>
          <p:nvPr/>
        </p:nvSpPr>
        <p:spPr>
          <a:xfrm>
            <a:off x="8167688" y="607218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Canal da vagina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4FE097-8C87-4FCE-A8E4-5A906266FE57}"/>
              </a:ext>
            </a:extLst>
          </p:cNvPr>
          <p:cNvSpPr txBox="1"/>
          <p:nvPr/>
        </p:nvSpPr>
        <p:spPr>
          <a:xfrm>
            <a:off x="2166938" y="50006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Útero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C741AC-C933-4AD0-B123-495E2AF170BA}"/>
              </a:ext>
            </a:extLst>
          </p:cNvPr>
          <p:cNvSpPr txBox="1"/>
          <p:nvPr/>
        </p:nvSpPr>
        <p:spPr>
          <a:xfrm>
            <a:off x="2166938" y="44291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Tuba Uterina</a:t>
            </a:r>
          </a:p>
          <a:p>
            <a:pPr algn="r">
              <a:defRPr/>
            </a:pPr>
            <a:endParaRPr lang="pt-BR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77A1C4-9E3A-44DD-94E7-64C5E94A82D2}"/>
              </a:ext>
            </a:extLst>
          </p:cNvPr>
          <p:cNvSpPr txBox="1"/>
          <p:nvPr/>
        </p:nvSpPr>
        <p:spPr>
          <a:xfrm>
            <a:off x="2166938" y="407193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Ovário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75FC4B-B477-430A-9B0C-8F61B6BBEA1D}"/>
              </a:ext>
            </a:extLst>
          </p:cNvPr>
          <p:cNvSpPr txBox="1"/>
          <p:nvPr/>
        </p:nvSpPr>
        <p:spPr>
          <a:xfrm>
            <a:off x="5524501" y="2500314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Endométrio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3202B9A-4E32-49C6-9D20-638AFF364148}"/>
              </a:ext>
            </a:extLst>
          </p:cNvPr>
          <p:cNvCxnSpPr/>
          <p:nvPr/>
        </p:nvCxnSpPr>
        <p:spPr>
          <a:xfrm rot="5400000" flipH="1" flipV="1">
            <a:off x="5381626" y="3143251"/>
            <a:ext cx="1000125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F9FBB60-8381-4508-ABD2-4DB729390E64}"/>
              </a:ext>
            </a:extLst>
          </p:cNvPr>
          <p:cNvSpPr txBox="1"/>
          <p:nvPr/>
        </p:nvSpPr>
        <p:spPr>
          <a:xfrm>
            <a:off x="4595814" y="264318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Miométrio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0E2C834-80D5-4486-8CEF-D2D882D0C05E}"/>
              </a:ext>
            </a:extLst>
          </p:cNvPr>
          <p:cNvCxnSpPr/>
          <p:nvPr/>
        </p:nvCxnSpPr>
        <p:spPr>
          <a:xfrm rot="16200000" flipV="1">
            <a:off x="5060157" y="3250407"/>
            <a:ext cx="714375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E8A4D7EA-1439-4CA5-94EF-6EC062FF21A5}"/>
              </a:ext>
            </a:extLst>
          </p:cNvPr>
          <p:cNvCxnSpPr>
            <a:endCxn id="8" idx="2"/>
          </p:cNvCxnSpPr>
          <p:nvPr/>
        </p:nvCxnSpPr>
        <p:spPr>
          <a:xfrm>
            <a:off x="5667376" y="6500813"/>
            <a:ext cx="334963" cy="619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35632FC9-6520-4DB2-BA6B-6D51AB7F4F1D}"/>
              </a:ext>
            </a:extLst>
          </p:cNvPr>
          <p:cNvCxnSpPr/>
          <p:nvPr/>
        </p:nvCxnSpPr>
        <p:spPr>
          <a:xfrm rot="10800000" flipV="1">
            <a:off x="6238875" y="6500814"/>
            <a:ext cx="285750" cy="714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3A75B17-5435-46F3-A5B3-8572113FDA68}"/>
              </a:ext>
            </a:extLst>
          </p:cNvPr>
          <p:cNvSpPr txBox="1"/>
          <p:nvPr/>
        </p:nvSpPr>
        <p:spPr>
          <a:xfrm>
            <a:off x="3667126" y="6429376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Hímen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E7D8F80-45E5-473E-9106-A0E41AE0B4A3}"/>
              </a:ext>
            </a:extLst>
          </p:cNvPr>
          <p:cNvCxnSpPr/>
          <p:nvPr/>
        </p:nvCxnSpPr>
        <p:spPr>
          <a:xfrm rot="10800000" flipV="1">
            <a:off x="5238750" y="6500814"/>
            <a:ext cx="642938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B6A90464-6DD9-4E53-8B22-AE4C893287C2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7DD821E-A479-4E1C-908E-DDB37AC7AB95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aixaDeTexto 8">
            <a:extLst>
              <a:ext uri="{FF2B5EF4-FFF2-40B4-BE49-F238E27FC236}">
                <a16:creationId xmlns:a16="http://schemas.microsoft.com/office/drawing/2014/main" id="{E3119E81-73C2-45AB-8F1C-9C20F772E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2772" name="CaixaDeTexto 4">
            <a:extLst>
              <a:ext uri="{FF2B5EF4-FFF2-40B4-BE49-F238E27FC236}">
                <a16:creationId xmlns:a16="http://schemas.microsoft.com/office/drawing/2014/main" id="{336AF5C1-2637-4E0C-8E04-21C62F21C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Tuba uterina: </a:t>
            </a:r>
            <a:r>
              <a:rPr lang="pt-BR" altLang="pt-BR">
                <a:latin typeface="Calibri" panose="020F0502020204030204" pitchFamily="34" charset="0"/>
              </a:rPr>
              <a:t>(Trompa de Falópio) – Comunica as gônadas femininas (ovários) ao útero.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b="1">
                <a:latin typeface="Calibri" panose="020F0502020204030204" pitchFamily="34" charset="0"/>
              </a:rPr>
              <a:t>Local onde ocorre a fecundação: </a:t>
            </a:r>
            <a:r>
              <a:rPr lang="pt-BR" altLang="pt-BR">
                <a:latin typeface="Calibri" panose="020F0502020204030204" pitchFamily="34" charset="0"/>
              </a:rPr>
              <a:t>Terço distal da tuba uterina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A tuba uterina possui ciliatura que auxilia a locomoção do embrião até o útero</a:t>
            </a:r>
          </a:p>
        </p:txBody>
      </p:sp>
      <p:pic>
        <p:nvPicPr>
          <p:cNvPr id="32774" name="Imagem 22" descr="F21-7a.jpg">
            <a:extLst>
              <a:ext uri="{FF2B5EF4-FFF2-40B4-BE49-F238E27FC236}">
                <a16:creationId xmlns:a16="http://schemas.microsoft.com/office/drawing/2014/main" id="{D9A6DB37-A0E4-43C8-9186-D217A1972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9" y="2714625"/>
            <a:ext cx="5857875" cy="389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A7D3825-D66C-4C45-BF35-090022A109EB}"/>
              </a:ext>
            </a:extLst>
          </p:cNvPr>
          <p:cNvSpPr txBox="1"/>
          <p:nvPr/>
        </p:nvSpPr>
        <p:spPr>
          <a:xfrm>
            <a:off x="1524000" y="3286125"/>
            <a:ext cx="150018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Fecundação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5C2582B-6116-4E48-AD97-1337E89856B5}"/>
              </a:ext>
            </a:extLst>
          </p:cNvPr>
          <p:cNvCxnSpPr/>
          <p:nvPr/>
        </p:nvCxnSpPr>
        <p:spPr>
          <a:xfrm rot="10800000">
            <a:off x="2881314" y="3571875"/>
            <a:ext cx="428625" cy="285750"/>
          </a:xfrm>
          <a:prstGeom prst="line">
            <a:avLst/>
          </a:prstGeom>
          <a:ln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CFCB8E-9250-459E-91CD-39CDC0DA0E8D}"/>
              </a:ext>
            </a:extLst>
          </p:cNvPr>
          <p:cNvSpPr txBox="1"/>
          <p:nvPr/>
        </p:nvSpPr>
        <p:spPr>
          <a:xfrm>
            <a:off x="1524000" y="4000500"/>
            <a:ext cx="17145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Terço distal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EAD0B6-C146-4DF7-A13A-2202D406F06E}"/>
              </a:ext>
            </a:extLst>
          </p:cNvPr>
          <p:cNvSpPr txBox="1"/>
          <p:nvPr/>
        </p:nvSpPr>
        <p:spPr>
          <a:xfrm>
            <a:off x="3095625" y="2428875"/>
            <a:ext cx="17145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Terço médio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F69E75-F909-4054-8DDB-DC67BF14F69B}"/>
              </a:ext>
            </a:extLst>
          </p:cNvPr>
          <p:cNvSpPr txBox="1"/>
          <p:nvPr/>
        </p:nvSpPr>
        <p:spPr>
          <a:xfrm>
            <a:off x="5881688" y="2786064"/>
            <a:ext cx="17145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Terço proximal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0BFADF-0E0B-40A0-9AC0-2B5D0631F45E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103FDB34-BF18-4997-AA51-FD9F117A35F3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aixaDeTexto 8">
            <a:extLst>
              <a:ext uri="{FF2B5EF4-FFF2-40B4-BE49-F238E27FC236}">
                <a16:creationId xmlns:a16="http://schemas.microsoft.com/office/drawing/2014/main" id="{170330EB-3793-4861-BDD0-C7C314C9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3796" name="CaixaDeTexto 4">
            <a:extLst>
              <a:ext uri="{FF2B5EF4-FFF2-40B4-BE49-F238E27FC236}">
                <a16:creationId xmlns:a16="http://schemas.microsoft.com/office/drawing/2014/main" id="{4E3E3DC7-2FAF-4430-9E94-C490B0472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Ovários: </a:t>
            </a:r>
            <a:r>
              <a:rPr lang="pt-BR" altLang="pt-BR">
                <a:latin typeface="Calibri" panose="020F0502020204030204" pitchFamily="34" charset="0"/>
              </a:rPr>
              <a:t>Gônadas femininas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Produz óvulos (ovócito II)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Produz os hormônios estrógeno e progesterona.</a:t>
            </a:r>
          </a:p>
        </p:txBody>
      </p:sp>
      <p:pic>
        <p:nvPicPr>
          <p:cNvPr id="33798" name="Imagem 7" descr="srf2.jpg">
            <a:extLst>
              <a:ext uri="{FF2B5EF4-FFF2-40B4-BE49-F238E27FC236}">
                <a16:creationId xmlns:a16="http://schemas.microsoft.com/office/drawing/2014/main" id="{96575E78-12A1-499C-AC34-2049D1B857B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00313"/>
            <a:ext cx="6672263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D642FEF-7F28-4B7B-83A9-2A5A0AFEEF4E}"/>
              </a:ext>
            </a:extLst>
          </p:cNvPr>
          <p:cNvSpPr txBox="1"/>
          <p:nvPr/>
        </p:nvSpPr>
        <p:spPr>
          <a:xfrm>
            <a:off x="8239126" y="5715001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Colo do Útero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27BCB9-2F3D-43A8-80A1-508B18197048}"/>
              </a:ext>
            </a:extLst>
          </p:cNvPr>
          <p:cNvSpPr txBox="1"/>
          <p:nvPr/>
        </p:nvSpPr>
        <p:spPr>
          <a:xfrm>
            <a:off x="8167688" y="607218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Canal da vagina</a:t>
            </a:r>
          </a:p>
          <a:p>
            <a:pPr>
              <a:defRPr/>
            </a:pPr>
            <a:endParaRPr lang="pt-BR" dirty="0">
              <a:latin typeface="+mn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3849FF-8C48-48C2-9815-C016E0FB3CA1}"/>
              </a:ext>
            </a:extLst>
          </p:cNvPr>
          <p:cNvSpPr txBox="1"/>
          <p:nvPr/>
        </p:nvSpPr>
        <p:spPr>
          <a:xfrm>
            <a:off x="2166938" y="50006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Útero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AF1FCD6-5278-4259-AE5E-DD5FB471F8D5}"/>
              </a:ext>
            </a:extLst>
          </p:cNvPr>
          <p:cNvSpPr txBox="1"/>
          <p:nvPr/>
        </p:nvSpPr>
        <p:spPr>
          <a:xfrm>
            <a:off x="2166938" y="4429126"/>
            <a:ext cx="16430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Tuba Uterina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7DD574-563C-49BC-BFC2-41EAB1D05EEA}"/>
              </a:ext>
            </a:extLst>
          </p:cNvPr>
          <p:cNvSpPr txBox="1"/>
          <p:nvPr/>
        </p:nvSpPr>
        <p:spPr>
          <a:xfrm>
            <a:off x="2166938" y="4071938"/>
            <a:ext cx="1643062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Ovário</a:t>
            </a:r>
          </a:p>
          <a:p>
            <a:pPr algn="r">
              <a:defRPr/>
            </a:pPr>
            <a:endParaRPr lang="pt-BR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3CCFBE1-13F3-47FF-ACB5-8E7328DEE1D4}"/>
              </a:ext>
            </a:extLst>
          </p:cNvPr>
          <p:cNvSpPr txBox="1"/>
          <p:nvPr/>
        </p:nvSpPr>
        <p:spPr>
          <a:xfrm>
            <a:off x="5524501" y="2500314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Endométrio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A8DD0D9-7675-4963-9875-7B6703EBD138}"/>
              </a:ext>
            </a:extLst>
          </p:cNvPr>
          <p:cNvCxnSpPr/>
          <p:nvPr/>
        </p:nvCxnSpPr>
        <p:spPr>
          <a:xfrm rot="5400000" flipH="1" flipV="1">
            <a:off x="5381626" y="3143251"/>
            <a:ext cx="1000125" cy="28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62BE308-C59D-4957-B50A-1F403A0D0752}"/>
              </a:ext>
            </a:extLst>
          </p:cNvPr>
          <p:cNvSpPr txBox="1"/>
          <p:nvPr/>
        </p:nvSpPr>
        <p:spPr>
          <a:xfrm>
            <a:off x="4595814" y="2643189"/>
            <a:ext cx="1285875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Miométrio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C5D390D0-4839-40B8-B359-B218F2B0D8CF}"/>
              </a:ext>
            </a:extLst>
          </p:cNvPr>
          <p:cNvCxnSpPr/>
          <p:nvPr/>
        </p:nvCxnSpPr>
        <p:spPr>
          <a:xfrm rot="16200000" flipV="1">
            <a:off x="5060157" y="3250407"/>
            <a:ext cx="714375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0DDF044-B750-46A0-BACE-980F8EF200D0}"/>
              </a:ext>
            </a:extLst>
          </p:cNvPr>
          <p:cNvCxnSpPr>
            <a:endCxn id="8" idx="2"/>
          </p:cNvCxnSpPr>
          <p:nvPr/>
        </p:nvCxnSpPr>
        <p:spPr>
          <a:xfrm>
            <a:off x="5667376" y="6500813"/>
            <a:ext cx="334963" cy="619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45FBC0FE-21C4-4745-B996-CA2AA4F7C59D}"/>
              </a:ext>
            </a:extLst>
          </p:cNvPr>
          <p:cNvCxnSpPr/>
          <p:nvPr/>
        </p:nvCxnSpPr>
        <p:spPr>
          <a:xfrm rot="10800000" flipV="1">
            <a:off x="6238875" y="6500814"/>
            <a:ext cx="285750" cy="714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07636ED-EA3D-472E-B831-722D6F57AE21}"/>
              </a:ext>
            </a:extLst>
          </p:cNvPr>
          <p:cNvSpPr txBox="1"/>
          <p:nvPr/>
        </p:nvSpPr>
        <p:spPr>
          <a:xfrm>
            <a:off x="3667126" y="6429376"/>
            <a:ext cx="16430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Hímen</a:t>
            </a:r>
          </a:p>
          <a:p>
            <a:pPr algn="r">
              <a:defRPr/>
            </a:pPr>
            <a:endParaRPr lang="pt-BR" dirty="0">
              <a:latin typeface="+mn-lt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FD8D4F1-44EC-45FD-B8B3-5A49B346FA27}"/>
              </a:ext>
            </a:extLst>
          </p:cNvPr>
          <p:cNvCxnSpPr/>
          <p:nvPr/>
        </p:nvCxnSpPr>
        <p:spPr>
          <a:xfrm rot="10800000" flipV="1">
            <a:off x="5238750" y="6500814"/>
            <a:ext cx="642938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A454F9A0-7889-433B-BE0E-A5D597493967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0285C391-D141-4E3F-9182-4F7DD0DDFEFD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aixaDeTexto 8">
            <a:extLst>
              <a:ext uri="{FF2B5EF4-FFF2-40B4-BE49-F238E27FC236}">
                <a16:creationId xmlns:a16="http://schemas.microsoft.com/office/drawing/2014/main" id="{99C7F58E-F235-45A1-9462-9C89E6F8A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4820" name="CaixaDeTexto 4">
            <a:extLst>
              <a:ext uri="{FF2B5EF4-FFF2-40B4-BE49-F238E27FC236}">
                <a16:creationId xmlns:a16="http://schemas.microsoft.com/office/drawing/2014/main" id="{4499BF24-7709-4043-A799-A9F969B16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Ovários: </a:t>
            </a:r>
            <a:r>
              <a:rPr lang="pt-BR" altLang="pt-BR">
                <a:latin typeface="Calibri" panose="020F0502020204030204" pitchFamily="34" charset="0"/>
              </a:rPr>
              <a:t>Gônadas femininas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Folículos de Graaf: Ao se desenvolverem liberam o ovócito II (óvulo)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Corpo lúteo (amarelo) surge a partir do folículo rompido após a ovulação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>
              <a:latin typeface="Calibri" panose="020F0502020204030204" pitchFamily="34" charset="0"/>
            </a:endParaRPr>
          </a:p>
        </p:txBody>
      </p:sp>
      <p:pic>
        <p:nvPicPr>
          <p:cNvPr id="34822" name="Imagem 14" descr="foliculos.jpg">
            <a:extLst>
              <a:ext uri="{FF2B5EF4-FFF2-40B4-BE49-F238E27FC236}">
                <a16:creationId xmlns:a16="http://schemas.microsoft.com/office/drawing/2014/main" id="{C0463E43-80EB-45F7-AE34-C7B00CCC8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643188"/>
            <a:ext cx="6643688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01D7012-5070-4EEF-9089-B0ED13CB602C}"/>
              </a:ext>
            </a:extLst>
          </p:cNvPr>
          <p:cNvSpPr txBox="1"/>
          <p:nvPr/>
        </p:nvSpPr>
        <p:spPr>
          <a:xfrm>
            <a:off x="1809750" y="4000501"/>
            <a:ext cx="142875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Corpo lúteo</a:t>
            </a:r>
          </a:p>
          <a:p>
            <a:pPr algn="ctr">
              <a:defRPr/>
            </a:pPr>
            <a:r>
              <a:rPr lang="pt-BR" dirty="0">
                <a:latin typeface="+mn-lt"/>
              </a:rPr>
              <a:t>(amarelo)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6192D8BC-A300-4B50-BF95-DB262DF26627}"/>
              </a:ext>
            </a:extLst>
          </p:cNvPr>
          <p:cNvCxnSpPr/>
          <p:nvPr/>
        </p:nvCxnSpPr>
        <p:spPr>
          <a:xfrm rot="10800000" flipV="1">
            <a:off x="3024189" y="4286250"/>
            <a:ext cx="642937" cy="714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A8A973E5-AA43-4EBD-9770-26506CC48D33}"/>
              </a:ext>
            </a:extLst>
          </p:cNvPr>
          <p:cNvCxnSpPr/>
          <p:nvPr/>
        </p:nvCxnSpPr>
        <p:spPr>
          <a:xfrm rot="16200000" flipV="1">
            <a:off x="2917032" y="4464844"/>
            <a:ext cx="785812" cy="571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98A3D49E-892D-4BC2-A3AA-25C1AE26F2BD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1EDEB38-F76C-4872-8E35-BEDCBC763820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CaixaDeTexto 8">
            <a:extLst>
              <a:ext uri="{FF2B5EF4-FFF2-40B4-BE49-F238E27FC236}">
                <a16:creationId xmlns:a16="http://schemas.microsoft.com/office/drawing/2014/main" id="{1F889FD8-F9D9-4885-9154-2F5C2C840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5844" name="CaixaDeTexto 4">
            <a:extLst>
              <a:ext uri="{FF2B5EF4-FFF2-40B4-BE49-F238E27FC236}">
                <a16:creationId xmlns:a16="http://schemas.microsoft.com/office/drawing/2014/main" id="{A33B5B04-E4ED-4E18-B015-0223FE986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4"/>
            <a:ext cx="90011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3)   Aparelho reprodutor feminino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Ovogênese</a:t>
            </a:r>
            <a:endParaRPr lang="pt-BR" altLang="pt-BR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>
              <a:latin typeface="Calibri" panose="020F0502020204030204" pitchFamily="34" charset="0"/>
            </a:endParaRPr>
          </a:p>
        </p:txBody>
      </p:sp>
      <p:pic>
        <p:nvPicPr>
          <p:cNvPr id="35846" name="Imagem 9" descr="ovogenese.jpg">
            <a:extLst>
              <a:ext uri="{FF2B5EF4-FFF2-40B4-BE49-F238E27FC236}">
                <a16:creationId xmlns:a16="http://schemas.microsoft.com/office/drawing/2014/main" id="{D8AC1284-F1F4-49A3-B647-C22DCAD41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938" y="928688"/>
            <a:ext cx="3111500" cy="592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have direita 10">
            <a:extLst>
              <a:ext uri="{FF2B5EF4-FFF2-40B4-BE49-F238E27FC236}">
                <a16:creationId xmlns:a16="http://schemas.microsoft.com/office/drawing/2014/main" id="{36B0FDC8-45A1-4E12-AAEC-73164E857A4D}"/>
              </a:ext>
            </a:extLst>
          </p:cNvPr>
          <p:cNvSpPr/>
          <p:nvPr/>
        </p:nvSpPr>
        <p:spPr>
          <a:xfrm>
            <a:off x="8810626" y="1000125"/>
            <a:ext cx="214313" cy="207168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Chave direita 12">
            <a:extLst>
              <a:ext uri="{FF2B5EF4-FFF2-40B4-BE49-F238E27FC236}">
                <a16:creationId xmlns:a16="http://schemas.microsoft.com/office/drawing/2014/main" id="{EE369F1C-5CCA-4F65-AF6C-2740224A8BCE}"/>
              </a:ext>
            </a:extLst>
          </p:cNvPr>
          <p:cNvSpPr/>
          <p:nvPr/>
        </p:nvSpPr>
        <p:spPr>
          <a:xfrm>
            <a:off x="8810626" y="3143250"/>
            <a:ext cx="214313" cy="1214438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Chave direita 13">
            <a:extLst>
              <a:ext uri="{FF2B5EF4-FFF2-40B4-BE49-F238E27FC236}">
                <a16:creationId xmlns:a16="http://schemas.microsoft.com/office/drawing/2014/main" id="{72DA546D-FB09-4AA4-9661-021B84DCFFE9}"/>
              </a:ext>
            </a:extLst>
          </p:cNvPr>
          <p:cNvSpPr/>
          <p:nvPr/>
        </p:nvSpPr>
        <p:spPr>
          <a:xfrm>
            <a:off x="8810626" y="4429126"/>
            <a:ext cx="214313" cy="2428875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67AE7D-381E-4130-84A3-D9F8C3F8261F}"/>
              </a:ext>
            </a:extLst>
          </p:cNvPr>
          <p:cNvSpPr txBox="1"/>
          <p:nvPr/>
        </p:nvSpPr>
        <p:spPr>
          <a:xfrm>
            <a:off x="5238750" y="1714501"/>
            <a:ext cx="178593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b="1" dirty="0">
                <a:latin typeface="+mn-lt"/>
              </a:rPr>
              <a:t>Mitose (E!)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B902D9A-4167-4162-88D5-6F7CD9DE1436}"/>
              </a:ext>
            </a:extLst>
          </p:cNvPr>
          <p:cNvSpPr txBox="1"/>
          <p:nvPr/>
        </p:nvSpPr>
        <p:spPr>
          <a:xfrm>
            <a:off x="4524375" y="2571751"/>
            <a:ext cx="178593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 err="1">
                <a:latin typeface="+mn-lt"/>
              </a:rPr>
              <a:t>Ovogônias</a:t>
            </a:r>
            <a:r>
              <a:rPr lang="pt-BR" sz="1400" dirty="0">
                <a:latin typeface="+mn-lt"/>
              </a:rPr>
              <a:t> (2n)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77C0948-7931-4956-8943-F66A1F25569B}"/>
              </a:ext>
            </a:extLst>
          </p:cNvPr>
          <p:cNvSpPr txBox="1"/>
          <p:nvPr/>
        </p:nvSpPr>
        <p:spPr>
          <a:xfrm>
            <a:off x="6738939" y="3571876"/>
            <a:ext cx="17859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Ovócito Primário (2n)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40F7FBD-6D5C-4270-AC77-FA2F747A545E}"/>
              </a:ext>
            </a:extLst>
          </p:cNvPr>
          <p:cNvSpPr txBox="1"/>
          <p:nvPr/>
        </p:nvSpPr>
        <p:spPr>
          <a:xfrm>
            <a:off x="7462839" y="1509714"/>
            <a:ext cx="17859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400" dirty="0" err="1">
                <a:latin typeface="+mn-lt"/>
              </a:rPr>
              <a:t>Ovogônia</a:t>
            </a:r>
            <a:r>
              <a:rPr lang="pt-BR" sz="1400" dirty="0">
                <a:latin typeface="+mn-lt"/>
              </a:rPr>
              <a:t> (2n)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9E7F2EE-55DF-4C03-9505-A13E29331FBC}"/>
              </a:ext>
            </a:extLst>
          </p:cNvPr>
          <p:cNvSpPr txBox="1"/>
          <p:nvPr/>
        </p:nvSpPr>
        <p:spPr>
          <a:xfrm>
            <a:off x="9024939" y="1785938"/>
            <a:ext cx="1500187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Período</a:t>
            </a:r>
          </a:p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Germinativo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3AA7B17-E929-4DB8-86DC-5BDE05A3AA7B}"/>
              </a:ext>
            </a:extLst>
          </p:cNvPr>
          <p:cNvSpPr txBox="1"/>
          <p:nvPr/>
        </p:nvSpPr>
        <p:spPr>
          <a:xfrm>
            <a:off x="9024939" y="3286126"/>
            <a:ext cx="150018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Período</a:t>
            </a:r>
          </a:p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de Crescimento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F5178A-ED3B-40D0-A93D-16BF7FAA8B0C}"/>
              </a:ext>
            </a:extLst>
          </p:cNvPr>
          <p:cNvSpPr txBox="1"/>
          <p:nvPr/>
        </p:nvSpPr>
        <p:spPr>
          <a:xfrm>
            <a:off x="9024939" y="5214938"/>
            <a:ext cx="1500187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Período</a:t>
            </a:r>
          </a:p>
          <a:p>
            <a:pPr algn="ctr">
              <a:defRPr/>
            </a:pPr>
            <a:r>
              <a:rPr lang="pt-BR" dirty="0">
                <a:solidFill>
                  <a:srgbClr val="FF0000"/>
                </a:solidFill>
                <a:latin typeface="+mn-lt"/>
              </a:rPr>
              <a:t>de Maturação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2B6D965-FA6D-4A20-B613-2123165950D8}"/>
              </a:ext>
            </a:extLst>
          </p:cNvPr>
          <p:cNvSpPr txBox="1"/>
          <p:nvPr/>
        </p:nvSpPr>
        <p:spPr>
          <a:xfrm>
            <a:off x="7024689" y="4357689"/>
            <a:ext cx="17859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1º corpúsculo polar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81C5B30-2AC4-4E1D-A504-A6D1ADB084CF}"/>
              </a:ext>
            </a:extLst>
          </p:cNvPr>
          <p:cNvSpPr txBox="1"/>
          <p:nvPr/>
        </p:nvSpPr>
        <p:spPr>
          <a:xfrm>
            <a:off x="7381875" y="5143501"/>
            <a:ext cx="17859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2º corpúsculo</a:t>
            </a:r>
          </a:p>
          <a:p>
            <a:pPr algn="ctr">
              <a:defRPr/>
            </a:pPr>
            <a:r>
              <a:rPr lang="pt-BR" sz="1400" dirty="0">
                <a:latin typeface="+mn-lt"/>
              </a:rPr>
              <a:t> polar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C6CFB36-7F54-4540-B91A-B4F084370C99}"/>
              </a:ext>
            </a:extLst>
          </p:cNvPr>
          <p:cNvSpPr txBox="1"/>
          <p:nvPr/>
        </p:nvSpPr>
        <p:spPr>
          <a:xfrm>
            <a:off x="4595814" y="4071939"/>
            <a:ext cx="1785937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b="1" dirty="0">
                <a:latin typeface="+mn-lt"/>
              </a:rPr>
              <a:t>Meiose (R!)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BEF7055-28C1-43C3-A0F2-BB2A6AD55C51}"/>
              </a:ext>
            </a:extLst>
          </p:cNvPr>
          <p:cNvSpPr txBox="1"/>
          <p:nvPr/>
        </p:nvSpPr>
        <p:spPr>
          <a:xfrm>
            <a:off x="1524000" y="2143125"/>
            <a:ext cx="3786188" cy="392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600" b="1" dirty="0">
                <a:latin typeface="+mn-lt"/>
              </a:rPr>
              <a:t>Período germinativo</a:t>
            </a:r>
          </a:p>
          <a:p>
            <a:pPr>
              <a:defRPr/>
            </a:pPr>
            <a:endParaRPr lang="pt-BR" sz="800" dirty="0">
              <a:latin typeface="+mn-lt"/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Ocorre no feto 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</a:t>
            </a:r>
            <a:r>
              <a:rPr lang="pt-BR" sz="1600" dirty="0" err="1">
                <a:latin typeface="+mn-lt"/>
              </a:rPr>
              <a:t>Divsões</a:t>
            </a:r>
            <a:r>
              <a:rPr lang="pt-BR" sz="1600" dirty="0">
                <a:latin typeface="+mn-lt"/>
              </a:rPr>
              <a:t> mitóticas das </a:t>
            </a:r>
            <a:r>
              <a:rPr lang="pt-BR" sz="1600" dirty="0" err="1">
                <a:latin typeface="+mn-lt"/>
              </a:rPr>
              <a:t>ovogônias</a:t>
            </a:r>
            <a:endParaRPr lang="pt-BR" sz="1600" dirty="0">
              <a:latin typeface="+mn-lt"/>
            </a:endParaRPr>
          </a:p>
          <a:p>
            <a:pPr>
              <a:buFont typeface="Wingdings" pitchFamily="2" charset="2"/>
              <a:buChar char="§"/>
              <a:defRPr/>
            </a:pPr>
            <a:endParaRPr lang="pt-BR" sz="1600" dirty="0">
              <a:latin typeface="+mn-lt"/>
            </a:endParaRPr>
          </a:p>
          <a:p>
            <a:pPr>
              <a:defRPr/>
            </a:pPr>
            <a:r>
              <a:rPr lang="pt-BR" sz="1600" b="1" dirty="0">
                <a:latin typeface="+mn-lt"/>
              </a:rPr>
              <a:t>Período de crescimento</a:t>
            </a:r>
          </a:p>
          <a:p>
            <a:pPr>
              <a:defRPr/>
            </a:pPr>
            <a:endParaRPr lang="pt-BR" sz="800" dirty="0">
              <a:latin typeface="+mn-lt"/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Este estágio permanece até a puberdade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</a:t>
            </a:r>
            <a:r>
              <a:rPr lang="pt-BR" sz="1600" dirty="0" err="1">
                <a:latin typeface="+mn-lt"/>
              </a:rPr>
              <a:t>Ovogônias</a:t>
            </a:r>
            <a:r>
              <a:rPr lang="pt-BR" sz="1600" dirty="0">
                <a:latin typeface="+mn-lt"/>
              </a:rPr>
              <a:t> aumentam de tamanho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Transformação em ovócito primário</a:t>
            </a:r>
          </a:p>
          <a:p>
            <a:pPr>
              <a:buFont typeface="Wingdings" pitchFamily="2" charset="2"/>
              <a:buChar char="§"/>
              <a:defRPr/>
            </a:pPr>
            <a:endParaRPr lang="pt-BR" sz="1600" dirty="0">
              <a:latin typeface="+mn-lt"/>
            </a:endParaRPr>
          </a:p>
          <a:p>
            <a:pPr>
              <a:defRPr/>
            </a:pPr>
            <a:r>
              <a:rPr lang="pt-BR" sz="1600" b="1" dirty="0">
                <a:latin typeface="+mn-lt"/>
              </a:rPr>
              <a:t>Período de maturação</a:t>
            </a:r>
          </a:p>
          <a:p>
            <a:pPr>
              <a:defRPr/>
            </a:pPr>
            <a:endParaRPr lang="pt-BR" sz="800" dirty="0">
              <a:latin typeface="+mn-lt"/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Inicia-se na puberdade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Ovócito primário sofre meiose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Formação de 3 corpúsculos polares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pt-BR" sz="1600" dirty="0">
                <a:latin typeface="+mn-lt"/>
              </a:rPr>
              <a:t>  Formação do ovócito secundário (n)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EEA0F53-69EC-4E8A-B570-AADD4C18B3AE}"/>
              </a:ext>
            </a:extLst>
          </p:cNvPr>
          <p:cNvSpPr txBox="1"/>
          <p:nvPr/>
        </p:nvSpPr>
        <p:spPr>
          <a:xfrm>
            <a:off x="6453188" y="6550026"/>
            <a:ext cx="1928812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400" dirty="0">
                <a:latin typeface="+mn-lt"/>
              </a:rPr>
              <a:t>Ovócito Secundário (n)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1C5B076E-9FD7-4311-A0C6-9BDBB1B3414A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C895980-48D1-4554-8AC5-DE2AA482F5CB}"/>
              </a:ext>
            </a:extLst>
          </p:cNvPr>
          <p:cNvSpPr/>
          <p:nvPr/>
        </p:nvSpPr>
        <p:spPr>
          <a:xfrm>
            <a:off x="152400" y="15240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5A24E3BD-8978-4FB2-B85F-B2949025FE5D}"/>
              </a:ext>
            </a:extLst>
          </p:cNvPr>
          <p:cNvSpPr txBox="1">
            <a:spLocks/>
          </p:cNvSpPr>
          <p:nvPr/>
        </p:nvSpPr>
        <p:spPr>
          <a:xfrm>
            <a:off x="1676400" y="1729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aixaDeTexto 8">
            <a:extLst>
              <a:ext uri="{FF2B5EF4-FFF2-40B4-BE49-F238E27FC236}">
                <a16:creationId xmlns:a16="http://schemas.microsoft.com/office/drawing/2014/main" id="{BBAD7404-C341-4A3B-BC0C-AFEFECC42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8916" name="CaixaDeTexto 4">
            <a:extLst>
              <a:ext uri="{FF2B5EF4-FFF2-40B4-BE49-F238E27FC236}">
                <a16:creationId xmlns:a16="http://schemas.microsoft.com/office/drawing/2014/main" id="{FA29E3BE-6390-4338-A28B-B51090373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tx2"/>
                </a:solidFill>
                <a:latin typeface="Calibri" panose="020F0502020204030204" pitchFamily="34" charset="0"/>
              </a:rPr>
              <a:t>4)   Métodos contraceptivos</a:t>
            </a:r>
          </a:p>
          <a:p>
            <a:pPr eaLnBrk="1" hangingPunct="1"/>
            <a:endParaRPr lang="pt-BR" altLang="pt-BR" sz="1000" b="1" dirty="0">
              <a:latin typeface="Calibri" panose="020F0502020204030204" pitchFamily="34" charset="0"/>
            </a:endParaRPr>
          </a:p>
          <a:p>
            <a:pPr eaLnBrk="1" hangingPunct="1">
              <a:buFontTx/>
              <a:buAutoNum type="alphaLcParenR"/>
            </a:pPr>
            <a:r>
              <a:rPr lang="pt-BR" altLang="pt-BR" b="1" dirty="0">
                <a:latin typeface="Calibri" panose="020F0502020204030204" pitchFamily="34" charset="0"/>
              </a:rPr>
              <a:t>Coito interrompido</a:t>
            </a:r>
          </a:p>
          <a:p>
            <a:pPr eaLnBrk="1" hangingPunct="1"/>
            <a:endParaRPr lang="pt-BR" altLang="pt-BR" b="1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latin typeface="Calibri" panose="020F0502020204030204" pitchFamily="34" charset="0"/>
              </a:rPr>
              <a:t>Consiste na retirada do pênis da vagina momentos antes da ejaculação.</a:t>
            </a:r>
          </a:p>
          <a:p>
            <a:pPr lvl="1" eaLnBrk="1" hangingPunct="1"/>
            <a:endParaRPr lang="pt-BR" altLang="pt-BR" sz="1000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Possui pouca eficiência pois antes da ejaculação pode ocorrer a liberação de pequena quantidade de </a:t>
            </a:r>
            <a:r>
              <a:rPr lang="pt-BR" altLang="pt-BR" dirty="0" err="1">
                <a:latin typeface="Calibri" panose="020F0502020204030204" pitchFamily="34" charset="0"/>
              </a:rPr>
              <a:t>espermatozóide</a:t>
            </a:r>
            <a:r>
              <a:rPr lang="pt-BR" altLang="pt-BR" dirty="0">
                <a:latin typeface="Calibri" panose="020F0502020204030204" pitchFamily="34" charset="0"/>
              </a:rPr>
              <a:t>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sz="1000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Não previne contra as </a:t>
            </a:r>
            <a:r>
              <a:rPr lang="pt-BR" altLang="pt-BR" dirty="0" err="1">
                <a:latin typeface="Calibri" panose="020F0502020204030204" pitchFamily="34" charset="0"/>
              </a:rPr>
              <a:t>IST’s</a:t>
            </a:r>
            <a:r>
              <a:rPr lang="pt-BR" altLang="pt-BR" dirty="0">
                <a:latin typeface="Calibri" panose="020F0502020204030204" pitchFamily="34" charset="0"/>
              </a:rPr>
              <a:t>.</a:t>
            </a:r>
          </a:p>
          <a:p>
            <a:pPr lvl="1" eaLnBrk="1" hangingPunct="1"/>
            <a:endParaRPr lang="pt-BR" altLang="pt-BR" sz="1600" dirty="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 dirty="0">
                <a:latin typeface="Calibri" panose="020F0502020204030204" pitchFamily="34" charset="0"/>
              </a:rPr>
              <a:t>b)   Tabelinha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latin typeface="Calibri" panose="020F0502020204030204" pitchFamily="34" charset="0"/>
              </a:rPr>
              <a:t>Consiste na suspensão das relações sexuais durante o período fértil.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800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800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800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Pouca eficiência: Os ciclos menstruais podem variar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sz="800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Não previne contra as </a:t>
            </a:r>
            <a:r>
              <a:rPr lang="pt-BR" altLang="pt-BR" dirty="0" err="1">
                <a:latin typeface="Calibri" panose="020F0502020204030204" pitchFamily="34" charset="0"/>
              </a:rPr>
              <a:t>IST’s</a:t>
            </a:r>
            <a:endParaRPr lang="pt-BR" altLang="pt-BR" dirty="0">
              <a:latin typeface="Calibri" panose="020F0502020204030204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9919DC9-DE00-4BE5-9148-D44128AD6338}"/>
              </a:ext>
            </a:extLst>
          </p:cNvPr>
          <p:cNvCxnSpPr/>
          <p:nvPr/>
        </p:nvCxnSpPr>
        <p:spPr>
          <a:xfrm>
            <a:off x="3381375" y="4857750"/>
            <a:ext cx="4929188" cy="1588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F4C7247-FBCF-46CC-BCBD-0256BED74F9A}"/>
              </a:ext>
            </a:extLst>
          </p:cNvPr>
          <p:cNvCxnSpPr/>
          <p:nvPr/>
        </p:nvCxnSpPr>
        <p:spPr>
          <a:xfrm rot="5400000">
            <a:off x="5703888" y="4892676"/>
            <a:ext cx="357188" cy="15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4D5CC94-9C4D-4389-8071-258AD066F5C3}"/>
              </a:ext>
            </a:extLst>
          </p:cNvPr>
          <p:cNvCxnSpPr/>
          <p:nvPr/>
        </p:nvCxnSpPr>
        <p:spPr>
          <a:xfrm rot="5400000">
            <a:off x="6346825" y="4892675"/>
            <a:ext cx="357188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14DCCC1C-EF19-4E57-AFA8-4D61C06F311F}"/>
              </a:ext>
            </a:extLst>
          </p:cNvPr>
          <p:cNvCxnSpPr/>
          <p:nvPr/>
        </p:nvCxnSpPr>
        <p:spPr>
          <a:xfrm rot="5400000">
            <a:off x="5060950" y="4892675"/>
            <a:ext cx="357188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922" name="CaixaDeTexto 17">
            <a:extLst>
              <a:ext uri="{FF2B5EF4-FFF2-40B4-BE49-F238E27FC236}">
                <a16:creationId xmlns:a16="http://schemas.microsoft.com/office/drawing/2014/main" id="{52F8B5B7-1844-4419-A42C-653DF7F3D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5000625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1</a:t>
            </a:r>
          </a:p>
        </p:txBody>
      </p:sp>
      <p:sp>
        <p:nvSpPr>
          <p:cNvPr id="38923" name="CaixaDeTexto 18">
            <a:extLst>
              <a:ext uri="{FF2B5EF4-FFF2-40B4-BE49-F238E27FC236}">
                <a16:creationId xmlns:a16="http://schemas.microsoft.com/office/drawing/2014/main" id="{E725A731-81FD-44BB-A8C7-9679374AF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1" y="5000625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10</a:t>
            </a:r>
          </a:p>
        </p:txBody>
      </p:sp>
      <p:sp>
        <p:nvSpPr>
          <p:cNvPr id="38924" name="CaixaDeTexto 19">
            <a:extLst>
              <a:ext uri="{FF2B5EF4-FFF2-40B4-BE49-F238E27FC236}">
                <a16:creationId xmlns:a16="http://schemas.microsoft.com/office/drawing/2014/main" id="{819ED673-FB49-47B9-B120-B60EDD04A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8" y="5072064"/>
            <a:ext cx="500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14</a:t>
            </a:r>
          </a:p>
        </p:txBody>
      </p:sp>
      <p:sp>
        <p:nvSpPr>
          <p:cNvPr id="38925" name="CaixaDeTexto 20">
            <a:extLst>
              <a:ext uri="{FF2B5EF4-FFF2-40B4-BE49-F238E27FC236}">
                <a16:creationId xmlns:a16="http://schemas.microsoft.com/office/drawing/2014/main" id="{E79EE07C-DB3D-4A24-8A42-BF552F459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76" y="5000625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18</a:t>
            </a:r>
          </a:p>
        </p:txBody>
      </p:sp>
      <p:sp>
        <p:nvSpPr>
          <p:cNvPr id="38926" name="CaixaDeTexto 21">
            <a:extLst>
              <a:ext uri="{FF2B5EF4-FFF2-40B4-BE49-F238E27FC236}">
                <a16:creationId xmlns:a16="http://schemas.microsoft.com/office/drawing/2014/main" id="{A0D08052-4E2D-4F56-A731-861E175ED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1" y="5000625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28</a:t>
            </a:r>
          </a:p>
        </p:txBody>
      </p:sp>
      <p:sp>
        <p:nvSpPr>
          <p:cNvPr id="23" name="Chave direita 22">
            <a:extLst>
              <a:ext uri="{FF2B5EF4-FFF2-40B4-BE49-F238E27FC236}">
                <a16:creationId xmlns:a16="http://schemas.microsoft.com/office/drawing/2014/main" id="{4052DF93-F255-4CB1-89CB-D2D5055D7742}"/>
              </a:ext>
            </a:extLst>
          </p:cNvPr>
          <p:cNvSpPr/>
          <p:nvPr/>
        </p:nvSpPr>
        <p:spPr>
          <a:xfrm rot="5400000">
            <a:off x="5738813" y="4572001"/>
            <a:ext cx="214313" cy="1643062"/>
          </a:xfrm>
          <a:prstGeom prst="rightBrac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C94647-B607-4391-A5B2-070E7D8906DB}"/>
              </a:ext>
            </a:extLst>
          </p:cNvPr>
          <p:cNvSpPr txBox="1"/>
          <p:nvPr/>
        </p:nvSpPr>
        <p:spPr>
          <a:xfrm>
            <a:off x="4881563" y="5429250"/>
            <a:ext cx="1928812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1600" dirty="0">
                <a:latin typeface="+mn-lt"/>
              </a:rPr>
              <a:t>Abstinência sexual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5310792-E48E-403E-9EDA-252A91D84C06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A011830-69AB-4EEF-BF5F-C68007C39703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CaixaDeTexto 8">
            <a:extLst>
              <a:ext uri="{FF2B5EF4-FFF2-40B4-BE49-F238E27FC236}">
                <a16:creationId xmlns:a16="http://schemas.microsoft.com/office/drawing/2014/main" id="{E836CF35-4B89-4A2E-837F-B01DA1D09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39940" name="CaixaDeTexto 4">
            <a:extLst>
              <a:ext uri="{FF2B5EF4-FFF2-40B4-BE49-F238E27FC236}">
                <a16:creationId xmlns:a16="http://schemas.microsoft.com/office/drawing/2014/main" id="{7DDA0DA4-428B-4541-944A-03483821E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566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 dirty="0">
                <a:solidFill>
                  <a:schemeClr val="tx2"/>
                </a:solidFill>
                <a:latin typeface="Calibri" panose="020F0502020204030204" pitchFamily="34" charset="0"/>
              </a:rPr>
              <a:t>4)   Métodos contraceptivos</a:t>
            </a:r>
          </a:p>
          <a:p>
            <a:pPr eaLnBrk="1" hangingPunct="1"/>
            <a:endParaRPr lang="pt-BR" altLang="pt-BR" sz="1000" b="1" dirty="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 dirty="0">
                <a:latin typeface="Calibri" panose="020F0502020204030204" pitchFamily="34" charset="0"/>
              </a:rPr>
              <a:t>c)    Preservativo (camisinha)</a:t>
            </a:r>
          </a:p>
          <a:p>
            <a:pPr eaLnBrk="1" hangingPunct="1"/>
            <a:endParaRPr lang="pt-BR" altLang="pt-BR" b="1" dirty="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 dirty="0">
                <a:latin typeface="Calibri" panose="020F0502020204030204" pitchFamily="34" charset="0"/>
              </a:rPr>
              <a:t>Protetor de látex que envolve o pênis e impede que o esperma atinja o interior da vagina durante o ato sexual.</a:t>
            </a:r>
          </a:p>
          <a:p>
            <a:pPr lvl="1" eaLnBrk="1" hangingPunct="1"/>
            <a:endParaRPr lang="pt-BR" altLang="pt-BR" sz="1000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Possui bastante eficiência.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sz="1000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Previne contra a maioria das </a:t>
            </a:r>
            <a:r>
              <a:rPr lang="pt-BR" altLang="pt-BR" dirty="0" err="1">
                <a:latin typeface="Calibri" panose="020F0502020204030204" pitchFamily="34" charset="0"/>
              </a:rPr>
              <a:t>IST’s</a:t>
            </a:r>
            <a:r>
              <a:rPr lang="pt-BR" altLang="pt-BR" dirty="0">
                <a:latin typeface="Calibri" panose="020F0502020204030204" pitchFamily="34" charset="0"/>
              </a:rPr>
              <a:t>.</a:t>
            </a:r>
          </a:p>
          <a:p>
            <a:pPr lvl="1" eaLnBrk="1" hangingPunct="1"/>
            <a:endParaRPr lang="pt-BR" altLang="pt-BR" sz="1600" dirty="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 dirty="0">
                <a:latin typeface="Calibri" panose="020F0502020204030204" pitchFamily="34" charset="0"/>
              </a:rPr>
              <a:t>d)   Pílula anticoncepcional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dirty="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Droga que aumenta os níveis dos hormônios estrógeno e progesterona no organismo feminino.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Com o aumento de Estrógeno e Progesterona os hormônios FSH e LH, os quais promovem o amadurecimento dos folículos ovarianos e ovulação, não são produzidos.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</a:rPr>
              <a:t>Início do uso: 5º dia após a menstruação </a:t>
            </a:r>
            <a:r>
              <a:rPr lang="pt-BR" altLang="pt-BR" dirty="0">
                <a:latin typeface="Calibri" panose="020F0502020204030204" pitchFamily="34" charset="0"/>
                <a:sym typeface="Wingdings" panose="05000000000000000000" pitchFamily="2" charset="2"/>
              </a:rPr>
              <a:t> 21 comprimidos consecutivos.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  <a:sym typeface="Wingdings" panose="05000000000000000000" pitchFamily="2" charset="2"/>
              </a:rPr>
              <a:t>Após o término da pílula  níveis de progesterona ↓  ocorre menstruação.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 dirty="0">
                <a:latin typeface="Calibri" panose="020F0502020204030204" pitchFamily="34" charset="0"/>
                <a:sym typeface="Wingdings" panose="05000000000000000000" pitchFamily="2" charset="2"/>
              </a:rPr>
              <a:t>Eficácia: 98%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dirty="0">
              <a:latin typeface="Calibri" panose="020F0502020204030204" pitchFamily="34" charset="0"/>
            </a:endParaRPr>
          </a:p>
          <a:p>
            <a:pPr lvl="1" eaLnBrk="1" hangingPunct="1"/>
            <a:endParaRPr lang="pt-BR" altLang="pt-BR" sz="800" dirty="0">
              <a:latin typeface="Calibri" panose="020F0502020204030204" pitchFamily="34" charset="0"/>
            </a:endParaRPr>
          </a:p>
        </p:txBody>
      </p:sp>
      <p:pic>
        <p:nvPicPr>
          <p:cNvPr id="39942" name="Picture 2" descr="http://www.gineco.com.br/images/camisinha_ar.gif">
            <a:extLst>
              <a:ext uri="{FF2B5EF4-FFF2-40B4-BE49-F238E27FC236}">
                <a16:creationId xmlns:a16="http://schemas.microsoft.com/office/drawing/2014/main" id="{70A3E40B-F42D-4D04-815A-7E74777C8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9" y="2428875"/>
            <a:ext cx="21494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3" name="Picture 4" descr="http://www.brasilescola.com/upload/e/pilula.jpg">
            <a:extLst>
              <a:ext uri="{FF2B5EF4-FFF2-40B4-BE49-F238E27FC236}">
                <a16:creationId xmlns:a16="http://schemas.microsoft.com/office/drawing/2014/main" id="{4551B689-1BFB-4A26-9FC3-FF6AEEFF6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5992814"/>
            <a:ext cx="1357312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0866722-0F17-4AC3-949B-F49C925E4231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25D8550-E374-48CC-BE24-E2661A263855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m 9" descr="F21-12b.jpg">
            <a:extLst>
              <a:ext uri="{FF2B5EF4-FFF2-40B4-BE49-F238E27FC236}">
                <a16:creationId xmlns:a16="http://schemas.microsoft.com/office/drawing/2014/main" id="{E7DB80A5-16A2-488C-9B77-A7D865542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8" y="4500564"/>
            <a:ext cx="3052762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CaixaDeTexto 8">
            <a:extLst>
              <a:ext uri="{FF2B5EF4-FFF2-40B4-BE49-F238E27FC236}">
                <a16:creationId xmlns:a16="http://schemas.microsoft.com/office/drawing/2014/main" id="{09424813-C04D-4F7F-B41E-8ED7D5707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40965" name="CaixaDeTexto 4">
            <a:extLst>
              <a:ext uri="{FF2B5EF4-FFF2-40B4-BE49-F238E27FC236}">
                <a16:creationId xmlns:a16="http://schemas.microsoft.com/office/drawing/2014/main" id="{38A0F5F2-514A-4151-93DC-B27529DE3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4)   Métodos contraceptivos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e)    Pílula do dia seguinte</a:t>
            </a:r>
          </a:p>
          <a:p>
            <a:pPr eaLnBrk="1" hangingPunct="1"/>
            <a:endParaRPr lang="pt-BR" altLang="pt-BR" b="1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Deve ser ministrada até 72 horas depois de um ato sexual desprotegido.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Droga que aumenta bruscamente a concentração dos hormônios Progesterona e Estrógeno no sangue.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Com a diminuição desses hormônios no sangue, ocorre a descamação do endométrio (menstruação) e conseqüentemente impede a implantação do embrião no útero.</a:t>
            </a:r>
            <a:endParaRPr lang="pt-BR" altLang="pt-BR" sz="1000">
              <a:latin typeface="Calibri" panose="020F0502020204030204" pitchFamily="34" charset="0"/>
            </a:endParaRP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pt-BR" altLang="pt-BR">
                <a:latin typeface="Calibri" panose="020F0502020204030204" pitchFamily="34" charset="0"/>
              </a:rPr>
              <a:t>É um método abortivo? Depende do ponto de vista!</a:t>
            </a:r>
          </a:p>
          <a:p>
            <a:pPr lvl="1" eaLnBrk="1" hangingPunct="1"/>
            <a:endParaRPr lang="pt-BR" altLang="pt-BR" sz="160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f)   Diafragma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sz="8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Dispositivo de borracha colocado no colo do útero para impedir a passagem de espermatozóides.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Geralmente é usado com espermicida para aumentar sua eficiência.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Vantagem: Após bem lavado pode ser reutilizado.</a:t>
            </a:r>
          </a:p>
          <a:p>
            <a:pPr lvl="1" eaLnBrk="1" hangingPunct="1"/>
            <a:endParaRPr lang="pt-BR" altLang="pt-BR" sz="800">
              <a:latin typeface="Calibri" panose="020F0502020204030204" pitchFamily="34" charset="0"/>
            </a:endParaRPr>
          </a:p>
        </p:txBody>
      </p:sp>
      <p:pic>
        <p:nvPicPr>
          <p:cNvPr id="40967" name="Picture 2" descr="http://www.plugbr.net/wp-content/uploads/2007/06/pilul.gif">
            <a:extLst>
              <a:ext uri="{FF2B5EF4-FFF2-40B4-BE49-F238E27FC236}">
                <a16:creationId xmlns:a16="http://schemas.microsoft.com/office/drawing/2014/main" id="{06C2B039-428A-4AE0-9094-8406CB75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938" y="1000125"/>
            <a:ext cx="13573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4" descr="http://telediu.com.br/imagens/produtos/27/diafragma_semina.jpg">
            <a:extLst>
              <a:ext uri="{FF2B5EF4-FFF2-40B4-BE49-F238E27FC236}">
                <a16:creationId xmlns:a16="http://schemas.microsoft.com/office/drawing/2014/main" id="{8C197155-7A56-4615-9DB6-F4419F9FC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5500689"/>
            <a:ext cx="1357312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D99DDE5-8019-46D3-B2F5-09BACDA8F0C1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8F8682F-378D-49FE-81D0-80079079EB55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CaixaDeTexto 8">
            <a:extLst>
              <a:ext uri="{FF2B5EF4-FFF2-40B4-BE49-F238E27FC236}">
                <a16:creationId xmlns:a16="http://schemas.microsoft.com/office/drawing/2014/main" id="{86473838-5832-4143-B243-981FED92B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41988" name="CaixaDeTexto 4">
            <a:extLst>
              <a:ext uri="{FF2B5EF4-FFF2-40B4-BE49-F238E27FC236}">
                <a16:creationId xmlns:a16="http://schemas.microsoft.com/office/drawing/2014/main" id="{ED8CDB64-0653-44F5-B8C7-B14FB1117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449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4)   Métodos contraceptivos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f)    DIU (Dispositivo Intra Uterino)</a:t>
            </a:r>
          </a:p>
          <a:p>
            <a:pPr eaLnBrk="1" hangingPunct="1"/>
            <a:endParaRPr lang="pt-BR" altLang="pt-BR" b="1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Dispositivos de plástico ou metal que são inseridos no útero e que causam pequenas inflamações que atraem macrófagos que impedem o desenvolvimento do endomério e a implantação do embrião (nidação).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16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16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16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16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16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altLang="pt-BR" sz="1600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g)    Camisinha feminina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sz="8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Bolsa de plástico que é inserida no interior da vagina que retém o esperma e impede que os espermatozóides atinjam o útero.</a:t>
            </a:r>
          </a:p>
          <a:p>
            <a:pPr lvl="1" eaLnBrk="1" hangingPunct="1"/>
            <a:endParaRPr lang="pt-BR" altLang="pt-BR" sz="800">
              <a:latin typeface="Calibri" panose="020F0502020204030204" pitchFamily="34" charset="0"/>
            </a:endParaRPr>
          </a:p>
        </p:txBody>
      </p:sp>
      <p:pic>
        <p:nvPicPr>
          <p:cNvPr id="41990" name="Picture 2" descr="http://www.mujernueva.org/mujernueva_db/imagenes_db/diu.jpg">
            <a:extLst>
              <a:ext uri="{FF2B5EF4-FFF2-40B4-BE49-F238E27FC236}">
                <a16:creationId xmlns:a16="http://schemas.microsoft.com/office/drawing/2014/main" id="{5DF53559-9D53-47CB-B03B-92A0403B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1" y="3071814"/>
            <a:ext cx="12858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4" descr="http://coisinhass.zip.net/images/camisinha_feminina.jpg">
            <a:extLst>
              <a:ext uri="{FF2B5EF4-FFF2-40B4-BE49-F238E27FC236}">
                <a16:creationId xmlns:a16="http://schemas.microsoft.com/office/drawing/2014/main" id="{3E72DDAE-9D64-458E-A618-735F294EE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9" y="5160964"/>
            <a:ext cx="1571625" cy="169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385010-B8B1-4D2F-B736-EC7B8828F391}"/>
              </a:ext>
            </a:extLst>
          </p:cNvPr>
          <p:cNvSpPr txBox="1"/>
          <p:nvPr/>
        </p:nvSpPr>
        <p:spPr>
          <a:xfrm>
            <a:off x="8453438" y="5286375"/>
            <a:ext cx="22145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Camisinha feminina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09238E4-EB43-47A5-B9EC-65A0DC296FFB}"/>
              </a:ext>
            </a:extLst>
          </p:cNvPr>
          <p:cNvCxnSpPr>
            <a:endCxn id="11" idx="1"/>
          </p:cNvCxnSpPr>
          <p:nvPr/>
        </p:nvCxnSpPr>
        <p:spPr>
          <a:xfrm flipV="1">
            <a:off x="7810500" y="5470526"/>
            <a:ext cx="642938" cy="30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994" name="Picture 6" descr="http://www.jlocal.com.br/fotos/camisinha_feminina.jpg">
            <a:extLst>
              <a:ext uri="{FF2B5EF4-FFF2-40B4-BE49-F238E27FC236}">
                <a16:creationId xmlns:a16="http://schemas.microsoft.com/office/drawing/2014/main" id="{2BC91591-5C57-444E-ABF6-56D70F44F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38" y="5429250"/>
            <a:ext cx="17907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459155-DFDD-4332-84C3-ADA81E529ED0}"/>
              </a:ext>
            </a:extLst>
          </p:cNvPr>
          <p:cNvSpPr txBox="1"/>
          <p:nvPr/>
        </p:nvSpPr>
        <p:spPr>
          <a:xfrm>
            <a:off x="1666876" y="5715000"/>
            <a:ext cx="271462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Wingdings" pitchFamily="2" charset="2"/>
              <a:buChar char="ü"/>
              <a:defRPr/>
            </a:pPr>
            <a:r>
              <a:rPr lang="pt-BR" sz="1600" dirty="0">
                <a:latin typeface="+mn-lt"/>
              </a:rPr>
              <a:t> Previne contra várias </a:t>
            </a:r>
            <a:r>
              <a:rPr lang="pt-BR" sz="1600" dirty="0" err="1">
                <a:latin typeface="+mn-lt"/>
              </a:rPr>
              <a:t>DST’s</a:t>
            </a:r>
            <a:endParaRPr lang="pt-BR" sz="1600" dirty="0">
              <a:latin typeface="+mn-lt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pt-BR" sz="1600" dirty="0">
                <a:latin typeface="+mn-lt"/>
              </a:rPr>
              <a:t> Descartável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EAD3702-04B4-4AD3-A06A-4FBE4B85E8EB}"/>
              </a:ext>
            </a:extLst>
          </p:cNvPr>
          <p:cNvSpPr txBox="1"/>
          <p:nvPr/>
        </p:nvSpPr>
        <p:spPr>
          <a:xfrm>
            <a:off x="6453189" y="3000375"/>
            <a:ext cx="407193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É abortivo? Depende do ponto de vista!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CA11D7D-3EF8-4C5A-B52A-081E46786C9D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48242A1-93BD-411A-B29A-DCB348B0FDB4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CaixaDeTexto 8">
            <a:extLst>
              <a:ext uri="{FF2B5EF4-FFF2-40B4-BE49-F238E27FC236}">
                <a16:creationId xmlns:a16="http://schemas.microsoft.com/office/drawing/2014/main" id="{2BC66EBE-D94F-4A97-A45E-012E78CDC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  <a:p>
            <a:pPr algn="just" eaLnBrk="1" hangingPunct="1"/>
            <a:endParaRPr lang="pt-BR" altLang="pt-BR">
              <a:latin typeface="Calibri" panose="020F0502020204030204" pitchFamily="34" charset="0"/>
            </a:endParaRPr>
          </a:p>
        </p:txBody>
      </p:sp>
      <p:sp>
        <p:nvSpPr>
          <p:cNvPr id="43012" name="CaixaDeTexto 4">
            <a:extLst>
              <a:ext uri="{FF2B5EF4-FFF2-40B4-BE49-F238E27FC236}">
                <a16:creationId xmlns:a16="http://schemas.microsoft.com/office/drawing/2014/main" id="{B91C434E-D799-4BD1-B4B8-639238D72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6" y="1071563"/>
            <a:ext cx="9001125" cy="344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chemeClr val="tx2"/>
                </a:solidFill>
                <a:latin typeface="Calibri" panose="020F0502020204030204" pitchFamily="34" charset="0"/>
              </a:rPr>
              <a:t>4)   Métodos contraceptivos (Esterilização)</a:t>
            </a:r>
          </a:p>
          <a:p>
            <a:pPr eaLnBrk="1" hangingPunct="1"/>
            <a:endParaRPr lang="pt-BR" altLang="pt-BR" sz="1000" b="1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h)    Vasectomia - Homens</a:t>
            </a:r>
          </a:p>
          <a:p>
            <a:pPr eaLnBrk="1" hangingPunct="1"/>
            <a:endParaRPr lang="pt-BR" altLang="pt-BR" b="1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Cirurgia que promove a secção dos ductos deferentes.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Espermatozóides não chegam a uretra.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Não causa impotência sexual.</a:t>
            </a:r>
          </a:p>
          <a:p>
            <a:pPr lvl="1" eaLnBrk="1" hangingPunct="1"/>
            <a:endParaRPr lang="pt-BR" altLang="pt-BR">
              <a:latin typeface="Calibri" panose="020F0502020204030204" pitchFamily="34" charset="0"/>
            </a:endParaRPr>
          </a:p>
          <a:p>
            <a:pPr lvl="1" eaLnBrk="1" hangingPunct="1"/>
            <a:endParaRPr lang="pt-BR" altLang="pt-BR">
              <a:latin typeface="Calibri" panose="020F0502020204030204" pitchFamily="34" charset="0"/>
            </a:endParaRPr>
          </a:p>
          <a:p>
            <a:pPr eaLnBrk="1" hangingPunct="1"/>
            <a:r>
              <a:rPr lang="pt-BR" altLang="pt-BR" b="1">
                <a:latin typeface="Calibri" panose="020F0502020204030204" pitchFamily="34" charset="0"/>
              </a:rPr>
              <a:t>i)   Ligadura tubária (ligadura de tromas) - Mulheres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pt-BR" altLang="pt-BR" sz="800">
              <a:latin typeface="Calibri" panose="020F050202020403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Cirurgia que promove a secção das tubas uterinas.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altLang="pt-BR">
                <a:latin typeface="Calibri" panose="020F0502020204030204" pitchFamily="34" charset="0"/>
              </a:rPr>
              <a:t>Óvulos (ovócitos II) produzidos não conseguem chegar ao útero.</a:t>
            </a:r>
          </a:p>
        </p:txBody>
      </p:sp>
      <p:pic>
        <p:nvPicPr>
          <p:cNvPr id="43014" name="Picture 2" descr="http://www.fertilitycampogrande.com.br/imagens/miolo/vasect02.jpg">
            <a:extLst>
              <a:ext uri="{FF2B5EF4-FFF2-40B4-BE49-F238E27FC236}">
                <a16:creationId xmlns:a16="http://schemas.microsoft.com/office/drawing/2014/main" id="{1EE40B20-C419-416C-96AC-C14BA181E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1143001"/>
            <a:ext cx="28575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4" descr="http://jeffarts.files.wordpress.com/2008/01/7193.jpg">
            <a:extLst>
              <a:ext uri="{FF2B5EF4-FFF2-40B4-BE49-F238E27FC236}">
                <a16:creationId xmlns:a16="http://schemas.microsoft.com/office/drawing/2014/main" id="{E0DD4BC9-7F2A-4D4E-8791-343AD0CD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38" y="4572000"/>
            <a:ext cx="28575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1D6E49-7BF0-40D3-8C07-83931A99E7E1}"/>
              </a:ext>
            </a:extLst>
          </p:cNvPr>
          <p:cNvSpPr txBox="1"/>
          <p:nvPr/>
        </p:nvSpPr>
        <p:spPr>
          <a:xfrm>
            <a:off x="5453064" y="4929189"/>
            <a:ext cx="2143125" cy="33813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pt-BR" sz="1600" dirty="0">
                <a:latin typeface="+mn-lt"/>
              </a:rPr>
              <a:t>Ligadura tubária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35A8856-B5FB-4787-AB1D-7B9BC8C86162}"/>
              </a:ext>
            </a:extLst>
          </p:cNvPr>
          <p:cNvSpPr/>
          <p:nvPr/>
        </p:nvSpPr>
        <p:spPr>
          <a:xfrm>
            <a:off x="0" y="1"/>
            <a:ext cx="12192000" cy="922751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317645D-E80B-49BE-B943-A72A653F81D0}"/>
              </a:ext>
            </a:extLst>
          </p:cNvPr>
          <p:cNvSpPr txBox="1">
            <a:spLocks/>
          </p:cNvSpPr>
          <p:nvPr/>
        </p:nvSpPr>
        <p:spPr>
          <a:xfrm>
            <a:off x="1524000" y="20571"/>
            <a:ext cx="9143999" cy="11382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500" b="1" dirty="0">
                <a:solidFill>
                  <a:schemeClr val="bg1"/>
                </a:solidFill>
              </a:rPr>
              <a:t>Sistema Reprodutor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</TotalTime>
  <Words>1964</Words>
  <Application>Microsoft Office PowerPoint</Application>
  <PresentationFormat>Widescreen</PresentationFormat>
  <Paragraphs>489</Paragraphs>
  <Slides>39</Slides>
  <Notes>35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Courier New</vt:lpstr>
      <vt:lpstr>Wingdings</vt:lpstr>
      <vt:lpstr>Tema do Office</vt:lpstr>
      <vt:lpstr>Fisiologia Humana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29</cp:revision>
  <dcterms:created xsi:type="dcterms:W3CDTF">2020-06-05T12:13:59Z</dcterms:created>
  <dcterms:modified xsi:type="dcterms:W3CDTF">2021-05-14T13:40:56Z</dcterms:modified>
</cp:coreProperties>
</file>