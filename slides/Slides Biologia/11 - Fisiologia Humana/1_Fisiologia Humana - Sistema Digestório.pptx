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5" roundtripDataSignature="AMtx7mgbYXGTr9z2mC0qHAEh6ysYwUqs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ArialBlack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6" name="Google Shape;3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1" name="Google Shape;4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64" name="Google Shape;4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los Educacional - PÓS-GRADUAÇÃO EM ANATOMIA E FISIOLOGIA HUMANAS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type="ctrTitle"/>
          </p:nvPr>
        </p:nvSpPr>
        <p:spPr>
          <a:xfrm>
            <a:off x="-1" y="1682583"/>
            <a:ext cx="12191999" cy="9870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Fisiologia Humana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3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2024063" y="10001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VAMOS VER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1981200" y="2143126"/>
            <a:ext cx="5554960" cy="414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digestão?</a:t>
            </a:r>
            <a:endParaRPr/>
          </a:p>
          <a:p>
            <a:pPr indent="-514350" lvl="0" marL="5143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que temos que comer?</a:t>
            </a:r>
            <a:endParaRPr/>
          </a:p>
          <a:p>
            <a:pPr indent="-514350" lvl="0" marL="5143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tipos de digestão.</a:t>
            </a:r>
            <a:endParaRPr/>
          </a:p>
          <a:p>
            <a:pPr indent="-514350" lvl="0" marL="5143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caminho do alimento – o tubo digestório.</a:t>
            </a:r>
            <a:endParaRPr/>
          </a:p>
          <a:p>
            <a:pPr indent="-514350" lvl="0" marL="5143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Auxiliando a digestão - glândulas anexas.</a:t>
            </a:r>
            <a:endParaRPr/>
          </a:p>
          <a:p>
            <a:pPr indent="-514350" lvl="0" marL="5143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Digestão química.</a:t>
            </a:r>
            <a:endParaRPr/>
          </a:p>
          <a:p>
            <a:pPr indent="-514350" lvl="0" marL="51435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alimento ao longo do tubo.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2104" y="1988840"/>
            <a:ext cx="3456880" cy="388843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1981200" y="12747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O que é digestão?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365760" y="2600325"/>
            <a:ext cx="6373178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Digestão é a transformação dos alimentos em substâncias menores e mais simples para que possam ser absorvidas pelo nosso corpo.</a:t>
            </a:r>
            <a:endParaRPr/>
          </a:p>
        </p:txBody>
      </p:sp>
      <p:pic>
        <p:nvPicPr>
          <p:cNvPr descr="http://4.bp.blogspot.com/_4eMwgELpfRw/TAHvkoi2B1I/AAAAAAAAAD4/_mSzhYmCMKw/s400/comendo-carne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4152" y="2780928"/>
            <a:ext cx="2857500" cy="314553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i="0" lang="pt-BR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/>
        </p:nvSpPr>
        <p:spPr>
          <a:xfrm>
            <a:off x="1809750" y="2831802"/>
            <a:ext cx="8643938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Glicose + oxigênio → gás carbônico + água +    </a:t>
            </a: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 flipH="1" rot="5400000">
            <a:off x="1989138" y="4009727"/>
            <a:ext cx="1071563" cy="158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18" name="Google Shape;118;p4"/>
          <p:cNvSpPr txBox="1"/>
          <p:nvPr/>
        </p:nvSpPr>
        <p:spPr>
          <a:xfrm>
            <a:off x="1524001" y="4684414"/>
            <a:ext cx="2143125" cy="76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OBTÉM NA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DIGESTÃO</a:t>
            </a:r>
            <a:endParaRPr/>
          </a:p>
        </p:txBody>
      </p:sp>
      <p:cxnSp>
        <p:nvCxnSpPr>
          <p:cNvPr id="119" name="Google Shape;119;p4"/>
          <p:cNvCxnSpPr/>
          <p:nvPr/>
        </p:nvCxnSpPr>
        <p:spPr>
          <a:xfrm rot="-5400000">
            <a:off x="2951957" y="4688383"/>
            <a:ext cx="2143125" cy="1588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20" name="Google Shape;120;p4"/>
          <p:cNvSpPr txBox="1"/>
          <p:nvPr/>
        </p:nvSpPr>
        <p:spPr>
          <a:xfrm>
            <a:off x="2595563" y="5827414"/>
            <a:ext cx="2786062" cy="76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OBTÉM NA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RESPIRAÇÃO</a:t>
            </a:r>
            <a:endParaRPr/>
          </a:p>
        </p:txBody>
      </p:sp>
      <p:cxnSp>
        <p:nvCxnSpPr>
          <p:cNvPr id="121" name="Google Shape;121;p4"/>
          <p:cNvCxnSpPr/>
          <p:nvPr/>
        </p:nvCxnSpPr>
        <p:spPr>
          <a:xfrm flipH="1" rot="5400000">
            <a:off x="5204620" y="2437309"/>
            <a:ext cx="1069975" cy="158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22" name="Google Shape;122;p4"/>
          <p:cNvSpPr txBox="1"/>
          <p:nvPr/>
        </p:nvSpPr>
        <p:spPr>
          <a:xfrm>
            <a:off x="5310188" y="1204614"/>
            <a:ext cx="2571750" cy="76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LIBERA NA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RESPIRAÇÃO</a:t>
            </a:r>
            <a:endParaRPr/>
          </a:p>
        </p:txBody>
      </p:sp>
      <p:cxnSp>
        <p:nvCxnSpPr>
          <p:cNvPr id="123" name="Google Shape;123;p4"/>
          <p:cNvCxnSpPr/>
          <p:nvPr/>
        </p:nvCxnSpPr>
        <p:spPr>
          <a:xfrm flipH="1" rot="5400000">
            <a:off x="6990557" y="2508746"/>
            <a:ext cx="1069975" cy="158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24" name="Google Shape;124;p4"/>
          <p:cNvSpPr/>
          <p:nvPr/>
        </p:nvSpPr>
        <p:spPr>
          <a:xfrm>
            <a:off x="7953375" y="2117427"/>
            <a:ext cx="2928938" cy="2000250"/>
          </a:xfrm>
          <a:prstGeom prst="irregularSeal1">
            <a:avLst/>
          </a:prstGeom>
          <a:noFill/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167688" y="4046240"/>
            <a:ext cx="22860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USA PARA SUAS ATIVIDADES OU ARMAZENA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1524001" y="1260178"/>
            <a:ext cx="2500313" cy="708025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Quimicamente é isso que acontece.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1524000" y="20570"/>
            <a:ext cx="91439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rojetos\moderna\powerpoint\imagens cap 18\Figura_18-02_01.jp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980728"/>
            <a:ext cx="3951288" cy="57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3581401" y="1497014"/>
            <a:ext cx="5302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5"/>
          <p:cNvCxnSpPr/>
          <p:nvPr/>
        </p:nvCxnSpPr>
        <p:spPr>
          <a:xfrm rot="10800000">
            <a:off x="4114800" y="1676400"/>
            <a:ext cx="1219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5"/>
          <p:cNvSpPr/>
          <p:nvPr/>
        </p:nvSpPr>
        <p:spPr>
          <a:xfrm>
            <a:off x="4419600" y="1371600"/>
            <a:ext cx="6477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Língua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5"/>
          <p:cNvCxnSpPr/>
          <p:nvPr/>
        </p:nvCxnSpPr>
        <p:spPr>
          <a:xfrm rot="10800000">
            <a:off x="4953000" y="1600200"/>
            <a:ext cx="762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5"/>
          <p:cNvSpPr/>
          <p:nvPr/>
        </p:nvSpPr>
        <p:spPr>
          <a:xfrm>
            <a:off x="6781800" y="16764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Glândula salivar (parótida)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733800" y="19812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Glândula salivar (sublingual)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038600" y="24384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Glândula salivar (submandibular)</a:t>
            </a:r>
            <a:endParaRPr/>
          </a:p>
        </p:txBody>
      </p:sp>
      <p:cxnSp>
        <p:nvCxnSpPr>
          <p:cNvPr id="144" name="Google Shape;144;p5"/>
          <p:cNvCxnSpPr/>
          <p:nvPr/>
        </p:nvCxnSpPr>
        <p:spPr>
          <a:xfrm flipH="1">
            <a:off x="5105400" y="2286000"/>
            <a:ext cx="685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5"/>
          <p:cNvCxnSpPr/>
          <p:nvPr/>
        </p:nvCxnSpPr>
        <p:spPr>
          <a:xfrm rot="10800000">
            <a:off x="4724400" y="2209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5"/>
          <p:cNvCxnSpPr/>
          <p:nvPr/>
        </p:nvCxnSpPr>
        <p:spPr>
          <a:xfrm flipH="1" rot="10800000">
            <a:off x="6019800" y="1905000"/>
            <a:ext cx="990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5"/>
          <p:cNvSpPr/>
          <p:nvPr/>
        </p:nvSpPr>
        <p:spPr>
          <a:xfrm>
            <a:off x="6934200" y="2232025"/>
            <a:ext cx="698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Faringe</a:t>
            </a:r>
            <a:endParaRPr/>
          </a:p>
        </p:txBody>
      </p:sp>
      <p:cxnSp>
        <p:nvCxnSpPr>
          <p:cNvPr id="148" name="Google Shape;148;p5"/>
          <p:cNvCxnSpPr/>
          <p:nvPr/>
        </p:nvCxnSpPr>
        <p:spPr>
          <a:xfrm>
            <a:off x="6019800" y="2286000"/>
            <a:ext cx="990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5"/>
          <p:cNvSpPr/>
          <p:nvPr/>
        </p:nvSpPr>
        <p:spPr>
          <a:xfrm>
            <a:off x="6324601" y="3200400"/>
            <a:ext cx="74136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Esôfago</a:t>
            </a:r>
            <a:endParaRPr/>
          </a:p>
        </p:txBody>
      </p:sp>
      <p:cxnSp>
        <p:nvCxnSpPr>
          <p:cNvPr id="150" name="Google Shape;150;p5"/>
          <p:cNvCxnSpPr/>
          <p:nvPr/>
        </p:nvCxnSpPr>
        <p:spPr>
          <a:xfrm flipH="1" rot="10800000">
            <a:off x="6172200" y="3352800"/>
            <a:ext cx="228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5"/>
          <p:cNvSpPr/>
          <p:nvPr/>
        </p:nvSpPr>
        <p:spPr>
          <a:xfrm>
            <a:off x="7315201" y="4365625"/>
            <a:ext cx="86836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Estômago</a:t>
            </a:r>
            <a:endParaRPr/>
          </a:p>
        </p:txBody>
      </p:sp>
      <p:cxnSp>
        <p:nvCxnSpPr>
          <p:cNvPr id="152" name="Google Shape;152;p5"/>
          <p:cNvCxnSpPr/>
          <p:nvPr/>
        </p:nvCxnSpPr>
        <p:spPr>
          <a:xfrm>
            <a:off x="6781800" y="4495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5"/>
          <p:cNvSpPr/>
          <p:nvPr/>
        </p:nvSpPr>
        <p:spPr>
          <a:xfrm>
            <a:off x="3733800" y="4876800"/>
            <a:ext cx="129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Jejuno (intestino delgado)</a:t>
            </a:r>
            <a:endParaRPr/>
          </a:p>
        </p:txBody>
      </p:sp>
      <p:cxnSp>
        <p:nvCxnSpPr>
          <p:cNvPr id="154" name="Google Shape;154;p5"/>
          <p:cNvCxnSpPr/>
          <p:nvPr/>
        </p:nvCxnSpPr>
        <p:spPr>
          <a:xfrm rot="10800000">
            <a:off x="4724400" y="5181600"/>
            <a:ext cx="9906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5"/>
          <p:cNvSpPr/>
          <p:nvPr/>
        </p:nvSpPr>
        <p:spPr>
          <a:xfrm>
            <a:off x="4191001" y="5562600"/>
            <a:ext cx="53816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Ceco</a:t>
            </a:r>
            <a:endParaRPr/>
          </a:p>
        </p:txBody>
      </p:sp>
      <p:cxnSp>
        <p:nvCxnSpPr>
          <p:cNvPr id="156" name="Google Shape;156;p5"/>
          <p:cNvCxnSpPr/>
          <p:nvPr/>
        </p:nvCxnSpPr>
        <p:spPr>
          <a:xfrm rot="10800000">
            <a:off x="4724400" y="5715000"/>
            <a:ext cx="6858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5"/>
          <p:cNvSpPr/>
          <p:nvPr/>
        </p:nvSpPr>
        <p:spPr>
          <a:xfrm>
            <a:off x="3276600" y="6019800"/>
            <a:ext cx="161925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Apêndice vermiforme</a:t>
            </a:r>
            <a:endParaRPr/>
          </a:p>
        </p:txBody>
      </p:sp>
      <p:cxnSp>
        <p:nvCxnSpPr>
          <p:cNvPr id="158" name="Google Shape;158;p5"/>
          <p:cNvCxnSpPr/>
          <p:nvPr/>
        </p:nvCxnSpPr>
        <p:spPr>
          <a:xfrm flipH="1">
            <a:off x="4876800" y="6019800"/>
            <a:ext cx="838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5"/>
          <p:cNvSpPr/>
          <p:nvPr/>
        </p:nvSpPr>
        <p:spPr>
          <a:xfrm>
            <a:off x="7162800" y="4953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 descendente (intestino grosso)</a:t>
            </a:r>
            <a:endParaRPr/>
          </a:p>
        </p:txBody>
      </p:sp>
      <p:cxnSp>
        <p:nvCxnSpPr>
          <p:cNvPr id="160" name="Google Shape;160;p5"/>
          <p:cNvCxnSpPr/>
          <p:nvPr/>
        </p:nvCxnSpPr>
        <p:spPr>
          <a:xfrm flipH="1" rot="10800000">
            <a:off x="6781800" y="5181600"/>
            <a:ext cx="4572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5"/>
          <p:cNvSpPr/>
          <p:nvPr/>
        </p:nvSpPr>
        <p:spPr>
          <a:xfrm>
            <a:off x="7315201" y="5791200"/>
            <a:ext cx="5048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</a:t>
            </a:r>
            <a:endParaRPr/>
          </a:p>
        </p:txBody>
      </p:sp>
      <p:cxnSp>
        <p:nvCxnSpPr>
          <p:cNvPr id="162" name="Google Shape;162;p5"/>
          <p:cNvCxnSpPr/>
          <p:nvPr/>
        </p:nvCxnSpPr>
        <p:spPr>
          <a:xfrm flipH="1" rot="10800000">
            <a:off x="6096000" y="5943600"/>
            <a:ext cx="12954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5"/>
          <p:cNvSpPr/>
          <p:nvPr/>
        </p:nvSpPr>
        <p:spPr>
          <a:xfrm>
            <a:off x="7315201" y="6324600"/>
            <a:ext cx="5302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Ânus</a:t>
            </a:r>
            <a:endParaRPr/>
          </a:p>
        </p:txBody>
      </p:sp>
      <p:cxnSp>
        <p:nvCxnSpPr>
          <p:cNvPr id="164" name="Google Shape;164;p5"/>
          <p:cNvCxnSpPr/>
          <p:nvPr/>
        </p:nvCxnSpPr>
        <p:spPr>
          <a:xfrm>
            <a:off x="6019800" y="6400800"/>
            <a:ext cx="1371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5"/>
          <p:cNvSpPr/>
          <p:nvPr/>
        </p:nvSpPr>
        <p:spPr>
          <a:xfrm>
            <a:off x="5257801" y="3429000"/>
            <a:ext cx="65722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Fígado</a:t>
            </a:r>
            <a:endParaRPr/>
          </a:p>
        </p:txBody>
      </p:sp>
      <p:cxnSp>
        <p:nvCxnSpPr>
          <p:cNvPr id="166" name="Google Shape;166;p5"/>
          <p:cNvCxnSpPr/>
          <p:nvPr/>
        </p:nvCxnSpPr>
        <p:spPr>
          <a:xfrm rot="10800000">
            <a:off x="5638800" y="3657600"/>
            <a:ext cx="76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5"/>
          <p:cNvSpPr/>
          <p:nvPr/>
        </p:nvSpPr>
        <p:spPr>
          <a:xfrm>
            <a:off x="3505201" y="4441825"/>
            <a:ext cx="1128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Vesícula biliar</a:t>
            </a:r>
            <a:endParaRPr/>
          </a:p>
        </p:txBody>
      </p:sp>
      <p:cxnSp>
        <p:nvCxnSpPr>
          <p:cNvPr id="168" name="Google Shape;168;p5"/>
          <p:cNvCxnSpPr/>
          <p:nvPr/>
        </p:nvCxnSpPr>
        <p:spPr>
          <a:xfrm rot="10800000">
            <a:off x="4572000" y="4572000"/>
            <a:ext cx="1066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5"/>
          <p:cNvSpPr/>
          <p:nvPr/>
        </p:nvSpPr>
        <p:spPr>
          <a:xfrm>
            <a:off x="7696200" y="4648200"/>
            <a:ext cx="825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Pâncreas</a:t>
            </a:r>
            <a:endParaRPr/>
          </a:p>
        </p:txBody>
      </p:sp>
      <p:cxnSp>
        <p:nvCxnSpPr>
          <p:cNvPr id="170" name="Google Shape;170;p5"/>
          <p:cNvCxnSpPr/>
          <p:nvPr/>
        </p:nvCxnSpPr>
        <p:spPr>
          <a:xfrm>
            <a:off x="6781800" y="4800600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5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524000" y="186822"/>
            <a:ext cx="9143999" cy="84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/>
        </p:nvSpPr>
        <p:spPr>
          <a:xfrm>
            <a:off x="1524000" y="1000125"/>
            <a:ext cx="91440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Caminho do Alimento - O Tubo Digestório</a:t>
            </a:r>
            <a:endParaRPr/>
          </a:p>
        </p:txBody>
      </p:sp>
      <p:grpSp>
        <p:nvGrpSpPr>
          <p:cNvPr id="181" name="Google Shape;181;p6"/>
          <p:cNvGrpSpPr/>
          <p:nvPr/>
        </p:nvGrpSpPr>
        <p:grpSpPr>
          <a:xfrm>
            <a:off x="2174875" y="1643064"/>
            <a:ext cx="6729437" cy="4625975"/>
            <a:chOff x="714343" y="1928802"/>
            <a:chExt cx="6730588" cy="4625986"/>
          </a:xfrm>
        </p:grpSpPr>
        <p:sp>
          <p:nvSpPr>
            <p:cNvPr id="182" name="Google Shape;182;p6"/>
            <p:cNvSpPr txBox="1"/>
            <p:nvPr/>
          </p:nvSpPr>
          <p:spPr>
            <a:xfrm>
              <a:off x="714343" y="2028814"/>
              <a:ext cx="6400308" cy="4525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514350" lvl="0" marL="5143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Boca</a:t>
              </a:r>
              <a:endParaRPr/>
            </a:p>
            <a:p>
              <a:pPr indent="-3619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143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Faringe</a:t>
              </a:r>
              <a:endParaRPr/>
            </a:p>
            <a:p>
              <a:pPr indent="-5143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Esôfago</a:t>
              </a:r>
              <a:endParaRPr/>
            </a:p>
            <a:p>
              <a:pPr indent="-5143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Estômago</a:t>
              </a:r>
              <a:endParaRPr/>
            </a:p>
            <a:p>
              <a:pPr indent="-5143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Intestino Delgado</a:t>
              </a:r>
              <a:endParaRPr/>
            </a:p>
            <a:p>
              <a:pPr indent="-266700" lvl="0" marL="342900" marR="0" rtl="0" algn="l"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66700" lvl="0" marL="342900" marR="0" rtl="0" algn="l"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66700" lvl="0" marL="342900" marR="0" rtl="0" algn="l">
                <a:spcBef>
                  <a:spcPts val="24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5143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AutoNum type="arabicPeriod"/>
              </a:pPr>
              <a:r>
                <a:rPr lang="pt-B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Intestino Grosso</a:t>
              </a:r>
              <a:endParaRPr/>
            </a:p>
            <a:p>
              <a:pPr indent="-3619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619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61950" lvl="0" marL="514350" marR="0" rtl="0" algn="l"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2071888" y="1928802"/>
              <a:ext cx="714497" cy="928689"/>
            </a:xfrm>
            <a:prstGeom prst="leftBrace">
              <a:avLst>
                <a:gd fmla="val 8333" name="adj1"/>
                <a:gd fmla="val 42577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6"/>
            <p:cNvSpPr txBox="1"/>
            <p:nvPr/>
          </p:nvSpPr>
          <p:spPr>
            <a:xfrm>
              <a:off x="2428858" y="1928812"/>
              <a:ext cx="192881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Língua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Dentes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Saliva</a:t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3826546" y="4033541"/>
              <a:ext cx="128588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Duodeno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Jejuno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Íleo</a:t>
              </a:r>
              <a:endParaRPr/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3730181" y="5082898"/>
              <a:ext cx="371475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Ceco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Cólon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Reto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Ânus</a:t>
              </a:r>
              <a:endParaRPr/>
            </a:p>
          </p:txBody>
        </p:sp>
      </p:grpSp>
      <p:sp>
        <p:nvSpPr>
          <p:cNvPr id="187" name="Google Shape;187;p6"/>
          <p:cNvSpPr/>
          <p:nvPr/>
        </p:nvSpPr>
        <p:spPr>
          <a:xfrm>
            <a:off x="1738314" y="1714501"/>
            <a:ext cx="428625" cy="50006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700" y="1751014"/>
            <a:ext cx="3341688" cy="463073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6672264" y="6315075"/>
            <a:ext cx="3527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Autor desconhecido/Disponibilizada por Bibi Saint-Pol / Domínio Público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989514" y="3749675"/>
            <a:ext cx="714375" cy="928688"/>
          </a:xfrm>
          <a:prstGeom prst="leftBrace">
            <a:avLst>
              <a:gd fmla="val 8333" name="adj1"/>
              <a:gd fmla="val 42577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838701" y="4797152"/>
            <a:ext cx="714375" cy="1200150"/>
          </a:xfrm>
          <a:prstGeom prst="leftBrace">
            <a:avLst>
              <a:gd fmla="val 8333" name="adj1"/>
              <a:gd fmla="val 42577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1524000" y="213171"/>
            <a:ext cx="9143999" cy="77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/>
        </p:nvSpPr>
        <p:spPr>
          <a:xfrm>
            <a:off x="1676400" y="1194046"/>
            <a:ext cx="3962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DEGLUTIÇÃO</a:t>
            </a:r>
            <a:endParaRPr/>
          </a:p>
        </p:txBody>
      </p:sp>
      <p:pic>
        <p:nvPicPr>
          <p:cNvPr descr="C:\projetos\moderna\powerpoint\imagens cap 18\Figura_18-03_01_c.jpg" id="202" name="Google Shape;2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576" y="1600200"/>
            <a:ext cx="8353425" cy="37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1752600" y="2590800"/>
            <a:ext cx="6477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Língua</a:t>
            </a:r>
            <a:endParaRPr/>
          </a:p>
        </p:txBody>
      </p:sp>
      <p:cxnSp>
        <p:nvCxnSpPr>
          <p:cNvPr id="204" name="Google Shape;204;p7"/>
          <p:cNvCxnSpPr/>
          <p:nvPr/>
        </p:nvCxnSpPr>
        <p:spPr>
          <a:xfrm rot="10800000">
            <a:off x="2362200" y="2743200"/>
            <a:ext cx="10668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7"/>
          <p:cNvSpPr/>
          <p:nvPr/>
        </p:nvSpPr>
        <p:spPr>
          <a:xfrm>
            <a:off x="4724400" y="3048000"/>
            <a:ext cx="698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Faringe</a:t>
            </a:r>
            <a:endParaRPr/>
          </a:p>
        </p:txBody>
      </p:sp>
      <p:cxnSp>
        <p:nvCxnSpPr>
          <p:cNvPr id="206" name="Google Shape;206;p7"/>
          <p:cNvCxnSpPr/>
          <p:nvPr/>
        </p:nvCxnSpPr>
        <p:spPr>
          <a:xfrm flipH="1" rot="10800000">
            <a:off x="4343400" y="3200400"/>
            <a:ext cx="4572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7"/>
          <p:cNvSpPr/>
          <p:nvPr/>
        </p:nvSpPr>
        <p:spPr>
          <a:xfrm>
            <a:off x="4724401" y="3505200"/>
            <a:ext cx="74136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Esôfago</a:t>
            </a:r>
            <a:endParaRPr/>
          </a:p>
        </p:txBody>
      </p:sp>
      <p:cxnSp>
        <p:nvCxnSpPr>
          <p:cNvPr id="208" name="Google Shape;208;p7"/>
          <p:cNvCxnSpPr/>
          <p:nvPr/>
        </p:nvCxnSpPr>
        <p:spPr>
          <a:xfrm flipH="1" rot="10800000">
            <a:off x="4495800" y="3657600"/>
            <a:ext cx="3048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7"/>
          <p:cNvSpPr/>
          <p:nvPr/>
        </p:nvSpPr>
        <p:spPr>
          <a:xfrm>
            <a:off x="2209801" y="4038600"/>
            <a:ext cx="688975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Laringe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828800" y="4648201"/>
            <a:ext cx="1600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Proeminência laringea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(pomo-de-adão)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 flipH="1">
            <a:off x="3124200" y="4343400"/>
            <a:ext cx="5334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7"/>
          <p:cNvCxnSpPr/>
          <p:nvPr/>
        </p:nvCxnSpPr>
        <p:spPr>
          <a:xfrm flipH="1" rot="10800000">
            <a:off x="2895600" y="4114800"/>
            <a:ext cx="990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7"/>
          <p:cNvSpPr/>
          <p:nvPr/>
        </p:nvSpPr>
        <p:spPr>
          <a:xfrm>
            <a:off x="1676400" y="3505200"/>
            <a:ext cx="73183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Epiglote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7"/>
          <p:cNvCxnSpPr/>
          <p:nvPr/>
        </p:nvCxnSpPr>
        <p:spPr>
          <a:xfrm rot="10800000">
            <a:off x="2362200" y="3657600"/>
            <a:ext cx="1828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7"/>
          <p:cNvSpPr/>
          <p:nvPr/>
        </p:nvSpPr>
        <p:spPr>
          <a:xfrm>
            <a:off x="4800600" y="4114800"/>
            <a:ext cx="78263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Traquéia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7"/>
          <p:cNvCxnSpPr/>
          <p:nvPr/>
        </p:nvCxnSpPr>
        <p:spPr>
          <a:xfrm>
            <a:off x="4267200" y="4114800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7"/>
          <p:cNvSpPr/>
          <p:nvPr/>
        </p:nvSpPr>
        <p:spPr>
          <a:xfrm>
            <a:off x="1828800" y="1752600"/>
            <a:ext cx="7747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Alimento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7"/>
          <p:cNvCxnSpPr/>
          <p:nvPr/>
        </p:nvCxnSpPr>
        <p:spPr>
          <a:xfrm rot="10800000">
            <a:off x="2514600" y="1981200"/>
            <a:ext cx="11430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7"/>
          <p:cNvSpPr/>
          <p:nvPr/>
        </p:nvSpPr>
        <p:spPr>
          <a:xfrm>
            <a:off x="7696201" y="4267200"/>
            <a:ext cx="74136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Esôfago</a:t>
            </a:r>
            <a:endParaRPr/>
          </a:p>
        </p:txBody>
      </p:sp>
      <p:cxnSp>
        <p:nvCxnSpPr>
          <p:cNvPr id="220" name="Google Shape;220;p7"/>
          <p:cNvCxnSpPr/>
          <p:nvPr/>
        </p:nvCxnSpPr>
        <p:spPr>
          <a:xfrm flipH="1" rot="10800000">
            <a:off x="7239000" y="4419600"/>
            <a:ext cx="5334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7"/>
          <p:cNvSpPr/>
          <p:nvPr/>
        </p:nvSpPr>
        <p:spPr>
          <a:xfrm>
            <a:off x="7391400" y="25146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Palato mole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7"/>
          <p:cNvCxnSpPr/>
          <p:nvPr/>
        </p:nvCxnSpPr>
        <p:spPr>
          <a:xfrm flipH="1" rot="10800000">
            <a:off x="6934200" y="2743200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7"/>
          <p:cNvSpPr/>
          <p:nvPr/>
        </p:nvSpPr>
        <p:spPr>
          <a:xfrm>
            <a:off x="7467600" y="3200401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Epiglote fechando a traquéia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7"/>
          <p:cNvCxnSpPr/>
          <p:nvPr/>
        </p:nvCxnSpPr>
        <p:spPr>
          <a:xfrm flipH="1" rot="10800000">
            <a:off x="6934200" y="3505200"/>
            <a:ext cx="6096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7"/>
          <p:cNvCxnSpPr/>
          <p:nvPr/>
        </p:nvCxnSpPr>
        <p:spPr>
          <a:xfrm>
            <a:off x="4876800" y="5181600"/>
            <a:ext cx="152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7"/>
          <p:cNvCxnSpPr/>
          <p:nvPr/>
        </p:nvCxnSpPr>
        <p:spPr>
          <a:xfrm>
            <a:off x="7696200" y="5181600"/>
            <a:ext cx="152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7"/>
          <p:cNvSpPr txBox="1"/>
          <p:nvPr/>
        </p:nvSpPr>
        <p:spPr>
          <a:xfrm>
            <a:off x="1881188" y="5500688"/>
            <a:ext cx="8572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Dentes: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Transformam alimentos sólidos em pequenos pedaços, aumentando a superfície de contato e favorecendo a ação de enzimas digestivas. (Digestão mecânica).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Saliva: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Produzida pelas glândulas salivares contém a enzima </a:t>
            </a: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amilase salivar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(ptialina) a qual atua sobre o glicogênio/amido produzindo moléculas de maltoses (pH = 7)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1524000" y="264285"/>
            <a:ext cx="9143999" cy="766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/>
          <p:nvPr/>
        </p:nvSpPr>
        <p:spPr>
          <a:xfrm>
            <a:off x="1981199" y="108840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Esôfago</a:t>
            </a:r>
            <a:endParaRPr/>
          </a:p>
        </p:txBody>
      </p:sp>
      <p:sp>
        <p:nvSpPr>
          <p:cNvPr id="238" name="Google Shape;238;p8"/>
          <p:cNvSpPr txBox="1"/>
          <p:nvPr/>
        </p:nvSpPr>
        <p:spPr>
          <a:xfrm>
            <a:off x="2524125" y="2643188"/>
            <a:ext cx="50101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tubo longo e delgado;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cerca de 25 cm;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funciona através de movimentos peristálticos.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1738313" y="1857376"/>
            <a:ext cx="6329362" cy="175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90488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1809750" y="3857626"/>
            <a:ext cx="5214938" cy="107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Função: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levar o alimento triturado até o estômago.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90488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grpSp>
        <p:nvGrpSpPr>
          <p:cNvPr id="241" name="Google Shape;241;p8"/>
          <p:cNvGrpSpPr/>
          <p:nvPr/>
        </p:nvGrpSpPr>
        <p:grpSpPr>
          <a:xfrm>
            <a:off x="1666875" y="5214938"/>
            <a:ext cx="3429000" cy="1357312"/>
            <a:chOff x="1500166" y="5214950"/>
            <a:chExt cx="3429024" cy="1357322"/>
          </a:xfrm>
        </p:grpSpPr>
        <p:sp>
          <p:nvSpPr>
            <p:cNvPr id="242" name="Google Shape;242;p8"/>
            <p:cNvSpPr/>
            <p:nvPr/>
          </p:nvSpPr>
          <p:spPr>
            <a:xfrm>
              <a:off x="1500166" y="5214950"/>
              <a:ext cx="3429024" cy="1357322"/>
            </a:xfrm>
            <a:prstGeom prst="wedgeEllipseCallout">
              <a:avLst>
                <a:gd fmla="val -20833" name="adj1"/>
                <a:gd fmla="val 62500" name="adj2"/>
              </a:avLst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1714480" y="5429264"/>
              <a:ext cx="3000396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 comermos de cabeça para baixo, o alimento vai para o estômago ou para a cabeça?</a:t>
              </a:r>
              <a:endParaRPr/>
            </a:p>
          </p:txBody>
        </p:sp>
      </p:grpSp>
      <p:sp>
        <p:nvSpPr>
          <p:cNvPr id="244" name="Google Shape;244;p8"/>
          <p:cNvSpPr txBox="1"/>
          <p:nvPr/>
        </p:nvSpPr>
        <p:spPr>
          <a:xfrm>
            <a:off x="5453063" y="4643439"/>
            <a:ext cx="2000250" cy="1570037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Professor, você pode mostrar esse movimento com uma meia fina e uma bolinha de isopor.</a:t>
            </a:r>
            <a:endParaRPr/>
          </a:p>
        </p:txBody>
      </p:sp>
      <p:pic>
        <p:nvPicPr>
          <p:cNvPr id="245" name="Google Shape;2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9964" y="1196975"/>
            <a:ext cx="31273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/>
          <p:nvPr/>
        </p:nvSpPr>
        <p:spPr>
          <a:xfrm>
            <a:off x="7464425" y="609282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Olek Remesz/Creative Commons Atribuição-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Partilha nos Termos da Mesma Licença 2.5 Genérica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7464425" y="6092825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Olek Remesz/Creative Commons Atribuição-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Partilha nos Termos da Mesma Licença 2.5 Genérica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1981199" y="112691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Estômago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2524125" y="2643189"/>
            <a:ext cx="4286250" cy="175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 forma de bolsa ou saco;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 capacidade de armazenar cerca de 2 litros;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revestido por uma mucosa protetora;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abertura superior chamada de cárdia e inferior, de piloro.</a:t>
            </a:r>
            <a:endParaRPr/>
          </a:p>
        </p:txBody>
      </p:sp>
      <p:sp>
        <p:nvSpPr>
          <p:cNvPr id="259" name="Google Shape;259;p9"/>
          <p:cNvSpPr txBox="1"/>
          <p:nvPr/>
        </p:nvSpPr>
        <p:spPr>
          <a:xfrm>
            <a:off x="1738313" y="2000251"/>
            <a:ext cx="6329362" cy="175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90488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60" name="Google Shape;260;p9"/>
          <p:cNvSpPr txBox="1"/>
          <p:nvPr/>
        </p:nvSpPr>
        <p:spPr>
          <a:xfrm>
            <a:off x="1738314" y="4487863"/>
            <a:ext cx="52149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90488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61" name="Google Shape;261;p9"/>
          <p:cNvSpPr txBox="1"/>
          <p:nvPr/>
        </p:nvSpPr>
        <p:spPr>
          <a:xfrm>
            <a:off x="2166938" y="5202239"/>
            <a:ext cx="4286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produz o suco gástrico: 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810126" y="4929189"/>
            <a:ext cx="500063" cy="1285875"/>
          </a:xfrm>
          <a:prstGeom prst="leftBrace">
            <a:avLst>
              <a:gd fmla="val 8333" name="adj1"/>
              <a:gd fmla="val 4044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5095876" y="5000625"/>
            <a:ext cx="52863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água;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ácido clorídrico (mata os micro-organismos);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enzimas digestivas (principal = pepsina, que digere PROTEÍNAS).</a:t>
            </a:r>
            <a:endParaRPr/>
          </a:p>
        </p:txBody>
      </p:sp>
      <p:pic>
        <p:nvPicPr>
          <p:cNvPr id="264" name="Google Shape;2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263" y="1844676"/>
            <a:ext cx="3790950" cy="287496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/>
          <p:nvPr/>
        </p:nvSpPr>
        <p:spPr>
          <a:xfrm>
            <a:off x="6959600" y="4765675"/>
            <a:ext cx="22733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Rhcastilhos/Public Domain</a:t>
            </a:r>
            <a:endParaRPr/>
          </a:p>
        </p:txBody>
      </p:sp>
      <p:sp>
        <p:nvSpPr>
          <p:cNvPr id="266" name="Google Shape;266;p9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809749" y="1071564"/>
            <a:ext cx="8715375" cy="59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bolo alimentar entra em contato com o suco gástrico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Ácido clorídrico (HCL)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Pepsinogênio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Pepsina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Proteínas 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Peptídeos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Renina (infância)  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Coagulação de proteínas do leite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Lipase gástrica                   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Lipídios  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Ácidos graxo + Glicerol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pH do suco gástrico = 2 (ácido)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Bolo alimentar 🡪 Quimo  (permanecer por cerca de 4hs no estômago)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quimo migra para o intestino delgado...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0"/>
          <p:cNvCxnSpPr/>
          <p:nvPr/>
        </p:nvCxnSpPr>
        <p:spPr>
          <a:xfrm>
            <a:off x="3452814" y="3071814"/>
            <a:ext cx="714375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79" name="Google Shape;279;p10"/>
          <p:cNvCxnSpPr/>
          <p:nvPr/>
        </p:nvCxnSpPr>
        <p:spPr>
          <a:xfrm>
            <a:off x="3667126" y="3714750"/>
            <a:ext cx="714375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80" name="Google Shape;280;p10"/>
          <p:cNvCxnSpPr/>
          <p:nvPr/>
        </p:nvCxnSpPr>
        <p:spPr>
          <a:xfrm>
            <a:off x="3524251" y="4286250"/>
            <a:ext cx="714375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81" name="Google Shape;281;p10"/>
          <p:cNvCxnSpPr/>
          <p:nvPr/>
        </p:nvCxnSpPr>
        <p:spPr>
          <a:xfrm flipH="1" rot="-5400000">
            <a:off x="3524251" y="2714626"/>
            <a:ext cx="357187" cy="214312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82" name="Google Shape;282;p10"/>
          <p:cNvCxnSpPr/>
          <p:nvPr/>
        </p:nvCxnSpPr>
        <p:spPr>
          <a:xfrm>
            <a:off x="5524501" y="3071814"/>
            <a:ext cx="714375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83" name="Google Shape;283;p10"/>
          <p:cNvCxnSpPr/>
          <p:nvPr/>
        </p:nvCxnSpPr>
        <p:spPr>
          <a:xfrm>
            <a:off x="7596189" y="3071814"/>
            <a:ext cx="714375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84" name="Google Shape;284;p10"/>
          <p:cNvCxnSpPr/>
          <p:nvPr/>
        </p:nvCxnSpPr>
        <p:spPr>
          <a:xfrm>
            <a:off x="5453064" y="4286250"/>
            <a:ext cx="714375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85" name="Google Shape;285;p10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600892" y="255998"/>
            <a:ext cx="11033760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 – Digestão no Estômago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 txBox="1"/>
          <p:nvPr/>
        </p:nvSpPr>
        <p:spPr>
          <a:xfrm>
            <a:off x="1939926" y="10556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Intestino Delgado</a:t>
            </a:r>
            <a:endParaRPr/>
          </a:p>
        </p:txBody>
      </p:sp>
      <p:sp>
        <p:nvSpPr>
          <p:cNvPr id="296" name="Google Shape;296;p11"/>
          <p:cNvSpPr txBox="1"/>
          <p:nvPr/>
        </p:nvSpPr>
        <p:spPr>
          <a:xfrm>
            <a:off x="1738314" y="4487863"/>
            <a:ext cx="52149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90488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97" name="Google Shape;297;p11"/>
          <p:cNvSpPr txBox="1"/>
          <p:nvPr/>
        </p:nvSpPr>
        <p:spPr>
          <a:xfrm>
            <a:off x="2095500" y="5000626"/>
            <a:ext cx="5214938" cy="147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produz o suco entérico;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absorção de nutrientes (“cerca de 90% da absorção dos nutrientes ocorre no intestino delgado. Os outros 10% ocorrem no estômago e no intestino grosso”).</a:t>
            </a:r>
            <a:endParaRPr/>
          </a:p>
        </p:txBody>
      </p:sp>
      <p:grpSp>
        <p:nvGrpSpPr>
          <p:cNvPr id="298" name="Google Shape;298;p11"/>
          <p:cNvGrpSpPr/>
          <p:nvPr/>
        </p:nvGrpSpPr>
        <p:grpSpPr>
          <a:xfrm>
            <a:off x="1738313" y="1714500"/>
            <a:ext cx="6329362" cy="2255838"/>
            <a:chOff x="214282" y="2000240"/>
            <a:chExt cx="6329281" cy="2254392"/>
          </a:xfrm>
        </p:grpSpPr>
        <p:sp>
          <p:nvSpPr>
            <p:cNvPr id="299" name="Google Shape;299;p11"/>
            <p:cNvSpPr txBox="1"/>
            <p:nvPr/>
          </p:nvSpPr>
          <p:spPr>
            <a:xfrm>
              <a:off x="500035" y="2500306"/>
              <a:ext cx="4214841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143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dividido em três partes: duodeno, jejuno e íleo;</a:t>
              </a:r>
              <a:endParaRPr/>
            </a:p>
            <a:p>
              <a:pPr indent="-1143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tem cerca de 6 m de comprimento e 3 cm de diâmetro;</a:t>
              </a:r>
              <a:endParaRPr/>
            </a:p>
            <a:p>
              <a:pPr indent="-1143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apresenta vilosidades e microvilosidades. </a:t>
              </a:r>
              <a:endParaRPr/>
            </a:p>
          </p:txBody>
        </p:sp>
        <p:sp>
          <p:nvSpPr>
            <p:cNvPr id="300" name="Google Shape;300;p11"/>
            <p:cNvSpPr txBox="1"/>
            <p:nvPr/>
          </p:nvSpPr>
          <p:spPr>
            <a:xfrm>
              <a:off x="214282" y="2000240"/>
              <a:ext cx="6329281" cy="17578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Char char="•"/>
              </a:pPr>
              <a:r>
                <a:rPr lang="pt-BR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Características: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1" marL="742950" marR="0" rtl="0" algn="l"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90488" marR="0" rtl="0" algn="l"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</p:grpSp>
      <p:pic>
        <p:nvPicPr>
          <p:cNvPr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0039" y="1730549"/>
            <a:ext cx="353377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9963" y="4221163"/>
            <a:ext cx="3071812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1"/>
          <p:cNvSpPr/>
          <p:nvPr/>
        </p:nvSpPr>
        <p:spPr>
          <a:xfrm>
            <a:off x="7175500" y="6165850"/>
            <a:ext cx="3168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Sunshineconnelly/Creative Commons - Atribuição 3.0 Não Adaptada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 rot="-5400000">
            <a:off x="5661820" y="3072607"/>
            <a:ext cx="2124075" cy="246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ToNToNi/Public Domain</a:t>
            </a:r>
            <a:endParaRPr/>
          </a:p>
        </p:txBody>
      </p:sp>
      <p:sp>
        <p:nvSpPr>
          <p:cNvPr id="305" name="Google Shape;305;p11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0" y="1"/>
            <a:ext cx="12192000" cy="113823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1666875" y="1071563"/>
            <a:ext cx="88582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DIGESTÃO NO INTESTINO DELGADO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teresacabral.com.sapo.pt/teresaquizfaber/media/mm0_digestao_duodeno.gif" id="317" name="Google Shape;3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314" y="1571625"/>
            <a:ext cx="2143125" cy="239553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 txBox="1"/>
          <p:nvPr/>
        </p:nvSpPr>
        <p:spPr>
          <a:xfrm>
            <a:off x="4310063" y="1571626"/>
            <a:ext cx="592931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 em 3 porções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Duodeno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Jejuno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Íleo</a:t>
            </a:r>
            <a:endParaRPr/>
          </a:p>
        </p:txBody>
      </p:sp>
      <p:sp>
        <p:nvSpPr>
          <p:cNvPr id="319" name="Google Shape;319;p12"/>
          <p:cNvSpPr txBox="1"/>
          <p:nvPr/>
        </p:nvSpPr>
        <p:spPr>
          <a:xfrm>
            <a:off x="3810000" y="2928938"/>
            <a:ext cx="6643688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Suco Pancreático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Produzido pelo pâncreas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Lançado no duodeno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Solução alcalina pH = 8,0 (íons bicarbonato)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Neutraliza a acidez do quimo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Enzimas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Tripsina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Quimiotripsina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Amilase pancreática     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Amido          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Maltoses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Lipase pancreática       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Lipídios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Ácidos graxos + glicerol</a:t>
            </a: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5881689" y="5214938"/>
            <a:ext cx="142875" cy="5715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6238876" y="5286375"/>
            <a:ext cx="3857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Proteínas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Peptídeos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endParaRPr/>
          </a:p>
        </p:txBody>
      </p:sp>
      <p:cxnSp>
        <p:nvCxnSpPr>
          <p:cNvPr id="322" name="Google Shape;322;p12"/>
          <p:cNvCxnSpPr/>
          <p:nvPr/>
        </p:nvCxnSpPr>
        <p:spPr>
          <a:xfrm>
            <a:off x="7810500" y="5500689"/>
            <a:ext cx="57150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23" name="Google Shape;323;p12"/>
          <p:cNvCxnSpPr/>
          <p:nvPr/>
        </p:nvCxnSpPr>
        <p:spPr>
          <a:xfrm>
            <a:off x="7524750" y="6000750"/>
            <a:ext cx="5715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24" name="Google Shape;324;p12"/>
          <p:cNvCxnSpPr/>
          <p:nvPr/>
        </p:nvCxnSpPr>
        <p:spPr>
          <a:xfrm>
            <a:off x="7381876" y="6286500"/>
            <a:ext cx="428625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25" name="Google Shape;325;p12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0" y="1"/>
            <a:ext cx="12192000" cy="1071561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1666875" y="1071563"/>
            <a:ext cx="88582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DIGESTÃO NO INTESTINO DELGADO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teresacabral.com.sapo.pt/teresaquizfaber/media/mm0_digestao_duodeno.gif" id="337" name="Google Shape;3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314" y="1571625"/>
            <a:ext cx="2143125" cy="239553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3"/>
          <p:cNvSpPr txBox="1"/>
          <p:nvPr/>
        </p:nvSpPr>
        <p:spPr>
          <a:xfrm>
            <a:off x="4310063" y="1571626"/>
            <a:ext cx="592931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 em 3 porções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Duodeno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Jejuno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Íleo</a:t>
            </a:r>
            <a:endParaRPr/>
          </a:p>
        </p:txBody>
      </p:sp>
      <p:sp>
        <p:nvSpPr>
          <p:cNvPr id="339" name="Google Shape;339;p13"/>
          <p:cNvSpPr txBox="1"/>
          <p:nvPr/>
        </p:nvSpPr>
        <p:spPr>
          <a:xfrm>
            <a:off x="3810000" y="2928939"/>
            <a:ext cx="6643688" cy="2986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Suco Entérico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Produzido pelo intestino delgado (duodeno)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Enzimas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Enteroquinase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Tripsinogênio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Tripsina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Maltase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Maltose 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Glicose + Glicose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Sacarase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Sacarose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Glicose + Frutose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Lactase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Lactose   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Glicose + Galactose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Peptidase  </a:t>
            </a: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Peptídeos               </a:t>
            </a:r>
            <a:r>
              <a:rPr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Aminoácidos</a:t>
            </a:r>
            <a:endParaRPr/>
          </a:p>
        </p:txBody>
      </p:sp>
      <p:cxnSp>
        <p:nvCxnSpPr>
          <p:cNvPr id="340" name="Google Shape;340;p13"/>
          <p:cNvCxnSpPr/>
          <p:nvPr/>
        </p:nvCxnSpPr>
        <p:spPr>
          <a:xfrm>
            <a:off x="5667375" y="4500564"/>
            <a:ext cx="57150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1" name="Google Shape;341;p13"/>
          <p:cNvCxnSpPr/>
          <p:nvPr/>
        </p:nvCxnSpPr>
        <p:spPr>
          <a:xfrm>
            <a:off x="5310188" y="5715000"/>
            <a:ext cx="85725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2" name="Google Shape;342;p13"/>
          <p:cNvCxnSpPr/>
          <p:nvPr/>
        </p:nvCxnSpPr>
        <p:spPr>
          <a:xfrm>
            <a:off x="5310188" y="5357814"/>
            <a:ext cx="85725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3" name="Google Shape;343;p13"/>
          <p:cNvCxnSpPr/>
          <p:nvPr/>
        </p:nvCxnSpPr>
        <p:spPr>
          <a:xfrm>
            <a:off x="5310188" y="5072064"/>
            <a:ext cx="85725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4" name="Google Shape;344;p13"/>
          <p:cNvCxnSpPr/>
          <p:nvPr/>
        </p:nvCxnSpPr>
        <p:spPr>
          <a:xfrm>
            <a:off x="5310188" y="4786314"/>
            <a:ext cx="85725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5" name="Google Shape;345;p13"/>
          <p:cNvCxnSpPr/>
          <p:nvPr/>
        </p:nvCxnSpPr>
        <p:spPr>
          <a:xfrm>
            <a:off x="8024813" y="4500564"/>
            <a:ext cx="57150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6" name="Google Shape;346;p13"/>
          <p:cNvCxnSpPr/>
          <p:nvPr/>
        </p:nvCxnSpPr>
        <p:spPr>
          <a:xfrm>
            <a:off x="7524750" y="4786314"/>
            <a:ext cx="57150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7" name="Google Shape;347;p13"/>
          <p:cNvCxnSpPr/>
          <p:nvPr/>
        </p:nvCxnSpPr>
        <p:spPr>
          <a:xfrm>
            <a:off x="7524750" y="5072064"/>
            <a:ext cx="571500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8" name="Google Shape;348;p13"/>
          <p:cNvCxnSpPr/>
          <p:nvPr/>
        </p:nvCxnSpPr>
        <p:spPr>
          <a:xfrm>
            <a:off x="7524750" y="5429250"/>
            <a:ext cx="5715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349" name="Google Shape;349;p13"/>
          <p:cNvCxnSpPr/>
          <p:nvPr/>
        </p:nvCxnSpPr>
        <p:spPr>
          <a:xfrm>
            <a:off x="7596188" y="5715000"/>
            <a:ext cx="5715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350" name="Google Shape;350;p13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0" y="2"/>
            <a:ext cx="12192000" cy="1011824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1666875" y="1071563"/>
            <a:ext cx="88582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DIGESTÃO NO INTESTINO DELGADO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teresacabral.com.sapo.pt/teresaquizfaber/media/mm0_digestao_duodeno.gif" id="362" name="Google Shape;3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8314" y="1571625"/>
            <a:ext cx="2143125" cy="239553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4"/>
          <p:cNvSpPr txBox="1"/>
          <p:nvPr/>
        </p:nvSpPr>
        <p:spPr>
          <a:xfrm>
            <a:off x="4310063" y="1571626"/>
            <a:ext cx="592931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Dividido em 3 porções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Duodeno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Jejuno</a:t>
            </a:r>
            <a:endParaRPr/>
          </a:p>
          <a:p>
            <a:pPr indent="-1270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Íleo</a:t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3810000" y="2928939"/>
            <a:ext cx="6643688" cy="317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Bile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Produzido pelo Fígado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Armazenada na vesícula biliar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Não contém enzimas digestivas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Emulsifica gorduras: transforma gotas lipídicas em gotículas microscópicas, favorecendo a ação das lipases.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Quimo  🡪  Quilo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0" y="2"/>
            <a:ext cx="12192000" cy="1011824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1666875" y="1071563"/>
            <a:ext cx="88582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ABSORÇÃO DE NUTRIENTES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1738314" y="1571625"/>
            <a:ext cx="8643937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nutrientes atravessam as células do revestimento intestinal e passam para o sangue, onde alcançarão as células.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projetos\moderna\powerpoint\imagens cap 18\Figura_18-06_04.jpg" id="378" name="Google Shape;3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126" y="2563813"/>
            <a:ext cx="6215063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/>
          <p:nvPr/>
        </p:nvSpPr>
        <p:spPr>
          <a:xfrm>
            <a:off x="8453439" y="3929063"/>
            <a:ext cx="170973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Capilares sangüíneos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5"/>
          <p:cNvCxnSpPr/>
          <p:nvPr/>
        </p:nvCxnSpPr>
        <p:spPr>
          <a:xfrm>
            <a:off x="8024813" y="4143375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15"/>
          <p:cNvCxnSpPr/>
          <p:nvPr/>
        </p:nvCxnSpPr>
        <p:spPr>
          <a:xfrm flipH="1" rot="10800000">
            <a:off x="8177213" y="4143375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15"/>
          <p:cNvSpPr/>
          <p:nvPr/>
        </p:nvSpPr>
        <p:spPr>
          <a:xfrm>
            <a:off x="5310189" y="2357439"/>
            <a:ext cx="16271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Microvilosidades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5"/>
          <p:cNvCxnSpPr/>
          <p:nvPr/>
        </p:nvCxnSpPr>
        <p:spPr>
          <a:xfrm rot="10800000">
            <a:off x="6134100" y="2657475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15"/>
          <p:cNvSpPr txBox="1"/>
          <p:nvPr/>
        </p:nvSpPr>
        <p:spPr>
          <a:xfrm>
            <a:off x="2667000" y="2857501"/>
            <a:ext cx="2286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Corte de intestino delgado</a:t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7096126" y="2857500"/>
            <a:ext cx="20732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Vilosidades intestinais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5"/>
          <p:cNvCxnSpPr/>
          <p:nvPr/>
        </p:nvCxnSpPr>
        <p:spPr>
          <a:xfrm rot="10800000">
            <a:off x="8096250" y="314325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15"/>
          <p:cNvSpPr txBox="1"/>
          <p:nvPr/>
        </p:nvSpPr>
        <p:spPr>
          <a:xfrm>
            <a:off x="8810625" y="3214688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Nutrientes</a:t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 rot="2880602">
            <a:off x="8428833" y="3344070"/>
            <a:ext cx="198437" cy="95567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0" y="2"/>
            <a:ext cx="12192000" cy="1052512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/>
        </p:nvSpPr>
        <p:spPr>
          <a:xfrm>
            <a:off x="6381751" y="4643438"/>
            <a:ext cx="3857625" cy="1714500"/>
          </a:xfrm>
          <a:prstGeom prst="cloudCallout">
            <a:avLst>
              <a:gd fmla="val -20833" name="adj1"/>
              <a:gd fmla="val 62500" name="adj2"/>
            </a:avLst>
          </a:prstGeom>
          <a:solidFill>
            <a:srgbClr val="DBDBDB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1981200" y="9286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Intestino Grosso</a:t>
            </a:r>
            <a:endParaRPr/>
          </a:p>
        </p:txBody>
      </p:sp>
      <p:grpSp>
        <p:nvGrpSpPr>
          <p:cNvPr id="401" name="Google Shape;401;p16"/>
          <p:cNvGrpSpPr/>
          <p:nvPr/>
        </p:nvGrpSpPr>
        <p:grpSpPr>
          <a:xfrm>
            <a:off x="1738313" y="2000251"/>
            <a:ext cx="6329362" cy="2532063"/>
            <a:chOff x="214282" y="2000240"/>
            <a:chExt cx="6329378" cy="2531391"/>
          </a:xfrm>
        </p:grpSpPr>
        <p:sp>
          <p:nvSpPr>
            <p:cNvPr id="402" name="Google Shape;402;p16"/>
            <p:cNvSpPr txBox="1"/>
            <p:nvPr/>
          </p:nvSpPr>
          <p:spPr>
            <a:xfrm>
              <a:off x="500035" y="2500306"/>
              <a:ext cx="4214841" cy="2031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143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dividido em 4 partes principais: ceco (cecum), cólon (ascendente, transverso, descendente e sigmoide), reto e ânus; </a:t>
              </a:r>
              <a:r>
                <a:rPr lang="pt-BR" sz="18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  <a:hlinkClick action="ppaction://hlinksldjump"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[3]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mede cerca de 6,5 centímetros de diâmetro e 1,5 metros de comprimento;</a:t>
              </a:r>
              <a:r>
                <a:rPr lang="pt-BR" sz="18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  <a:hlinkClick action="ppaction://hlinksldjump"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 [3]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6"/>
            <p:cNvSpPr txBox="1"/>
            <p:nvPr/>
          </p:nvSpPr>
          <p:spPr>
            <a:xfrm>
              <a:off x="214282" y="2000240"/>
              <a:ext cx="6329378" cy="17568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Char char="•"/>
              </a:pPr>
              <a:r>
                <a:rPr lang="pt-BR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Características: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1" marL="742950" marR="0" rtl="0" algn="l"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90488" marR="0" rtl="0" algn="l"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</p:grpSp>
      <p:sp>
        <p:nvSpPr>
          <p:cNvPr id="404" name="Google Shape;404;p16"/>
          <p:cNvSpPr txBox="1"/>
          <p:nvPr/>
        </p:nvSpPr>
        <p:spPr>
          <a:xfrm>
            <a:off x="1738314" y="4487863"/>
            <a:ext cx="521493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funções: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90488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405" name="Google Shape;405;p16"/>
          <p:cNvSpPr txBox="1"/>
          <p:nvPr/>
        </p:nvSpPr>
        <p:spPr>
          <a:xfrm>
            <a:off x="2309813" y="5000626"/>
            <a:ext cx="8001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absorção de água;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formação das fezes.</a:t>
            </a:r>
            <a:endParaRPr/>
          </a:p>
        </p:txBody>
      </p:sp>
      <p:sp>
        <p:nvSpPr>
          <p:cNvPr id="406" name="Google Shape;406;p16"/>
          <p:cNvSpPr txBox="1"/>
          <p:nvPr/>
        </p:nvSpPr>
        <p:spPr>
          <a:xfrm>
            <a:off x="6667500" y="5000625"/>
            <a:ext cx="31432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Quanto mais tempo se demora para liberar as fezes, mais elas endurecem, por quê?</a:t>
            </a:r>
            <a:endParaRPr/>
          </a:p>
        </p:txBody>
      </p:sp>
      <p:pic>
        <p:nvPicPr>
          <p:cNvPr id="407" name="Google Shape;40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8988" y="1671639"/>
            <a:ext cx="2419350" cy="2592387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6"/>
          <p:cNvSpPr/>
          <p:nvPr/>
        </p:nvSpPr>
        <p:spPr>
          <a:xfrm>
            <a:off x="6599238" y="4121151"/>
            <a:ext cx="457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1-cólon ascendente 2-cólon transverso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3-cólon descendente 4-cólon sigmóide</a:t>
            </a:r>
            <a:endParaRPr/>
          </a:p>
        </p:txBody>
      </p:sp>
      <p:cxnSp>
        <p:nvCxnSpPr>
          <p:cNvPr id="409" name="Google Shape;409;p16"/>
          <p:cNvCxnSpPr/>
          <p:nvPr/>
        </p:nvCxnSpPr>
        <p:spPr>
          <a:xfrm rot="10800000">
            <a:off x="7175501" y="3471863"/>
            <a:ext cx="3603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16"/>
          <p:cNvCxnSpPr/>
          <p:nvPr/>
        </p:nvCxnSpPr>
        <p:spPr>
          <a:xfrm rot="10800000">
            <a:off x="8399463" y="3976688"/>
            <a:ext cx="36036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16"/>
          <p:cNvSpPr txBox="1"/>
          <p:nvPr/>
        </p:nvSpPr>
        <p:spPr>
          <a:xfrm>
            <a:off x="6383338" y="3328989"/>
            <a:ext cx="18716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Apêndice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 txBox="1"/>
          <p:nvPr/>
        </p:nvSpPr>
        <p:spPr>
          <a:xfrm>
            <a:off x="8686801" y="3832226"/>
            <a:ext cx="1368425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 rot="-5400000">
            <a:off x="8402638" y="2922588"/>
            <a:ext cx="2987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Olek Remesz/Creative Commons Attribution-Share Alike 2.5 Generic, 2.0 Generic </a:t>
            </a:r>
            <a:endParaRPr/>
          </a:p>
        </p:txBody>
      </p:sp>
      <p:sp>
        <p:nvSpPr>
          <p:cNvPr id="414" name="Google Shape;414;p16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0" y="2"/>
            <a:ext cx="12192000" cy="1011824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7"/>
          <p:cNvSpPr txBox="1"/>
          <p:nvPr/>
        </p:nvSpPr>
        <p:spPr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1666875" y="1071563"/>
            <a:ext cx="88582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FORMAÇÃO DAS FEZES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1738314" y="1571625"/>
            <a:ext cx="8643937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Intestino Grosso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Quilo 🡪 Fezes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Grande absorção de água e sais minerais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Absorção de vitaminas produzidas pela flora bacteriana (B12 e K)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projetos\moderna\powerpoint\imagens cap 18\Figura_18-07_01.jpg" id="427" name="Google Shape;4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4314" y="2928938"/>
            <a:ext cx="3286125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7"/>
          <p:cNvSpPr txBox="1"/>
          <p:nvPr/>
        </p:nvSpPr>
        <p:spPr>
          <a:xfrm>
            <a:off x="5953125" y="6215064"/>
            <a:ext cx="20002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Ânus</a:t>
            </a:r>
            <a:endParaRPr/>
          </a:p>
        </p:txBody>
      </p:sp>
      <p:sp>
        <p:nvSpPr>
          <p:cNvPr id="429" name="Google Shape;429;p17"/>
          <p:cNvSpPr txBox="1"/>
          <p:nvPr/>
        </p:nvSpPr>
        <p:spPr>
          <a:xfrm>
            <a:off x="5953125" y="5857875"/>
            <a:ext cx="20002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Reto</a:t>
            </a:r>
            <a:endParaRPr/>
          </a:p>
        </p:txBody>
      </p:sp>
      <p:sp>
        <p:nvSpPr>
          <p:cNvPr id="430" name="Google Shape;430;p17"/>
          <p:cNvSpPr txBox="1"/>
          <p:nvPr/>
        </p:nvSpPr>
        <p:spPr>
          <a:xfrm>
            <a:off x="1881189" y="4000500"/>
            <a:ext cx="21431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Cólon ascendente</a:t>
            </a:r>
            <a:endParaRPr/>
          </a:p>
        </p:txBody>
      </p:sp>
      <p:sp>
        <p:nvSpPr>
          <p:cNvPr id="431" name="Google Shape;431;p17"/>
          <p:cNvSpPr txBox="1"/>
          <p:nvPr/>
        </p:nvSpPr>
        <p:spPr>
          <a:xfrm>
            <a:off x="4595814" y="2857500"/>
            <a:ext cx="21431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Cólon transverso</a:t>
            </a:r>
            <a:endParaRPr/>
          </a:p>
        </p:txBody>
      </p:sp>
      <p:sp>
        <p:nvSpPr>
          <p:cNvPr id="432" name="Google Shape;432;p17"/>
          <p:cNvSpPr txBox="1"/>
          <p:nvPr/>
        </p:nvSpPr>
        <p:spPr>
          <a:xfrm>
            <a:off x="7096125" y="4071939"/>
            <a:ext cx="2357438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Cólon descendente</a:t>
            </a:r>
            <a:endParaRPr/>
          </a:p>
        </p:txBody>
      </p:sp>
      <p:cxnSp>
        <p:nvCxnSpPr>
          <p:cNvPr id="433" name="Google Shape;433;p17"/>
          <p:cNvCxnSpPr>
            <a:stCxn id="431" idx="2"/>
          </p:cNvCxnSpPr>
          <p:nvPr/>
        </p:nvCxnSpPr>
        <p:spPr>
          <a:xfrm flipH="1">
            <a:off x="5665877" y="3227388"/>
            <a:ext cx="1500" cy="27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4" name="Google Shape;434;p17"/>
          <p:cNvCxnSpPr/>
          <p:nvPr/>
        </p:nvCxnSpPr>
        <p:spPr>
          <a:xfrm>
            <a:off x="3881439" y="4214814"/>
            <a:ext cx="642937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17"/>
          <p:cNvCxnSpPr/>
          <p:nvPr/>
        </p:nvCxnSpPr>
        <p:spPr>
          <a:xfrm>
            <a:off x="6738938" y="4286250"/>
            <a:ext cx="500062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17"/>
          <p:cNvCxnSpPr/>
          <p:nvPr/>
        </p:nvCxnSpPr>
        <p:spPr>
          <a:xfrm>
            <a:off x="5595939" y="6000750"/>
            <a:ext cx="357187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7" name="Google Shape;437;p17"/>
          <p:cNvCxnSpPr/>
          <p:nvPr/>
        </p:nvCxnSpPr>
        <p:spPr>
          <a:xfrm>
            <a:off x="5667375" y="6357939"/>
            <a:ext cx="357188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8" name="Google Shape;438;p17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0" y="1"/>
            <a:ext cx="12192000" cy="1047749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"/>
          <p:cNvSpPr txBox="1"/>
          <p:nvPr/>
        </p:nvSpPr>
        <p:spPr>
          <a:xfrm>
            <a:off x="1524000" y="1000125"/>
            <a:ext cx="91440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Auxiliando a Digestão – Glândulas Anexas</a:t>
            </a:r>
            <a:endParaRPr/>
          </a:p>
        </p:txBody>
      </p:sp>
      <p:sp>
        <p:nvSpPr>
          <p:cNvPr id="449" name="Google Shape;449;p18"/>
          <p:cNvSpPr txBox="1"/>
          <p:nvPr/>
        </p:nvSpPr>
        <p:spPr>
          <a:xfrm>
            <a:off x="5738814" y="2428876"/>
            <a:ext cx="158273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Parótidas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Submaxilares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Sublingual</a:t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5453064" y="2286001"/>
            <a:ext cx="428625" cy="1285875"/>
          </a:xfrm>
          <a:prstGeom prst="leftBrace">
            <a:avLst>
              <a:gd fmla="val 8333" name="adj1"/>
              <a:gd fmla="val 38966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 txBox="1"/>
          <p:nvPr/>
        </p:nvSpPr>
        <p:spPr>
          <a:xfrm>
            <a:off x="1881189" y="2428875"/>
            <a:ext cx="36210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Glândulas Salivares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2095500" y="4071938"/>
            <a:ext cx="4572000" cy="187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Pâncreas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funções: produzir suco pancreático e insulina (s. endócrino).</a:t>
            </a:r>
            <a:endParaRPr/>
          </a:p>
        </p:txBody>
      </p:sp>
      <p:pic>
        <p:nvPicPr>
          <p:cNvPr id="453" name="Google Shape;453;p18"/>
          <p:cNvPicPr preferRelativeResize="0"/>
          <p:nvPr/>
        </p:nvPicPr>
        <p:blipFill rotWithShape="1">
          <a:blip r:embed="rId3">
            <a:alphaModFix/>
          </a:blip>
          <a:srcRect b="0" l="0" r="0" t="14438"/>
          <a:stretch/>
        </p:blipFill>
        <p:spPr>
          <a:xfrm>
            <a:off x="7319963" y="1628775"/>
            <a:ext cx="2571750" cy="255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8"/>
          <p:cNvSpPr txBox="1"/>
          <p:nvPr/>
        </p:nvSpPr>
        <p:spPr>
          <a:xfrm rot="-5400000">
            <a:off x="8902701" y="2728913"/>
            <a:ext cx="2573337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Autor desconhecido /Disponibilizada por Arcadian/United States Public Domain</a:t>
            </a:r>
            <a:endParaRPr/>
          </a:p>
        </p:txBody>
      </p:sp>
      <p:sp>
        <p:nvSpPr>
          <p:cNvPr id="455" name="Google Shape;455;p18"/>
          <p:cNvSpPr txBox="1"/>
          <p:nvPr/>
        </p:nvSpPr>
        <p:spPr>
          <a:xfrm rot="-5400000">
            <a:off x="8960644" y="5317332"/>
            <a:ext cx="2303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Illu_pancrease/United States Public Domain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1401" y="4365626"/>
            <a:ext cx="2238375" cy="2265363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8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0" y="2"/>
            <a:ext cx="12192000" cy="985836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"/>
          <p:cNvSpPr txBox="1"/>
          <p:nvPr/>
        </p:nvSpPr>
        <p:spPr>
          <a:xfrm>
            <a:off x="1524000" y="1000125"/>
            <a:ext cx="91440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Auxiliando a Digestão – Glândulas Anexas</a:t>
            </a:r>
            <a:endParaRPr/>
          </a:p>
        </p:txBody>
      </p:sp>
      <p:sp>
        <p:nvSpPr>
          <p:cNvPr id="468" name="Google Shape;468;p19"/>
          <p:cNvSpPr txBox="1"/>
          <p:nvPr/>
        </p:nvSpPr>
        <p:spPr>
          <a:xfrm>
            <a:off x="1809750" y="2073276"/>
            <a:ext cx="4071938" cy="224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Fígado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função: 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produção de bile 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(substância emulsificadora de gorduras);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 txBox="1"/>
          <p:nvPr/>
        </p:nvSpPr>
        <p:spPr>
          <a:xfrm>
            <a:off x="1738313" y="4357689"/>
            <a:ext cx="4500562" cy="150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Vesícula biliar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função: </a:t>
            </a: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armazenar a bile.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0" name="Google Shape;4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6364" y="2060575"/>
            <a:ext cx="4067175" cy="34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9"/>
          <p:cNvSpPr/>
          <p:nvPr/>
        </p:nvSpPr>
        <p:spPr>
          <a:xfrm>
            <a:off x="6383338" y="5487989"/>
            <a:ext cx="4572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Imagem : Angeloleithold/GNU Free Documentation License</a:t>
            </a:r>
            <a:endParaRPr/>
          </a:p>
        </p:txBody>
      </p:sp>
      <p:sp>
        <p:nvSpPr>
          <p:cNvPr id="472" name="Google Shape;472;p19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 b="1" i="0" sz="5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0" y="1"/>
            <a:ext cx="12192000" cy="992185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1524000" y="255998"/>
            <a:ext cx="9143999" cy="75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Digestório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2020-06-05T12:13:59Z</dcterms:created>
  <dc:creator>Bruno Barbosa</dc:creator>
</cp:coreProperties>
</file>